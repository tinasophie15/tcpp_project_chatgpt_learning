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Bobby Jones Soft" panose="020B0604020202020204" charset="0"/>
      <p:regular r:id="rId9"/>
    </p:embeddedFont>
    <p:embeddedFont>
      <p:font typeface="Bricolage Grotesque" panose="020B0604020202020204" charset="0"/>
      <p:regular r:id="rId10"/>
    </p:embeddedFont>
    <p:embeddedFont>
      <p:font typeface="Bricolage Grotesque Bold" panose="020B0604020202020204" charset="0"/>
      <p:regular r:id="rId11"/>
    </p:embeddedFont>
    <p:embeddedFont>
      <p:font typeface="Canva Student Font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6" d="100"/>
          <a:sy n="76" d="100"/>
        </p:scale>
        <p:origin x="-216" y="-99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9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17.svg"/><Relationship Id="rId7" Type="http://schemas.openxmlformats.org/officeDocument/2006/relationships/image" Target="../media/image8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18.svg"/><Relationship Id="rId4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91699">
            <a:off x="15763663" y="3157614"/>
            <a:ext cx="4154462" cy="3863649"/>
          </a:xfrm>
          <a:custGeom>
            <a:avLst/>
            <a:gdLst/>
            <a:ahLst/>
            <a:cxnLst/>
            <a:rect l="l" t="t" r="r" b="b"/>
            <a:pathLst>
              <a:path w="4154462" h="3863649">
                <a:moveTo>
                  <a:pt x="0" y="0"/>
                </a:moveTo>
                <a:lnTo>
                  <a:pt x="4154461" y="0"/>
                </a:lnTo>
                <a:lnTo>
                  <a:pt x="4154461" y="3863649"/>
                </a:lnTo>
                <a:lnTo>
                  <a:pt x="0" y="38636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3"/>
          <p:cNvSpPr/>
          <p:nvPr/>
        </p:nvSpPr>
        <p:spPr>
          <a:xfrm rot="-284944">
            <a:off x="-1396635" y="3102424"/>
            <a:ext cx="4096277" cy="3630325"/>
          </a:xfrm>
          <a:custGeom>
            <a:avLst/>
            <a:gdLst/>
            <a:ahLst/>
            <a:cxnLst/>
            <a:rect l="l" t="t" r="r" b="b"/>
            <a:pathLst>
              <a:path w="4096277" h="3630325">
                <a:moveTo>
                  <a:pt x="0" y="0"/>
                </a:moveTo>
                <a:lnTo>
                  <a:pt x="4096277" y="0"/>
                </a:lnTo>
                <a:lnTo>
                  <a:pt x="4096277" y="3630325"/>
                </a:lnTo>
                <a:lnTo>
                  <a:pt x="0" y="36303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Freeform 4"/>
          <p:cNvSpPr/>
          <p:nvPr/>
        </p:nvSpPr>
        <p:spPr>
          <a:xfrm rot="1061051">
            <a:off x="12724036" y="7681159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5" y="0"/>
                </a:lnTo>
                <a:lnTo>
                  <a:pt x="3642065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Freeform 5"/>
          <p:cNvSpPr/>
          <p:nvPr/>
        </p:nvSpPr>
        <p:spPr>
          <a:xfrm rot="-411245">
            <a:off x="7229722" y="8180178"/>
            <a:ext cx="4476094" cy="3731943"/>
          </a:xfrm>
          <a:custGeom>
            <a:avLst/>
            <a:gdLst/>
            <a:ahLst/>
            <a:cxnLst/>
            <a:rect l="l" t="t" r="r" b="b"/>
            <a:pathLst>
              <a:path w="4476094" h="3731943">
                <a:moveTo>
                  <a:pt x="0" y="0"/>
                </a:moveTo>
                <a:lnTo>
                  <a:pt x="4476094" y="0"/>
                </a:lnTo>
                <a:lnTo>
                  <a:pt x="4476094" y="3731943"/>
                </a:lnTo>
                <a:lnTo>
                  <a:pt x="0" y="37319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Freeform 6"/>
          <p:cNvSpPr/>
          <p:nvPr/>
        </p:nvSpPr>
        <p:spPr>
          <a:xfrm rot="-474403">
            <a:off x="6963632" y="-2635620"/>
            <a:ext cx="4368067" cy="4329846"/>
          </a:xfrm>
          <a:custGeom>
            <a:avLst/>
            <a:gdLst/>
            <a:ahLst/>
            <a:cxnLst/>
            <a:rect l="l" t="t" r="r" b="b"/>
            <a:pathLst>
              <a:path w="4368067" h="4329846">
                <a:moveTo>
                  <a:pt x="0" y="0"/>
                </a:moveTo>
                <a:lnTo>
                  <a:pt x="4368068" y="0"/>
                </a:lnTo>
                <a:lnTo>
                  <a:pt x="4368068" y="4329846"/>
                </a:lnTo>
                <a:lnTo>
                  <a:pt x="0" y="43298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2029993" y="7417753"/>
            <a:ext cx="4373018" cy="4214496"/>
          </a:xfrm>
          <a:custGeom>
            <a:avLst/>
            <a:gdLst/>
            <a:ahLst/>
            <a:cxnLst/>
            <a:rect l="l" t="t" r="r" b="b"/>
            <a:pathLst>
              <a:path w="4373018" h="4214496">
                <a:moveTo>
                  <a:pt x="0" y="0"/>
                </a:moveTo>
                <a:lnTo>
                  <a:pt x="4373018" y="0"/>
                </a:lnTo>
                <a:lnTo>
                  <a:pt x="4373018" y="4214496"/>
                </a:lnTo>
                <a:lnTo>
                  <a:pt x="0" y="4214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 rot="356799">
            <a:off x="-2200203" y="7515623"/>
            <a:ext cx="3888820" cy="3485355"/>
          </a:xfrm>
          <a:custGeom>
            <a:avLst/>
            <a:gdLst/>
            <a:ahLst/>
            <a:cxnLst/>
            <a:rect l="l" t="t" r="r" b="b"/>
            <a:pathLst>
              <a:path w="3888820" h="3485355">
                <a:moveTo>
                  <a:pt x="0" y="0"/>
                </a:moveTo>
                <a:lnTo>
                  <a:pt x="3888820" y="0"/>
                </a:lnTo>
                <a:lnTo>
                  <a:pt x="3888820" y="3485354"/>
                </a:lnTo>
                <a:lnTo>
                  <a:pt x="0" y="34853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 rot="675348">
            <a:off x="12487865" y="-1080492"/>
            <a:ext cx="3789402" cy="3685194"/>
          </a:xfrm>
          <a:custGeom>
            <a:avLst/>
            <a:gdLst/>
            <a:ahLst/>
            <a:cxnLst/>
            <a:rect l="l" t="t" r="r" b="b"/>
            <a:pathLst>
              <a:path w="3789402" h="3685194">
                <a:moveTo>
                  <a:pt x="0" y="0"/>
                </a:moveTo>
                <a:lnTo>
                  <a:pt x="3789402" y="0"/>
                </a:lnTo>
                <a:lnTo>
                  <a:pt x="3789402" y="3685193"/>
                </a:lnTo>
                <a:lnTo>
                  <a:pt x="0" y="3685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Freeform 10"/>
          <p:cNvSpPr/>
          <p:nvPr/>
        </p:nvSpPr>
        <p:spPr>
          <a:xfrm rot="710027">
            <a:off x="2074980" y="-1213346"/>
            <a:ext cx="4057937" cy="3692723"/>
          </a:xfrm>
          <a:custGeom>
            <a:avLst/>
            <a:gdLst/>
            <a:ahLst/>
            <a:cxnLst/>
            <a:rect l="l" t="t" r="r" b="b"/>
            <a:pathLst>
              <a:path w="4057937" h="3692723">
                <a:moveTo>
                  <a:pt x="0" y="0"/>
                </a:moveTo>
                <a:lnTo>
                  <a:pt x="4057938" y="0"/>
                </a:lnTo>
                <a:lnTo>
                  <a:pt x="4057938" y="3692723"/>
                </a:lnTo>
                <a:lnTo>
                  <a:pt x="0" y="36927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1" name="Freeform 11"/>
          <p:cNvSpPr/>
          <p:nvPr/>
        </p:nvSpPr>
        <p:spPr>
          <a:xfrm rot="261574">
            <a:off x="16941865" y="-1490132"/>
            <a:ext cx="3763596" cy="3792036"/>
          </a:xfrm>
          <a:custGeom>
            <a:avLst/>
            <a:gdLst/>
            <a:ahLst/>
            <a:cxnLst/>
            <a:rect l="l" t="t" r="r" b="b"/>
            <a:pathLst>
              <a:path w="3763596" h="3792036">
                <a:moveTo>
                  <a:pt x="0" y="0"/>
                </a:moveTo>
                <a:lnTo>
                  <a:pt x="3763596" y="0"/>
                </a:lnTo>
                <a:lnTo>
                  <a:pt x="3763596" y="3792036"/>
                </a:lnTo>
                <a:lnTo>
                  <a:pt x="0" y="37920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2" name="TextBox 12"/>
          <p:cNvSpPr txBox="1"/>
          <p:nvPr/>
        </p:nvSpPr>
        <p:spPr>
          <a:xfrm>
            <a:off x="4000684" y="3937719"/>
            <a:ext cx="10286632" cy="3314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6"/>
              </a:lnSpc>
            </a:pPr>
            <a:r>
              <a:rPr lang="en-US" sz="8053" dirty="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ChatGPT-3.5 as writing assistance in students’ essays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000684" y="2781448"/>
            <a:ext cx="10286632" cy="716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03"/>
              </a:lnSpc>
              <a:spcBef>
                <a:spcPct val="0"/>
              </a:spcBef>
            </a:pPr>
            <a:r>
              <a:rPr lang="en-US" sz="4073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Bašić et al. (2023)</a:t>
            </a:r>
          </a:p>
        </p:txBody>
      </p:sp>
      <p:sp>
        <p:nvSpPr>
          <p:cNvPr id="14" name="Freeform 14"/>
          <p:cNvSpPr/>
          <p:nvPr/>
        </p:nvSpPr>
        <p:spPr>
          <a:xfrm>
            <a:off x="-2075123" y="-1202141"/>
            <a:ext cx="3294905" cy="3163108"/>
          </a:xfrm>
          <a:custGeom>
            <a:avLst/>
            <a:gdLst/>
            <a:ahLst/>
            <a:cxnLst/>
            <a:rect l="l" t="t" r="r" b="b"/>
            <a:pathLst>
              <a:path w="3294905" h="3163108">
                <a:moveTo>
                  <a:pt x="0" y="0"/>
                </a:moveTo>
                <a:lnTo>
                  <a:pt x="3294904" y="0"/>
                </a:lnTo>
                <a:lnTo>
                  <a:pt x="3294904" y="3163108"/>
                </a:lnTo>
                <a:lnTo>
                  <a:pt x="0" y="31631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5" name="Freeform 15"/>
          <p:cNvSpPr/>
          <p:nvPr/>
        </p:nvSpPr>
        <p:spPr>
          <a:xfrm rot="-503037">
            <a:off x="17148200" y="7696708"/>
            <a:ext cx="3294905" cy="2230322"/>
          </a:xfrm>
          <a:custGeom>
            <a:avLst/>
            <a:gdLst/>
            <a:ahLst/>
            <a:cxnLst/>
            <a:rect l="l" t="t" r="r" b="b"/>
            <a:pathLst>
              <a:path w="3294905" h="2230322">
                <a:moveTo>
                  <a:pt x="0" y="0"/>
                </a:moveTo>
                <a:lnTo>
                  <a:pt x="3294904" y="0"/>
                </a:lnTo>
                <a:lnTo>
                  <a:pt x="3294904" y="2230322"/>
                </a:lnTo>
                <a:lnTo>
                  <a:pt x="0" y="2230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b="-41822"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125200" y="374650"/>
            <a:ext cx="5598662" cy="5206755"/>
          </a:xfrm>
          <a:custGeom>
            <a:avLst/>
            <a:gdLst/>
            <a:ahLst/>
            <a:cxnLst/>
            <a:rect l="l" t="t" r="r" b="b"/>
            <a:pathLst>
              <a:path w="5598662" h="5206755">
                <a:moveTo>
                  <a:pt x="0" y="0"/>
                </a:moveTo>
                <a:lnTo>
                  <a:pt x="5598661" y="0"/>
                </a:lnTo>
                <a:lnTo>
                  <a:pt x="5598661" y="5206756"/>
                </a:lnTo>
                <a:lnTo>
                  <a:pt x="0" y="52067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TextBox 3"/>
          <p:cNvSpPr txBox="1"/>
          <p:nvPr/>
        </p:nvSpPr>
        <p:spPr>
          <a:xfrm>
            <a:off x="533400" y="1787525"/>
            <a:ext cx="9626922" cy="378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2" lvl="1" indent="-291466" algn="l">
              <a:lnSpc>
                <a:spcPts val="378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Participants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18 master’s students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Experimental group vs. control group</a:t>
            </a:r>
          </a:p>
          <a:p>
            <a:pPr algn="l">
              <a:lnSpc>
                <a:spcPts val="3780"/>
              </a:lnSpc>
            </a:pPr>
            <a:endParaRPr lang="en-US" sz="27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582932" lvl="1" indent="-291466" algn="l">
              <a:lnSpc>
                <a:spcPts val="3780"/>
              </a:lnSpc>
              <a:buFont typeface="Arial"/>
              <a:buChar char="•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Task</a:t>
            </a:r>
          </a:p>
          <a:p>
            <a:pPr marL="1165863" lvl="2" indent="-388621" algn="l">
              <a:lnSpc>
                <a:spcPts val="3780"/>
              </a:lnSpc>
              <a:buFont typeface="Arial"/>
              <a:buChar char="⚬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Students wrote essays:</a:t>
            </a:r>
          </a:p>
          <a:p>
            <a:pPr marL="1748795" lvl="3" indent="-437199" algn="l">
              <a:lnSpc>
                <a:spcPts val="3780"/>
              </a:lnSpc>
              <a:buFont typeface="Arial"/>
              <a:buChar char="￭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control group → traditional writing</a:t>
            </a:r>
          </a:p>
          <a:p>
            <a:pPr marL="1748795" lvl="3" indent="-437199" algn="l">
              <a:lnSpc>
                <a:spcPts val="3780"/>
              </a:lnSpc>
              <a:buFont typeface="Arial"/>
              <a:buChar char="￭"/>
            </a:pPr>
            <a:r>
              <a:rPr lang="en-US" sz="27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experimental group → ChatGPT-assisted writing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29243" y="374650"/>
            <a:ext cx="9838405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Study Design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846402" y="5834825"/>
            <a:ext cx="8156257" cy="4265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2" lvl="1" indent="-291466" algn="l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Essay Topic</a:t>
            </a:r>
          </a:p>
          <a:p>
            <a:pPr marL="1165863" lvl="2" indent="-388621" algn="l">
              <a:lnSpc>
                <a:spcPts val="3780"/>
              </a:lnSpc>
              <a:spcBef>
                <a:spcPct val="0"/>
              </a:spcBef>
              <a:buFont typeface="Arial"/>
              <a:buChar char="⚬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Biometric identification in forensic sciences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  <a:endParaRPr lang="en-US" sz="2700" u="none" strike="noStrike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582932" lvl="1" indent="-291466" algn="l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Measurements</a:t>
            </a:r>
          </a:p>
          <a:p>
            <a:pPr marL="1165863" lvl="2" indent="-388621" algn="l">
              <a:lnSpc>
                <a:spcPts val="3780"/>
              </a:lnSpc>
              <a:spcBef>
                <a:spcPct val="0"/>
              </a:spcBef>
              <a:buFont typeface="Arial"/>
              <a:buChar char="⚬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Researchers evaluated: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essay quality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writing duration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text authenticity</a:t>
            </a:r>
          </a:p>
          <a:p>
            <a:pPr marL="1748795" lvl="3" indent="-437199" algn="l">
              <a:lnSpc>
                <a:spcPts val="3780"/>
              </a:lnSpc>
              <a:spcBef>
                <a:spcPct val="0"/>
              </a:spcBef>
              <a:buFont typeface="Arial"/>
              <a:buChar char="￭"/>
            </a:pPr>
            <a:r>
              <a:rPr lang="en-US" sz="2700" u="none" strike="noStrike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AI-generated content detection</a:t>
            </a:r>
          </a:p>
        </p:txBody>
      </p:sp>
      <p:sp>
        <p:nvSpPr>
          <p:cNvPr id="6" name="Freeform 6"/>
          <p:cNvSpPr/>
          <p:nvPr/>
        </p:nvSpPr>
        <p:spPr>
          <a:xfrm>
            <a:off x="3733800" y="6059432"/>
            <a:ext cx="4209050" cy="4040688"/>
          </a:xfrm>
          <a:custGeom>
            <a:avLst/>
            <a:gdLst/>
            <a:ahLst/>
            <a:cxnLst/>
            <a:rect l="l" t="t" r="r" b="b"/>
            <a:pathLst>
              <a:path w="4209050" h="4040688">
                <a:moveTo>
                  <a:pt x="0" y="0"/>
                </a:moveTo>
                <a:lnTo>
                  <a:pt x="4209050" y="0"/>
                </a:lnTo>
                <a:lnTo>
                  <a:pt x="4209050" y="4040688"/>
                </a:lnTo>
                <a:lnTo>
                  <a:pt x="0" y="40406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61480" y="3268517"/>
            <a:ext cx="2533572" cy="2511403"/>
          </a:xfrm>
          <a:custGeom>
            <a:avLst/>
            <a:gdLst/>
            <a:ahLst/>
            <a:cxnLst/>
            <a:rect l="l" t="t" r="r" b="b"/>
            <a:pathLst>
              <a:path w="2533572" h="2511403">
                <a:moveTo>
                  <a:pt x="0" y="0"/>
                </a:moveTo>
                <a:lnTo>
                  <a:pt x="2533572" y="0"/>
                </a:lnTo>
                <a:lnTo>
                  <a:pt x="2533572" y="2511404"/>
                </a:lnTo>
                <a:lnTo>
                  <a:pt x="0" y="25114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grpSp>
        <p:nvGrpSpPr>
          <p:cNvPr id="3" name="Group 3"/>
          <p:cNvGrpSpPr/>
          <p:nvPr/>
        </p:nvGrpSpPr>
        <p:grpSpPr>
          <a:xfrm rot="2700000">
            <a:off x="2316610" y="4766348"/>
            <a:ext cx="337633" cy="337597"/>
            <a:chOff x="0" y="0"/>
            <a:chExt cx="88924" cy="889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8924" cy="88914"/>
            </a:xfrm>
            <a:custGeom>
              <a:avLst/>
              <a:gdLst/>
              <a:ahLst/>
              <a:cxnLst/>
              <a:rect l="l" t="t" r="r" b="b"/>
              <a:pathLst>
                <a:path w="88924" h="88914">
                  <a:moveTo>
                    <a:pt x="0" y="0"/>
                  </a:moveTo>
                  <a:lnTo>
                    <a:pt x="88924" y="0"/>
                  </a:lnTo>
                  <a:lnTo>
                    <a:pt x="88924" y="88914"/>
                  </a:lnTo>
                  <a:lnTo>
                    <a:pt x="0" y="88914"/>
                  </a:lnTo>
                  <a:close/>
                </a:path>
              </a:pathLst>
            </a:custGeom>
            <a:solidFill>
              <a:srgbClr val="F8F8F8"/>
            </a:solidFill>
          </p:spPr>
          <p:txBody>
            <a:bodyPr/>
            <a:lstStyle/>
            <a:p>
              <a:endParaRPr lang="de-AT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88924" cy="127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868315">
            <a:off x="2330217" y="4737616"/>
            <a:ext cx="310421" cy="342147"/>
          </a:xfrm>
          <a:custGeom>
            <a:avLst/>
            <a:gdLst/>
            <a:ahLst/>
            <a:cxnLst/>
            <a:rect l="l" t="t" r="r" b="b"/>
            <a:pathLst>
              <a:path w="310421" h="342147">
                <a:moveTo>
                  <a:pt x="0" y="0"/>
                </a:moveTo>
                <a:lnTo>
                  <a:pt x="310421" y="0"/>
                </a:lnTo>
                <a:lnTo>
                  <a:pt x="310421" y="342148"/>
                </a:lnTo>
                <a:lnTo>
                  <a:pt x="0" y="3421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5705768" y="3478158"/>
            <a:ext cx="2728794" cy="2728794"/>
          </a:xfrm>
          <a:custGeom>
            <a:avLst/>
            <a:gdLst/>
            <a:ahLst/>
            <a:cxnLst/>
            <a:rect l="l" t="t" r="r" b="b"/>
            <a:pathLst>
              <a:path w="2728794" h="2728794">
                <a:moveTo>
                  <a:pt x="0" y="0"/>
                </a:moveTo>
                <a:lnTo>
                  <a:pt x="2728793" y="0"/>
                </a:lnTo>
                <a:lnTo>
                  <a:pt x="2728793" y="2728794"/>
                </a:lnTo>
                <a:lnTo>
                  <a:pt x="0" y="272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>
            <a:off x="9949036" y="3615025"/>
            <a:ext cx="2529409" cy="2301762"/>
          </a:xfrm>
          <a:custGeom>
            <a:avLst/>
            <a:gdLst/>
            <a:ahLst/>
            <a:cxnLst/>
            <a:rect l="l" t="t" r="r" b="b"/>
            <a:pathLst>
              <a:path w="2529409" h="2301762">
                <a:moveTo>
                  <a:pt x="0" y="0"/>
                </a:moveTo>
                <a:lnTo>
                  <a:pt x="2529409" y="0"/>
                </a:lnTo>
                <a:lnTo>
                  <a:pt x="2529409" y="2301762"/>
                </a:lnTo>
                <a:lnTo>
                  <a:pt x="0" y="23017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>
            <a:off x="14083344" y="3696903"/>
            <a:ext cx="2564325" cy="2138006"/>
          </a:xfrm>
          <a:custGeom>
            <a:avLst/>
            <a:gdLst/>
            <a:ahLst/>
            <a:cxnLst/>
            <a:rect l="l" t="t" r="r" b="b"/>
            <a:pathLst>
              <a:path w="2564325" h="2138006">
                <a:moveTo>
                  <a:pt x="0" y="0"/>
                </a:moveTo>
                <a:lnTo>
                  <a:pt x="2564325" y="0"/>
                </a:lnTo>
                <a:lnTo>
                  <a:pt x="2564325" y="2138006"/>
                </a:lnTo>
                <a:lnTo>
                  <a:pt x="0" y="21380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TextBox 10"/>
          <p:cNvSpPr txBox="1"/>
          <p:nvPr/>
        </p:nvSpPr>
        <p:spPr>
          <a:xfrm>
            <a:off x="5156087" y="5888355"/>
            <a:ext cx="3828155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ChatGPT group did NOT perform better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00217" y="1562429"/>
            <a:ext cx="16408622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Main Results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29714" y="7111970"/>
            <a:ext cx="3456099" cy="142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4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No significant difference in overall essay quality.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71612" y="7111970"/>
            <a:ext cx="3456099" cy="142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4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No improvement in essay scores compared to the control group.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3036" y="7078142"/>
            <a:ext cx="3456099" cy="142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4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Writing duration did not differ significantly between the groups.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480926" y="7078142"/>
            <a:ext cx="3828155" cy="23978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4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Text authenticity was marginally lower and AI detectors flagged more potential AI-generated content.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00217" y="6140277"/>
            <a:ext cx="345609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Average grade “C”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493539" y="6102177"/>
            <a:ext cx="3456099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No faster writing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265401" y="5835477"/>
            <a:ext cx="4200211" cy="1057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Slightly unauthentic text in ChatGPT group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7" grpId="0" animBg="1"/>
      <p:bldP spid="8" grpId="0" animBg="1"/>
      <p:bldP spid="9" grpId="0" animBg="1"/>
      <p:bldP spid="10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94855" y="1467431"/>
            <a:ext cx="15098290" cy="1995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04"/>
              </a:lnSpc>
            </a:pPr>
            <a:r>
              <a:rPr lang="en-US" sz="720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ChatGPT is not automatically an “essay enhancement tool.”</a:t>
            </a:r>
          </a:p>
        </p:txBody>
      </p:sp>
      <p:sp>
        <p:nvSpPr>
          <p:cNvPr id="3" name="Freeform 3"/>
          <p:cNvSpPr/>
          <p:nvPr/>
        </p:nvSpPr>
        <p:spPr>
          <a:xfrm>
            <a:off x="6082307" y="5310221"/>
            <a:ext cx="2038637" cy="1806742"/>
          </a:xfrm>
          <a:custGeom>
            <a:avLst/>
            <a:gdLst/>
            <a:ahLst/>
            <a:cxnLst/>
            <a:rect l="l" t="t" r="r" b="b"/>
            <a:pathLst>
              <a:path w="2038637" h="1806742">
                <a:moveTo>
                  <a:pt x="0" y="0"/>
                </a:moveTo>
                <a:lnTo>
                  <a:pt x="2038637" y="0"/>
                </a:lnTo>
                <a:lnTo>
                  <a:pt x="2038637" y="1806742"/>
                </a:lnTo>
                <a:lnTo>
                  <a:pt x="0" y="18067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TextBox 4"/>
          <p:cNvSpPr txBox="1"/>
          <p:nvPr/>
        </p:nvSpPr>
        <p:spPr>
          <a:xfrm>
            <a:off x="1225905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prior knowledge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373576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critical thinking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668919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prompting ability</a:t>
            </a:r>
          </a:p>
        </p:txBody>
      </p:sp>
      <p:sp>
        <p:nvSpPr>
          <p:cNvPr id="7" name="Freeform 7"/>
          <p:cNvSpPr/>
          <p:nvPr/>
        </p:nvSpPr>
        <p:spPr>
          <a:xfrm>
            <a:off x="14382346" y="5196793"/>
            <a:ext cx="2029243" cy="1892687"/>
          </a:xfrm>
          <a:custGeom>
            <a:avLst/>
            <a:gdLst/>
            <a:ahLst/>
            <a:cxnLst/>
            <a:rect l="l" t="t" r="r" b="b"/>
            <a:pathLst>
              <a:path w="2029243" h="1892687">
                <a:moveTo>
                  <a:pt x="0" y="0"/>
                </a:moveTo>
                <a:lnTo>
                  <a:pt x="2029243" y="0"/>
                </a:lnTo>
                <a:lnTo>
                  <a:pt x="2029243" y="1892687"/>
                </a:lnTo>
                <a:lnTo>
                  <a:pt x="0" y="18926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1852" t="-10328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>
            <a:off x="1945547" y="5169310"/>
            <a:ext cx="2016815" cy="1947654"/>
          </a:xfrm>
          <a:custGeom>
            <a:avLst/>
            <a:gdLst/>
            <a:ahLst/>
            <a:cxnLst/>
            <a:rect l="l" t="t" r="r" b="b"/>
            <a:pathLst>
              <a:path w="2016815" h="1947654">
                <a:moveTo>
                  <a:pt x="0" y="0"/>
                </a:moveTo>
                <a:lnTo>
                  <a:pt x="2016815" y="0"/>
                </a:lnTo>
                <a:lnTo>
                  <a:pt x="2016815" y="1947653"/>
                </a:lnTo>
                <a:lnTo>
                  <a:pt x="0" y="19476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r="-7749"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TextBox 9"/>
          <p:cNvSpPr txBox="1"/>
          <p:nvPr/>
        </p:nvSpPr>
        <p:spPr>
          <a:xfrm>
            <a:off x="1028700" y="3594158"/>
            <a:ext cx="16230600" cy="557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600" b="1" dirty="0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Its effectiveness depends on: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5000" y="7598370"/>
            <a:ext cx="3456099" cy="462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0"/>
              </a:lnSpc>
            </a:pPr>
            <a:r>
              <a:rPr lang="en-US" sz="280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writing competence</a:t>
            </a:r>
          </a:p>
        </p:txBody>
      </p:sp>
      <p:sp>
        <p:nvSpPr>
          <p:cNvPr id="11" name="Freeform 11"/>
          <p:cNvSpPr/>
          <p:nvPr/>
        </p:nvSpPr>
        <p:spPr>
          <a:xfrm>
            <a:off x="10412100" y="5188044"/>
            <a:ext cx="1681899" cy="2051096"/>
          </a:xfrm>
          <a:custGeom>
            <a:avLst/>
            <a:gdLst/>
            <a:ahLst/>
            <a:cxnLst/>
            <a:rect l="l" t="t" r="r" b="b"/>
            <a:pathLst>
              <a:path w="1681899" h="2051096">
                <a:moveTo>
                  <a:pt x="0" y="0"/>
                </a:moveTo>
                <a:lnTo>
                  <a:pt x="1681898" y="0"/>
                </a:lnTo>
                <a:lnTo>
                  <a:pt x="1681898" y="2051096"/>
                </a:lnTo>
                <a:lnTo>
                  <a:pt x="0" y="20510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/>
      <p:bldP spid="6" grpId="0"/>
      <p:bldP spid="7" grpId="0" animBg="1"/>
      <p:bldP spid="8" grpId="0" animBg="1"/>
      <p:bldP spid="10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53110"/>
            <a:ext cx="16230600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Critical Reflection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442173" y="3537484"/>
            <a:ext cx="2304280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Strengths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229425" y="4164001"/>
            <a:ext cx="6729777" cy="2868249"/>
            <a:chOff x="0" y="0"/>
            <a:chExt cx="1772452" cy="75542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772452" cy="755423"/>
            </a:xfrm>
            <a:custGeom>
              <a:avLst/>
              <a:gdLst/>
              <a:ahLst/>
              <a:cxnLst/>
              <a:rect l="l" t="t" r="r" b="b"/>
              <a:pathLst>
                <a:path w="1772452" h="755423">
                  <a:moveTo>
                    <a:pt x="31061" y="0"/>
                  </a:moveTo>
                  <a:lnTo>
                    <a:pt x="1741391" y="0"/>
                  </a:lnTo>
                  <a:cubicBezTo>
                    <a:pt x="1758545" y="0"/>
                    <a:pt x="1772452" y="13906"/>
                    <a:pt x="1772452" y="31061"/>
                  </a:cubicBezTo>
                  <a:lnTo>
                    <a:pt x="1772452" y="724363"/>
                  </a:lnTo>
                  <a:cubicBezTo>
                    <a:pt x="1772452" y="732601"/>
                    <a:pt x="1769179" y="740501"/>
                    <a:pt x="1763354" y="746326"/>
                  </a:cubicBezTo>
                  <a:cubicBezTo>
                    <a:pt x="1757529" y="752151"/>
                    <a:pt x="1749629" y="755423"/>
                    <a:pt x="1741391" y="755423"/>
                  </a:cubicBezTo>
                  <a:lnTo>
                    <a:pt x="31061" y="755423"/>
                  </a:lnTo>
                  <a:cubicBezTo>
                    <a:pt x="13906" y="755423"/>
                    <a:pt x="0" y="741517"/>
                    <a:pt x="0" y="724363"/>
                  </a:cubicBezTo>
                  <a:lnTo>
                    <a:pt x="0" y="31061"/>
                  </a:lnTo>
                  <a:cubicBezTo>
                    <a:pt x="0" y="13906"/>
                    <a:pt x="13906" y="0"/>
                    <a:pt x="31061" y="0"/>
                  </a:cubicBezTo>
                  <a:close/>
                </a:path>
              </a:pathLst>
            </a:custGeom>
            <a:ln w="28575" cap="rnd">
              <a:solidFill>
                <a:srgbClr val="0E2365"/>
              </a:solidFill>
              <a:prstDash val="solid"/>
              <a:round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772452" cy="7935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953075" y="4587465"/>
            <a:ext cx="5626222" cy="196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Real experimental design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Authentic student environment</a:t>
            </a:r>
          </a:p>
          <a:p>
            <a:pPr marL="604519" lvl="1" indent="-302260" algn="l">
              <a:lnSpc>
                <a:spcPts val="3919"/>
              </a:lnSpc>
              <a:buFont typeface="Arial"/>
              <a:buChar char="•"/>
            </a:pPr>
            <a:r>
              <a:rPr lang="en-US" sz="2799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Relevant educational question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334083" y="4737727"/>
            <a:ext cx="1790683" cy="1720797"/>
            <a:chOff x="0" y="0"/>
            <a:chExt cx="2387578" cy="2294396"/>
          </a:xfrm>
        </p:grpSpPr>
        <p:grpSp>
          <p:nvGrpSpPr>
            <p:cNvPr id="9" name="Group 9"/>
            <p:cNvGrpSpPr/>
            <p:nvPr/>
          </p:nvGrpSpPr>
          <p:grpSpPr>
            <a:xfrm>
              <a:off x="332384" y="285794"/>
              <a:ext cx="1722809" cy="1722809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2" name="Freeform 12"/>
            <p:cNvSpPr/>
            <p:nvPr/>
          </p:nvSpPr>
          <p:spPr>
            <a:xfrm>
              <a:off x="0" y="0"/>
              <a:ext cx="2387578" cy="2294396"/>
            </a:xfrm>
            <a:custGeom>
              <a:avLst/>
              <a:gdLst/>
              <a:ahLst/>
              <a:cxnLst/>
              <a:rect l="l" t="t" r="r" b="b"/>
              <a:pathLst>
                <a:path w="2387578" h="2294396">
                  <a:moveTo>
                    <a:pt x="0" y="0"/>
                  </a:moveTo>
                  <a:lnTo>
                    <a:pt x="2387578" y="0"/>
                  </a:lnTo>
                  <a:lnTo>
                    <a:pt x="2387578" y="2294396"/>
                  </a:lnTo>
                  <a:lnTo>
                    <a:pt x="0" y="2294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 l="-120384" r="-93783" b="-212215"/>
              </a:stretch>
            </a:blipFill>
          </p:spPr>
          <p:txBody>
            <a:bodyPr/>
            <a:lstStyle/>
            <a:p>
              <a:endParaRPr lang="de-AT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24140" y="4164001"/>
            <a:ext cx="6729777" cy="2868249"/>
            <a:chOff x="0" y="0"/>
            <a:chExt cx="1772452" cy="75542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72452" cy="755423"/>
            </a:xfrm>
            <a:custGeom>
              <a:avLst/>
              <a:gdLst/>
              <a:ahLst/>
              <a:cxnLst/>
              <a:rect l="l" t="t" r="r" b="b"/>
              <a:pathLst>
                <a:path w="1772452" h="755423">
                  <a:moveTo>
                    <a:pt x="31061" y="0"/>
                  </a:moveTo>
                  <a:lnTo>
                    <a:pt x="1741391" y="0"/>
                  </a:lnTo>
                  <a:cubicBezTo>
                    <a:pt x="1758545" y="0"/>
                    <a:pt x="1772452" y="13906"/>
                    <a:pt x="1772452" y="31061"/>
                  </a:cubicBezTo>
                  <a:lnTo>
                    <a:pt x="1772452" y="724363"/>
                  </a:lnTo>
                  <a:cubicBezTo>
                    <a:pt x="1772452" y="732601"/>
                    <a:pt x="1769179" y="740501"/>
                    <a:pt x="1763354" y="746326"/>
                  </a:cubicBezTo>
                  <a:cubicBezTo>
                    <a:pt x="1757529" y="752151"/>
                    <a:pt x="1749629" y="755423"/>
                    <a:pt x="1741391" y="755423"/>
                  </a:cubicBezTo>
                  <a:lnTo>
                    <a:pt x="31061" y="755423"/>
                  </a:lnTo>
                  <a:cubicBezTo>
                    <a:pt x="13906" y="755423"/>
                    <a:pt x="0" y="741517"/>
                    <a:pt x="0" y="724363"/>
                  </a:cubicBezTo>
                  <a:lnTo>
                    <a:pt x="0" y="31061"/>
                  </a:lnTo>
                  <a:cubicBezTo>
                    <a:pt x="0" y="13906"/>
                    <a:pt x="13906" y="0"/>
                    <a:pt x="31061" y="0"/>
                  </a:cubicBezTo>
                  <a:close/>
                </a:path>
              </a:pathLst>
            </a:custGeom>
            <a:ln w="28575" cap="rnd">
              <a:solidFill>
                <a:srgbClr val="0E2365"/>
              </a:solidFill>
              <a:prstDash val="solid"/>
              <a:round/>
            </a:ln>
          </p:spPr>
          <p:txBody>
            <a:bodyPr/>
            <a:lstStyle/>
            <a:p>
              <a:endParaRPr lang="de-A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772452" cy="7935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971712" y="4339815"/>
            <a:ext cx="5834436" cy="2462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Very small sample size (9 vs. 9)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Students were inexperienced with ChatGPT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Non-English writing task</a:t>
            </a:r>
          </a:p>
          <a:p>
            <a:pPr marL="604521" lvl="1" indent="-302261" algn="l">
              <a:lnSpc>
                <a:spcPts val="3920"/>
              </a:lnSpc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Short-term intervention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28798" y="4737727"/>
            <a:ext cx="1790683" cy="1720797"/>
            <a:chOff x="0" y="0"/>
            <a:chExt cx="2387578" cy="2294396"/>
          </a:xfrm>
        </p:grpSpPr>
        <p:grpSp>
          <p:nvGrpSpPr>
            <p:cNvPr id="18" name="Group 18"/>
            <p:cNvGrpSpPr/>
            <p:nvPr/>
          </p:nvGrpSpPr>
          <p:grpSpPr>
            <a:xfrm>
              <a:off x="332384" y="285794"/>
              <a:ext cx="1722809" cy="1722809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0" y="0"/>
              <a:ext cx="2387578" cy="2294396"/>
            </a:xfrm>
            <a:custGeom>
              <a:avLst/>
              <a:gdLst/>
              <a:ahLst/>
              <a:cxnLst/>
              <a:rect l="l" t="t" r="r" b="b"/>
              <a:pathLst>
                <a:path w="2387578" h="2294396">
                  <a:moveTo>
                    <a:pt x="0" y="0"/>
                  </a:moveTo>
                  <a:lnTo>
                    <a:pt x="2387578" y="0"/>
                  </a:lnTo>
                  <a:lnTo>
                    <a:pt x="2387578" y="2294396"/>
                  </a:lnTo>
                  <a:lnTo>
                    <a:pt x="0" y="2294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20384" r="-93783" b="-212215"/>
              </a:stretch>
            </a:blipFill>
          </p:spPr>
          <p:txBody>
            <a:bodyPr/>
            <a:lstStyle/>
            <a:p>
              <a:endParaRPr lang="de-AT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658897" y="603638"/>
              <a:ext cx="1069783" cy="1069783"/>
              <a:chOff x="0" y="0"/>
              <a:chExt cx="812800" cy="8128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F8F8"/>
              </a:solidFill>
            </p:spPr>
            <p:txBody>
              <a:bodyPr/>
              <a:lstStyle/>
              <a:p>
                <a:endParaRPr lang="de-AT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340203" y="536415"/>
              <a:ext cx="1707171" cy="131985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8307"/>
                </a:lnSpc>
              </a:pPr>
              <a:r>
                <a:rPr lang="en-US" sz="5934">
                  <a:solidFill>
                    <a:srgbClr val="0E2365"/>
                  </a:solidFill>
                  <a:latin typeface="Canva Student Font"/>
                  <a:ea typeface="Canva Student Font"/>
                  <a:cs typeface="Canva Student Font"/>
                  <a:sym typeface="Canva Student Font"/>
                </a:rPr>
                <a:t>X</a:t>
              </a:r>
            </a:p>
          </p:txBody>
        </p:sp>
      </p:grpSp>
      <p:sp>
        <p:nvSpPr>
          <p:cNvPr id="26" name="Freeform 26"/>
          <p:cNvSpPr/>
          <p:nvPr/>
        </p:nvSpPr>
        <p:spPr>
          <a:xfrm rot="-535869">
            <a:off x="11226228" y="7703363"/>
            <a:ext cx="3894554" cy="3582989"/>
          </a:xfrm>
          <a:custGeom>
            <a:avLst/>
            <a:gdLst/>
            <a:ahLst/>
            <a:cxnLst/>
            <a:rect l="l" t="t" r="r" b="b"/>
            <a:pathLst>
              <a:path w="3894554" h="3582989">
                <a:moveTo>
                  <a:pt x="0" y="0"/>
                </a:moveTo>
                <a:lnTo>
                  <a:pt x="3894554" y="0"/>
                </a:lnTo>
                <a:lnTo>
                  <a:pt x="3894554" y="3582990"/>
                </a:lnTo>
                <a:lnTo>
                  <a:pt x="0" y="358299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7" name="Freeform 27"/>
          <p:cNvSpPr/>
          <p:nvPr/>
        </p:nvSpPr>
        <p:spPr>
          <a:xfrm rot="-145680">
            <a:off x="3401939" y="8092896"/>
            <a:ext cx="3519250" cy="3330090"/>
          </a:xfrm>
          <a:custGeom>
            <a:avLst/>
            <a:gdLst/>
            <a:ahLst/>
            <a:cxnLst/>
            <a:rect l="l" t="t" r="r" b="b"/>
            <a:pathLst>
              <a:path w="3519250" h="3330090">
                <a:moveTo>
                  <a:pt x="0" y="0"/>
                </a:moveTo>
                <a:lnTo>
                  <a:pt x="3519250" y="0"/>
                </a:lnTo>
                <a:lnTo>
                  <a:pt x="3519250" y="3330091"/>
                </a:lnTo>
                <a:lnTo>
                  <a:pt x="0" y="33300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8" name="Freeform 28"/>
          <p:cNvSpPr/>
          <p:nvPr/>
        </p:nvSpPr>
        <p:spPr>
          <a:xfrm>
            <a:off x="-654506" y="7600646"/>
            <a:ext cx="3607581" cy="3476806"/>
          </a:xfrm>
          <a:custGeom>
            <a:avLst/>
            <a:gdLst/>
            <a:ahLst/>
            <a:cxnLst/>
            <a:rect l="l" t="t" r="r" b="b"/>
            <a:pathLst>
              <a:path w="3607581" h="3476806">
                <a:moveTo>
                  <a:pt x="0" y="0"/>
                </a:moveTo>
                <a:lnTo>
                  <a:pt x="3607581" y="0"/>
                </a:lnTo>
                <a:lnTo>
                  <a:pt x="3607581" y="3476806"/>
                </a:lnTo>
                <a:lnTo>
                  <a:pt x="0" y="3476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29" name="Freeform 29"/>
          <p:cNvSpPr/>
          <p:nvPr/>
        </p:nvSpPr>
        <p:spPr>
          <a:xfrm rot="359659">
            <a:off x="15708951" y="8173505"/>
            <a:ext cx="3100699" cy="3015430"/>
          </a:xfrm>
          <a:custGeom>
            <a:avLst/>
            <a:gdLst/>
            <a:ahLst/>
            <a:cxnLst/>
            <a:rect l="l" t="t" r="r" b="b"/>
            <a:pathLst>
              <a:path w="3100699" h="3015430">
                <a:moveTo>
                  <a:pt x="0" y="0"/>
                </a:moveTo>
                <a:lnTo>
                  <a:pt x="3100698" y="0"/>
                </a:lnTo>
                <a:lnTo>
                  <a:pt x="3100698" y="3015430"/>
                </a:lnTo>
                <a:lnTo>
                  <a:pt x="0" y="30154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0" name="Freeform 30"/>
          <p:cNvSpPr/>
          <p:nvPr/>
        </p:nvSpPr>
        <p:spPr>
          <a:xfrm rot="574447">
            <a:off x="7322967" y="8295921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6" y="0"/>
                </a:lnTo>
                <a:lnTo>
                  <a:pt x="3642066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1" name="TextBox 31"/>
          <p:cNvSpPr txBox="1"/>
          <p:nvPr/>
        </p:nvSpPr>
        <p:spPr>
          <a:xfrm>
            <a:off x="12113503" y="3537484"/>
            <a:ext cx="2951051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1">
                <a:solidFill>
                  <a:srgbClr val="000000"/>
                </a:solidFill>
                <a:latin typeface="Bricolage Grotesque Bold"/>
                <a:ea typeface="Bricolage Grotesque Bold"/>
                <a:cs typeface="Bricolage Grotesque Bold"/>
                <a:sym typeface="Bricolage Grotesque Bold"/>
              </a:rPr>
              <a:t>Limitations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56982" y="1133475"/>
            <a:ext cx="12404782" cy="1412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99"/>
              </a:lnSpc>
            </a:pPr>
            <a:r>
              <a:rPr lang="en-US" sz="9999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Why I Chose this STudy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66800" y="3538697"/>
            <a:ext cx="10344163" cy="4749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My master thesis focuses on ChatGPT and essay enhancement.</a:t>
            </a:r>
          </a:p>
          <a:p>
            <a:pPr algn="l">
              <a:lnSpc>
                <a:spcPts val="4300"/>
              </a:lnSpc>
              <a:spcAft>
                <a:spcPts val="1800"/>
              </a:spcAft>
            </a:pPr>
            <a:endParaRPr lang="en-US" sz="30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This study directly investigates AI-assisted essay writing.</a:t>
            </a:r>
          </a:p>
          <a:p>
            <a:pPr algn="l">
              <a:lnSpc>
                <a:spcPts val="4300"/>
              </a:lnSpc>
              <a:spcAft>
                <a:spcPts val="1800"/>
              </a:spcAft>
            </a:pPr>
            <a:endParaRPr lang="en-US" sz="3000" dirty="0">
              <a:solidFill>
                <a:srgbClr val="000000"/>
              </a:solidFill>
              <a:latin typeface="Bricolage Grotesque"/>
              <a:ea typeface="Bricolage Grotesque"/>
              <a:cs typeface="Bricolage Grotesque"/>
              <a:sym typeface="Bricolage Grotesque"/>
            </a:endParaRPr>
          </a:p>
          <a:p>
            <a:pPr marL="647700" lvl="1" indent="-323850" algn="l">
              <a:lnSpc>
                <a:spcPts val="4300"/>
              </a:lnSpc>
              <a:spcAft>
                <a:spcPts val="1800"/>
              </a:spcAft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ricolage Grotesque"/>
                <a:ea typeface="Bricolage Grotesque"/>
                <a:cs typeface="Bricolage Grotesque"/>
                <a:sym typeface="Bricolage Grotesque"/>
              </a:rPr>
              <a:t>It explores both benefits and limitations.</a:t>
            </a:r>
          </a:p>
        </p:txBody>
      </p:sp>
      <p:sp>
        <p:nvSpPr>
          <p:cNvPr id="4" name="Freeform 4"/>
          <p:cNvSpPr/>
          <p:nvPr/>
        </p:nvSpPr>
        <p:spPr>
          <a:xfrm>
            <a:off x="10820400" y="1028700"/>
            <a:ext cx="8302245" cy="8229600"/>
          </a:xfrm>
          <a:custGeom>
            <a:avLst/>
            <a:gdLst/>
            <a:ahLst/>
            <a:cxnLst/>
            <a:rect l="l" t="t" r="r" b="b"/>
            <a:pathLst>
              <a:path w="8302245" h="8229600">
                <a:moveTo>
                  <a:pt x="0" y="0"/>
                </a:moveTo>
                <a:lnTo>
                  <a:pt x="8302244" y="0"/>
                </a:lnTo>
                <a:lnTo>
                  <a:pt x="830224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91699">
            <a:off x="15311864" y="3220273"/>
            <a:ext cx="4154462" cy="3863649"/>
          </a:xfrm>
          <a:custGeom>
            <a:avLst/>
            <a:gdLst/>
            <a:ahLst/>
            <a:cxnLst/>
            <a:rect l="l" t="t" r="r" b="b"/>
            <a:pathLst>
              <a:path w="4154462" h="3863649">
                <a:moveTo>
                  <a:pt x="0" y="0"/>
                </a:moveTo>
                <a:lnTo>
                  <a:pt x="4154461" y="0"/>
                </a:lnTo>
                <a:lnTo>
                  <a:pt x="4154461" y="3863649"/>
                </a:lnTo>
                <a:lnTo>
                  <a:pt x="0" y="38636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3" name="Freeform 3"/>
          <p:cNvSpPr/>
          <p:nvPr/>
        </p:nvSpPr>
        <p:spPr>
          <a:xfrm rot="-284944">
            <a:off x="-828357" y="3007444"/>
            <a:ext cx="4096277" cy="3630325"/>
          </a:xfrm>
          <a:custGeom>
            <a:avLst/>
            <a:gdLst/>
            <a:ahLst/>
            <a:cxnLst/>
            <a:rect l="l" t="t" r="r" b="b"/>
            <a:pathLst>
              <a:path w="4096277" h="3630325">
                <a:moveTo>
                  <a:pt x="0" y="0"/>
                </a:moveTo>
                <a:lnTo>
                  <a:pt x="4096277" y="0"/>
                </a:lnTo>
                <a:lnTo>
                  <a:pt x="4096277" y="3630325"/>
                </a:lnTo>
                <a:lnTo>
                  <a:pt x="0" y="363032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4" name="Freeform 4"/>
          <p:cNvSpPr/>
          <p:nvPr/>
        </p:nvSpPr>
        <p:spPr>
          <a:xfrm rot="1061051">
            <a:off x="12662573" y="7240317"/>
            <a:ext cx="3642065" cy="3848946"/>
          </a:xfrm>
          <a:custGeom>
            <a:avLst/>
            <a:gdLst/>
            <a:ahLst/>
            <a:cxnLst/>
            <a:rect l="l" t="t" r="r" b="b"/>
            <a:pathLst>
              <a:path w="3642065" h="3848946">
                <a:moveTo>
                  <a:pt x="0" y="0"/>
                </a:moveTo>
                <a:lnTo>
                  <a:pt x="3642065" y="0"/>
                </a:lnTo>
                <a:lnTo>
                  <a:pt x="3642065" y="3848946"/>
                </a:lnTo>
                <a:lnTo>
                  <a:pt x="0" y="38489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5" name="Freeform 5"/>
          <p:cNvSpPr/>
          <p:nvPr/>
        </p:nvSpPr>
        <p:spPr>
          <a:xfrm rot="-411245">
            <a:off x="7229722" y="8180178"/>
            <a:ext cx="4476094" cy="3731943"/>
          </a:xfrm>
          <a:custGeom>
            <a:avLst/>
            <a:gdLst/>
            <a:ahLst/>
            <a:cxnLst/>
            <a:rect l="l" t="t" r="r" b="b"/>
            <a:pathLst>
              <a:path w="4476094" h="3731943">
                <a:moveTo>
                  <a:pt x="0" y="0"/>
                </a:moveTo>
                <a:lnTo>
                  <a:pt x="4476094" y="0"/>
                </a:lnTo>
                <a:lnTo>
                  <a:pt x="4476094" y="3731943"/>
                </a:lnTo>
                <a:lnTo>
                  <a:pt x="0" y="37319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6" name="Freeform 6"/>
          <p:cNvSpPr/>
          <p:nvPr/>
        </p:nvSpPr>
        <p:spPr>
          <a:xfrm rot="-474403">
            <a:off x="6959966" y="-2524910"/>
            <a:ext cx="4368067" cy="4329846"/>
          </a:xfrm>
          <a:custGeom>
            <a:avLst/>
            <a:gdLst/>
            <a:ahLst/>
            <a:cxnLst/>
            <a:rect l="l" t="t" r="r" b="b"/>
            <a:pathLst>
              <a:path w="4368067" h="4329846">
                <a:moveTo>
                  <a:pt x="0" y="0"/>
                </a:moveTo>
                <a:lnTo>
                  <a:pt x="4368068" y="0"/>
                </a:lnTo>
                <a:lnTo>
                  <a:pt x="4368068" y="4329846"/>
                </a:lnTo>
                <a:lnTo>
                  <a:pt x="0" y="43298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7" name="Freeform 7"/>
          <p:cNvSpPr/>
          <p:nvPr/>
        </p:nvSpPr>
        <p:spPr>
          <a:xfrm>
            <a:off x="2059461" y="7107532"/>
            <a:ext cx="4373018" cy="4214496"/>
          </a:xfrm>
          <a:custGeom>
            <a:avLst/>
            <a:gdLst/>
            <a:ahLst/>
            <a:cxnLst/>
            <a:rect l="l" t="t" r="r" b="b"/>
            <a:pathLst>
              <a:path w="4373018" h="4214496">
                <a:moveTo>
                  <a:pt x="0" y="0"/>
                </a:moveTo>
                <a:lnTo>
                  <a:pt x="4373018" y="0"/>
                </a:lnTo>
                <a:lnTo>
                  <a:pt x="4373018" y="4214496"/>
                </a:lnTo>
                <a:lnTo>
                  <a:pt x="0" y="4214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8" name="Freeform 8"/>
          <p:cNvSpPr/>
          <p:nvPr/>
        </p:nvSpPr>
        <p:spPr>
          <a:xfrm rot="356799">
            <a:off x="-2200203" y="7515623"/>
            <a:ext cx="3888820" cy="3485355"/>
          </a:xfrm>
          <a:custGeom>
            <a:avLst/>
            <a:gdLst/>
            <a:ahLst/>
            <a:cxnLst/>
            <a:rect l="l" t="t" r="r" b="b"/>
            <a:pathLst>
              <a:path w="3888820" h="3485355">
                <a:moveTo>
                  <a:pt x="0" y="0"/>
                </a:moveTo>
                <a:lnTo>
                  <a:pt x="3888820" y="0"/>
                </a:lnTo>
                <a:lnTo>
                  <a:pt x="3888820" y="3485354"/>
                </a:lnTo>
                <a:lnTo>
                  <a:pt x="0" y="34853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9" name="Freeform 9"/>
          <p:cNvSpPr/>
          <p:nvPr/>
        </p:nvSpPr>
        <p:spPr>
          <a:xfrm rot="675348">
            <a:off x="12487240" y="-563389"/>
            <a:ext cx="3789402" cy="3685194"/>
          </a:xfrm>
          <a:custGeom>
            <a:avLst/>
            <a:gdLst/>
            <a:ahLst/>
            <a:cxnLst/>
            <a:rect l="l" t="t" r="r" b="b"/>
            <a:pathLst>
              <a:path w="3789402" h="3685194">
                <a:moveTo>
                  <a:pt x="0" y="0"/>
                </a:moveTo>
                <a:lnTo>
                  <a:pt x="3789402" y="0"/>
                </a:lnTo>
                <a:lnTo>
                  <a:pt x="3789402" y="3685193"/>
                </a:lnTo>
                <a:lnTo>
                  <a:pt x="0" y="3685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0" name="Freeform 10"/>
          <p:cNvSpPr/>
          <p:nvPr/>
        </p:nvSpPr>
        <p:spPr>
          <a:xfrm rot="710027">
            <a:off x="2194216" y="-882445"/>
            <a:ext cx="4057937" cy="3692723"/>
          </a:xfrm>
          <a:custGeom>
            <a:avLst/>
            <a:gdLst/>
            <a:ahLst/>
            <a:cxnLst/>
            <a:rect l="l" t="t" r="r" b="b"/>
            <a:pathLst>
              <a:path w="4057937" h="3692723">
                <a:moveTo>
                  <a:pt x="0" y="0"/>
                </a:moveTo>
                <a:lnTo>
                  <a:pt x="4057938" y="0"/>
                </a:lnTo>
                <a:lnTo>
                  <a:pt x="4057938" y="3692723"/>
                </a:lnTo>
                <a:lnTo>
                  <a:pt x="0" y="36927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1" name="Freeform 11"/>
          <p:cNvSpPr/>
          <p:nvPr/>
        </p:nvSpPr>
        <p:spPr>
          <a:xfrm rot="261574">
            <a:off x="16941865" y="-1490132"/>
            <a:ext cx="3763596" cy="3792036"/>
          </a:xfrm>
          <a:custGeom>
            <a:avLst/>
            <a:gdLst/>
            <a:ahLst/>
            <a:cxnLst/>
            <a:rect l="l" t="t" r="r" b="b"/>
            <a:pathLst>
              <a:path w="3763596" h="3792036">
                <a:moveTo>
                  <a:pt x="0" y="0"/>
                </a:moveTo>
                <a:lnTo>
                  <a:pt x="3763596" y="0"/>
                </a:lnTo>
                <a:lnTo>
                  <a:pt x="3763596" y="3792036"/>
                </a:lnTo>
                <a:lnTo>
                  <a:pt x="0" y="37920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2" name="TextBox 12"/>
          <p:cNvSpPr txBox="1"/>
          <p:nvPr/>
        </p:nvSpPr>
        <p:spPr>
          <a:xfrm>
            <a:off x="4000684" y="3948157"/>
            <a:ext cx="10286632" cy="2503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86"/>
              </a:lnSpc>
            </a:pPr>
            <a:r>
              <a:rPr lang="en-US" sz="9052" dirty="0">
                <a:solidFill>
                  <a:srgbClr val="558DFD"/>
                </a:solidFill>
                <a:latin typeface="Bobby Jones Soft"/>
                <a:ea typeface="Bobby Jones Soft"/>
                <a:cs typeface="Bobby Jones Soft"/>
                <a:sym typeface="Bobby Jones Soft"/>
              </a:rPr>
              <a:t>Thanks for listening!</a:t>
            </a:r>
          </a:p>
        </p:txBody>
      </p:sp>
      <p:sp>
        <p:nvSpPr>
          <p:cNvPr id="13" name="Freeform 13"/>
          <p:cNvSpPr/>
          <p:nvPr/>
        </p:nvSpPr>
        <p:spPr>
          <a:xfrm>
            <a:off x="-2075123" y="-1202141"/>
            <a:ext cx="3294905" cy="3163108"/>
          </a:xfrm>
          <a:custGeom>
            <a:avLst/>
            <a:gdLst/>
            <a:ahLst/>
            <a:cxnLst/>
            <a:rect l="l" t="t" r="r" b="b"/>
            <a:pathLst>
              <a:path w="3294905" h="3163108">
                <a:moveTo>
                  <a:pt x="0" y="0"/>
                </a:moveTo>
                <a:lnTo>
                  <a:pt x="3294904" y="0"/>
                </a:lnTo>
                <a:lnTo>
                  <a:pt x="3294904" y="3163108"/>
                </a:lnTo>
                <a:lnTo>
                  <a:pt x="0" y="31631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AT"/>
          </a:p>
        </p:txBody>
      </p:sp>
      <p:sp>
        <p:nvSpPr>
          <p:cNvPr id="14" name="Freeform 14"/>
          <p:cNvSpPr/>
          <p:nvPr/>
        </p:nvSpPr>
        <p:spPr>
          <a:xfrm rot="-503037">
            <a:off x="17148200" y="7696708"/>
            <a:ext cx="3294905" cy="2230322"/>
          </a:xfrm>
          <a:custGeom>
            <a:avLst/>
            <a:gdLst/>
            <a:ahLst/>
            <a:cxnLst/>
            <a:rect l="l" t="t" r="r" b="b"/>
            <a:pathLst>
              <a:path w="3294905" h="2230322">
                <a:moveTo>
                  <a:pt x="0" y="0"/>
                </a:moveTo>
                <a:lnTo>
                  <a:pt x="3294904" y="0"/>
                </a:lnTo>
                <a:lnTo>
                  <a:pt x="3294904" y="2230322"/>
                </a:lnTo>
                <a:lnTo>
                  <a:pt x="0" y="22303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b="-41822"/>
            </a:stretch>
          </a:blipFill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</Words>
  <Application>Microsoft Office PowerPoint</Application>
  <PresentationFormat>Benutzerdefiniert</PresentationFormat>
  <Paragraphs>53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4" baseType="lpstr">
      <vt:lpstr>Bobby Jones Soft</vt:lpstr>
      <vt:lpstr>Canva Student Font</vt:lpstr>
      <vt:lpstr>Arial</vt:lpstr>
      <vt:lpstr>Bricolage Grotesque Bold</vt:lpstr>
      <vt:lpstr>Bricolage Grotesque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ChatGPT-3.5 as writing assistance in students’ essays</dc:title>
  <cp:lastModifiedBy>Knes, Christina Sophie</cp:lastModifiedBy>
  <cp:revision>2</cp:revision>
  <dcterms:created xsi:type="dcterms:W3CDTF">2006-08-16T00:00:00Z</dcterms:created>
  <dcterms:modified xsi:type="dcterms:W3CDTF">2026-05-18T17:11:32Z</dcterms:modified>
  <dc:identifier>DAHKBqdqDkY</dc:identifier>
</cp:coreProperties>
</file>