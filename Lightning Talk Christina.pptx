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Bobby Jones Soft" panose="020B0604020202020204" charset="0"/>
      <p:regular r:id="rId10"/>
    </p:embeddedFont>
    <p:embeddedFont>
      <p:font typeface="Bricolage Grotesque" panose="020B0604020202020204" charset="0"/>
      <p:regular r:id="rId11"/>
    </p:embeddedFont>
    <p:embeddedFont>
      <p:font typeface="Bricolage Grotesque Bold" panose="020B0604020202020204" charset="0"/>
      <p:regular r:id="rId12"/>
    </p:embeddedFont>
    <p:embeddedFont>
      <p:font typeface="Canva Student Font" panose="020B0604020202020204" charset="0"/>
      <p:regular r:id="rId13"/>
    </p:embeddedFont>
    <p:embeddedFont>
      <p:font typeface="Segoe UI" panose="020B0502040204020203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8A810B-C379-4C8B-B534-293CCBD759B1}" v="65" dt="2026-06-16T14:34:57.3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5033" autoAdjust="0"/>
  </p:normalViewPr>
  <p:slideViewPr>
    <p:cSldViewPr>
      <p:cViewPr varScale="1">
        <p:scale>
          <a:sx n="55" d="100"/>
          <a:sy n="55" d="100"/>
        </p:scale>
        <p:origin x="658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microsoft.com/office/2015/10/relationships/revisionInfo" Target="revisionInfo.xml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na Knes" userId="7e9737a164333dbd" providerId="LiveId" clId="{72053980-4108-4AED-A5B7-3290F7F82C69}"/>
    <pc:docChg chg="undo custSel modSld">
      <pc:chgData name="Christina Knes" userId="7e9737a164333dbd" providerId="LiveId" clId="{72053980-4108-4AED-A5B7-3290F7F82C69}" dt="2026-06-16T14:34:57.367" v="313" actId="113"/>
      <pc:docMkLst>
        <pc:docMk/>
      </pc:docMkLst>
      <pc:sldChg chg="modSp mod modAnim modNotesTx">
        <pc:chgData name="Christina Knes" userId="7e9737a164333dbd" providerId="LiveId" clId="{72053980-4108-4AED-A5B7-3290F7F82C69}" dt="2026-06-15T15:54:25.112" v="261" actId="20577"/>
        <pc:sldMkLst>
          <pc:docMk/>
          <pc:sldMk cId="0" sldId="256"/>
        </pc:sldMkLst>
        <pc:spChg chg="mod">
          <ac:chgData name="Christina Knes" userId="7e9737a164333dbd" providerId="LiveId" clId="{72053980-4108-4AED-A5B7-3290F7F82C69}" dt="2026-06-09T08:30:01.882" v="2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Christina Knes" userId="7e9737a164333dbd" providerId="LiveId" clId="{72053980-4108-4AED-A5B7-3290F7F82C69}" dt="2026-06-09T08:30:21.465" v="8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Christina Knes" userId="7e9737a164333dbd" providerId="LiveId" clId="{72053980-4108-4AED-A5B7-3290F7F82C69}" dt="2026-06-09T08:30:07.044" v="4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Christina Knes" userId="7e9737a164333dbd" providerId="LiveId" clId="{72053980-4108-4AED-A5B7-3290F7F82C69}" dt="2026-06-09T08:30:11.840" v="5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Christina Knes" userId="7e9737a164333dbd" providerId="LiveId" clId="{72053980-4108-4AED-A5B7-3290F7F82C69}" dt="2026-06-09T08:29:19.573" v="0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Christina Knes" userId="7e9737a164333dbd" providerId="LiveId" clId="{72053980-4108-4AED-A5B7-3290F7F82C69}" dt="2026-06-09T08:30:14.386" v="6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Christina Knes" userId="7e9737a164333dbd" providerId="LiveId" clId="{72053980-4108-4AED-A5B7-3290F7F82C69}" dt="2026-06-09T08:30:17.718" v="7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Christina Knes" userId="7e9737a164333dbd" providerId="LiveId" clId="{72053980-4108-4AED-A5B7-3290F7F82C69}" dt="2026-06-09T08:29:21.563" v="1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Christina Knes" userId="7e9737a164333dbd" providerId="LiveId" clId="{72053980-4108-4AED-A5B7-3290F7F82C69}" dt="2026-06-09T08:30:25.382" v="10" actId="107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Christina Knes" userId="7e9737a164333dbd" providerId="LiveId" clId="{72053980-4108-4AED-A5B7-3290F7F82C69}" dt="2026-06-09T08:30:23.124" v="9" actId="1076"/>
          <ac:spMkLst>
            <pc:docMk/>
            <pc:sldMk cId="0" sldId="256"/>
            <ac:spMk id="14" creationId="{00000000-0000-0000-0000-000000000000}"/>
          </ac:spMkLst>
        </pc:spChg>
        <pc:spChg chg="mod">
          <ac:chgData name="Christina Knes" userId="7e9737a164333dbd" providerId="LiveId" clId="{72053980-4108-4AED-A5B7-3290F7F82C69}" dt="2026-06-09T08:30:04.732" v="3" actId="1076"/>
          <ac:spMkLst>
            <pc:docMk/>
            <pc:sldMk cId="0" sldId="256"/>
            <ac:spMk id="15" creationId="{00000000-0000-0000-0000-000000000000}"/>
          </ac:spMkLst>
        </pc:spChg>
      </pc:sldChg>
      <pc:sldChg chg="modSp mod addAnim delAnim modAnim modNotesTx">
        <pc:chgData name="Christina Knes" userId="7e9737a164333dbd" providerId="LiveId" clId="{72053980-4108-4AED-A5B7-3290F7F82C69}" dt="2026-06-15T15:40:53.228" v="255" actId="20577"/>
        <pc:sldMkLst>
          <pc:docMk/>
          <pc:sldMk cId="0" sldId="257"/>
        </pc:sldMkLst>
        <pc:spChg chg="mod">
          <ac:chgData name="Christina Knes" userId="7e9737a164333dbd" providerId="LiveId" clId="{72053980-4108-4AED-A5B7-3290F7F82C69}" dt="2026-06-09T08:43:33.008" v="118" actId="1036"/>
          <ac:spMkLst>
            <pc:docMk/>
            <pc:sldMk cId="0" sldId="257"/>
            <ac:spMk id="2" creationId="{00000000-0000-0000-0000-000000000000}"/>
          </ac:spMkLst>
        </pc:spChg>
        <pc:spChg chg="mod">
          <ac:chgData name="Christina Knes" userId="7e9737a164333dbd" providerId="LiveId" clId="{72053980-4108-4AED-A5B7-3290F7F82C69}" dt="2026-06-09T08:31:09.424" v="15" actId="1076"/>
          <ac:spMkLst>
            <pc:docMk/>
            <pc:sldMk cId="0" sldId="257"/>
            <ac:spMk id="3" creationId="{00000000-0000-0000-0000-000000000000}"/>
          </ac:spMkLst>
        </pc:spChg>
        <pc:spChg chg="mod">
          <ac:chgData name="Christina Knes" userId="7e9737a164333dbd" providerId="LiveId" clId="{72053980-4108-4AED-A5B7-3290F7F82C69}" dt="2026-06-09T08:31:06.243" v="14" actId="1076"/>
          <ac:spMkLst>
            <pc:docMk/>
            <pc:sldMk cId="0" sldId="257"/>
            <ac:spMk id="5" creationId="{00000000-0000-0000-0000-000000000000}"/>
          </ac:spMkLst>
        </pc:spChg>
        <pc:spChg chg="mod">
          <ac:chgData name="Christina Knes" userId="7e9737a164333dbd" providerId="LiveId" clId="{72053980-4108-4AED-A5B7-3290F7F82C69}" dt="2026-06-09T08:31:19.069" v="16" actId="1076"/>
          <ac:spMkLst>
            <pc:docMk/>
            <pc:sldMk cId="0" sldId="257"/>
            <ac:spMk id="6" creationId="{00000000-0000-0000-0000-000000000000}"/>
          </ac:spMkLst>
        </pc:spChg>
      </pc:sldChg>
      <pc:sldChg chg="delSp modSp mod addAnim delAnim modAnim modNotesTx">
        <pc:chgData name="Christina Knes" userId="7e9737a164333dbd" providerId="LiveId" clId="{72053980-4108-4AED-A5B7-3290F7F82C69}" dt="2026-06-16T14:34:57.367" v="313" actId="113"/>
        <pc:sldMkLst>
          <pc:docMk/>
          <pc:sldMk cId="0" sldId="258"/>
        </pc:sldMkLst>
        <pc:spChg chg="mod">
          <ac:chgData name="Christina Knes" userId="7e9737a164333dbd" providerId="LiveId" clId="{72053980-4108-4AED-A5B7-3290F7F82C69}" dt="2026-06-16T14:31:47.459" v="284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Christina Knes" userId="7e9737a164333dbd" providerId="LiveId" clId="{72053980-4108-4AED-A5B7-3290F7F82C69}" dt="2026-06-16T14:31:47.459" v="284" actId="1076"/>
          <ac:spMkLst>
            <pc:docMk/>
            <pc:sldMk cId="0" sldId="258"/>
            <ac:spMk id="6" creationId="{00000000-0000-0000-0000-000000000000}"/>
          </ac:spMkLst>
        </pc:spChg>
        <pc:spChg chg="mod">
          <ac:chgData name="Christina Knes" userId="7e9737a164333dbd" providerId="LiveId" clId="{72053980-4108-4AED-A5B7-3290F7F82C69}" dt="2026-06-16T14:32:02.273" v="285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Christina Knes" userId="7e9737a164333dbd" providerId="LiveId" clId="{72053980-4108-4AED-A5B7-3290F7F82C69}" dt="2026-06-09T08:43:14.642" v="113" actId="1076"/>
          <ac:spMkLst>
            <pc:docMk/>
            <pc:sldMk cId="0" sldId="258"/>
            <ac:spMk id="8" creationId="{00000000-0000-0000-0000-000000000000}"/>
          </ac:spMkLst>
        </pc:spChg>
        <pc:spChg chg="mod">
          <ac:chgData name="Christina Knes" userId="7e9737a164333dbd" providerId="LiveId" clId="{72053980-4108-4AED-A5B7-3290F7F82C69}" dt="2026-06-09T08:43:14.642" v="113" actId="1076"/>
          <ac:spMkLst>
            <pc:docMk/>
            <pc:sldMk cId="0" sldId="258"/>
            <ac:spMk id="9" creationId="{00000000-0000-0000-0000-000000000000}"/>
          </ac:spMkLst>
        </pc:spChg>
        <pc:spChg chg="mod">
          <ac:chgData name="Christina Knes" userId="7e9737a164333dbd" providerId="LiveId" clId="{72053980-4108-4AED-A5B7-3290F7F82C69}" dt="2026-06-16T14:34:38.044" v="309" actId="113"/>
          <ac:spMkLst>
            <pc:docMk/>
            <pc:sldMk cId="0" sldId="258"/>
            <ac:spMk id="10" creationId="{00000000-0000-0000-0000-000000000000}"/>
          </ac:spMkLst>
        </pc:spChg>
        <pc:spChg chg="mod">
          <ac:chgData name="Christina Knes" userId="7e9737a164333dbd" providerId="LiveId" clId="{72053980-4108-4AED-A5B7-3290F7F82C69}" dt="2026-06-16T14:31:23.632" v="281" actId="107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Christina Knes" userId="7e9737a164333dbd" providerId="LiveId" clId="{72053980-4108-4AED-A5B7-3290F7F82C69}" dt="2026-06-16T14:34:34.801" v="308" actId="113"/>
          <ac:spMkLst>
            <pc:docMk/>
            <pc:sldMk cId="0" sldId="258"/>
            <ac:spMk id="16" creationId="{00000000-0000-0000-0000-000000000000}"/>
          </ac:spMkLst>
        </pc:spChg>
        <pc:spChg chg="mod">
          <ac:chgData name="Christina Knes" userId="7e9737a164333dbd" providerId="LiveId" clId="{72053980-4108-4AED-A5B7-3290F7F82C69}" dt="2026-06-16T14:34:47.222" v="311" actId="113"/>
          <ac:spMkLst>
            <pc:docMk/>
            <pc:sldMk cId="0" sldId="258"/>
            <ac:spMk id="17" creationId="{00000000-0000-0000-0000-000000000000}"/>
          </ac:spMkLst>
        </pc:spChg>
        <pc:spChg chg="mod">
          <ac:chgData name="Christina Knes" userId="7e9737a164333dbd" providerId="LiveId" clId="{72053980-4108-4AED-A5B7-3290F7F82C69}" dt="2026-06-16T14:34:57.367" v="313" actId="113"/>
          <ac:spMkLst>
            <pc:docMk/>
            <pc:sldMk cId="0" sldId="258"/>
            <ac:spMk id="18" creationId="{00000000-0000-0000-0000-000000000000}"/>
          </ac:spMkLst>
        </pc:spChg>
        <pc:grpChg chg="mod">
          <ac:chgData name="Christina Knes" userId="7e9737a164333dbd" providerId="LiveId" clId="{72053980-4108-4AED-A5B7-3290F7F82C69}" dt="2026-06-16T14:31:47.459" v="284" actId="1076"/>
          <ac:grpSpMkLst>
            <pc:docMk/>
            <pc:sldMk cId="0" sldId="258"/>
            <ac:grpSpMk id="3" creationId="{00000000-0000-0000-0000-000000000000}"/>
          </ac:grpSpMkLst>
        </pc:grpChg>
      </pc:sldChg>
      <pc:sldChg chg="modNotesTx">
        <pc:chgData name="Christina Knes" userId="7e9737a164333dbd" providerId="LiveId" clId="{72053980-4108-4AED-A5B7-3290F7F82C69}" dt="2026-06-15T15:54:41.833" v="263" actId="20577"/>
        <pc:sldMkLst>
          <pc:docMk/>
          <pc:sldMk cId="0" sldId="259"/>
        </pc:sldMkLst>
      </pc:sldChg>
      <pc:sldChg chg="modSp mod modAnim modNotesTx">
        <pc:chgData name="Christina Knes" userId="7e9737a164333dbd" providerId="LiveId" clId="{72053980-4108-4AED-A5B7-3290F7F82C69}" dt="2026-06-15T15:55:01.062" v="266" actId="20577"/>
        <pc:sldMkLst>
          <pc:docMk/>
          <pc:sldMk cId="0" sldId="260"/>
        </pc:sldMkLst>
        <pc:spChg chg="mod">
          <ac:chgData name="Christina Knes" userId="7e9737a164333dbd" providerId="LiveId" clId="{72053980-4108-4AED-A5B7-3290F7F82C69}" dt="2026-06-09T08:37:47.403" v="31" actId="1036"/>
          <ac:spMkLst>
            <pc:docMk/>
            <pc:sldMk cId="0" sldId="260"/>
            <ac:spMk id="26" creationId="{00000000-0000-0000-0000-000000000000}"/>
          </ac:spMkLst>
        </pc:spChg>
        <pc:spChg chg="mod">
          <ac:chgData name="Christina Knes" userId="7e9737a164333dbd" providerId="LiveId" clId="{72053980-4108-4AED-A5B7-3290F7F82C69}" dt="2026-06-09T08:37:53.649" v="39" actId="1036"/>
          <ac:spMkLst>
            <pc:docMk/>
            <pc:sldMk cId="0" sldId="260"/>
            <ac:spMk id="27" creationId="{00000000-0000-0000-0000-000000000000}"/>
          </ac:spMkLst>
        </pc:spChg>
        <pc:spChg chg="mod">
          <ac:chgData name="Christina Knes" userId="7e9737a164333dbd" providerId="LiveId" clId="{72053980-4108-4AED-A5B7-3290F7F82C69}" dt="2026-06-09T08:37:59.110" v="47" actId="1035"/>
          <ac:spMkLst>
            <pc:docMk/>
            <pc:sldMk cId="0" sldId="260"/>
            <ac:spMk id="28" creationId="{00000000-0000-0000-0000-000000000000}"/>
          </ac:spMkLst>
        </pc:spChg>
        <pc:spChg chg="mod">
          <ac:chgData name="Christina Knes" userId="7e9737a164333dbd" providerId="LiveId" clId="{72053980-4108-4AED-A5B7-3290F7F82C69}" dt="2026-06-09T08:36:27.710" v="28" actId="1076"/>
          <ac:spMkLst>
            <pc:docMk/>
            <pc:sldMk cId="0" sldId="260"/>
            <ac:spMk id="29" creationId="{00000000-0000-0000-0000-000000000000}"/>
          </ac:spMkLst>
        </pc:spChg>
        <pc:spChg chg="mod">
          <ac:chgData name="Christina Knes" userId="7e9737a164333dbd" providerId="LiveId" clId="{72053980-4108-4AED-A5B7-3290F7F82C69}" dt="2026-06-09T08:37:50.518" v="34" actId="1036"/>
          <ac:spMkLst>
            <pc:docMk/>
            <pc:sldMk cId="0" sldId="260"/>
            <ac:spMk id="30" creationId="{00000000-0000-0000-0000-000000000000}"/>
          </ac:spMkLst>
        </pc:spChg>
      </pc:sldChg>
      <pc:sldChg chg="modSp mod modAnim modNotesTx">
        <pc:chgData name="Christina Knes" userId="7e9737a164333dbd" providerId="LiveId" clId="{72053980-4108-4AED-A5B7-3290F7F82C69}" dt="2026-06-15T15:55:08.701" v="268" actId="20577"/>
        <pc:sldMkLst>
          <pc:docMk/>
          <pc:sldMk cId="0" sldId="261"/>
        </pc:sldMkLst>
        <pc:spChg chg="mod">
          <ac:chgData name="Christina Knes" userId="7e9737a164333dbd" providerId="LiveId" clId="{72053980-4108-4AED-A5B7-3290F7F82C69}" dt="2026-06-09T08:41:04.858" v="95" actId="20577"/>
          <ac:spMkLst>
            <pc:docMk/>
            <pc:sldMk cId="0" sldId="261"/>
            <ac:spMk id="3" creationId="{00000000-0000-0000-0000-000000000000}"/>
          </ac:spMkLst>
        </pc:spChg>
        <pc:spChg chg="mod">
          <ac:chgData name="Christina Knes" userId="7e9737a164333dbd" providerId="LiveId" clId="{72053980-4108-4AED-A5B7-3290F7F82C69}" dt="2026-06-09T08:38:10.023" v="48" actId="1076"/>
          <ac:spMkLst>
            <pc:docMk/>
            <pc:sldMk cId="0" sldId="261"/>
            <ac:spMk id="4" creationId="{00000000-0000-0000-0000-000000000000}"/>
          </ac:spMkLst>
        </pc:spChg>
      </pc:sldChg>
      <pc:sldChg chg="addSp modSp mod modNotesTx">
        <pc:chgData name="Christina Knes" userId="7e9737a164333dbd" providerId="LiveId" clId="{72053980-4108-4AED-A5B7-3290F7F82C69}" dt="2026-06-15T15:55:17.928" v="272" actId="20577"/>
        <pc:sldMkLst>
          <pc:docMk/>
          <pc:sldMk cId="0" sldId="262"/>
        </pc:sldMkLst>
        <pc:spChg chg="mod">
          <ac:chgData name="Christina Knes" userId="7e9737a164333dbd" providerId="LiveId" clId="{72053980-4108-4AED-A5B7-3290F7F82C69}" dt="2026-06-09T08:40:30.593" v="80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Christina Knes" userId="7e9737a164333dbd" providerId="LiveId" clId="{72053980-4108-4AED-A5B7-3290F7F82C69}" dt="2026-06-09T08:40:19.787" v="76" actId="1076"/>
          <ac:spMkLst>
            <pc:docMk/>
            <pc:sldMk cId="0" sldId="262"/>
            <ac:spMk id="3" creationId="{00000000-0000-0000-0000-000000000000}"/>
          </ac:spMkLst>
        </pc:spChg>
        <pc:spChg chg="mod">
          <ac:chgData name="Christina Knes" userId="7e9737a164333dbd" providerId="LiveId" clId="{72053980-4108-4AED-A5B7-3290F7F82C69}" dt="2026-06-09T08:40:13.422" v="72" actId="1076"/>
          <ac:spMkLst>
            <pc:docMk/>
            <pc:sldMk cId="0" sldId="262"/>
            <ac:spMk id="4" creationId="{00000000-0000-0000-0000-000000000000}"/>
          </ac:spMkLst>
        </pc:spChg>
        <pc:spChg chg="mod">
          <ac:chgData name="Christina Knes" userId="7e9737a164333dbd" providerId="LiveId" clId="{72053980-4108-4AED-A5B7-3290F7F82C69}" dt="2026-06-09T08:40:16.851" v="74" actId="1076"/>
          <ac:spMkLst>
            <pc:docMk/>
            <pc:sldMk cId="0" sldId="262"/>
            <ac:spMk id="5" creationId="{00000000-0000-0000-0000-000000000000}"/>
          </ac:spMkLst>
        </pc:spChg>
        <pc:spChg chg="mod">
          <ac:chgData name="Christina Knes" userId="7e9737a164333dbd" providerId="LiveId" clId="{72053980-4108-4AED-A5B7-3290F7F82C69}" dt="2026-06-09T08:40:27.388" v="78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Christina Knes" userId="7e9737a164333dbd" providerId="LiveId" clId="{72053980-4108-4AED-A5B7-3290F7F82C69}" dt="2026-06-09T08:40:18.456" v="75" actId="1076"/>
          <ac:spMkLst>
            <pc:docMk/>
            <pc:sldMk cId="0" sldId="262"/>
            <ac:spMk id="7" creationId="{00000000-0000-0000-0000-000000000000}"/>
          </ac:spMkLst>
        </pc:spChg>
        <pc:spChg chg="mod">
          <ac:chgData name="Christina Knes" userId="7e9737a164333dbd" providerId="LiveId" clId="{72053980-4108-4AED-A5B7-3290F7F82C69}" dt="2026-06-09T08:40:29.200" v="79" actId="1076"/>
          <ac:spMkLst>
            <pc:docMk/>
            <pc:sldMk cId="0" sldId="262"/>
            <ac:spMk id="9" creationId="{00000000-0000-0000-0000-000000000000}"/>
          </ac:spMkLst>
        </pc:spChg>
        <pc:spChg chg="mod">
          <ac:chgData name="Christina Knes" userId="7e9737a164333dbd" providerId="LiveId" clId="{72053980-4108-4AED-A5B7-3290F7F82C69}" dt="2026-06-09T08:40:25.875" v="77" actId="107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Christina Knes" userId="7e9737a164333dbd" providerId="LiveId" clId="{72053980-4108-4AED-A5B7-3290F7F82C69}" dt="2026-06-09T08:40:14.843" v="73" actId="1076"/>
          <ac:spMkLst>
            <pc:docMk/>
            <pc:sldMk cId="0" sldId="262"/>
            <ac:spMk id="14" creationId="{00000000-0000-0000-0000-000000000000}"/>
          </ac:spMkLst>
        </pc:spChg>
        <pc:spChg chg="add mod">
          <ac:chgData name="Christina Knes" userId="7e9737a164333dbd" providerId="LiveId" clId="{72053980-4108-4AED-A5B7-3290F7F82C69}" dt="2026-06-09T08:40:37.397" v="81" actId="1076"/>
          <ac:spMkLst>
            <pc:docMk/>
            <pc:sldMk cId="0" sldId="262"/>
            <ac:spMk id="16" creationId="{991D8DE7-5AF2-F117-76F1-3EE3ECF5180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AA80C1-B10E-441C-98F7-90D0E5C9B104}" type="datetimeFigureOut">
              <a:rPr lang="de-AT" smtClean="0"/>
              <a:t>16.06.2026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333A25-CDC0-4883-9EA4-6C77BD01CB0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603412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/>
              <a:t>Hello </a:t>
            </a:r>
            <a:r>
              <a:rPr lang="de-AT" dirty="0" err="1"/>
              <a:t>everyone</a:t>
            </a:r>
            <a:r>
              <a:rPr lang="de-AT" dirty="0"/>
              <a:t>,</a:t>
            </a:r>
          </a:p>
          <a:p>
            <a:endParaRPr lang="de-AT" dirty="0"/>
          </a:p>
          <a:p>
            <a:r>
              <a:rPr lang="de-AT" dirty="0" err="1"/>
              <a:t>today</a:t>
            </a:r>
            <a:r>
              <a:rPr lang="de-AT" dirty="0"/>
              <a:t> I will </a:t>
            </a:r>
            <a:r>
              <a:rPr lang="de-AT" dirty="0" err="1"/>
              <a:t>present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study</a:t>
            </a:r>
            <a:r>
              <a:rPr lang="de-AT" dirty="0"/>
              <a:t> </a:t>
            </a:r>
            <a:r>
              <a:rPr lang="de-AT" i="1" dirty="0"/>
              <a:t>“ChatGPT-3.5 </a:t>
            </a:r>
            <a:r>
              <a:rPr lang="de-AT" i="1" dirty="0" err="1"/>
              <a:t>as</a:t>
            </a:r>
            <a:r>
              <a:rPr lang="de-AT" i="1" dirty="0"/>
              <a:t> Writing Assistance in </a:t>
            </a:r>
            <a:r>
              <a:rPr lang="de-AT" i="1" dirty="0" err="1"/>
              <a:t>Students</a:t>
            </a:r>
            <a:r>
              <a:rPr lang="de-AT" i="1" dirty="0"/>
              <a:t>’ Essays”</a:t>
            </a:r>
            <a:r>
              <a:rPr lang="de-AT" dirty="0"/>
              <a:t> </a:t>
            </a:r>
            <a:r>
              <a:rPr lang="de-AT" dirty="0" err="1"/>
              <a:t>by</a:t>
            </a:r>
            <a:r>
              <a:rPr lang="de-AT" dirty="0"/>
              <a:t> Bašić and </a:t>
            </a:r>
            <a:r>
              <a:rPr lang="de-AT" dirty="0" err="1"/>
              <a:t>colleagues</a:t>
            </a:r>
            <a:r>
              <a:rPr lang="de-AT" dirty="0"/>
              <a:t>, </a:t>
            </a:r>
            <a:r>
              <a:rPr lang="de-AT" dirty="0" err="1"/>
              <a:t>published</a:t>
            </a:r>
            <a:r>
              <a:rPr lang="de-AT" dirty="0"/>
              <a:t> in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year</a:t>
            </a:r>
            <a:r>
              <a:rPr lang="de-AT" dirty="0"/>
              <a:t> 2023, so </a:t>
            </a:r>
            <a:r>
              <a:rPr lang="de-AT" dirty="0" err="1"/>
              <a:t>we</a:t>
            </a:r>
            <a:r>
              <a:rPr lang="de-AT" dirty="0"/>
              <a:t> </a:t>
            </a:r>
            <a:r>
              <a:rPr lang="de-AT" dirty="0" err="1"/>
              <a:t>can</a:t>
            </a:r>
            <a:r>
              <a:rPr lang="de-AT" dirty="0"/>
              <a:t> </a:t>
            </a:r>
            <a:r>
              <a:rPr lang="de-AT" dirty="0" err="1"/>
              <a:t>say</a:t>
            </a:r>
            <a:r>
              <a:rPr lang="de-AT" dirty="0"/>
              <a:t> </a:t>
            </a:r>
            <a:r>
              <a:rPr lang="de-AT" dirty="0" err="1"/>
              <a:t>that</a:t>
            </a:r>
            <a:r>
              <a:rPr lang="de-AT" dirty="0"/>
              <a:t> </a:t>
            </a:r>
            <a:r>
              <a:rPr lang="de-AT" dirty="0" err="1"/>
              <a:t>it</a:t>
            </a:r>
            <a:r>
              <a:rPr lang="de-AT" dirty="0"/>
              <a:t> </a:t>
            </a:r>
            <a:r>
              <a:rPr lang="de-AT" dirty="0" err="1"/>
              <a:t>is</a:t>
            </a:r>
            <a:r>
              <a:rPr lang="de-AT" dirty="0"/>
              <a:t> </a:t>
            </a:r>
            <a:r>
              <a:rPr lang="de-AT" dirty="0" err="1"/>
              <a:t>one</a:t>
            </a:r>
            <a:r>
              <a:rPr lang="de-AT" dirty="0"/>
              <a:t>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earlier</a:t>
            </a:r>
            <a:r>
              <a:rPr lang="de-AT" dirty="0"/>
              <a:t> </a:t>
            </a:r>
            <a:r>
              <a:rPr lang="de-AT" dirty="0" err="1"/>
              <a:t>studies</a:t>
            </a:r>
            <a:r>
              <a:rPr lang="de-AT" dirty="0"/>
              <a:t> on ChatGPT.</a:t>
            </a:r>
          </a:p>
          <a:p>
            <a:endParaRPr lang="de-AT" dirty="0"/>
          </a:p>
          <a:p>
            <a:r>
              <a:rPr lang="de-AT" dirty="0"/>
              <a:t>The </a:t>
            </a:r>
            <a:r>
              <a:rPr lang="de-AT" dirty="0" err="1"/>
              <a:t>study</a:t>
            </a:r>
            <a:r>
              <a:rPr lang="de-AT" dirty="0"/>
              <a:t> </a:t>
            </a:r>
            <a:r>
              <a:rPr lang="de-AT" dirty="0" err="1"/>
              <a:t>investigates</a:t>
            </a:r>
            <a:r>
              <a:rPr lang="de-AT" dirty="0"/>
              <a:t> an </a:t>
            </a:r>
            <a:r>
              <a:rPr lang="de-AT" dirty="0" err="1"/>
              <a:t>important</a:t>
            </a:r>
            <a:r>
              <a:rPr lang="de-AT" dirty="0"/>
              <a:t> </a:t>
            </a:r>
            <a:r>
              <a:rPr lang="de-AT" dirty="0" err="1"/>
              <a:t>question</a:t>
            </a:r>
            <a:r>
              <a:rPr lang="de-AT" dirty="0"/>
              <a:t>:</a:t>
            </a:r>
          </a:p>
          <a:p>
            <a:endParaRPr lang="de-AT" dirty="0"/>
          </a:p>
          <a:p>
            <a:r>
              <a:rPr lang="de-AT" b="1" dirty="0"/>
              <a:t>Does ChatGPT </a:t>
            </a:r>
            <a:r>
              <a:rPr lang="de-AT" b="1" dirty="0" err="1"/>
              <a:t>actually</a:t>
            </a:r>
            <a:r>
              <a:rPr lang="de-AT" b="1" dirty="0"/>
              <a:t> </a:t>
            </a:r>
            <a:r>
              <a:rPr lang="de-AT" b="1" dirty="0" err="1"/>
              <a:t>improve</a:t>
            </a:r>
            <a:r>
              <a:rPr lang="de-AT" b="1" dirty="0"/>
              <a:t> </a:t>
            </a:r>
            <a:r>
              <a:rPr lang="de-AT" b="1" dirty="0" err="1"/>
              <a:t>students</a:t>
            </a:r>
            <a:r>
              <a:rPr lang="de-AT" b="1" dirty="0"/>
              <a:t>’ essay-</a:t>
            </a:r>
            <a:r>
              <a:rPr lang="de-AT" b="1" dirty="0" err="1"/>
              <a:t>writing</a:t>
            </a:r>
            <a:r>
              <a:rPr lang="de-AT" b="1" dirty="0"/>
              <a:t> </a:t>
            </a:r>
            <a:r>
              <a:rPr lang="de-AT" b="1" dirty="0" err="1"/>
              <a:t>performance</a:t>
            </a:r>
            <a:r>
              <a:rPr lang="de-AT" b="1" dirty="0"/>
              <a:t>?</a:t>
            </a:r>
            <a:endParaRPr lang="de-AT" dirty="0"/>
          </a:p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333A25-CDC0-4883-9EA4-6C77BD01CB0D}" type="slidenum">
              <a:rPr lang="de-AT" smtClean="0"/>
              <a:t>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146183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 err="1"/>
              <a:t>To</a:t>
            </a:r>
            <a:r>
              <a:rPr lang="de-AT" dirty="0"/>
              <a:t> </a:t>
            </a:r>
            <a:r>
              <a:rPr lang="de-AT" dirty="0" err="1"/>
              <a:t>answer</a:t>
            </a:r>
            <a:r>
              <a:rPr lang="de-AT" dirty="0"/>
              <a:t> </a:t>
            </a:r>
            <a:r>
              <a:rPr lang="de-AT" dirty="0" err="1"/>
              <a:t>this</a:t>
            </a:r>
            <a:r>
              <a:rPr lang="de-AT" dirty="0"/>
              <a:t> </a:t>
            </a:r>
            <a:r>
              <a:rPr lang="de-AT" dirty="0" err="1"/>
              <a:t>question</a:t>
            </a:r>
            <a:r>
              <a:rPr lang="de-AT" dirty="0"/>
              <a:t>,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researchers</a:t>
            </a:r>
            <a:r>
              <a:rPr lang="de-AT" dirty="0"/>
              <a:t> </a:t>
            </a:r>
            <a:r>
              <a:rPr lang="de-AT" dirty="0" err="1"/>
              <a:t>conducted</a:t>
            </a:r>
            <a:r>
              <a:rPr lang="de-AT" dirty="0"/>
              <a:t> an </a:t>
            </a:r>
            <a:r>
              <a:rPr lang="de-AT" dirty="0" err="1"/>
              <a:t>experiment</a:t>
            </a:r>
            <a:r>
              <a:rPr lang="de-AT" dirty="0"/>
              <a:t> </a:t>
            </a:r>
            <a:r>
              <a:rPr lang="de-AT" dirty="0" err="1"/>
              <a:t>with</a:t>
            </a:r>
            <a:r>
              <a:rPr lang="de-AT" dirty="0"/>
              <a:t> </a:t>
            </a:r>
            <a:r>
              <a:rPr lang="de-AT" b="1" dirty="0"/>
              <a:t>18 </a:t>
            </a:r>
            <a:r>
              <a:rPr lang="de-AT" b="1" dirty="0" err="1"/>
              <a:t>master’s</a:t>
            </a:r>
            <a:r>
              <a:rPr lang="de-AT" b="1" dirty="0"/>
              <a:t> </a:t>
            </a:r>
            <a:r>
              <a:rPr lang="de-AT" b="1" dirty="0" err="1"/>
              <a:t>students</a:t>
            </a:r>
            <a:r>
              <a:rPr lang="de-AT" dirty="0"/>
              <a:t> </a:t>
            </a:r>
            <a:r>
              <a:rPr lang="de-AT" dirty="0" err="1"/>
              <a:t>from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University </a:t>
            </a:r>
            <a:r>
              <a:rPr lang="de-AT" dirty="0" err="1"/>
              <a:t>of</a:t>
            </a:r>
            <a:r>
              <a:rPr lang="de-AT" dirty="0"/>
              <a:t> Split.</a:t>
            </a:r>
          </a:p>
          <a:p>
            <a:endParaRPr lang="de-AT" dirty="0"/>
          </a:p>
          <a:p>
            <a:r>
              <a:rPr lang="de-AT" dirty="0"/>
              <a:t>The </a:t>
            </a:r>
            <a:r>
              <a:rPr lang="de-AT" dirty="0" err="1"/>
              <a:t>students</a:t>
            </a:r>
            <a:r>
              <a:rPr lang="de-AT" dirty="0"/>
              <a:t> </a:t>
            </a:r>
            <a:r>
              <a:rPr lang="de-AT" dirty="0" err="1"/>
              <a:t>were</a:t>
            </a:r>
            <a:r>
              <a:rPr lang="de-AT" dirty="0"/>
              <a:t> </a:t>
            </a:r>
            <a:r>
              <a:rPr lang="de-AT" dirty="0" err="1"/>
              <a:t>divided</a:t>
            </a:r>
            <a:r>
              <a:rPr lang="de-AT" dirty="0"/>
              <a:t> </a:t>
            </a:r>
            <a:r>
              <a:rPr lang="de-AT" dirty="0" err="1"/>
              <a:t>into</a:t>
            </a:r>
            <a:r>
              <a:rPr lang="de-AT" dirty="0"/>
              <a:t> </a:t>
            </a:r>
            <a:r>
              <a:rPr lang="de-AT" dirty="0" err="1"/>
              <a:t>two</a:t>
            </a:r>
            <a:r>
              <a:rPr lang="de-AT" dirty="0"/>
              <a:t> </a:t>
            </a:r>
            <a:r>
              <a:rPr lang="de-AT" dirty="0" err="1"/>
              <a:t>groups</a:t>
            </a:r>
            <a:r>
              <a:rPr lang="de-AT" dirty="0"/>
              <a:t>:</a:t>
            </a:r>
          </a:p>
          <a:p>
            <a:endParaRPr lang="de-AT" dirty="0"/>
          </a:p>
          <a:p>
            <a:r>
              <a:rPr lang="de-AT" dirty="0"/>
              <a:t>A </a:t>
            </a:r>
            <a:r>
              <a:rPr lang="de-AT" dirty="0" err="1"/>
              <a:t>control</a:t>
            </a:r>
            <a:r>
              <a:rPr lang="de-AT" dirty="0"/>
              <a:t> </a:t>
            </a:r>
            <a:r>
              <a:rPr lang="de-AT" dirty="0" err="1"/>
              <a:t>group</a:t>
            </a:r>
            <a:r>
              <a:rPr lang="de-AT" dirty="0"/>
              <a:t> </a:t>
            </a:r>
            <a:r>
              <a:rPr lang="de-AT" dirty="0" err="1"/>
              <a:t>that</a:t>
            </a:r>
            <a:r>
              <a:rPr lang="de-AT" dirty="0"/>
              <a:t> </a:t>
            </a:r>
            <a:r>
              <a:rPr lang="de-AT" dirty="0" err="1"/>
              <a:t>wrote</a:t>
            </a:r>
            <a:r>
              <a:rPr lang="de-AT" dirty="0"/>
              <a:t> </a:t>
            </a:r>
            <a:r>
              <a:rPr lang="de-AT" dirty="0" err="1"/>
              <a:t>essays</a:t>
            </a:r>
            <a:r>
              <a:rPr lang="de-AT" dirty="0"/>
              <a:t> in </a:t>
            </a:r>
            <a:r>
              <a:rPr lang="de-AT" dirty="0" err="1"/>
              <a:t>the</a:t>
            </a:r>
            <a:r>
              <a:rPr lang="de-AT" dirty="0"/>
              <a:t> traditional </a:t>
            </a:r>
            <a:r>
              <a:rPr lang="de-AT" dirty="0" err="1"/>
              <a:t>way</a:t>
            </a:r>
            <a:r>
              <a:rPr lang="de-AT" dirty="0"/>
              <a:t>. </a:t>
            </a:r>
          </a:p>
          <a:p>
            <a:r>
              <a:rPr lang="de-AT" dirty="0"/>
              <a:t>An experimental </a:t>
            </a:r>
            <a:r>
              <a:rPr lang="de-AT" dirty="0" err="1"/>
              <a:t>group</a:t>
            </a:r>
            <a:r>
              <a:rPr lang="de-AT" dirty="0"/>
              <a:t> </a:t>
            </a:r>
            <a:r>
              <a:rPr lang="de-AT" dirty="0" err="1"/>
              <a:t>that</a:t>
            </a:r>
            <a:r>
              <a:rPr lang="de-AT" dirty="0"/>
              <a:t> was </a:t>
            </a:r>
            <a:r>
              <a:rPr lang="de-AT" dirty="0" err="1"/>
              <a:t>allowed</a:t>
            </a:r>
            <a:r>
              <a:rPr lang="de-AT" dirty="0"/>
              <a:t> </a:t>
            </a:r>
            <a:r>
              <a:rPr lang="de-AT" dirty="0" err="1"/>
              <a:t>to</a:t>
            </a:r>
            <a:r>
              <a:rPr lang="de-AT" dirty="0"/>
              <a:t> </a:t>
            </a:r>
            <a:r>
              <a:rPr lang="de-AT" dirty="0" err="1"/>
              <a:t>use</a:t>
            </a:r>
            <a:r>
              <a:rPr lang="de-AT" dirty="0"/>
              <a:t> ChatGPT </a:t>
            </a:r>
            <a:r>
              <a:rPr lang="de-AT" dirty="0" err="1"/>
              <a:t>as</a:t>
            </a:r>
            <a:r>
              <a:rPr lang="de-AT" dirty="0"/>
              <a:t> a </a:t>
            </a:r>
            <a:r>
              <a:rPr lang="de-AT" dirty="0" err="1"/>
              <a:t>writing</a:t>
            </a:r>
            <a:r>
              <a:rPr lang="de-AT" dirty="0"/>
              <a:t> </a:t>
            </a:r>
            <a:r>
              <a:rPr lang="de-AT" dirty="0" err="1"/>
              <a:t>assistant</a:t>
            </a:r>
            <a:r>
              <a:rPr lang="de-AT" dirty="0"/>
              <a:t>. </a:t>
            </a:r>
          </a:p>
          <a:p>
            <a:endParaRPr lang="de-AT" dirty="0"/>
          </a:p>
          <a:p>
            <a:r>
              <a:rPr lang="de-AT" dirty="0"/>
              <a:t>All </a:t>
            </a:r>
            <a:r>
              <a:rPr lang="de-AT" dirty="0" err="1"/>
              <a:t>students</a:t>
            </a:r>
            <a:r>
              <a:rPr lang="de-AT" dirty="0"/>
              <a:t> </a:t>
            </a:r>
            <a:r>
              <a:rPr lang="de-AT" dirty="0" err="1"/>
              <a:t>wrote</a:t>
            </a:r>
            <a:r>
              <a:rPr lang="de-AT" dirty="0"/>
              <a:t> an </a:t>
            </a:r>
            <a:r>
              <a:rPr lang="de-AT" dirty="0" err="1"/>
              <a:t>essay</a:t>
            </a:r>
            <a:r>
              <a:rPr lang="de-AT" dirty="0"/>
              <a:t> on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topic</a:t>
            </a:r>
            <a:r>
              <a:rPr lang="de-AT" dirty="0"/>
              <a:t>:</a:t>
            </a:r>
          </a:p>
          <a:p>
            <a:r>
              <a:rPr lang="de-AT" b="1" dirty="0"/>
              <a:t>“Advantages and </a:t>
            </a:r>
            <a:r>
              <a:rPr lang="de-AT" b="1" dirty="0" err="1"/>
              <a:t>disadvantages</a:t>
            </a:r>
            <a:r>
              <a:rPr lang="de-AT" b="1" dirty="0"/>
              <a:t> </a:t>
            </a:r>
            <a:r>
              <a:rPr lang="de-AT" b="1" dirty="0" err="1"/>
              <a:t>of</a:t>
            </a:r>
            <a:r>
              <a:rPr lang="de-AT" b="1" dirty="0"/>
              <a:t> </a:t>
            </a:r>
            <a:r>
              <a:rPr lang="de-AT" b="1" dirty="0" err="1"/>
              <a:t>biometric</a:t>
            </a:r>
            <a:r>
              <a:rPr lang="de-AT" b="1" dirty="0"/>
              <a:t> </a:t>
            </a:r>
            <a:r>
              <a:rPr lang="de-AT" b="1" dirty="0" err="1"/>
              <a:t>identification</a:t>
            </a:r>
            <a:r>
              <a:rPr lang="de-AT" b="1" dirty="0"/>
              <a:t> in </a:t>
            </a:r>
            <a:r>
              <a:rPr lang="de-AT" b="1" dirty="0" err="1"/>
              <a:t>forensic</a:t>
            </a:r>
            <a:r>
              <a:rPr lang="de-AT" b="1" dirty="0"/>
              <a:t> </a:t>
            </a:r>
            <a:r>
              <a:rPr lang="de-AT" b="1" dirty="0" err="1"/>
              <a:t>sciences</a:t>
            </a:r>
            <a:r>
              <a:rPr lang="de-AT" b="1" dirty="0"/>
              <a:t>.”</a:t>
            </a:r>
          </a:p>
          <a:p>
            <a:endParaRPr lang="de-AT" dirty="0"/>
          </a:p>
          <a:p>
            <a:r>
              <a:rPr lang="de-AT" dirty="0"/>
              <a:t>The </a:t>
            </a:r>
            <a:r>
              <a:rPr lang="de-AT" dirty="0" err="1"/>
              <a:t>researchers</a:t>
            </a:r>
            <a:r>
              <a:rPr lang="de-AT" dirty="0"/>
              <a:t> </a:t>
            </a:r>
            <a:r>
              <a:rPr lang="de-AT" dirty="0" err="1"/>
              <a:t>then</a:t>
            </a:r>
            <a:r>
              <a:rPr lang="de-AT" dirty="0"/>
              <a:t> </a:t>
            </a:r>
            <a:r>
              <a:rPr lang="de-AT" dirty="0" err="1"/>
              <a:t>evaluated</a:t>
            </a:r>
            <a:r>
              <a:rPr lang="de-AT" dirty="0"/>
              <a:t>:</a:t>
            </a:r>
          </a:p>
          <a:p>
            <a:r>
              <a:rPr lang="de-AT" dirty="0" err="1"/>
              <a:t>essay</a:t>
            </a:r>
            <a:r>
              <a:rPr lang="de-AT" dirty="0"/>
              <a:t> </a:t>
            </a:r>
            <a:r>
              <a:rPr lang="de-AT" dirty="0" err="1"/>
              <a:t>quality</a:t>
            </a:r>
            <a:r>
              <a:rPr lang="de-AT" dirty="0"/>
              <a:t>, </a:t>
            </a:r>
          </a:p>
          <a:p>
            <a:r>
              <a:rPr lang="de-AT" dirty="0" err="1"/>
              <a:t>writing</a:t>
            </a:r>
            <a:r>
              <a:rPr lang="de-AT" dirty="0"/>
              <a:t> </a:t>
            </a:r>
            <a:r>
              <a:rPr lang="de-AT" dirty="0" err="1"/>
              <a:t>duration</a:t>
            </a:r>
            <a:r>
              <a:rPr lang="de-AT" dirty="0"/>
              <a:t>, </a:t>
            </a:r>
          </a:p>
          <a:p>
            <a:r>
              <a:rPr lang="de-AT" dirty="0" err="1"/>
              <a:t>text</a:t>
            </a:r>
            <a:r>
              <a:rPr lang="de-AT" dirty="0"/>
              <a:t> </a:t>
            </a:r>
            <a:r>
              <a:rPr lang="de-AT" dirty="0" err="1"/>
              <a:t>authenticity</a:t>
            </a:r>
            <a:r>
              <a:rPr lang="de-AT" dirty="0"/>
              <a:t>, </a:t>
            </a:r>
          </a:p>
          <a:p>
            <a:r>
              <a:rPr lang="de-AT" dirty="0"/>
              <a:t>and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likelihood</a:t>
            </a:r>
            <a:r>
              <a:rPr lang="de-AT" dirty="0"/>
              <a:t> </a:t>
            </a:r>
            <a:r>
              <a:rPr lang="de-AT" dirty="0" err="1"/>
              <a:t>that</a:t>
            </a:r>
            <a:r>
              <a:rPr lang="de-AT" dirty="0"/>
              <a:t> AI-</a:t>
            </a:r>
            <a:r>
              <a:rPr lang="de-AT" dirty="0" err="1"/>
              <a:t>generated</a:t>
            </a:r>
            <a:r>
              <a:rPr lang="de-AT" dirty="0"/>
              <a:t> </a:t>
            </a:r>
            <a:r>
              <a:rPr lang="de-AT" dirty="0" err="1"/>
              <a:t>content</a:t>
            </a:r>
            <a:r>
              <a:rPr lang="de-AT" dirty="0"/>
              <a:t> was </a:t>
            </a:r>
            <a:r>
              <a:rPr lang="de-AT" dirty="0" err="1"/>
              <a:t>present</a:t>
            </a:r>
            <a:r>
              <a:rPr lang="de-AT" dirty="0"/>
              <a:t>.</a:t>
            </a:r>
          </a:p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333A25-CDC0-4883-9EA4-6C77BD01CB0D}" type="slidenum">
              <a:rPr lang="de-AT" smtClean="0"/>
              <a:t>2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558685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/>
              <a:t>The </a:t>
            </a:r>
            <a:r>
              <a:rPr lang="de-AT" dirty="0" err="1"/>
              <a:t>results</a:t>
            </a:r>
            <a:r>
              <a:rPr lang="de-AT" dirty="0"/>
              <a:t> </a:t>
            </a:r>
            <a:r>
              <a:rPr lang="de-AT" dirty="0" err="1"/>
              <a:t>were</a:t>
            </a:r>
            <a:r>
              <a:rPr lang="de-AT" dirty="0"/>
              <a:t> </a:t>
            </a:r>
            <a:r>
              <a:rPr lang="de-AT" dirty="0" err="1"/>
              <a:t>quite</a:t>
            </a:r>
            <a:r>
              <a:rPr lang="de-AT" dirty="0"/>
              <a:t> </a:t>
            </a:r>
            <a:r>
              <a:rPr lang="de-AT" dirty="0" err="1"/>
              <a:t>surprising</a:t>
            </a:r>
            <a:r>
              <a:rPr lang="de-AT" dirty="0"/>
              <a:t>.</a:t>
            </a:r>
          </a:p>
          <a:p>
            <a:endParaRPr lang="de-AT" dirty="0"/>
          </a:p>
          <a:p>
            <a:r>
              <a:rPr lang="de-AT" dirty="0"/>
              <a:t>The </a:t>
            </a:r>
            <a:r>
              <a:rPr lang="de-AT" dirty="0" err="1"/>
              <a:t>researchers</a:t>
            </a:r>
            <a:r>
              <a:rPr lang="de-AT" dirty="0"/>
              <a:t> </a:t>
            </a:r>
            <a:r>
              <a:rPr lang="de-AT" dirty="0" err="1"/>
              <a:t>found</a:t>
            </a:r>
            <a:r>
              <a:rPr lang="de-AT" dirty="0"/>
              <a:t> </a:t>
            </a:r>
            <a:r>
              <a:rPr lang="de-AT" dirty="0" err="1"/>
              <a:t>that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b="1" dirty="0"/>
              <a:t>ChatGPT </a:t>
            </a:r>
            <a:r>
              <a:rPr lang="de-AT" b="1" dirty="0" err="1"/>
              <a:t>group</a:t>
            </a:r>
            <a:r>
              <a:rPr lang="de-AT" b="1" dirty="0"/>
              <a:t> </a:t>
            </a:r>
            <a:r>
              <a:rPr lang="de-AT" b="1" dirty="0" err="1"/>
              <a:t>did</a:t>
            </a:r>
            <a:r>
              <a:rPr lang="de-AT" b="1" dirty="0"/>
              <a:t> not perform </a:t>
            </a:r>
            <a:r>
              <a:rPr lang="de-AT" b="1" dirty="0" err="1"/>
              <a:t>better</a:t>
            </a:r>
            <a:r>
              <a:rPr lang="de-AT" b="1" dirty="0"/>
              <a:t> </a:t>
            </a:r>
            <a:r>
              <a:rPr lang="de-AT" b="1" dirty="0" err="1"/>
              <a:t>than</a:t>
            </a:r>
            <a:r>
              <a:rPr lang="de-AT" b="1" dirty="0"/>
              <a:t> </a:t>
            </a:r>
            <a:r>
              <a:rPr lang="de-AT" b="1" dirty="0" err="1"/>
              <a:t>the</a:t>
            </a:r>
            <a:r>
              <a:rPr lang="de-AT" b="1" dirty="0"/>
              <a:t> </a:t>
            </a:r>
            <a:r>
              <a:rPr lang="de-AT" b="1" dirty="0" err="1"/>
              <a:t>control</a:t>
            </a:r>
            <a:r>
              <a:rPr lang="de-AT" b="1" dirty="0"/>
              <a:t> </a:t>
            </a:r>
            <a:r>
              <a:rPr lang="de-AT" b="1" dirty="0" err="1"/>
              <a:t>group</a:t>
            </a:r>
            <a:r>
              <a:rPr lang="de-AT" b="1" dirty="0"/>
              <a:t>.</a:t>
            </a:r>
            <a:endParaRPr lang="de-AT" dirty="0"/>
          </a:p>
          <a:p>
            <a:r>
              <a:rPr lang="de-AT" dirty="0"/>
              <a:t>Both </a:t>
            </a:r>
            <a:r>
              <a:rPr lang="de-AT" dirty="0" err="1"/>
              <a:t>groups</a:t>
            </a:r>
            <a:r>
              <a:rPr lang="de-AT" dirty="0"/>
              <a:t> </a:t>
            </a:r>
            <a:r>
              <a:rPr lang="de-AT" dirty="0" err="1"/>
              <a:t>achieved</a:t>
            </a:r>
            <a:r>
              <a:rPr lang="de-AT" dirty="0"/>
              <a:t> an </a:t>
            </a:r>
            <a:r>
              <a:rPr lang="de-AT" dirty="0" err="1"/>
              <a:t>average</a:t>
            </a:r>
            <a:r>
              <a:rPr lang="de-AT" dirty="0"/>
              <a:t> grade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b="1" dirty="0"/>
              <a:t>C</a:t>
            </a:r>
            <a:r>
              <a:rPr lang="de-AT" dirty="0"/>
              <a:t>.</a:t>
            </a:r>
          </a:p>
          <a:p>
            <a:endParaRPr lang="de-AT" dirty="0"/>
          </a:p>
          <a:p>
            <a:r>
              <a:rPr lang="de-AT" dirty="0"/>
              <a:t>In </a:t>
            </a:r>
            <a:r>
              <a:rPr lang="de-AT" dirty="0" err="1"/>
              <a:t>addition</a:t>
            </a:r>
            <a:r>
              <a:rPr lang="de-AT" dirty="0"/>
              <a:t>:</a:t>
            </a:r>
          </a:p>
          <a:p>
            <a:r>
              <a:rPr lang="de-AT" dirty="0" err="1"/>
              <a:t>students</a:t>
            </a:r>
            <a:r>
              <a:rPr lang="de-AT" dirty="0"/>
              <a:t> </a:t>
            </a:r>
            <a:r>
              <a:rPr lang="de-AT" dirty="0" err="1"/>
              <a:t>using</a:t>
            </a:r>
            <a:r>
              <a:rPr lang="de-AT" dirty="0"/>
              <a:t> ChatGPT </a:t>
            </a:r>
            <a:r>
              <a:rPr lang="de-AT" dirty="0" err="1"/>
              <a:t>did</a:t>
            </a:r>
            <a:r>
              <a:rPr lang="de-AT" dirty="0"/>
              <a:t> not finish </a:t>
            </a:r>
            <a:r>
              <a:rPr lang="de-AT" dirty="0" err="1"/>
              <a:t>their</a:t>
            </a:r>
            <a:r>
              <a:rPr lang="de-AT" dirty="0"/>
              <a:t> </a:t>
            </a:r>
            <a:r>
              <a:rPr lang="de-AT" dirty="0" err="1"/>
              <a:t>essays</a:t>
            </a:r>
            <a:r>
              <a:rPr lang="de-AT" dirty="0"/>
              <a:t> </a:t>
            </a:r>
            <a:r>
              <a:rPr lang="de-AT" dirty="0" err="1"/>
              <a:t>faster</a:t>
            </a:r>
            <a:r>
              <a:rPr lang="de-AT" dirty="0"/>
              <a:t>, </a:t>
            </a:r>
          </a:p>
          <a:p>
            <a:r>
              <a:rPr lang="de-AT" dirty="0" err="1"/>
              <a:t>they</a:t>
            </a:r>
            <a:r>
              <a:rPr lang="de-AT" dirty="0"/>
              <a:t> </a:t>
            </a:r>
            <a:r>
              <a:rPr lang="de-AT" dirty="0" err="1"/>
              <a:t>did</a:t>
            </a:r>
            <a:r>
              <a:rPr lang="de-AT" dirty="0"/>
              <a:t> not </a:t>
            </a:r>
            <a:r>
              <a:rPr lang="de-AT" dirty="0" err="1"/>
              <a:t>produce</a:t>
            </a:r>
            <a:r>
              <a:rPr lang="de-AT" dirty="0"/>
              <a:t> </a:t>
            </a:r>
            <a:r>
              <a:rPr lang="de-AT" dirty="0" err="1"/>
              <a:t>higher</a:t>
            </a:r>
            <a:r>
              <a:rPr lang="de-AT" dirty="0"/>
              <a:t>-quality </a:t>
            </a:r>
            <a:r>
              <a:rPr lang="de-AT" dirty="0" err="1"/>
              <a:t>essays</a:t>
            </a:r>
            <a:r>
              <a:rPr lang="de-AT" dirty="0"/>
              <a:t>, </a:t>
            </a:r>
          </a:p>
          <a:p>
            <a:r>
              <a:rPr lang="de-AT" dirty="0"/>
              <a:t>and </a:t>
            </a:r>
            <a:r>
              <a:rPr lang="de-AT" dirty="0" err="1"/>
              <a:t>their</a:t>
            </a:r>
            <a:r>
              <a:rPr lang="de-AT" dirty="0"/>
              <a:t> </a:t>
            </a:r>
            <a:r>
              <a:rPr lang="de-AT" dirty="0" err="1"/>
              <a:t>texts</a:t>
            </a:r>
            <a:r>
              <a:rPr lang="de-AT" dirty="0"/>
              <a:t> </a:t>
            </a:r>
            <a:r>
              <a:rPr lang="de-AT" dirty="0" err="1"/>
              <a:t>were</a:t>
            </a:r>
            <a:r>
              <a:rPr lang="de-AT" dirty="0"/>
              <a:t> </a:t>
            </a:r>
            <a:r>
              <a:rPr lang="de-AT" dirty="0" err="1"/>
              <a:t>slightly</a:t>
            </a:r>
            <a:r>
              <a:rPr lang="de-AT" dirty="0"/>
              <a:t> </a:t>
            </a:r>
            <a:r>
              <a:rPr lang="de-AT" dirty="0" err="1"/>
              <a:t>less</a:t>
            </a:r>
            <a:r>
              <a:rPr lang="de-AT" dirty="0"/>
              <a:t> </a:t>
            </a:r>
            <a:r>
              <a:rPr lang="de-AT" dirty="0" err="1"/>
              <a:t>authentic</a:t>
            </a:r>
            <a:r>
              <a:rPr lang="de-AT" dirty="0"/>
              <a:t>. </a:t>
            </a:r>
          </a:p>
          <a:p>
            <a:endParaRPr lang="de-AT" dirty="0"/>
          </a:p>
          <a:p>
            <a:r>
              <a:rPr lang="de-AT" dirty="0"/>
              <a:t>The </a:t>
            </a:r>
            <a:r>
              <a:rPr lang="de-AT" dirty="0" err="1"/>
              <a:t>statistical</a:t>
            </a:r>
            <a:r>
              <a:rPr lang="de-AT" dirty="0"/>
              <a:t> </a:t>
            </a:r>
            <a:r>
              <a:rPr lang="de-AT" dirty="0" err="1"/>
              <a:t>analysis</a:t>
            </a:r>
            <a:r>
              <a:rPr lang="de-AT" dirty="0"/>
              <a:t> </a:t>
            </a:r>
            <a:r>
              <a:rPr lang="de-AT" dirty="0" err="1"/>
              <a:t>showed</a:t>
            </a:r>
            <a:r>
              <a:rPr lang="de-AT" dirty="0"/>
              <a:t> </a:t>
            </a:r>
            <a:r>
              <a:rPr lang="de-AT" dirty="0" err="1"/>
              <a:t>that</a:t>
            </a:r>
            <a:r>
              <a:rPr lang="de-AT" dirty="0"/>
              <a:t> </a:t>
            </a:r>
            <a:r>
              <a:rPr lang="de-AT" dirty="0" err="1"/>
              <a:t>none</a:t>
            </a:r>
            <a:r>
              <a:rPr lang="de-AT" dirty="0"/>
              <a:t>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examined</a:t>
            </a:r>
            <a:r>
              <a:rPr lang="de-AT" dirty="0"/>
              <a:t> variables </a:t>
            </a:r>
            <a:r>
              <a:rPr lang="de-AT" dirty="0" err="1"/>
              <a:t>significantly</a:t>
            </a:r>
            <a:r>
              <a:rPr lang="de-AT" dirty="0"/>
              <a:t> </a:t>
            </a:r>
            <a:r>
              <a:rPr lang="de-AT" dirty="0" err="1"/>
              <a:t>improved</a:t>
            </a:r>
            <a:r>
              <a:rPr lang="de-AT" dirty="0"/>
              <a:t> </a:t>
            </a:r>
            <a:r>
              <a:rPr lang="de-AT" dirty="0" err="1"/>
              <a:t>essay</a:t>
            </a:r>
            <a:r>
              <a:rPr lang="de-AT" dirty="0"/>
              <a:t> </a:t>
            </a:r>
            <a:r>
              <a:rPr lang="de-AT" dirty="0" err="1"/>
              <a:t>performance</a:t>
            </a:r>
            <a:r>
              <a:rPr lang="de-AT" dirty="0"/>
              <a:t>.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333A25-CDC0-4883-9EA4-6C77BD01CB0D}" type="slidenum">
              <a:rPr lang="de-AT" smtClean="0"/>
              <a:t>3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167470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/>
              <a:t>The </a:t>
            </a:r>
            <a:r>
              <a:rPr lang="de-AT" dirty="0" err="1"/>
              <a:t>authors</a:t>
            </a:r>
            <a:r>
              <a:rPr lang="de-AT" dirty="0"/>
              <a:t> </a:t>
            </a:r>
            <a:r>
              <a:rPr lang="de-AT" dirty="0" err="1"/>
              <a:t>therefore</a:t>
            </a:r>
            <a:r>
              <a:rPr lang="de-AT" dirty="0"/>
              <a:t> </a:t>
            </a:r>
            <a:r>
              <a:rPr lang="de-AT" dirty="0" err="1"/>
              <a:t>concluded</a:t>
            </a:r>
            <a:r>
              <a:rPr lang="de-AT" dirty="0"/>
              <a:t> </a:t>
            </a:r>
            <a:r>
              <a:rPr lang="de-AT" dirty="0" err="1"/>
              <a:t>that</a:t>
            </a:r>
            <a:r>
              <a:rPr lang="de-AT" dirty="0"/>
              <a:t> ChatGPT </a:t>
            </a:r>
            <a:r>
              <a:rPr lang="de-AT" dirty="0" err="1"/>
              <a:t>should</a:t>
            </a:r>
            <a:r>
              <a:rPr lang="de-AT" dirty="0"/>
              <a:t> not </a:t>
            </a:r>
            <a:r>
              <a:rPr lang="de-AT" dirty="0" err="1"/>
              <a:t>automatically</a:t>
            </a:r>
            <a:r>
              <a:rPr lang="de-AT" dirty="0"/>
              <a:t> </a:t>
            </a:r>
            <a:r>
              <a:rPr lang="de-AT" dirty="0" err="1"/>
              <a:t>be</a:t>
            </a:r>
            <a:r>
              <a:rPr lang="de-AT" dirty="0"/>
              <a:t> </a:t>
            </a:r>
            <a:r>
              <a:rPr lang="de-AT" dirty="0" err="1"/>
              <a:t>viewed</a:t>
            </a:r>
            <a:r>
              <a:rPr lang="de-AT" dirty="0"/>
              <a:t> </a:t>
            </a:r>
            <a:r>
              <a:rPr lang="de-AT" dirty="0" err="1"/>
              <a:t>as</a:t>
            </a:r>
            <a:r>
              <a:rPr lang="de-AT" dirty="0"/>
              <a:t> an “</a:t>
            </a:r>
            <a:r>
              <a:rPr lang="de-AT" dirty="0" err="1"/>
              <a:t>essay</a:t>
            </a:r>
            <a:r>
              <a:rPr lang="de-AT" dirty="0"/>
              <a:t> </a:t>
            </a:r>
            <a:r>
              <a:rPr lang="de-AT" dirty="0" err="1"/>
              <a:t>enhancement</a:t>
            </a:r>
            <a:r>
              <a:rPr lang="de-AT" dirty="0"/>
              <a:t> </a:t>
            </a:r>
            <a:r>
              <a:rPr lang="de-AT" dirty="0" err="1"/>
              <a:t>tool</a:t>
            </a:r>
            <a:r>
              <a:rPr lang="de-AT" dirty="0"/>
              <a:t>.”</a:t>
            </a:r>
          </a:p>
          <a:p>
            <a:endParaRPr lang="de-AT" dirty="0"/>
          </a:p>
          <a:p>
            <a:r>
              <a:rPr lang="de-AT" dirty="0" err="1"/>
              <a:t>Instead</a:t>
            </a:r>
            <a:r>
              <a:rPr lang="de-AT" dirty="0"/>
              <a:t>, </a:t>
            </a:r>
            <a:r>
              <a:rPr lang="de-AT" dirty="0" err="1"/>
              <a:t>its</a:t>
            </a:r>
            <a:r>
              <a:rPr lang="de-AT" dirty="0"/>
              <a:t> </a:t>
            </a:r>
            <a:r>
              <a:rPr lang="de-AT" dirty="0" err="1"/>
              <a:t>effectiveness</a:t>
            </a:r>
            <a:r>
              <a:rPr lang="de-AT" dirty="0"/>
              <a:t> </a:t>
            </a:r>
            <a:r>
              <a:rPr lang="de-AT" dirty="0" err="1"/>
              <a:t>appears</a:t>
            </a:r>
            <a:r>
              <a:rPr lang="de-AT" dirty="0"/>
              <a:t> </a:t>
            </a:r>
            <a:r>
              <a:rPr lang="de-AT" dirty="0" err="1"/>
              <a:t>to</a:t>
            </a:r>
            <a:r>
              <a:rPr lang="de-AT" dirty="0"/>
              <a:t> </a:t>
            </a:r>
            <a:r>
              <a:rPr lang="de-AT" dirty="0" err="1"/>
              <a:t>depend</a:t>
            </a:r>
            <a:r>
              <a:rPr lang="de-AT" dirty="0"/>
              <a:t> on </a:t>
            </a:r>
            <a:r>
              <a:rPr lang="de-AT" dirty="0" err="1"/>
              <a:t>several</a:t>
            </a:r>
            <a:r>
              <a:rPr lang="de-AT" dirty="0"/>
              <a:t> </a:t>
            </a:r>
            <a:r>
              <a:rPr lang="de-AT" dirty="0" err="1"/>
              <a:t>factors</a:t>
            </a:r>
            <a:r>
              <a:rPr lang="de-AT" dirty="0"/>
              <a:t>:</a:t>
            </a:r>
          </a:p>
          <a:p>
            <a:endParaRPr lang="de-AT" dirty="0"/>
          </a:p>
          <a:p>
            <a:r>
              <a:rPr lang="de-AT" dirty="0" err="1"/>
              <a:t>prior</a:t>
            </a:r>
            <a:r>
              <a:rPr lang="de-AT" dirty="0"/>
              <a:t> </a:t>
            </a:r>
            <a:r>
              <a:rPr lang="de-AT" dirty="0" err="1"/>
              <a:t>knowledge</a:t>
            </a:r>
            <a:r>
              <a:rPr lang="de-AT" dirty="0"/>
              <a:t>, </a:t>
            </a:r>
          </a:p>
          <a:p>
            <a:r>
              <a:rPr lang="de-AT" dirty="0" err="1"/>
              <a:t>critical</a:t>
            </a:r>
            <a:r>
              <a:rPr lang="de-AT" dirty="0"/>
              <a:t> </a:t>
            </a:r>
            <a:r>
              <a:rPr lang="de-AT" dirty="0" err="1"/>
              <a:t>thinking</a:t>
            </a:r>
            <a:r>
              <a:rPr lang="de-AT" dirty="0"/>
              <a:t> </a:t>
            </a:r>
            <a:r>
              <a:rPr lang="de-AT" dirty="0" err="1"/>
              <a:t>skills</a:t>
            </a:r>
            <a:r>
              <a:rPr lang="de-AT" dirty="0"/>
              <a:t>, </a:t>
            </a:r>
          </a:p>
          <a:p>
            <a:r>
              <a:rPr lang="de-AT" dirty="0" err="1"/>
              <a:t>prompting</a:t>
            </a:r>
            <a:r>
              <a:rPr lang="de-AT" dirty="0"/>
              <a:t> </a:t>
            </a:r>
            <a:r>
              <a:rPr lang="de-AT" dirty="0" err="1"/>
              <a:t>ability</a:t>
            </a:r>
            <a:r>
              <a:rPr lang="de-AT" dirty="0"/>
              <a:t>, </a:t>
            </a:r>
          </a:p>
          <a:p>
            <a:r>
              <a:rPr lang="de-AT" dirty="0"/>
              <a:t>and </a:t>
            </a:r>
            <a:r>
              <a:rPr lang="de-AT" dirty="0" err="1"/>
              <a:t>overall</a:t>
            </a:r>
            <a:r>
              <a:rPr lang="de-AT" dirty="0"/>
              <a:t> </a:t>
            </a:r>
            <a:r>
              <a:rPr lang="de-AT" dirty="0" err="1"/>
              <a:t>writing</a:t>
            </a:r>
            <a:r>
              <a:rPr lang="de-AT" dirty="0"/>
              <a:t> </a:t>
            </a:r>
            <a:r>
              <a:rPr lang="de-AT" dirty="0" err="1"/>
              <a:t>competence</a:t>
            </a:r>
            <a:r>
              <a:rPr lang="de-AT" dirty="0"/>
              <a:t>. </a:t>
            </a:r>
          </a:p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333A25-CDC0-4883-9EA4-6C77BD01CB0D}" type="slidenum">
              <a:rPr lang="de-AT" smtClean="0"/>
              <a:t>4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6953885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/>
              <a:t>Like </a:t>
            </a:r>
            <a:r>
              <a:rPr lang="de-AT" dirty="0" err="1"/>
              <a:t>every</a:t>
            </a:r>
            <a:r>
              <a:rPr lang="de-AT" dirty="0"/>
              <a:t> </a:t>
            </a:r>
            <a:r>
              <a:rPr lang="de-AT" dirty="0" err="1"/>
              <a:t>study</a:t>
            </a:r>
            <a:r>
              <a:rPr lang="de-AT" dirty="0"/>
              <a:t>, </a:t>
            </a:r>
            <a:r>
              <a:rPr lang="de-AT" dirty="0" err="1"/>
              <a:t>this</a:t>
            </a:r>
            <a:r>
              <a:rPr lang="de-AT" dirty="0"/>
              <a:t> </a:t>
            </a:r>
            <a:r>
              <a:rPr lang="de-AT" dirty="0" err="1"/>
              <a:t>one</a:t>
            </a:r>
            <a:r>
              <a:rPr lang="de-AT" dirty="0"/>
              <a:t> </a:t>
            </a:r>
            <a:r>
              <a:rPr lang="de-AT" dirty="0" err="1"/>
              <a:t>has</a:t>
            </a:r>
            <a:r>
              <a:rPr lang="de-AT" dirty="0"/>
              <a:t> </a:t>
            </a:r>
            <a:r>
              <a:rPr lang="de-AT" dirty="0" err="1"/>
              <a:t>strengths</a:t>
            </a:r>
            <a:r>
              <a:rPr lang="de-AT" dirty="0"/>
              <a:t> and </a:t>
            </a:r>
            <a:r>
              <a:rPr lang="de-AT" dirty="0" err="1"/>
              <a:t>limitations</a:t>
            </a:r>
            <a:r>
              <a:rPr lang="de-AT" dirty="0"/>
              <a:t>.</a:t>
            </a:r>
          </a:p>
          <a:p>
            <a:endParaRPr lang="de-AT" dirty="0"/>
          </a:p>
          <a:p>
            <a:r>
              <a:rPr lang="de-AT" dirty="0"/>
              <a:t>First,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strengths</a:t>
            </a:r>
            <a:r>
              <a:rPr lang="de-AT" dirty="0"/>
              <a:t>:</a:t>
            </a:r>
          </a:p>
          <a:p>
            <a:r>
              <a:rPr lang="de-AT" dirty="0"/>
              <a:t>The </a:t>
            </a:r>
            <a:r>
              <a:rPr lang="de-AT" dirty="0" err="1"/>
              <a:t>study</a:t>
            </a:r>
            <a:r>
              <a:rPr lang="de-AT" dirty="0"/>
              <a:t> </a:t>
            </a:r>
            <a:r>
              <a:rPr lang="de-AT" dirty="0" err="1"/>
              <a:t>used</a:t>
            </a:r>
            <a:r>
              <a:rPr lang="de-AT" dirty="0"/>
              <a:t> a real experimental design and </a:t>
            </a:r>
            <a:r>
              <a:rPr lang="de-AT" dirty="0" err="1"/>
              <a:t>examined</a:t>
            </a:r>
            <a:r>
              <a:rPr lang="de-AT" dirty="0"/>
              <a:t> </a:t>
            </a:r>
            <a:r>
              <a:rPr lang="de-AT" dirty="0" err="1"/>
              <a:t>students</a:t>
            </a:r>
            <a:r>
              <a:rPr lang="de-AT" dirty="0"/>
              <a:t> in an </a:t>
            </a:r>
            <a:r>
              <a:rPr lang="de-AT" dirty="0" err="1"/>
              <a:t>authentic</a:t>
            </a:r>
            <a:r>
              <a:rPr lang="de-AT" dirty="0"/>
              <a:t> </a:t>
            </a:r>
            <a:r>
              <a:rPr lang="de-AT" dirty="0" err="1"/>
              <a:t>educational</a:t>
            </a:r>
            <a:r>
              <a:rPr lang="de-AT" dirty="0"/>
              <a:t> </a:t>
            </a:r>
            <a:r>
              <a:rPr lang="de-AT" dirty="0" err="1"/>
              <a:t>environment</a:t>
            </a:r>
            <a:r>
              <a:rPr lang="de-AT" dirty="0"/>
              <a:t>. </a:t>
            </a:r>
          </a:p>
          <a:p>
            <a:r>
              <a:rPr lang="de-AT" dirty="0"/>
              <a:t>This </a:t>
            </a:r>
            <a:r>
              <a:rPr lang="de-AT" dirty="0" err="1"/>
              <a:t>makes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findings</a:t>
            </a:r>
            <a:r>
              <a:rPr lang="de-AT" dirty="0"/>
              <a:t> </a:t>
            </a:r>
            <a:r>
              <a:rPr lang="de-AT" dirty="0" err="1"/>
              <a:t>highly</a:t>
            </a:r>
            <a:r>
              <a:rPr lang="de-AT" dirty="0"/>
              <a:t> relevant </a:t>
            </a:r>
            <a:r>
              <a:rPr lang="de-AT" dirty="0" err="1"/>
              <a:t>for</a:t>
            </a:r>
            <a:r>
              <a:rPr lang="de-AT" dirty="0"/>
              <a:t> </a:t>
            </a:r>
            <a:r>
              <a:rPr lang="de-AT" dirty="0" err="1"/>
              <a:t>higher</a:t>
            </a:r>
            <a:r>
              <a:rPr lang="de-AT" dirty="0"/>
              <a:t> </a:t>
            </a:r>
            <a:r>
              <a:rPr lang="de-AT" dirty="0" err="1"/>
              <a:t>education</a:t>
            </a:r>
            <a:r>
              <a:rPr lang="de-AT" dirty="0"/>
              <a:t>.</a:t>
            </a:r>
          </a:p>
          <a:p>
            <a:endParaRPr lang="de-AT" dirty="0"/>
          </a:p>
          <a:p>
            <a:endParaRPr lang="de-AT" dirty="0"/>
          </a:p>
          <a:p>
            <a:r>
              <a:rPr lang="de-AT" dirty="0" err="1"/>
              <a:t>However</a:t>
            </a:r>
            <a:r>
              <a:rPr lang="de-AT" dirty="0"/>
              <a:t>, </a:t>
            </a:r>
            <a:r>
              <a:rPr lang="de-AT" dirty="0" err="1"/>
              <a:t>there</a:t>
            </a:r>
            <a:r>
              <a:rPr lang="de-AT" dirty="0"/>
              <a:t> </a:t>
            </a:r>
            <a:r>
              <a:rPr lang="de-AT" dirty="0" err="1"/>
              <a:t>are</a:t>
            </a:r>
            <a:r>
              <a:rPr lang="de-AT" dirty="0"/>
              <a:t> also </a:t>
            </a:r>
            <a:r>
              <a:rPr lang="de-AT" dirty="0" err="1"/>
              <a:t>important</a:t>
            </a:r>
            <a:r>
              <a:rPr lang="de-AT" dirty="0"/>
              <a:t> </a:t>
            </a:r>
            <a:r>
              <a:rPr lang="de-AT" dirty="0" err="1"/>
              <a:t>limitations</a:t>
            </a:r>
            <a:r>
              <a:rPr lang="de-AT" dirty="0"/>
              <a:t>.</a:t>
            </a:r>
          </a:p>
          <a:p>
            <a:r>
              <a:rPr lang="de-AT" dirty="0"/>
              <a:t>The sample </a:t>
            </a:r>
            <a:r>
              <a:rPr lang="de-AT" dirty="0" err="1"/>
              <a:t>size</a:t>
            </a:r>
            <a:r>
              <a:rPr lang="de-AT" dirty="0"/>
              <a:t> was </a:t>
            </a:r>
            <a:r>
              <a:rPr lang="de-AT" dirty="0" err="1"/>
              <a:t>very</a:t>
            </a:r>
            <a:r>
              <a:rPr lang="de-AT" dirty="0"/>
              <a:t> </a:t>
            </a:r>
            <a:r>
              <a:rPr lang="de-AT" dirty="0" err="1"/>
              <a:t>small</a:t>
            </a:r>
            <a:r>
              <a:rPr lang="de-AT" dirty="0"/>
              <a:t>, </a:t>
            </a:r>
            <a:r>
              <a:rPr lang="de-AT" dirty="0" err="1"/>
              <a:t>with</a:t>
            </a:r>
            <a:r>
              <a:rPr lang="de-AT" dirty="0"/>
              <a:t> </a:t>
            </a:r>
            <a:r>
              <a:rPr lang="de-AT" dirty="0" err="1"/>
              <a:t>only</a:t>
            </a:r>
            <a:r>
              <a:rPr lang="de-AT" dirty="0"/>
              <a:t> </a:t>
            </a:r>
            <a:r>
              <a:rPr lang="de-AT" dirty="0" err="1"/>
              <a:t>nine</a:t>
            </a:r>
            <a:r>
              <a:rPr lang="de-AT" dirty="0"/>
              <a:t> </a:t>
            </a:r>
            <a:r>
              <a:rPr lang="de-AT" dirty="0" err="1"/>
              <a:t>students</a:t>
            </a:r>
            <a:r>
              <a:rPr lang="de-AT" dirty="0"/>
              <a:t> per </a:t>
            </a:r>
            <a:r>
              <a:rPr lang="de-AT" dirty="0" err="1"/>
              <a:t>group</a:t>
            </a:r>
            <a:r>
              <a:rPr lang="de-AT" dirty="0"/>
              <a:t>.</a:t>
            </a:r>
          </a:p>
          <a:p>
            <a:r>
              <a:rPr lang="de-AT" dirty="0" err="1"/>
              <a:t>Furthermore</a:t>
            </a:r>
            <a:r>
              <a:rPr lang="de-AT" dirty="0"/>
              <a:t>, </a:t>
            </a:r>
            <a:r>
              <a:rPr lang="de-AT" dirty="0" err="1"/>
              <a:t>most</a:t>
            </a:r>
            <a:r>
              <a:rPr lang="de-AT" dirty="0"/>
              <a:t> </a:t>
            </a:r>
            <a:r>
              <a:rPr lang="de-AT" dirty="0" err="1"/>
              <a:t>participants</a:t>
            </a:r>
            <a:r>
              <a:rPr lang="de-AT" dirty="0"/>
              <a:t> </a:t>
            </a:r>
            <a:r>
              <a:rPr lang="de-AT" dirty="0" err="1"/>
              <a:t>had</a:t>
            </a:r>
            <a:r>
              <a:rPr lang="de-AT" dirty="0"/>
              <a:t> </a:t>
            </a:r>
            <a:r>
              <a:rPr lang="de-AT" dirty="0" err="1"/>
              <a:t>little</a:t>
            </a:r>
            <a:r>
              <a:rPr lang="de-AT" dirty="0"/>
              <a:t> </a:t>
            </a:r>
            <a:r>
              <a:rPr lang="de-AT" dirty="0" err="1"/>
              <a:t>or</a:t>
            </a:r>
            <a:r>
              <a:rPr lang="de-AT" dirty="0"/>
              <a:t> </a:t>
            </a:r>
            <a:r>
              <a:rPr lang="de-AT" dirty="0" err="1"/>
              <a:t>no</a:t>
            </a:r>
            <a:r>
              <a:rPr lang="de-AT" dirty="0"/>
              <a:t> </a:t>
            </a:r>
            <a:r>
              <a:rPr lang="de-AT" dirty="0" err="1"/>
              <a:t>experience</a:t>
            </a:r>
            <a:r>
              <a:rPr lang="de-AT" dirty="0"/>
              <a:t> </a:t>
            </a:r>
            <a:r>
              <a:rPr lang="de-AT" dirty="0" err="1"/>
              <a:t>using</a:t>
            </a:r>
            <a:r>
              <a:rPr lang="de-AT" dirty="0"/>
              <a:t> ChatGPT </a:t>
            </a:r>
            <a:r>
              <a:rPr lang="de-AT" dirty="0" err="1"/>
              <a:t>before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experiment</a:t>
            </a:r>
            <a:r>
              <a:rPr lang="de-AT" dirty="0"/>
              <a:t>.</a:t>
            </a:r>
          </a:p>
          <a:p>
            <a:r>
              <a:rPr lang="de-AT" dirty="0"/>
              <a:t>The </a:t>
            </a:r>
            <a:r>
              <a:rPr lang="de-AT" dirty="0" err="1"/>
              <a:t>essays</a:t>
            </a:r>
            <a:r>
              <a:rPr lang="de-AT" dirty="0"/>
              <a:t> </a:t>
            </a:r>
            <a:r>
              <a:rPr lang="de-AT" dirty="0" err="1"/>
              <a:t>were</a:t>
            </a:r>
            <a:r>
              <a:rPr lang="de-AT" dirty="0"/>
              <a:t> </a:t>
            </a:r>
            <a:r>
              <a:rPr lang="de-AT" dirty="0" err="1"/>
              <a:t>written</a:t>
            </a:r>
            <a:r>
              <a:rPr lang="de-AT" dirty="0"/>
              <a:t> in Croatian, </a:t>
            </a:r>
            <a:r>
              <a:rPr lang="de-AT" dirty="0" err="1"/>
              <a:t>which</a:t>
            </a:r>
            <a:r>
              <a:rPr lang="de-AT" dirty="0"/>
              <a:t> </a:t>
            </a:r>
            <a:r>
              <a:rPr lang="de-AT" dirty="0" err="1"/>
              <a:t>may</a:t>
            </a:r>
            <a:r>
              <a:rPr lang="de-AT" dirty="0"/>
              <a:t> </a:t>
            </a:r>
            <a:r>
              <a:rPr lang="de-AT" dirty="0" err="1"/>
              <a:t>have</a:t>
            </a:r>
            <a:r>
              <a:rPr lang="de-AT" dirty="0"/>
              <a:t> </a:t>
            </a:r>
            <a:r>
              <a:rPr lang="de-AT" dirty="0" err="1"/>
              <a:t>influenced</a:t>
            </a:r>
            <a:r>
              <a:rPr lang="de-AT" dirty="0"/>
              <a:t> </a:t>
            </a:r>
            <a:r>
              <a:rPr lang="de-AT" dirty="0" err="1"/>
              <a:t>ChatGPT’s</a:t>
            </a:r>
            <a:r>
              <a:rPr lang="de-AT" dirty="0"/>
              <a:t> </a:t>
            </a:r>
            <a:r>
              <a:rPr lang="de-AT" dirty="0" err="1"/>
              <a:t>performance</a:t>
            </a:r>
            <a:r>
              <a:rPr lang="de-AT" dirty="0"/>
              <a:t>.</a:t>
            </a:r>
          </a:p>
          <a:p>
            <a:r>
              <a:rPr lang="de-AT" dirty="0" err="1"/>
              <a:t>Finally</a:t>
            </a:r>
            <a:r>
              <a:rPr lang="de-AT" dirty="0"/>
              <a:t>,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study</a:t>
            </a:r>
            <a:r>
              <a:rPr lang="de-AT" dirty="0"/>
              <a:t> </a:t>
            </a:r>
            <a:r>
              <a:rPr lang="de-AT" dirty="0" err="1"/>
              <a:t>only</a:t>
            </a:r>
            <a:r>
              <a:rPr lang="de-AT" dirty="0"/>
              <a:t> </a:t>
            </a:r>
            <a:r>
              <a:rPr lang="de-AT" dirty="0" err="1"/>
              <a:t>examined</a:t>
            </a:r>
            <a:r>
              <a:rPr lang="de-AT" dirty="0"/>
              <a:t> a </a:t>
            </a:r>
            <a:r>
              <a:rPr lang="de-AT" dirty="0" err="1"/>
              <a:t>short</a:t>
            </a:r>
            <a:r>
              <a:rPr lang="de-AT" dirty="0"/>
              <a:t>-term </a:t>
            </a:r>
            <a:r>
              <a:rPr lang="de-AT" dirty="0" err="1"/>
              <a:t>intervention</a:t>
            </a:r>
            <a:r>
              <a:rPr lang="de-AT" dirty="0"/>
              <a:t> and </a:t>
            </a:r>
            <a:r>
              <a:rPr lang="de-AT" dirty="0" err="1"/>
              <a:t>therefore</a:t>
            </a:r>
            <a:r>
              <a:rPr lang="de-AT" dirty="0"/>
              <a:t> </a:t>
            </a:r>
            <a:r>
              <a:rPr lang="de-AT" dirty="0" err="1"/>
              <a:t>cannot</a:t>
            </a:r>
            <a:r>
              <a:rPr lang="de-AT" dirty="0"/>
              <a:t> </a:t>
            </a:r>
            <a:r>
              <a:rPr lang="de-AT" dirty="0" err="1"/>
              <a:t>tell</a:t>
            </a:r>
            <a:r>
              <a:rPr lang="de-AT" dirty="0"/>
              <a:t> </a:t>
            </a:r>
            <a:r>
              <a:rPr lang="de-AT" dirty="0" err="1"/>
              <a:t>us</a:t>
            </a:r>
            <a:r>
              <a:rPr lang="de-AT" dirty="0"/>
              <a:t> </a:t>
            </a:r>
            <a:r>
              <a:rPr lang="de-AT" dirty="0" err="1"/>
              <a:t>much</a:t>
            </a:r>
            <a:r>
              <a:rPr lang="de-AT" dirty="0"/>
              <a:t> </a:t>
            </a:r>
            <a:r>
              <a:rPr lang="de-AT" dirty="0" err="1"/>
              <a:t>about</a:t>
            </a:r>
            <a:r>
              <a:rPr lang="de-AT" dirty="0"/>
              <a:t> </a:t>
            </a:r>
            <a:r>
              <a:rPr lang="de-AT" dirty="0" err="1"/>
              <a:t>long</a:t>
            </a:r>
            <a:r>
              <a:rPr lang="de-AT" dirty="0"/>
              <a:t>-term </a:t>
            </a:r>
            <a:r>
              <a:rPr lang="de-AT" dirty="0" err="1"/>
              <a:t>learning</a:t>
            </a:r>
            <a:r>
              <a:rPr lang="de-AT" dirty="0"/>
              <a:t> </a:t>
            </a:r>
            <a:r>
              <a:rPr lang="de-AT" dirty="0" err="1"/>
              <a:t>effects</a:t>
            </a:r>
            <a:r>
              <a:rPr lang="de-AT" dirty="0"/>
              <a:t>.</a:t>
            </a:r>
          </a:p>
          <a:p>
            <a:endParaRPr lang="de-AT" dirty="0"/>
          </a:p>
          <a:p>
            <a:r>
              <a:rPr lang="de-AT" dirty="0" err="1"/>
              <a:t>Because</a:t>
            </a:r>
            <a:r>
              <a:rPr lang="de-AT" dirty="0"/>
              <a:t>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these</a:t>
            </a:r>
            <a:r>
              <a:rPr lang="de-AT" dirty="0"/>
              <a:t> </a:t>
            </a:r>
            <a:r>
              <a:rPr lang="de-AT" dirty="0" err="1"/>
              <a:t>limitations</a:t>
            </a:r>
            <a:r>
              <a:rPr lang="de-AT" dirty="0"/>
              <a:t>,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results</a:t>
            </a:r>
            <a:r>
              <a:rPr lang="de-AT" dirty="0"/>
              <a:t> </a:t>
            </a:r>
            <a:r>
              <a:rPr lang="de-AT" dirty="0" err="1"/>
              <a:t>should</a:t>
            </a:r>
            <a:r>
              <a:rPr lang="de-AT" dirty="0"/>
              <a:t> </a:t>
            </a:r>
            <a:r>
              <a:rPr lang="de-AT" dirty="0" err="1"/>
              <a:t>be</a:t>
            </a:r>
            <a:r>
              <a:rPr lang="de-AT" dirty="0"/>
              <a:t> </a:t>
            </a:r>
            <a:r>
              <a:rPr lang="de-AT" dirty="0" err="1"/>
              <a:t>interpreted</a:t>
            </a:r>
            <a:r>
              <a:rPr lang="de-AT" dirty="0"/>
              <a:t> </a:t>
            </a:r>
            <a:r>
              <a:rPr lang="de-AT" dirty="0" err="1"/>
              <a:t>cautiously</a:t>
            </a:r>
            <a:r>
              <a:rPr lang="de-AT" dirty="0"/>
              <a:t>.</a:t>
            </a:r>
          </a:p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333A25-CDC0-4883-9EA4-6C77BD01CB0D}" type="slidenum">
              <a:rPr lang="de-AT" smtClean="0"/>
              <a:t>5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4028444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/>
              <a:t>I </a:t>
            </a:r>
            <a:r>
              <a:rPr lang="de-AT" dirty="0" err="1"/>
              <a:t>selected</a:t>
            </a:r>
            <a:r>
              <a:rPr lang="de-AT" dirty="0"/>
              <a:t> </a:t>
            </a:r>
            <a:r>
              <a:rPr lang="de-AT" dirty="0" err="1"/>
              <a:t>this</a:t>
            </a:r>
            <a:r>
              <a:rPr lang="de-AT" dirty="0"/>
              <a:t> </a:t>
            </a:r>
            <a:r>
              <a:rPr lang="de-AT" dirty="0" err="1"/>
              <a:t>study</a:t>
            </a:r>
            <a:r>
              <a:rPr lang="de-AT" dirty="0"/>
              <a:t> </a:t>
            </a:r>
            <a:r>
              <a:rPr lang="de-AT" dirty="0" err="1"/>
              <a:t>because</a:t>
            </a:r>
            <a:r>
              <a:rPr lang="de-AT" dirty="0"/>
              <a:t> </a:t>
            </a:r>
            <a:r>
              <a:rPr lang="de-AT" dirty="0" err="1"/>
              <a:t>it</a:t>
            </a:r>
            <a:r>
              <a:rPr lang="de-AT" dirty="0"/>
              <a:t> </a:t>
            </a:r>
            <a:r>
              <a:rPr lang="de-AT" dirty="0" err="1"/>
              <a:t>connects</a:t>
            </a:r>
            <a:r>
              <a:rPr lang="de-AT" dirty="0"/>
              <a:t> </a:t>
            </a:r>
            <a:r>
              <a:rPr lang="de-AT" dirty="0" err="1"/>
              <a:t>directly</a:t>
            </a:r>
            <a:r>
              <a:rPr lang="de-AT" dirty="0"/>
              <a:t> </a:t>
            </a:r>
            <a:r>
              <a:rPr lang="de-AT" dirty="0" err="1"/>
              <a:t>to</a:t>
            </a:r>
            <a:r>
              <a:rPr lang="de-AT" dirty="0"/>
              <a:t> </a:t>
            </a:r>
            <a:r>
              <a:rPr lang="de-AT" dirty="0" err="1"/>
              <a:t>my</a:t>
            </a:r>
            <a:r>
              <a:rPr lang="de-AT" dirty="0"/>
              <a:t> </a:t>
            </a:r>
            <a:r>
              <a:rPr lang="de-AT" dirty="0" err="1"/>
              <a:t>master’s</a:t>
            </a:r>
            <a:r>
              <a:rPr lang="de-AT" dirty="0"/>
              <a:t> </a:t>
            </a:r>
            <a:r>
              <a:rPr lang="de-AT" dirty="0" err="1"/>
              <a:t>thesis</a:t>
            </a:r>
            <a:r>
              <a:rPr lang="de-AT" dirty="0"/>
              <a:t>.</a:t>
            </a:r>
          </a:p>
          <a:p>
            <a:endParaRPr lang="de-AT" dirty="0"/>
          </a:p>
          <a:p>
            <a:r>
              <a:rPr lang="de-AT" dirty="0"/>
              <a:t>Many </a:t>
            </a:r>
            <a:r>
              <a:rPr lang="de-AT" dirty="0" err="1"/>
              <a:t>discussions</a:t>
            </a:r>
            <a:r>
              <a:rPr lang="de-AT" dirty="0"/>
              <a:t> </a:t>
            </a:r>
            <a:r>
              <a:rPr lang="de-AT" dirty="0" err="1"/>
              <a:t>about</a:t>
            </a:r>
            <a:r>
              <a:rPr lang="de-AT" dirty="0"/>
              <a:t> ChatGPT </a:t>
            </a:r>
            <a:r>
              <a:rPr lang="de-AT" dirty="0" err="1"/>
              <a:t>focus</a:t>
            </a:r>
            <a:r>
              <a:rPr lang="de-AT" dirty="0"/>
              <a:t> </a:t>
            </a:r>
            <a:r>
              <a:rPr lang="de-AT" dirty="0" err="1"/>
              <a:t>mainly</a:t>
            </a:r>
            <a:r>
              <a:rPr lang="de-AT" dirty="0"/>
              <a:t> on </a:t>
            </a:r>
            <a:r>
              <a:rPr lang="de-AT" dirty="0" err="1"/>
              <a:t>its</a:t>
            </a:r>
            <a:r>
              <a:rPr lang="de-AT" dirty="0"/>
              <a:t> potential </a:t>
            </a:r>
            <a:r>
              <a:rPr lang="de-AT" dirty="0" err="1"/>
              <a:t>benefits</a:t>
            </a:r>
            <a:r>
              <a:rPr lang="de-AT" dirty="0"/>
              <a:t>.</a:t>
            </a:r>
          </a:p>
          <a:p>
            <a:r>
              <a:rPr lang="de-AT" dirty="0" err="1"/>
              <a:t>What</a:t>
            </a:r>
            <a:r>
              <a:rPr lang="de-AT" dirty="0"/>
              <a:t> I find </a:t>
            </a:r>
            <a:r>
              <a:rPr lang="de-AT" dirty="0" err="1"/>
              <a:t>particularly</a:t>
            </a:r>
            <a:r>
              <a:rPr lang="de-AT" dirty="0"/>
              <a:t> </a:t>
            </a:r>
            <a:r>
              <a:rPr lang="de-AT" dirty="0" err="1"/>
              <a:t>interesting</a:t>
            </a:r>
            <a:r>
              <a:rPr lang="de-AT" dirty="0"/>
              <a:t> </a:t>
            </a:r>
            <a:r>
              <a:rPr lang="de-AT" dirty="0" err="1"/>
              <a:t>is</a:t>
            </a:r>
            <a:r>
              <a:rPr lang="de-AT" dirty="0"/>
              <a:t> </a:t>
            </a:r>
            <a:r>
              <a:rPr lang="de-AT" dirty="0" err="1"/>
              <a:t>that</a:t>
            </a:r>
            <a:r>
              <a:rPr lang="de-AT" dirty="0"/>
              <a:t> </a:t>
            </a:r>
            <a:r>
              <a:rPr lang="de-AT" dirty="0" err="1"/>
              <a:t>this</a:t>
            </a:r>
            <a:r>
              <a:rPr lang="de-AT" dirty="0"/>
              <a:t> </a:t>
            </a:r>
            <a:r>
              <a:rPr lang="de-AT" dirty="0" err="1"/>
              <a:t>study</a:t>
            </a:r>
            <a:r>
              <a:rPr lang="de-AT" dirty="0"/>
              <a:t> also </a:t>
            </a:r>
            <a:r>
              <a:rPr lang="de-AT" dirty="0" err="1"/>
              <a:t>highlights</a:t>
            </a:r>
            <a:r>
              <a:rPr lang="de-AT" dirty="0"/>
              <a:t> </a:t>
            </a:r>
            <a:r>
              <a:rPr lang="de-AT" dirty="0" err="1"/>
              <a:t>its</a:t>
            </a:r>
            <a:r>
              <a:rPr lang="de-AT" dirty="0"/>
              <a:t> </a:t>
            </a:r>
            <a:r>
              <a:rPr lang="de-AT" dirty="0" err="1"/>
              <a:t>limitations</a:t>
            </a:r>
            <a:r>
              <a:rPr lang="de-AT" dirty="0"/>
              <a:t>.</a:t>
            </a:r>
          </a:p>
          <a:p>
            <a:r>
              <a:rPr lang="de-AT" dirty="0"/>
              <a:t>The </a:t>
            </a:r>
            <a:r>
              <a:rPr lang="de-AT" dirty="0" err="1"/>
              <a:t>findings</a:t>
            </a:r>
            <a:r>
              <a:rPr lang="de-AT" dirty="0"/>
              <a:t> </a:t>
            </a:r>
            <a:r>
              <a:rPr lang="de-AT" dirty="0" err="1"/>
              <a:t>suggest</a:t>
            </a:r>
            <a:r>
              <a:rPr lang="de-AT" dirty="0"/>
              <a:t> </a:t>
            </a:r>
            <a:r>
              <a:rPr lang="de-AT" dirty="0" err="1"/>
              <a:t>that</a:t>
            </a:r>
            <a:r>
              <a:rPr lang="de-AT" dirty="0"/>
              <a:t> </a:t>
            </a:r>
            <a:r>
              <a:rPr lang="de-AT" dirty="0" err="1"/>
              <a:t>simply</a:t>
            </a:r>
            <a:r>
              <a:rPr lang="de-AT" dirty="0"/>
              <a:t> </a:t>
            </a:r>
            <a:r>
              <a:rPr lang="de-AT" dirty="0" err="1"/>
              <a:t>having</a:t>
            </a:r>
            <a:r>
              <a:rPr lang="de-AT" dirty="0"/>
              <a:t> </a:t>
            </a:r>
            <a:r>
              <a:rPr lang="de-AT" dirty="0" err="1"/>
              <a:t>access</a:t>
            </a:r>
            <a:r>
              <a:rPr lang="de-AT" dirty="0"/>
              <a:t> </a:t>
            </a:r>
            <a:r>
              <a:rPr lang="de-AT" dirty="0" err="1"/>
              <a:t>to</a:t>
            </a:r>
            <a:r>
              <a:rPr lang="de-AT" dirty="0"/>
              <a:t> AI </a:t>
            </a:r>
            <a:r>
              <a:rPr lang="de-AT" dirty="0" err="1"/>
              <a:t>does</a:t>
            </a:r>
            <a:r>
              <a:rPr lang="de-AT" dirty="0"/>
              <a:t> not </a:t>
            </a:r>
            <a:r>
              <a:rPr lang="de-AT" dirty="0" err="1"/>
              <a:t>automatically</a:t>
            </a:r>
            <a:r>
              <a:rPr lang="de-AT" dirty="0"/>
              <a:t> </a:t>
            </a:r>
            <a:r>
              <a:rPr lang="de-AT" dirty="0" err="1"/>
              <a:t>improve</a:t>
            </a:r>
            <a:r>
              <a:rPr lang="de-AT" dirty="0"/>
              <a:t> </a:t>
            </a:r>
            <a:r>
              <a:rPr lang="de-AT" dirty="0" err="1"/>
              <a:t>performance</a:t>
            </a:r>
            <a:r>
              <a:rPr lang="de-AT" dirty="0"/>
              <a:t>.</a:t>
            </a:r>
          </a:p>
          <a:p>
            <a:endParaRPr lang="de-AT" dirty="0"/>
          </a:p>
          <a:p>
            <a:r>
              <a:rPr lang="de-AT" dirty="0" err="1"/>
              <a:t>Instead</a:t>
            </a:r>
            <a:r>
              <a:rPr lang="de-AT" dirty="0"/>
              <a:t>, </a:t>
            </a:r>
            <a:r>
              <a:rPr lang="de-AT" dirty="0" err="1"/>
              <a:t>successful</a:t>
            </a:r>
            <a:r>
              <a:rPr lang="de-AT" dirty="0"/>
              <a:t> </a:t>
            </a:r>
            <a:r>
              <a:rPr lang="de-AT" dirty="0" err="1"/>
              <a:t>use</a:t>
            </a:r>
            <a:r>
              <a:rPr lang="de-AT" dirty="0"/>
              <a:t> </a:t>
            </a:r>
            <a:r>
              <a:rPr lang="de-AT" dirty="0" err="1"/>
              <a:t>depends</a:t>
            </a:r>
            <a:r>
              <a:rPr lang="de-AT" dirty="0"/>
              <a:t> on </a:t>
            </a:r>
            <a:r>
              <a:rPr lang="de-AT" dirty="0" err="1"/>
              <a:t>how</a:t>
            </a:r>
            <a:r>
              <a:rPr lang="de-AT" dirty="0"/>
              <a:t> </a:t>
            </a:r>
            <a:r>
              <a:rPr lang="de-AT" dirty="0" err="1"/>
              <a:t>well</a:t>
            </a:r>
            <a:r>
              <a:rPr lang="de-AT" dirty="0"/>
              <a:t> </a:t>
            </a:r>
            <a:r>
              <a:rPr lang="de-AT" dirty="0" err="1"/>
              <a:t>students</a:t>
            </a:r>
            <a:r>
              <a:rPr lang="de-AT" dirty="0"/>
              <a:t> </a:t>
            </a:r>
            <a:r>
              <a:rPr lang="de-AT" dirty="0" err="1"/>
              <a:t>understand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topic</a:t>
            </a:r>
            <a:r>
              <a:rPr lang="de-AT" dirty="0"/>
              <a:t>, </a:t>
            </a:r>
            <a:r>
              <a:rPr lang="de-AT" dirty="0" err="1"/>
              <a:t>formulate</a:t>
            </a:r>
            <a:r>
              <a:rPr lang="de-AT" dirty="0"/>
              <a:t> </a:t>
            </a:r>
            <a:r>
              <a:rPr lang="de-AT" dirty="0" err="1"/>
              <a:t>prompts</a:t>
            </a:r>
            <a:r>
              <a:rPr lang="de-AT" dirty="0"/>
              <a:t>, </a:t>
            </a:r>
            <a:r>
              <a:rPr lang="de-AT" dirty="0" err="1"/>
              <a:t>evaluate</a:t>
            </a:r>
            <a:r>
              <a:rPr lang="de-AT" dirty="0"/>
              <a:t> </a:t>
            </a:r>
            <a:r>
              <a:rPr lang="de-AT" dirty="0" err="1"/>
              <a:t>information</a:t>
            </a:r>
            <a:r>
              <a:rPr lang="de-AT" dirty="0"/>
              <a:t>, and </a:t>
            </a:r>
            <a:r>
              <a:rPr lang="de-AT" dirty="0" err="1"/>
              <a:t>integrate</a:t>
            </a:r>
            <a:r>
              <a:rPr lang="de-AT" dirty="0"/>
              <a:t> AI-</a:t>
            </a:r>
            <a:r>
              <a:rPr lang="de-AT" dirty="0" err="1"/>
              <a:t>generated</a:t>
            </a:r>
            <a:r>
              <a:rPr lang="de-AT" dirty="0"/>
              <a:t> </a:t>
            </a:r>
            <a:r>
              <a:rPr lang="de-AT" dirty="0" err="1"/>
              <a:t>content</a:t>
            </a:r>
            <a:r>
              <a:rPr lang="de-AT" dirty="0"/>
              <a:t> </a:t>
            </a:r>
            <a:r>
              <a:rPr lang="de-AT" dirty="0" err="1"/>
              <a:t>into</a:t>
            </a:r>
            <a:r>
              <a:rPr lang="de-AT" dirty="0"/>
              <a:t> </a:t>
            </a:r>
            <a:r>
              <a:rPr lang="de-AT" dirty="0" err="1"/>
              <a:t>their</a:t>
            </a:r>
            <a:r>
              <a:rPr lang="de-AT" dirty="0"/>
              <a:t> own </a:t>
            </a:r>
            <a:r>
              <a:rPr lang="de-AT" dirty="0" err="1"/>
              <a:t>work</a:t>
            </a:r>
            <a:r>
              <a:rPr lang="de-AT" dirty="0"/>
              <a:t>. </a:t>
            </a:r>
          </a:p>
          <a:p>
            <a:r>
              <a:rPr lang="de-AT" dirty="0" err="1"/>
              <a:t>For</a:t>
            </a:r>
            <a:r>
              <a:rPr lang="de-AT" dirty="0"/>
              <a:t> </a:t>
            </a:r>
            <a:r>
              <a:rPr lang="de-AT" dirty="0" err="1"/>
              <a:t>my</a:t>
            </a:r>
            <a:r>
              <a:rPr lang="de-AT" dirty="0"/>
              <a:t> </a:t>
            </a:r>
            <a:r>
              <a:rPr lang="de-AT" dirty="0" err="1"/>
              <a:t>research</a:t>
            </a:r>
            <a:r>
              <a:rPr lang="de-AT" dirty="0"/>
              <a:t>, </a:t>
            </a:r>
            <a:r>
              <a:rPr lang="de-AT" dirty="0" err="1"/>
              <a:t>this</a:t>
            </a:r>
            <a:r>
              <a:rPr lang="de-AT" dirty="0"/>
              <a:t> </a:t>
            </a:r>
            <a:r>
              <a:rPr lang="de-AT" dirty="0" err="1"/>
              <a:t>is</a:t>
            </a:r>
            <a:r>
              <a:rPr lang="de-AT" dirty="0"/>
              <a:t> </a:t>
            </a:r>
            <a:r>
              <a:rPr lang="de-AT" dirty="0" err="1"/>
              <a:t>highly</a:t>
            </a:r>
            <a:r>
              <a:rPr lang="de-AT" dirty="0"/>
              <a:t> relevant </a:t>
            </a:r>
            <a:r>
              <a:rPr lang="de-AT" dirty="0" err="1"/>
              <a:t>because</a:t>
            </a:r>
            <a:r>
              <a:rPr lang="de-AT" dirty="0"/>
              <a:t> </a:t>
            </a:r>
            <a:r>
              <a:rPr lang="de-AT" dirty="0" err="1"/>
              <a:t>it</a:t>
            </a:r>
            <a:r>
              <a:rPr lang="de-AT" dirty="0"/>
              <a:t> </a:t>
            </a:r>
            <a:r>
              <a:rPr lang="de-AT" dirty="0" err="1"/>
              <a:t>shows</a:t>
            </a:r>
            <a:r>
              <a:rPr lang="de-AT" dirty="0"/>
              <a:t> </a:t>
            </a:r>
            <a:r>
              <a:rPr lang="de-AT" dirty="0" err="1"/>
              <a:t>that</a:t>
            </a:r>
            <a:r>
              <a:rPr lang="de-AT" dirty="0"/>
              <a:t> AI </a:t>
            </a:r>
            <a:r>
              <a:rPr lang="de-AT" dirty="0" err="1"/>
              <a:t>should</a:t>
            </a:r>
            <a:r>
              <a:rPr lang="de-AT" dirty="0"/>
              <a:t> not </a:t>
            </a:r>
            <a:r>
              <a:rPr lang="de-AT" dirty="0" err="1"/>
              <a:t>be</a:t>
            </a:r>
            <a:r>
              <a:rPr lang="de-AT" dirty="0"/>
              <a:t> </a:t>
            </a:r>
            <a:r>
              <a:rPr lang="de-AT" dirty="0" err="1"/>
              <a:t>seen</a:t>
            </a:r>
            <a:r>
              <a:rPr lang="de-AT" dirty="0"/>
              <a:t> </a:t>
            </a:r>
            <a:r>
              <a:rPr lang="de-AT" dirty="0" err="1"/>
              <a:t>as</a:t>
            </a:r>
            <a:r>
              <a:rPr lang="de-AT" dirty="0"/>
              <a:t> a </a:t>
            </a:r>
            <a:r>
              <a:rPr lang="de-AT" dirty="0" err="1"/>
              <a:t>replacement</a:t>
            </a:r>
            <a:r>
              <a:rPr lang="de-AT" dirty="0"/>
              <a:t> </a:t>
            </a:r>
            <a:r>
              <a:rPr lang="de-AT" dirty="0" err="1"/>
              <a:t>for</a:t>
            </a:r>
            <a:r>
              <a:rPr lang="de-AT" dirty="0"/>
              <a:t> </a:t>
            </a:r>
            <a:r>
              <a:rPr lang="de-AT" dirty="0" err="1"/>
              <a:t>writing</a:t>
            </a:r>
            <a:r>
              <a:rPr lang="de-AT" dirty="0"/>
              <a:t> </a:t>
            </a:r>
            <a:r>
              <a:rPr lang="de-AT" dirty="0" err="1"/>
              <a:t>skills</a:t>
            </a:r>
            <a:r>
              <a:rPr lang="de-AT" dirty="0"/>
              <a:t>, but </a:t>
            </a:r>
            <a:r>
              <a:rPr lang="de-AT" dirty="0" err="1"/>
              <a:t>rather</a:t>
            </a:r>
            <a:r>
              <a:rPr lang="de-AT" dirty="0"/>
              <a:t> </a:t>
            </a:r>
            <a:r>
              <a:rPr lang="de-AT" dirty="0" err="1"/>
              <a:t>as</a:t>
            </a:r>
            <a:r>
              <a:rPr lang="de-AT" dirty="0"/>
              <a:t> a </a:t>
            </a:r>
            <a:r>
              <a:rPr lang="de-AT" dirty="0" err="1"/>
              <a:t>tool</a:t>
            </a:r>
            <a:r>
              <a:rPr lang="de-AT" dirty="0"/>
              <a:t> </a:t>
            </a:r>
            <a:r>
              <a:rPr lang="de-AT" dirty="0" err="1"/>
              <a:t>whose</a:t>
            </a:r>
            <a:r>
              <a:rPr lang="de-AT" dirty="0"/>
              <a:t> </a:t>
            </a:r>
            <a:r>
              <a:rPr lang="de-AT" dirty="0" err="1"/>
              <a:t>effectiveness</a:t>
            </a:r>
            <a:r>
              <a:rPr lang="de-AT" dirty="0"/>
              <a:t> </a:t>
            </a:r>
            <a:r>
              <a:rPr lang="de-AT" dirty="0" err="1"/>
              <a:t>depends</a:t>
            </a:r>
            <a:r>
              <a:rPr lang="de-AT" dirty="0"/>
              <a:t> on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user</a:t>
            </a:r>
            <a:r>
              <a:rPr lang="de-AT" dirty="0"/>
              <a:t>.</a:t>
            </a:r>
          </a:p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333A25-CDC0-4883-9EA4-6C77BD01CB0D}" type="slidenum">
              <a:rPr lang="de-AT" smtClean="0"/>
              <a:t>6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936467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 err="1"/>
              <a:t>To</a:t>
            </a:r>
            <a:r>
              <a:rPr lang="de-AT" dirty="0"/>
              <a:t> </a:t>
            </a:r>
            <a:r>
              <a:rPr lang="de-AT" dirty="0" err="1"/>
              <a:t>conclude</a:t>
            </a:r>
            <a:r>
              <a:rPr lang="de-AT" dirty="0"/>
              <a:t>:</a:t>
            </a:r>
          </a:p>
          <a:p>
            <a:endParaRPr lang="de-AT" dirty="0"/>
          </a:p>
          <a:p>
            <a:r>
              <a:rPr lang="de-AT" dirty="0"/>
              <a:t>This </a:t>
            </a:r>
            <a:r>
              <a:rPr lang="de-AT" dirty="0" err="1"/>
              <a:t>study</a:t>
            </a:r>
            <a:r>
              <a:rPr lang="de-AT" dirty="0"/>
              <a:t> </a:t>
            </a:r>
            <a:r>
              <a:rPr lang="de-AT" dirty="0" err="1"/>
              <a:t>found</a:t>
            </a:r>
            <a:r>
              <a:rPr lang="de-AT" dirty="0"/>
              <a:t> </a:t>
            </a:r>
            <a:r>
              <a:rPr lang="de-AT" dirty="0" err="1"/>
              <a:t>that</a:t>
            </a:r>
            <a:r>
              <a:rPr lang="de-AT" dirty="0"/>
              <a:t> ChatGPT </a:t>
            </a:r>
            <a:r>
              <a:rPr lang="de-AT" dirty="0" err="1"/>
              <a:t>did</a:t>
            </a:r>
            <a:r>
              <a:rPr lang="de-AT" dirty="0"/>
              <a:t> not </a:t>
            </a:r>
            <a:r>
              <a:rPr lang="de-AT" dirty="0" err="1"/>
              <a:t>significantly</a:t>
            </a:r>
            <a:r>
              <a:rPr lang="de-AT" dirty="0"/>
              <a:t> </a:t>
            </a:r>
            <a:r>
              <a:rPr lang="de-AT" dirty="0" err="1"/>
              <a:t>improve</a:t>
            </a:r>
            <a:r>
              <a:rPr lang="de-AT" dirty="0"/>
              <a:t> </a:t>
            </a:r>
            <a:r>
              <a:rPr lang="de-AT" dirty="0" err="1"/>
              <a:t>essay</a:t>
            </a:r>
            <a:r>
              <a:rPr lang="de-AT" dirty="0"/>
              <a:t> </a:t>
            </a:r>
            <a:r>
              <a:rPr lang="de-AT" dirty="0" err="1"/>
              <a:t>quality</a:t>
            </a:r>
            <a:r>
              <a:rPr lang="de-AT" dirty="0"/>
              <a:t>, </a:t>
            </a:r>
            <a:r>
              <a:rPr lang="de-AT" dirty="0" err="1"/>
              <a:t>speed</a:t>
            </a:r>
            <a:r>
              <a:rPr lang="de-AT" dirty="0"/>
              <a:t>, </a:t>
            </a:r>
            <a:r>
              <a:rPr lang="de-AT" dirty="0" err="1"/>
              <a:t>or</a:t>
            </a:r>
            <a:r>
              <a:rPr lang="de-AT" dirty="0"/>
              <a:t> </a:t>
            </a:r>
            <a:r>
              <a:rPr lang="de-AT" dirty="0" err="1"/>
              <a:t>authenticity</a:t>
            </a:r>
            <a:r>
              <a:rPr lang="de-AT" dirty="0"/>
              <a:t> in </a:t>
            </a:r>
            <a:r>
              <a:rPr lang="de-AT" dirty="0" err="1"/>
              <a:t>this</a:t>
            </a:r>
            <a:r>
              <a:rPr lang="de-AT" dirty="0"/>
              <a:t> </a:t>
            </a:r>
            <a:r>
              <a:rPr lang="de-AT" dirty="0" err="1"/>
              <a:t>student</a:t>
            </a:r>
            <a:r>
              <a:rPr lang="de-AT" dirty="0"/>
              <a:t> sample.</a:t>
            </a:r>
          </a:p>
          <a:p>
            <a:r>
              <a:rPr lang="de-AT" dirty="0"/>
              <a:t>The </a:t>
            </a:r>
            <a:r>
              <a:rPr lang="de-AT" dirty="0" err="1"/>
              <a:t>results</a:t>
            </a:r>
            <a:r>
              <a:rPr lang="de-AT" dirty="0"/>
              <a:t> </a:t>
            </a:r>
            <a:r>
              <a:rPr lang="de-AT" dirty="0" err="1"/>
              <a:t>suggest</a:t>
            </a:r>
            <a:r>
              <a:rPr lang="de-AT" dirty="0"/>
              <a:t> </a:t>
            </a:r>
            <a:r>
              <a:rPr lang="de-AT" dirty="0" err="1"/>
              <a:t>that</a:t>
            </a:r>
            <a:r>
              <a:rPr lang="de-AT" dirty="0"/>
              <a:t> AI </a:t>
            </a:r>
            <a:r>
              <a:rPr lang="de-AT" dirty="0" err="1"/>
              <a:t>can</a:t>
            </a:r>
            <a:r>
              <a:rPr lang="de-AT" dirty="0"/>
              <a:t> support </a:t>
            </a:r>
            <a:r>
              <a:rPr lang="de-AT" dirty="0" err="1"/>
              <a:t>writing</a:t>
            </a:r>
            <a:r>
              <a:rPr lang="de-AT" dirty="0"/>
              <a:t>, but </a:t>
            </a:r>
            <a:r>
              <a:rPr lang="de-AT" dirty="0" err="1"/>
              <a:t>only</a:t>
            </a:r>
            <a:r>
              <a:rPr lang="de-AT" dirty="0"/>
              <a:t> </a:t>
            </a:r>
            <a:r>
              <a:rPr lang="de-AT" dirty="0" err="1"/>
              <a:t>when</a:t>
            </a:r>
            <a:r>
              <a:rPr lang="de-AT" dirty="0"/>
              <a:t> </a:t>
            </a:r>
            <a:r>
              <a:rPr lang="de-AT" dirty="0" err="1"/>
              <a:t>users</a:t>
            </a:r>
            <a:r>
              <a:rPr lang="de-AT" dirty="0"/>
              <a:t> </a:t>
            </a:r>
            <a:r>
              <a:rPr lang="de-AT" dirty="0" err="1"/>
              <a:t>have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necessary</a:t>
            </a:r>
            <a:r>
              <a:rPr lang="de-AT" dirty="0"/>
              <a:t> </a:t>
            </a:r>
            <a:r>
              <a:rPr lang="de-AT" dirty="0" err="1"/>
              <a:t>skills</a:t>
            </a:r>
            <a:r>
              <a:rPr lang="de-AT" dirty="0"/>
              <a:t> </a:t>
            </a:r>
            <a:r>
              <a:rPr lang="de-AT" dirty="0" err="1"/>
              <a:t>to</a:t>
            </a:r>
            <a:r>
              <a:rPr lang="de-AT" dirty="0"/>
              <a:t> </a:t>
            </a:r>
            <a:r>
              <a:rPr lang="de-AT" dirty="0" err="1"/>
              <a:t>use</a:t>
            </a:r>
            <a:r>
              <a:rPr lang="de-AT" dirty="0"/>
              <a:t> </a:t>
            </a:r>
            <a:r>
              <a:rPr lang="de-AT" dirty="0" err="1"/>
              <a:t>it</a:t>
            </a:r>
            <a:r>
              <a:rPr lang="de-AT" dirty="0"/>
              <a:t> </a:t>
            </a:r>
            <a:r>
              <a:rPr lang="de-AT" dirty="0" err="1"/>
              <a:t>effectively</a:t>
            </a:r>
            <a:r>
              <a:rPr lang="de-AT"/>
              <a:t>.</a:t>
            </a:r>
          </a:p>
          <a:p>
            <a:endParaRPr lang="de-AT" dirty="0"/>
          </a:p>
          <a:p>
            <a:r>
              <a:rPr lang="de-AT" dirty="0" err="1"/>
              <a:t>Thank</a:t>
            </a:r>
            <a:r>
              <a:rPr lang="de-AT" dirty="0"/>
              <a:t> </a:t>
            </a:r>
            <a:r>
              <a:rPr lang="de-AT" dirty="0" err="1"/>
              <a:t>you</a:t>
            </a:r>
            <a:r>
              <a:rPr lang="de-AT" dirty="0"/>
              <a:t> </a:t>
            </a:r>
            <a:r>
              <a:rPr lang="de-AT" dirty="0" err="1"/>
              <a:t>for</a:t>
            </a:r>
            <a:r>
              <a:rPr lang="de-AT" dirty="0"/>
              <a:t> </a:t>
            </a:r>
            <a:r>
              <a:rPr lang="de-AT" dirty="0" err="1"/>
              <a:t>listening</a:t>
            </a:r>
            <a:r>
              <a:rPr lang="de-AT" dirty="0"/>
              <a:t>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333A25-CDC0-4883-9EA4-6C77BD01CB0D}" type="slidenum">
              <a:rPr lang="de-AT" smtClean="0"/>
              <a:t>7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6357078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7.svg"/><Relationship Id="rId4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6.sv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4.svg"/><Relationship Id="rId4" Type="http://schemas.openxmlformats.org/officeDocument/2006/relationships/image" Target="../media/image17.svg"/><Relationship Id="rId9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hyperlink" Target="https://doi.org/10.1057/s41599-023-02269-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91699">
            <a:off x="16345508" y="2893683"/>
            <a:ext cx="4154462" cy="3863649"/>
          </a:xfrm>
          <a:custGeom>
            <a:avLst/>
            <a:gdLst/>
            <a:ahLst/>
            <a:cxnLst/>
            <a:rect l="l" t="t" r="r" b="b"/>
            <a:pathLst>
              <a:path w="4154462" h="3863649">
                <a:moveTo>
                  <a:pt x="0" y="0"/>
                </a:moveTo>
                <a:lnTo>
                  <a:pt x="4154461" y="0"/>
                </a:lnTo>
                <a:lnTo>
                  <a:pt x="4154461" y="3863649"/>
                </a:lnTo>
                <a:lnTo>
                  <a:pt x="0" y="38636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3" name="Freeform 3"/>
          <p:cNvSpPr/>
          <p:nvPr/>
        </p:nvSpPr>
        <p:spPr>
          <a:xfrm rot="-284944">
            <a:off x="-1837951" y="3037093"/>
            <a:ext cx="4096277" cy="3630325"/>
          </a:xfrm>
          <a:custGeom>
            <a:avLst/>
            <a:gdLst/>
            <a:ahLst/>
            <a:cxnLst/>
            <a:rect l="l" t="t" r="r" b="b"/>
            <a:pathLst>
              <a:path w="4096277" h="3630325">
                <a:moveTo>
                  <a:pt x="0" y="0"/>
                </a:moveTo>
                <a:lnTo>
                  <a:pt x="4096277" y="0"/>
                </a:lnTo>
                <a:lnTo>
                  <a:pt x="4096277" y="3630325"/>
                </a:lnTo>
                <a:lnTo>
                  <a:pt x="0" y="36303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4" name="Freeform 4"/>
          <p:cNvSpPr/>
          <p:nvPr/>
        </p:nvSpPr>
        <p:spPr>
          <a:xfrm rot="1061051">
            <a:off x="12885689" y="8121676"/>
            <a:ext cx="3642065" cy="3848946"/>
          </a:xfrm>
          <a:custGeom>
            <a:avLst/>
            <a:gdLst/>
            <a:ahLst/>
            <a:cxnLst/>
            <a:rect l="l" t="t" r="r" b="b"/>
            <a:pathLst>
              <a:path w="3642065" h="3848946">
                <a:moveTo>
                  <a:pt x="0" y="0"/>
                </a:moveTo>
                <a:lnTo>
                  <a:pt x="3642065" y="0"/>
                </a:lnTo>
                <a:lnTo>
                  <a:pt x="3642065" y="3848946"/>
                </a:lnTo>
                <a:lnTo>
                  <a:pt x="0" y="38489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5" name="Freeform 5"/>
          <p:cNvSpPr/>
          <p:nvPr/>
        </p:nvSpPr>
        <p:spPr>
          <a:xfrm rot="-411245">
            <a:off x="7640446" y="8421029"/>
            <a:ext cx="4476094" cy="3731943"/>
          </a:xfrm>
          <a:custGeom>
            <a:avLst/>
            <a:gdLst/>
            <a:ahLst/>
            <a:cxnLst/>
            <a:rect l="l" t="t" r="r" b="b"/>
            <a:pathLst>
              <a:path w="4476094" h="3731943">
                <a:moveTo>
                  <a:pt x="0" y="0"/>
                </a:moveTo>
                <a:lnTo>
                  <a:pt x="4476094" y="0"/>
                </a:lnTo>
                <a:lnTo>
                  <a:pt x="4476094" y="3731943"/>
                </a:lnTo>
                <a:lnTo>
                  <a:pt x="0" y="37319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6" name="Freeform 6"/>
          <p:cNvSpPr/>
          <p:nvPr/>
        </p:nvSpPr>
        <p:spPr>
          <a:xfrm rot="-474403">
            <a:off x="6948183" y="-2882444"/>
            <a:ext cx="4368067" cy="4329846"/>
          </a:xfrm>
          <a:custGeom>
            <a:avLst/>
            <a:gdLst/>
            <a:ahLst/>
            <a:cxnLst/>
            <a:rect l="l" t="t" r="r" b="b"/>
            <a:pathLst>
              <a:path w="4368067" h="4329846">
                <a:moveTo>
                  <a:pt x="0" y="0"/>
                </a:moveTo>
                <a:lnTo>
                  <a:pt x="4368068" y="0"/>
                </a:lnTo>
                <a:lnTo>
                  <a:pt x="4368068" y="4329846"/>
                </a:lnTo>
                <a:lnTo>
                  <a:pt x="0" y="43298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7" name="Freeform 7"/>
          <p:cNvSpPr/>
          <p:nvPr/>
        </p:nvSpPr>
        <p:spPr>
          <a:xfrm>
            <a:off x="2095416" y="7659441"/>
            <a:ext cx="4373018" cy="4214496"/>
          </a:xfrm>
          <a:custGeom>
            <a:avLst/>
            <a:gdLst/>
            <a:ahLst/>
            <a:cxnLst/>
            <a:rect l="l" t="t" r="r" b="b"/>
            <a:pathLst>
              <a:path w="4373018" h="4214496">
                <a:moveTo>
                  <a:pt x="0" y="0"/>
                </a:moveTo>
                <a:lnTo>
                  <a:pt x="4373018" y="0"/>
                </a:lnTo>
                <a:lnTo>
                  <a:pt x="4373018" y="4214496"/>
                </a:lnTo>
                <a:lnTo>
                  <a:pt x="0" y="42144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8" name="Freeform 8"/>
          <p:cNvSpPr/>
          <p:nvPr/>
        </p:nvSpPr>
        <p:spPr>
          <a:xfrm rot="356799">
            <a:off x="-2319440" y="7621568"/>
            <a:ext cx="3888820" cy="3485355"/>
          </a:xfrm>
          <a:custGeom>
            <a:avLst/>
            <a:gdLst/>
            <a:ahLst/>
            <a:cxnLst/>
            <a:rect l="l" t="t" r="r" b="b"/>
            <a:pathLst>
              <a:path w="3888820" h="3485355">
                <a:moveTo>
                  <a:pt x="0" y="0"/>
                </a:moveTo>
                <a:lnTo>
                  <a:pt x="3888820" y="0"/>
                </a:lnTo>
                <a:lnTo>
                  <a:pt x="3888820" y="3485354"/>
                </a:lnTo>
                <a:lnTo>
                  <a:pt x="0" y="34853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9" name="Freeform 9"/>
          <p:cNvSpPr/>
          <p:nvPr/>
        </p:nvSpPr>
        <p:spPr>
          <a:xfrm rot="675348">
            <a:off x="12448212" y="-1678300"/>
            <a:ext cx="3789402" cy="3685194"/>
          </a:xfrm>
          <a:custGeom>
            <a:avLst/>
            <a:gdLst/>
            <a:ahLst/>
            <a:cxnLst/>
            <a:rect l="l" t="t" r="r" b="b"/>
            <a:pathLst>
              <a:path w="3789402" h="3685194">
                <a:moveTo>
                  <a:pt x="0" y="0"/>
                </a:moveTo>
                <a:lnTo>
                  <a:pt x="3789402" y="0"/>
                </a:lnTo>
                <a:lnTo>
                  <a:pt x="3789402" y="3685193"/>
                </a:lnTo>
                <a:lnTo>
                  <a:pt x="0" y="36851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10" name="Freeform 10"/>
          <p:cNvSpPr/>
          <p:nvPr/>
        </p:nvSpPr>
        <p:spPr>
          <a:xfrm rot="710027">
            <a:off x="1788193" y="-1759765"/>
            <a:ext cx="4057937" cy="3692723"/>
          </a:xfrm>
          <a:custGeom>
            <a:avLst/>
            <a:gdLst/>
            <a:ahLst/>
            <a:cxnLst/>
            <a:rect l="l" t="t" r="r" b="b"/>
            <a:pathLst>
              <a:path w="4057937" h="3692723">
                <a:moveTo>
                  <a:pt x="0" y="0"/>
                </a:moveTo>
                <a:lnTo>
                  <a:pt x="4057938" y="0"/>
                </a:lnTo>
                <a:lnTo>
                  <a:pt x="4057938" y="3692723"/>
                </a:lnTo>
                <a:lnTo>
                  <a:pt x="0" y="36927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11" name="Freeform 11"/>
          <p:cNvSpPr/>
          <p:nvPr/>
        </p:nvSpPr>
        <p:spPr>
          <a:xfrm rot="261574">
            <a:off x="16941865" y="-1490132"/>
            <a:ext cx="3763596" cy="3792036"/>
          </a:xfrm>
          <a:custGeom>
            <a:avLst/>
            <a:gdLst/>
            <a:ahLst/>
            <a:cxnLst/>
            <a:rect l="l" t="t" r="r" b="b"/>
            <a:pathLst>
              <a:path w="3763596" h="3792036">
                <a:moveTo>
                  <a:pt x="0" y="0"/>
                </a:moveTo>
                <a:lnTo>
                  <a:pt x="3763596" y="0"/>
                </a:lnTo>
                <a:lnTo>
                  <a:pt x="3763596" y="3792036"/>
                </a:lnTo>
                <a:lnTo>
                  <a:pt x="0" y="37920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12" name="TextBox 12"/>
          <p:cNvSpPr txBox="1"/>
          <p:nvPr/>
        </p:nvSpPr>
        <p:spPr>
          <a:xfrm>
            <a:off x="4000684" y="3937719"/>
            <a:ext cx="10286632" cy="3314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16"/>
              </a:lnSpc>
            </a:pPr>
            <a:r>
              <a:rPr lang="en-US" sz="8053" dirty="0">
                <a:solidFill>
                  <a:srgbClr val="558DFD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ChatGPT-3.5 as writing assistance in students’ essays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000684" y="2781448"/>
            <a:ext cx="10286632" cy="716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03"/>
              </a:lnSpc>
              <a:spcBef>
                <a:spcPct val="0"/>
              </a:spcBef>
            </a:pPr>
            <a:r>
              <a:rPr lang="en-US" sz="4073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Bašić et al. (2023)</a:t>
            </a:r>
          </a:p>
        </p:txBody>
      </p:sp>
      <p:sp>
        <p:nvSpPr>
          <p:cNvPr id="14" name="Freeform 14"/>
          <p:cNvSpPr/>
          <p:nvPr/>
        </p:nvSpPr>
        <p:spPr>
          <a:xfrm>
            <a:off x="-2482149" y="-1417257"/>
            <a:ext cx="3294905" cy="3163108"/>
          </a:xfrm>
          <a:custGeom>
            <a:avLst/>
            <a:gdLst/>
            <a:ahLst/>
            <a:cxnLst/>
            <a:rect l="l" t="t" r="r" b="b"/>
            <a:pathLst>
              <a:path w="3294905" h="3163108">
                <a:moveTo>
                  <a:pt x="0" y="0"/>
                </a:moveTo>
                <a:lnTo>
                  <a:pt x="3294904" y="0"/>
                </a:lnTo>
                <a:lnTo>
                  <a:pt x="3294904" y="3163108"/>
                </a:lnTo>
                <a:lnTo>
                  <a:pt x="0" y="31631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15" name="Freeform 15"/>
          <p:cNvSpPr/>
          <p:nvPr/>
        </p:nvSpPr>
        <p:spPr>
          <a:xfrm rot="-503037">
            <a:off x="17176209" y="7989173"/>
            <a:ext cx="3294905" cy="2230322"/>
          </a:xfrm>
          <a:custGeom>
            <a:avLst/>
            <a:gdLst/>
            <a:ahLst/>
            <a:cxnLst/>
            <a:rect l="l" t="t" r="r" b="b"/>
            <a:pathLst>
              <a:path w="3294905" h="2230322">
                <a:moveTo>
                  <a:pt x="0" y="0"/>
                </a:moveTo>
                <a:lnTo>
                  <a:pt x="3294904" y="0"/>
                </a:lnTo>
                <a:lnTo>
                  <a:pt x="3294904" y="2230322"/>
                </a:lnTo>
                <a:lnTo>
                  <a:pt x="0" y="22303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b="-41822"/>
            </a:stretch>
          </a:blipFill>
        </p:spPr>
        <p:txBody>
          <a:bodyPr/>
          <a:lstStyle/>
          <a:p>
            <a:endParaRPr lang="de-AT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456165" y="755651"/>
            <a:ext cx="5267697" cy="4768849"/>
          </a:xfrm>
          <a:custGeom>
            <a:avLst/>
            <a:gdLst/>
            <a:ahLst/>
            <a:cxnLst/>
            <a:rect l="l" t="t" r="r" b="b"/>
            <a:pathLst>
              <a:path w="5598662" h="5206755">
                <a:moveTo>
                  <a:pt x="0" y="0"/>
                </a:moveTo>
                <a:lnTo>
                  <a:pt x="5598661" y="0"/>
                </a:lnTo>
                <a:lnTo>
                  <a:pt x="5598661" y="5206756"/>
                </a:lnTo>
                <a:lnTo>
                  <a:pt x="0" y="52067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3" name="TextBox 3"/>
          <p:cNvSpPr txBox="1"/>
          <p:nvPr/>
        </p:nvSpPr>
        <p:spPr>
          <a:xfrm>
            <a:off x="381000" y="1751883"/>
            <a:ext cx="9626922" cy="3789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2" lvl="1" indent="-291466" algn="l">
              <a:lnSpc>
                <a:spcPts val="3780"/>
              </a:lnSpc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Participants</a:t>
            </a:r>
          </a:p>
          <a:p>
            <a:pPr marL="1165863" lvl="2" indent="-388621" algn="l">
              <a:lnSpc>
                <a:spcPts val="3780"/>
              </a:lnSpc>
              <a:buFont typeface="Arial"/>
              <a:buChar char="⚬"/>
            </a:pPr>
            <a:r>
              <a:rPr lang="en-US" sz="2700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18 master’s students</a:t>
            </a:r>
          </a:p>
          <a:p>
            <a:pPr marL="1165863" lvl="2" indent="-388621" algn="l">
              <a:lnSpc>
                <a:spcPts val="3780"/>
              </a:lnSpc>
              <a:buFont typeface="Arial"/>
              <a:buChar char="⚬"/>
            </a:pPr>
            <a:r>
              <a:rPr lang="en-US" sz="2700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Experimental group vs. control group</a:t>
            </a:r>
          </a:p>
          <a:p>
            <a:pPr algn="l">
              <a:lnSpc>
                <a:spcPts val="3780"/>
              </a:lnSpc>
            </a:pPr>
            <a:endParaRPr lang="en-US" sz="2700" dirty="0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marL="582932" lvl="1" indent="-291466" algn="l">
              <a:lnSpc>
                <a:spcPts val="3780"/>
              </a:lnSpc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Task</a:t>
            </a:r>
          </a:p>
          <a:p>
            <a:pPr marL="1165863" lvl="2" indent="-388621" algn="l">
              <a:lnSpc>
                <a:spcPts val="3780"/>
              </a:lnSpc>
              <a:buFont typeface="Arial"/>
              <a:buChar char="⚬"/>
            </a:pPr>
            <a:r>
              <a:rPr lang="en-US" sz="2700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Students wrote essays:</a:t>
            </a:r>
          </a:p>
          <a:p>
            <a:pPr marL="1748795" lvl="3" indent="-437199" algn="l">
              <a:lnSpc>
                <a:spcPts val="3780"/>
              </a:lnSpc>
              <a:buFont typeface="Arial"/>
              <a:buChar char="￭"/>
            </a:pPr>
            <a:r>
              <a:rPr lang="en-US" sz="2700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control group → traditional writing</a:t>
            </a:r>
          </a:p>
          <a:p>
            <a:pPr marL="1748795" lvl="3" indent="-437199" algn="l">
              <a:lnSpc>
                <a:spcPts val="3780"/>
              </a:lnSpc>
              <a:buFont typeface="Arial"/>
              <a:buChar char="￭"/>
            </a:pPr>
            <a:r>
              <a:rPr lang="en-US" sz="2700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experimental group → ChatGPT-assisted writing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829243" y="374650"/>
            <a:ext cx="9838405" cy="1412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99"/>
              </a:lnSpc>
            </a:pPr>
            <a:r>
              <a:rPr lang="en-US" sz="9999">
                <a:solidFill>
                  <a:srgbClr val="558DFD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Study Design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829800" y="5682697"/>
            <a:ext cx="8156257" cy="426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2" lvl="1" indent="-291466" algn="l">
              <a:lnSpc>
                <a:spcPts val="3780"/>
              </a:lnSpc>
              <a:spcBef>
                <a:spcPct val="0"/>
              </a:spcBef>
              <a:buFont typeface="Arial"/>
              <a:buChar char="•"/>
            </a:pPr>
            <a:r>
              <a:rPr lang="en-US" sz="2700" u="none" strike="noStrike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Essay Topic</a:t>
            </a:r>
          </a:p>
          <a:p>
            <a:pPr marL="1165863" lvl="2" indent="-388621" algn="l">
              <a:lnSpc>
                <a:spcPts val="3780"/>
              </a:lnSpc>
              <a:spcBef>
                <a:spcPct val="0"/>
              </a:spcBef>
              <a:buFont typeface="Arial"/>
              <a:buChar char="⚬"/>
            </a:pPr>
            <a:r>
              <a:rPr lang="en-US" sz="2700" u="none" strike="noStrike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Biometric identification in forensic sciences</a:t>
            </a:r>
          </a:p>
          <a:p>
            <a:pPr algn="l">
              <a:lnSpc>
                <a:spcPts val="3780"/>
              </a:lnSpc>
              <a:spcBef>
                <a:spcPct val="0"/>
              </a:spcBef>
            </a:pPr>
            <a:endParaRPr lang="en-US" sz="2700" u="none" strike="noStrike" dirty="0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marL="582932" lvl="1" indent="-291466" algn="l">
              <a:lnSpc>
                <a:spcPts val="3780"/>
              </a:lnSpc>
              <a:spcBef>
                <a:spcPct val="0"/>
              </a:spcBef>
              <a:buFont typeface="Arial"/>
              <a:buChar char="•"/>
            </a:pPr>
            <a:r>
              <a:rPr lang="en-US" sz="2700" u="none" strike="noStrike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Measurements</a:t>
            </a:r>
          </a:p>
          <a:p>
            <a:pPr marL="1165863" lvl="2" indent="-388621" algn="l">
              <a:lnSpc>
                <a:spcPts val="3780"/>
              </a:lnSpc>
              <a:spcBef>
                <a:spcPct val="0"/>
              </a:spcBef>
              <a:buFont typeface="Arial"/>
              <a:buChar char="⚬"/>
            </a:pPr>
            <a:r>
              <a:rPr lang="en-US" sz="2700" u="none" strike="noStrike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Researchers evaluated:</a:t>
            </a:r>
          </a:p>
          <a:p>
            <a:pPr marL="1748795" lvl="3" indent="-437199" algn="l">
              <a:lnSpc>
                <a:spcPts val="3780"/>
              </a:lnSpc>
              <a:spcBef>
                <a:spcPct val="0"/>
              </a:spcBef>
              <a:buFont typeface="Arial"/>
              <a:buChar char="￭"/>
            </a:pPr>
            <a:r>
              <a:rPr lang="en-US" sz="2700" u="none" strike="noStrike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essay quality</a:t>
            </a:r>
          </a:p>
          <a:p>
            <a:pPr marL="1748795" lvl="3" indent="-437199" algn="l">
              <a:lnSpc>
                <a:spcPts val="3780"/>
              </a:lnSpc>
              <a:spcBef>
                <a:spcPct val="0"/>
              </a:spcBef>
              <a:buFont typeface="Arial"/>
              <a:buChar char="￭"/>
            </a:pPr>
            <a:r>
              <a:rPr lang="en-US" sz="2700" u="none" strike="noStrike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writing duration</a:t>
            </a:r>
          </a:p>
          <a:p>
            <a:pPr marL="1748795" lvl="3" indent="-437199" algn="l">
              <a:lnSpc>
                <a:spcPts val="3780"/>
              </a:lnSpc>
              <a:spcBef>
                <a:spcPct val="0"/>
              </a:spcBef>
              <a:buFont typeface="Arial"/>
              <a:buChar char="￭"/>
            </a:pPr>
            <a:r>
              <a:rPr lang="en-US" sz="2700" u="none" strike="noStrike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text authenticity</a:t>
            </a:r>
          </a:p>
          <a:p>
            <a:pPr marL="1748795" lvl="3" indent="-437199" algn="l">
              <a:lnSpc>
                <a:spcPts val="3780"/>
              </a:lnSpc>
              <a:spcBef>
                <a:spcPct val="0"/>
              </a:spcBef>
              <a:buFont typeface="Arial"/>
              <a:buChar char="￭"/>
            </a:pPr>
            <a:r>
              <a:rPr lang="en-US" sz="2700" u="none" strike="noStrike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AI-generated content detection</a:t>
            </a:r>
          </a:p>
        </p:txBody>
      </p:sp>
      <p:sp>
        <p:nvSpPr>
          <p:cNvPr id="6" name="Freeform 6"/>
          <p:cNvSpPr/>
          <p:nvPr/>
        </p:nvSpPr>
        <p:spPr>
          <a:xfrm>
            <a:off x="3429000" y="5920823"/>
            <a:ext cx="4209050" cy="4040688"/>
          </a:xfrm>
          <a:custGeom>
            <a:avLst/>
            <a:gdLst/>
            <a:ahLst/>
            <a:cxnLst/>
            <a:rect l="l" t="t" r="r" b="b"/>
            <a:pathLst>
              <a:path w="4209050" h="4040688">
                <a:moveTo>
                  <a:pt x="0" y="0"/>
                </a:moveTo>
                <a:lnTo>
                  <a:pt x="4209050" y="0"/>
                </a:lnTo>
                <a:lnTo>
                  <a:pt x="4209050" y="4040688"/>
                </a:lnTo>
                <a:lnTo>
                  <a:pt x="0" y="40406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" grpId="0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871824" y="3574517"/>
            <a:ext cx="2533572" cy="2511403"/>
          </a:xfrm>
          <a:custGeom>
            <a:avLst/>
            <a:gdLst/>
            <a:ahLst/>
            <a:cxnLst/>
            <a:rect l="l" t="t" r="r" b="b"/>
            <a:pathLst>
              <a:path w="2533572" h="2511403">
                <a:moveTo>
                  <a:pt x="0" y="0"/>
                </a:moveTo>
                <a:lnTo>
                  <a:pt x="2533572" y="0"/>
                </a:lnTo>
                <a:lnTo>
                  <a:pt x="2533572" y="2511404"/>
                </a:lnTo>
                <a:lnTo>
                  <a:pt x="0" y="25114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grpSp>
        <p:nvGrpSpPr>
          <p:cNvPr id="3" name="Group 3"/>
          <p:cNvGrpSpPr/>
          <p:nvPr/>
        </p:nvGrpSpPr>
        <p:grpSpPr>
          <a:xfrm rot="2700000">
            <a:off x="6526954" y="5072348"/>
            <a:ext cx="337633" cy="337597"/>
            <a:chOff x="0" y="0"/>
            <a:chExt cx="88924" cy="889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8924" cy="88914"/>
            </a:xfrm>
            <a:custGeom>
              <a:avLst/>
              <a:gdLst/>
              <a:ahLst/>
              <a:cxnLst/>
              <a:rect l="l" t="t" r="r" b="b"/>
              <a:pathLst>
                <a:path w="88924" h="88914">
                  <a:moveTo>
                    <a:pt x="0" y="0"/>
                  </a:moveTo>
                  <a:lnTo>
                    <a:pt x="88924" y="0"/>
                  </a:lnTo>
                  <a:lnTo>
                    <a:pt x="88924" y="88914"/>
                  </a:lnTo>
                  <a:lnTo>
                    <a:pt x="0" y="88914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8924" cy="1270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868315">
            <a:off x="6540561" y="5043616"/>
            <a:ext cx="310421" cy="342147"/>
          </a:xfrm>
          <a:custGeom>
            <a:avLst/>
            <a:gdLst/>
            <a:ahLst/>
            <a:cxnLst/>
            <a:rect l="l" t="t" r="r" b="b"/>
            <a:pathLst>
              <a:path w="310421" h="342147">
                <a:moveTo>
                  <a:pt x="0" y="0"/>
                </a:moveTo>
                <a:lnTo>
                  <a:pt x="310421" y="0"/>
                </a:lnTo>
                <a:lnTo>
                  <a:pt x="310421" y="342148"/>
                </a:lnTo>
                <a:lnTo>
                  <a:pt x="0" y="3421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7" name="Freeform 7"/>
          <p:cNvSpPr/>
          <p:nvPr/>
        </p:nvSpPr>
        <p:spPr>
          <a:xfrm>
            <a:off x="1778038" y="3876749"/>
            <a:ext cx="2728794" cy="2728794"/>
          </a:xfrm>
          <a:custGeom>
            <a:avLst/>
            <a:gdLst/>
            <a:ahLst/>
            <a:cxnLst/>
            <a:rect l="l" t="t" r="r" b="b"/>
            <a:pathLst>
              <a:path w="2728794" h="2728794">
                <a:moveTo>
                  <a:pt x="0" y="0"/>
                </a:moveTo>
                <a:lnTo>
                  <a:pt x="2728793" y="0"/>
                </a:lnTo>
                <a:lnTo>
                  <a:pt x="2728793" y="2728794"/>
                </a:lnTo>
                <a:lnTo>
                  <a:pt x="0" y="27287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8" name="Freeform 8"/>
          <p:cNvSpPr/>
          <p:nvPr/>
        </p:nvSpPr>
        <p:spPr>
          <a:xfrm>
            <a:off x="10115092" y="3866036"/>
            <a:ext cx="2529409" cy="2301762"/>
          </a:xfrm>
          <a:custGeom>
            <a:avLst/>
            <a:gdLst/>
            <a:ahLst/>
            <a:cxnLst/>
            <a:rect l="l" t="t" r="r" b="b"/>
            <a:pathLst>
              <a:path w="2529409" h="2301762">
                <a:moveTo>
                  <a:pt x="0" y="0"/>
                </a:moveTo>
                <a:lnTo>
                  <a:pt x="2529409" y="0"/>
                </a:lnTo>
                <a:lnTo>
                  <a:pt x="2529409" y="2301762"/>
                </a:lnTo>
                <a:lnTo>
                  <a:pt x="0" y="23017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9" name="Freeform 9"/>
          <p:cNvSpPr/>
          <p:nvPr/>
        </p:nvSpPr>
        <p:spPr>
          <a:xfrm>
            <a:off x="14249400" y="3947914"/>
            <a:ext cx="2564325" cy="2138006"/>
          </a:xfrm>
          <a:custGeom>
            <a:avLst/>
            <a:gdLst/>
            <a:ahLst/>
            <a:cxnLst/>
            <a:rect l="l" t="t" r="r" b="b"/>
            <a:pathLst>
              <a:path w="2564325" h="2138006">
                <a:moveTo>
                  <a:pt x="0" y="0"/>
                </a:moveTo>
                <a:lnTo>
                  <a:pt x="2564325" y="0"/>
                </a:lnTo>
                <a:lnTo>
                  <a:pt x="2564325" y="2138006"/>
                </a:lnTo>
                <a:lnTo>
                  <a:pt x="0" y="21380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10" name="TextBox 10"/>
          <p:cNvSpPr txBox="1"/>
          <p:nvPr/>
        </p:nvSpPr>
        <p:spPr>
          <a:xfrm>
            <a:off x="5450037" y="6584849"/>
            <a:ext cx="3828155" cy="507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Bricolage Grotesque" panose="020B0604020202020204" charset="0"/>
                <a:ea typeface="Bricolage Grotesque Bold"/>
                <a:cs typeface="Bricolage Grotesque Bold"/>
                <a:sym typeface="Bricolage Grotesque Bold"/>
              </a:rPr>
              <a:t>Average grade “C”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00217" y="1562429"/>
            <a:ext cx="16408622" cy="1412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99"/>
              </a:lnSpc>
            </a:pPr>
            <a:r>
              <a:rPr lang="en-US" sz="9999">
                <a:solidFill>
                  <a:srgbClr val="558DFD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Main Results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62257" y="6301531"/>
            <a:ext cx="3671999" cy="10464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Bricolage Grotesque" panose="020B0604020202020204" charset="0"/>
                <a:ea typeface="Bricolage Grotesque Bold"/>
                <a:cs typeface="Bricolage Grotesque Bold"/>
                <a:sym typeface="Bricolage Grotesque Bold"/>
              </a:rPr>
              <a:t>ChatGPT group did </a:t>
            </a:r>
            <a:r>
              <a:rPr lang="en-US" sz="3000" dirty="0">
                <a:solidFill>
                  <a:srgbClr val="000000"/>
                </a:solidFill>
                <a:latin typeface="Bricolage Grotesque Bold" panose="020B0604020202020204" charset="0"/>
                <a:ea typeface="Bricolage Grotesque Bold"/>
                <a:cs typeface="Bricolage Grotesque Bold"/>
                <a:sym typeface="Bricolage Grotesque Bold"/>
              </a:rPr>
              <a:t>NOT</a:t>
            </a:r>
            <a:r>
              <a:rPr lang="en-US" sz="3000" dirty="0">
                <a:solidFill>
                  <a:srgbClr val="000000"/>
                </a:solidFill>
                <a:latin typeface="Bricolage Grotesque" panose="020B0604020202020204" charset="0"/>
                <a:ea typeface="Bricolage Grotesque Bold"/>
                <a:cs typeface="Bricolage Grotesque Bold"/>
                <a:sym typeface="Bricolage Grotesque Bold"/>
              </a:rPr>
              <a:t> perform better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651746" y="6562813"/>
            <a:ext cx="345609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Bricolage Grotesque" panose="020B0604020202020204" charset="0"/>
                <a:ea typeface="Bricolage Grotesque Bold"/>
                <a:cs typeface="Bricolage Grotesque Bold"/>
                <a:sym typeface="Bricolage Grotesque Bold"/>
              </a:rPr>
              <a:t>No faster writing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387846" y="6310126"/>
            <a:ext cx="4200211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Bricolage Grotesque" panose="020B0604020202020204" charset="0"/>
                <a:ea typeface="Bricolage Grotesque Bold"/>
                <a:cs typeface="Bricolage Grotesque Bold"/>
                <a:sym typeface="Bricolage Grotesque Bold"/>
              </a:rPr>
              <a:t>Slightly unauthentic text in ChatGPT group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  <p:bldP spid="9" grpId="0" animBg="1"/>
      <p:bldP spid="10" grpId="0"/>
      <p:bldP spid="16" grpId="0"/>
      <p:bldP spid="17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94855" y="1467431"/>
            <a:ext cx="15098290" cy="1995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04"/>
              </a:lnSpc>
            </a:pPr>
            <a:r>
              <a:rPr lang="en-US" sz="7200">
                <a:solidFill>
                  <a:srgbClr val="558DFD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ChatGPT is not automatically an “essay enhancement tool.”</a:t>
            </a:r>
          </a:p>
        </p:txBody>
      </p:sp>
      <p:sp>
        <p:nvSpPr>
          <p:cNvPr id="3" name="Freeform 3"/>
          <p:cNvSpPr/>
          <p:nvPr/>
        </p:nvSpPr>
        <p:spPr>
          <a:xfrm>
            <a:off x="6082307" y="5310221"/>
            <a:ext cx="2038637" cy="1806742"/>
          </a:xfrm>
          <a:custGeom>
            <a:avLst/>
            <a:gdLst/>
            <a:ahLst/>
            <a:cxnLst/>
            <a:rect l="l" t="t" r="r" b="b"/>
            <a:pathLst>
              <a:path w="2038637" h="1806742">
                <a:moveTo>
                  <a:pt x="0" y="0"/>
                </a:moveTo>
                <a:lnTo>
                  <a:pt x="2038637" y="0"/>
                </a:lnTo>
                <a:lnTo>
                  <a:pt x="2038637" y="1806742"/>
                </a:lnTo>
                <a:lnTo>
                  <a:pt x="0" y="18067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4" name="TextBox 4"/>
          <p:cNvSpPr txBox="1"/>
          <p:nvPr/>
        </p:nvSpPr>
        <p:spPr>
          <a:xfrm>
            <a:off x="1225905" y="7598370"/>
            <a:ext cx="3456099" cy="462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800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prior knowledge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3576" y="7598370"/>
            <a:ext cx="3456099" cy="462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800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critical thinking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668919" y="7598370"/>
            <a:ext cx="3456099" cy="462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80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prompting ability</a:t>
            </a:r>
          </a:p>
        </p:txBody>
      </p:sp>
      <p:sp>
        <p:nvSpPr>
          <p:cNvPr id="7" name="Freeform 7"/>
          <p:cNvSpPr/>
          <p:nvPr/>
        </p:nvSpPr>
        <p:spPr>
          <a:xfrm>
            <a:off x="14382346" y="5196793"/>
            <a:ext cx="2029243" cy="1892687"/>
          </a:xfrm>
          <a:custGeom>
            <a:avLst/>
            <a:gdLst/>
            <a:ahLst/>
            <a:cxnLst/>
            <a:rect l="l" t="t" r="r" b="b"/>
            <a:pathLst>
              <a:path w="2029243" h="1892687">
                <a:moveTo>
                  <a:pt x="0" y="0"/>
                </a:moveTo>
                <a:lnTo>
                  <a:pt x="2029243" y="0"/>
                </a:lnTo>
                <a:lnTo>
                  <a:pt x="2029243" y="1892687"/>
                </a:lnTo>
                <a:lnTo>
                  <a:pt x="0" y="18926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1852" t="-10328"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8" name="Freeform 8"/>
          <p:cNvSpPr/>
          <p:nvPr/>
        </p:nvSpPr>
        <p:spPr>
          <a:xfrm>
            <a:off x="1945547" y="5169310"/>
            <a:ext cx="2016815" cy="1947654"/>
          </a:xfrm>
          <a:custGeom>
            <a:avLst/>
            <a:gdLst/>
            <a:ahLst/>
            <a:cxnLst/>
            <a:rect l="l" t="t" r="r" b="b"/>
            <a:pathLst>
              <a:path w="2016815" h="1947654">
                <a:moveTo>
                  <a:pt x="0" y="0"/>
                </a:moveTo>
                <a:lnTo>
                  <a:pt x="2016815" y="0"/>
                </a:lnTo>
                <a:lnTo>
                  <a:pt x="2016815" y="1947653"/>
                </a:lnTo>
                <a:lnTo>
                  <a:pt x="0" y="19476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7749"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9" name="TextBox 9"/>
          <p:cNvSpPr txBox="1"/>
          <p:nvPr/>
        </p:nvSpPr>
        <p:spPr>
          <a:xfrm>
            <a:off x="1028700" y="3594158"/>
            <a:ext cx="16230600" cy="557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600" b="1" dirty="0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Its effectiveness depends on: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25000" y="7598370"/>
            <a:ext cx="3456099" cy="462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80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writing competence</a:t>
            </a:r>
          </a:p>
        </p:txBody>
      </p:sp>
      <p:sp>
        <p:nvSpPr>
          <p:cNvPr id="11" name="Freeform 11"/>
          <p:cNvSpPr/>
          <p:nvPr/>
        </p:nvSpPr>
        <p:spPr>
          <a:xfrm>
            <a:off x="10412100" y="5188044"/>
            <a:ext cx="1681899" cy="2051096"/>
          </a:xfrm>
          <a:custGeom>
            <a:avLst/>
            <a:gdLst/>
            <a:ahLst/>
            <a:cxnLst/>
            <a:rect l="l" t="t" r="r" b="b"/>
            <a:pathLst>
              <a:path w="1681899" h="2051096">
                <a:moveTo>
                  <a:pt x="0" y="0"/>
                </a:moveTo>
                <a:lnTo>
                  <a:pt x="1681898" y="0"/>
                </a:lnTo>
                <a:lnTo>
                  <a:pt x="1681898" y="2051096"/>
                </a:lnTo>
                <a:lnTo>
                  <a:pt x="0" y="20510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  <p:bldP spid="6" grpId="0"/>
      <p:bldP spid="7" grpId="0" animBg="1"/>
      <p:bldP spid="8" grpId="0" animBg="1"/>
      <p:bldP spid="10" grpId="0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553110"/>
            <a:ext cx="16230600" cy="1412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99"/>
              </a:lnSpc>
            </a:pPr>
            <a:r>
              <a:rPr lang="en-US" sz="9999">
                <a:solidFill>
                  <a:srgbClr val="558DFD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Critical Reflection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442173" y="3537484"/>
            <a:ext cx="2304280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Strengths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2229425" y="4164001"/>
            <a:ext cx="6729777" cy="2868249"/>
            <a:chOff x="0" y="0"/>
            <a:chExt cx="1772452" cy="75542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72452" cy="755423"/>
            </a:xfrm>
            <a:custGeom>
              <a:avLst/>
              <a:gdLst/>
              <a:ahLst/>
              <a:cxnLst/>
              <a:rect l="l" t="t" r="r" b="b"/>
              <a:pathLst>
                <a:path w="1772452" h="755423">
                  <a:moveTo>
                    <a:pt x="31061" y="0"/>
                  </a:moveTo>
                  <a:lnTo>
                    <a:pt x="1741391" y="0"/>
                  </a:lnTo>
                  <a:cubicBezTo>
                    <a:pt x="1758545" y="0"/>
                    <a:pt x="1772452" y="13906"/>
                    <a:pt x="1772452" y="31061"/>
                  </a:cubicBezTo>
                  <a:lnTo>
                    <a:pt x="1772452" y="724363"/>
                  </a:lnTo>
                  <a:cubicBezTo>
                    <a:pt x="1772452" y="732601"/>
                    <a:pt x="1769179" y="740501"/>
                    <a:pt x="1763354" y="746326"/>
                  </a:cubicBezTo>
                  <a:cubicBezTo>
                    <a:pt x="1757529" y="752151"/>
                    <a:pt x="1749629" y="755423"/>
                    <a:pt x="1741391" y="755423"/>
                  </a:cubicBezTo>
                  <a:lnTo>
                    <a:pt x="31061" y="755423"/>
                  </a:lnTo>
                  <a:cubicBezTo>
                    <a:pt x="13906" y="755423"/>
                    <a:pt x="0" y="741517"/>
                    <a:pt x="0" y="724363"/>
                  </a:cubicBezTo>
                  <a:lnTo>
                    <a:pt x="0" y="31061"/>
                  </a:lnTo>
                  <a:cubicBezTo>
                    <a:pt x="0" y="13906"/>
                    <a:pt x="13906" y="0"/>
                    <a:pt x="31061" y="0"/>
                  </a:cubicBezTo>
                  <a:close/>
                </a:path>
              </a:pathLst>
            </a:custGeom>
            <a:ln w="28575" cap="rnd">
              <a:solidFill>
                <a:srgbClr val="0E2365"/>
              </a:solidFill>
              <a:prstDash val="solid"/>
              <a:round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772452" cy="7935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953075" y="4587465"/>
            <a:ext cx="5626222" cy="1967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Real experimental design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Authentic student environment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Relevant educational question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334083" y="4737727"/>
            <a:ext cx="1790683" cy="1720797"/>
            <a:chOff x="0" y="0"/>
            <a:chExt cx="2387578" cy="2294396"/>
          </a:xfrm>
        </p:grpSpPr>
        <p:grpSp>
          <p:nvGrpSpPr>
            <p:cNvPr id="9" name="Group 9"/>
            <p:cNvGrpSpPr/>
            <p:nvPr/>
          </p:nvGrpSpPr>
          <p:grpSpPr>
            <a:xfrm>
              <a:off x="332384" y="285794"/>
              <a:ext cx="1722809" cy="1722809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8F8F8"/>
              </a:solidFill>
            </p:spPr>
            <p:txBody>
              <a:bodyPr/>
              <a:lstStyle/>
              <a:p>
                <a:endParaRPr lang="de-AT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0" y="0"/>
              <a:ext cx="2387578" cy="2294396"/>
            </a:xfrm>
            <a:custGeom>
              <a:avLst/>
              <a:gdLst/>
              <a:ahLst/>
              <a:cxnLst/>
              <a:rect l="l" t="t" r="r" b="b"/>
              <a:pathLst>
                <a:path w="2387578" h="2294396">
                  <a:moveTo>
                    <a:pt x="0" y="0"/>
                  </a:moveTo>
                  <a:lnTo>
                    <a:pt x="2387578" y="0"/>
                  </a:lnTo>
                  <a:lnTo>
                    <a:pt x="2387578" y="2294396"/>
                  </a:lnTo>
                  <a:lnTo>
                    <a:pt x="0" y="22943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120384" r="-93783" b="-212215"/>
              </a:stretch>
            </a:blipFill>
          </p:spPr>
          <p:txBody>
            <a:bodyPr/>
            <a:lstStyle/>
            <a:p>
              <a:endParaRPr lang="de-AT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224140" y="4164001"/>
            <a:ext cx="6729777" cy="2868249"/>
            <a:chOff x="0" y="0"/>
            <a:chExt cx="1772452" cy="75542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772452" cy="755423"/>
            </a:xfrm>
            <a:custGeom>
              <a:avLst/>
              <a:gdLst/>
              <a:ahLst/>
              <a:cxnLst/>
              <a:rect l="l" t="t" r="r" b="b"/>
              <a:pathLst>
                <a:path w="1772452" h="755423">
                  <a:moveTo>
                    <a:pt x="31061" y="0"/>
                  </a:moveTo>
                  <a:lnTo>
                    <a:pt x="1741391" y="0"/>
                  </a:lnTo>
                  <a:cubicBezTo>
                    <a:pt x="1758545" y="0"/>
                    <a:pt x="1772452" y="13906"/>
                    <a:pt x="1772452" y="31061"/>
                  </a:cubicBezTo>
                  <a:lnTo>
                    <a:pt x="1772452" y="724363"/>
                  </a:lnTo>
                  <a:cubicBezTo>
                    <a:pt x="1772452" y="732601"/>
                    <a:pt x="1769179" y="740501"/>
                    <a:pt x="1763354" y="746326"/>
                  </a:cubicBezTo>
                  <a:cubicBezTo>
                    <a:pt x="1757529" y="752151"/>
                    <a:pt x="1749629" y="755423"/>
                    <a:pt x="1741391" y="755423"/>
                  </a:cubicBezTo>
                  <a:lnTo>
                    <a:pt x="31061" y="755423"/>
                  </a:lnTo>
                  <a:cubicBezTo>
                    <a:pt x="13906" y="755423"/>
                    <a:pt x="0" y="741517"/>
                    <a:pt x="0" y="724363"/>
                  </a:cubicBezTo>
                  <a:lnTo>
                    <a:pt x="0" y="31061"/>
                  </a:lnTo>
                  <a:cubicBezTo>
                    <a:pt x="0" y="13906"/>
                    <a:pt x="13906" y="0"/>
                    <a:pt x="31061" y="0"/>
                  </a:cubicBezTo>
                  <a:close/>
                </a:path>
              </a:pathLst>
            </a:custGeom>
            <a:ln w="28575" cap="rnd">
              <a:solidFill>
                <a:srgbClr val="0E2365"/>
              </a:solidFill>
              <a:prstDash val="solid"/>
              <a:round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772452" cy="7935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971712" y="4339815"/>
            <a:ext cx="5834436" cy="2462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1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Very small sample size (9 vs. 9)</a:t>
            </a:r>
          </a:p>
          <a:p>
            <a:pPr marL="604521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Students were inexperienced with ChatGPT</a:t>
            </a:r>
          </a:p>
          <a:p>
            <a:pPr marL="604521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Non-English writing task</a:t>
            </a:r>
          </a:p>
          <a:p>
            <a:pPr marL="604521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Short-term intervention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328798" y="4737727"/>
            <a:ext cx="1790683" cy="1720797"/>
            <a:chOff x="0" y="0"/>
            <a:chExt cx="2387578" cy="2294396"/>
          </a:xfrm>
        </p:grpSpPr>
        <p:grpSp>
          <p:nvGrpSpPr>
            <p:cNvPr id="18" name="Group 18"/>
            <p:cNvGrpSpPr/>
            <p:nvPr/>
          </p:nvGrpSpPr>
          <p:grpSpPr>
            <a:xfrm>
              <a:off x="332384" y="285794"/>
              <a:ext cx="1722809" cy="1722809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8F8F8"/>
              </a:solidFill>
            </p:spPr>
            <p:txBody>
              <a:bodyPr/>
              <a:lstStyle/>
              <a:p>
                <a:endParaRPr lang="de-AT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1" name="Freeform 21"/>
            <p:cNvSpPr/>
            <p:nvPr/>
          </p:nvSpPr>
          <p:spPr>
            <a:xfrm>
              <a:off x="0" y="0"/>
              <a:ext cx="2387578" cy="2294396"/>
            </a:xfrm>
            <a:custGeom>
              <a:avLst/>
              <a:gdLst/>
              <a:ahLst/>
              <a:cxnLst/>
              <a:rect l="l" t="t" r="r" b="b"/>
              <a:pathLst>
                <a:path w="2387578" h="2294396">
                  <a:moveTo>
                    <a:pt x="0" y="0"/>
                  </a:moveTo>
                  <a:lnTo>
                    <a:pt x="2387578" y="0"/>
                  </a:lnTo>
                  <a:lnTo>
                    <a:pt x="2387578" y="2294396"/>
                  </a:lnTo>
                  <a:lnTo>
                    <a:pt x="0" y="22943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-120384" r="-93783" b="-212215"/>
              </a:stretch>
            </a:blipFill>
          </p:spPr>
          <p:txBody>
            <a:bodyPr/>
            <a:lstStyle/>
            <a:p>
              <a:endParaRPr lang="de-AT"/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658897" y="603638"/>
              <a:ext cx="1069783" cy="1069783"/>
              <a:chOff x="0" y="0"/>
              <a:chExt cx="812800" cy="8128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8F8F8"/>
              </a:solidFill>
            </p:spPr>
            <p:txBody>
              <a:bodyPr/>
              <a:lstStyle/>
              <a:p>
                <a:endParaRPr lang="de-AT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340203" y="536415"/>
              <a:ext cx="1707171" cy="13198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307"/>
                </a:lnSpc>
              </a:pPr>
              <a:r>
                <a:rPr lang="en-US" sz="5934">
                  <a:solidFill>
                    <a:srgbClr val="0E2365"/>
                  </a:solidFill>
                  <a:latin typeface="Canva Student Font"/>
                  <a:ea typeface="Canva Student Font"/>
                  <a:cs typeface="Canva Student Font"/>
                  <a:sym typeface="Canva Student Font"/>
                </a:rPr>
                <a:t>X</a:t>
              </a:r>
            </a:p>
          </p:txBody>
        </p:sp>
      </p:grpSp>
      <p:sp>
        <p:nvSpPr>
          <p:cNvPr id="26" name="Freeform 26"/>
          <p:cNvSpPr/>
          <p:nvPr/>
        </p:nvSpPr>
        <p:spPr>
          <a:xfrm rot="-535869">
            <a:off x="11226228" y="8137921"/>
            <a:ext cx="3894554" cy="3582989"/>
          </a:xfrm>
          <a:custGeom>
            <a:avLst/>
            <a:gdLst/>
            <a:ahLst/>
            <a:cxnLst/>
            <a:rect l="l" t="t" r="r" b="b"/>
            <a:pathLst>
              <a:path w="3894554" h="3582989">
                <a:moveTo>
                  <a:pt x="0" y="0"/>
                </a:moveTo>
                <a:lnTo>
                  <a:pt x="3894554" y="0"/>
                </a:lnTo>
                <a:lnTo>
                  <a:pt x="3894554" y="3582990"/>
                </a:lnTo>
                <a:lnTo>
                  <a:pt x="0" y="35829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27" name="Freeform 27"/>
          <p:cNvSpPr/>
          <p:nvPr/>
        </p:nvSpPr>
        <p:spPr>
          <a:xfrm rot="-145680">
            <a:off x="3401939" y="8445960"/>
            <a:ext cx="3519250" cy="3330090"/>
          </a:xfrm>
          <a:custGeom>
            <a:avLst/>
            <a:gdLst/>
            <a:ahLst/>
            <a:cxnLst/>
            <a:rect l="l" t="t" r="r" b="b"/>
            <a:pathLst>
              <a:path w="3519250" h="3330090">
                <a:moveTo>
                  <a:pt x="0" y="0"/>
                </a:moveTo>
                <a:lnTo>
                  <a:pt x="3519250" y="0"/>
                </a:lnTo>
                <a:lnTo>
                  <a:pt x="3519250" y="3330091"/>
                </a:lnTo>
                <a:lnTo>
                  <a:pt x="0" y="33300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28" name="Freeform 28"/>
          <p:cNvSpPr/>
          <p:nvPr/>
        </p:nvSpPr>
        <p:spPr>
          <a:xfrm>
            <a:off x="-654506" y="7962900"/>
            <a:ext cx="3607581" cy="3476806"/>
          </a:xfrm>
          <a:custGeom>
            <a:avLst/>
            <a:gdLst/>
            <a:ahLst/>
            <a:cxnLst/>
            <a:rect l="l" t="t" r="r" b="b"/>
            <a:pathLst>
              <a:path w="3607581" h="3476806">
                <a:moveTo>
                  <a:pt x="0" y="0"/>
                </a:moveTo>
                <a:lnTo>
                  <a:pt x="3607581" y="0"/>
                </a:lnTo>
                <a:lnTo>
                  <a:pt x="3607581" y="3476806"/>
                </a:lnTo>
                <a:lnTo>
                  <a:pt x="0" y="34768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29" name="Freeform 29"/>
          <p:cNvSpPr/>
          <p:nvPr/>
        </p:nvSpPr>
        <p:spPr>
          <a:xfrm rot="359659">
            <a:off x="15708951" y="8406456"/>
            <a:ext cx="3100699" cy="3015430"/>
          </a:xfrm>
          <a:custGeom>
            <a:avLst/>
            <a:gdLst/>
            <a:ahLst/>
            <a:cxnLst/>
            <a:rect l="l" t="t" r="r" b="b"/>
            <a:pathLst>
              <a:path w="3100699" h="3015430">
                <a:moveTo>
                  <a:pt x="0" y="0"/>
                </a:moveTo>
                <a:lnTo>
                  <a:pt x="3100698" y="0"/>
                </a:lnTo>
                <a:lnTo>
                  <a:pt x="3100698" y="3015430"/>
                </a:lnTo>
                <a:lnTo>
                  <a:pt x="0" y="3015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30" name="Freeform 30"/>
          <p:cNvSpPr/>
          <p:nvPr/>
        </p:nvSpPr>
        <p:spPr>
          <a:xfrm rot="574447">
            <a:off x="7322967" y="8486079"/>
            <a:ext cx="3642065" cy="3848946"/>
          </a:xfrm>
          <a:custGeom>
            <a:avLst/>
            <a:gdLst/>
            <a:ahLst/>
            <a:cxnLst/>
            <a:rect l="l" t="t" r="r" b="b"/>
            <a:pathLst>
              <a:path w="3642065" h="3848946">
                <a:moveTo>
                  <a:pt x="0" y="0"/>
                </a:moveTo>
                <a:lnTo>
                  <a:pt x="3642066" y="0"/>
                </a:lnTo>
                <a:lnTo>
                  <a:pt x="3642066" y="3848946"/>
                </a:lnTo>
                <a:lnTo>
                  <a:pt x="0" y="38489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31" name="TextBox 31"/>
          <p:cNvSpPr txBox="1"/>
          <p:nvPr/>
        </p:nvSpPr>
        <p:spPr>
          <a:xfrm>
            <a:off x="12113503" y="3537484"/>
            <a:ext cx="2951051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Limitations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6982" y="1133475"/>
            <a:ext cx="12404782" cy="1412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99"/>
              </a:lnSpc>
            </a:pPr>
            <a:r>
              <a:rPr lang="en-US" sz="9999">
                <a:solidFill>
                  <a:srgbClr val="558DFD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Why I Chose this STudy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66800" y="3538697"/>
            <a:ext cx="10344163" cy="4749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300"/>
              </a:lnSpc>
              <a:spcAft>
                <a:spcPts val="1800"/>
              </a:spcAft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My master thesis focuses on AI (ChatGPT) and essay enhancement.</a:t>
            </a:r>
          </a:p>
          <a:p>
            <a:pPr algn="l">
              <a:lnSpc>
                <a:spcPts val="4300"/>
              </a:lnSpc>
              <a:spcAft>
                <a:spcPts val="1800"/>
              </a:spcAft>
            </a:pPr>
            <a:endParaRPr lang="en-US" sz="3000" dirty="0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marL="647700" lvl="1" indent="-323850" algn="l">
              <a:lnSpc>
                <a:spcPts val="4300"/>
              </a:lnSpc>
              <a:spcAft>
                <a:spcPts val="1800"/>
              </a:spcAft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This study directly investigates AI-assisted essay writing.</a:t>
            </a:r>
          </a:p>
          <a:p>
            <a:pPr algn="l">
              <a:lnSpc>
                <a:spcPts val="4300"/>
              </a:lnSpc>
              <a:spcAft>
                <a:spcPts val="1800"/>
              </a:spcAft>
            </a:pPr>
            <a:endParaRPr lang="en-US" sz="3000" dirty="0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marL="647700" lvl="1" indent="-323850" algn="l">
              <a:lnSpc>
                <a:spcPts val="4300"/>
              </a:lnSpc>
              <a:spcAft>
                <a:spcPts val="1800"/>
              </a:spcAft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It explores both benefits and limitations.</a:t>
            </a:r>
          </a:p>
        </p:txBody>
      </p:sp>
      <p:sp>
        <p:nvSpPr>
          <p:cNvPr id="4" name="Freeform 4"/>
          <p:cNvSpPr/>
          <p:nvPr/>
        </p:nvSpPr>
        <p:spPr>
          <a:xfrm>
            <a:off x="11277600" y="1485900"/>
            <a:ext cx="8302245" cy="8229600"/>
          </a:xfrm>
          <a:custGeom>
            <a:avLst/>
            <a:gdLst/>
            <a:ahLst/>
            <a:cxnLst/>
            <a:rect l="l" t="t" r="r" b="b"/>
            <a:pathLst>
              <a:path w="8302245" h="8229600">
                <a:moveTo>
                  <a:pt x="0" y="0"/>
                </a:moveTo>
                <a:lnTo>
                  <a:pt x="8302244" y="0"/>
                </a:lnTo>
                <a:lnTo>
                  <a:pt x="830224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91699">
            <a:off x="15180553" y="2882165"/>
            <a:ext cx="4154462" cy="3863649"/>
          </a:xfrm>
          <a:custGeom>
            <a:avLst/>
            <a:gdLst/>
            <a:ahLst/>
            <a:cxnLst/>
            <a:rect l="l" t="t" r="r" b="b"/>
            <a:pathLst>
              <a:path w="4154462" h="3863649">
                <a:moveTo>
                  <a:pt x="0" y="0"/>
                </a:moveTo>
                <a:lnTo>
                  <a:pt x="4154461" y="0"/>
                </a:lnTo>
                <a:lnTo>
                  <a:pt x="4154461" y="3863649"/>
                </a:lnTo>
                <a:lnTo>
                  <a:pt x="0" y="38636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3" name="Freeform 3"/>
          <p:cNvSpPr/>
          <p:nvPr/>
        </p:nvSpPr>
        <p:spPr>
          <a:xfrm rot="-284944">
            <a:off x="-1640674" y="2979175"/>
            <a:ext cx="4096277" cy="3630325"/>
          </a:xfrm>
          <a:custGeom>
            <a:avLst/>
            <a:gdLst/>
            <a:ahLst/>
            <a:cxnLst/>
            <a:rect l="l" t="t" r="r" b="b"/>
            <a:pathLst>
              <a:path w="4096277" h="3630325">
                <a:moveTo>
                  <a:pt x="0" y="0"/>
                </a:moveTo>
                <a:lnTo>
                  <a:pt x="4096277" y="0"/>
                </a:lnTo>
                <a:lnTo>
                  <a:pt x="4096277" y="3630325"/>
                </a:lnTo>
                <a:lnTo>
                  <a:pt x="0" y="36303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4" name="Freeform 4"/>
          <p:cNvSpPr/>
          <p:nvPr/>
        </p:nvSpPr>
        <p:spPr>
          <a:xfrm rot="1061051">
            <a:off x="12862599" y="7878048"/>
            <a:ext cx="3642065" cy="3848946"/>
          </a:xfrm>
          <a:custGeom>
            <a:avLst/>
            <a:gdLst/>
            <a:ahLst/>
            <a:cxnLst/>
            <a:rect l="l" t="t" r="r" b="b"/>
            <a:pathLst>
              <a:path w="3642065" h="3848946">
                <a:moveTo>
                  <a:pt x="0" y="0"/>
                </a:moveTo>
                <a:lnTo>
                  <a:pt x="3642065" y="0"/>
                </a:lnTo>
                <a:lnTo>
                  <a:pt x="3642065" y="3848946"/>
                </a:lnTo>
                <a:lnTo>
                  <a:pt x="0" y="38489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5" name="Freeform 5"/>
          <p:cNvSpPr/>
          <p:nvPr/>
        </p:nvSpPr>
        <p:spPr>
          <a:xfrm rot="-411245">
            <a:off x="7681266" y="8281653"/>
            <a:ext cx="4476094" cy="3731943"/>
          </a:xfrm>
          <a:custGeom>
            <a:avLst/>
            <a:gdLst/>
            <a:ahLst/>
            <a:cxnLst/>
            <a:rect l="l" t="t" r="r" b="b"/>
            <a:pathLst>
              <a:path w="4476094" h="3731943">
                <a:moveTo>
                  <a:pt x="0" y="0"/>
                </a:moveTo>
                <a:lnTo>
                  <a:pt x="4476094" y="0"/>
                </a:lnTo>
                <a:lnTo>
                  <a:pt x="4476094" y="3731943"/>
                </a:lnTo>
                <a:lnTo>
                  <a:pt x="0" y="37319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6" name="Freeform 6"/>
          <p:cNvSpPr/>
          <p:nvPr/>
        </p:nvSpPr>
        <p:spPr>
          <a:xfrm rot="-474403">
            <a:off x="6959966" y="-2119797"/>
            <a:ext cx="4368067" cy="4329846"/>
          </a:xfrm>
          <a:custGeom>
            <a:avLst/>
            <a:gdLst/>
            <a:ahLst/>
            <a:cxnLst/>
            <a:rect l="l" t="t" r="r" b="b"/>
            <a:pathLst>
              <a:path w="4368067" h="4329846">
                <a:moveTo>
                  <a:pt x="0" y="0"/>
                </a:moveTo>
                <a:lnTo>
                  <a:pt x="4368068" y="0"/>
                </a:lnTo>
                <a:lnTo>
                  <a:pt x="4368068" y="4329846"/>
                </a:lnTo>
                <a:lnTo>
                  <a:pt x="0" y="43298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7" name="Freeform 7"/>
          <p:cNvSpPr/>
          <p:nvPr/>
        </p:nvSpPr>
        <p:spPr>
          <a:xfrm>
            <a:off x="2470295" y="7921556"/>
            <a:ext cx="4373018" cy="4214496"/>
          </a:xfrm>
          <a:custGeom>
            <a:avLst/>
            <a:gdLst/>
            <a:ahLst/>
            <a:cxnLst/>
            <a:rect l="l" t="t" r="r" b="b"/>
            <a:pathLst>
              <a:path w="4373018" h="4214496">
                <a:moveTo>
                  <a:pt x="0" y="0"/>
                </a:moveTo>
                <a:lnTo>
                  <a:pt x="4373018" y="0"/>
                </a:lnTo>
                <a:lnTo>
                  <a:pt x="4373018" y="4214496"/>
                </a:lnTo>
                <a:lnTo>
                  <a:pt x="0" y="42144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8" name="Freeform 8"/>
          <p:cNvSpPr/>
          <p:nvPr/>
        </p:nvSpPr>
        <p:spPr>
          <a:xfrm rot="356799">
            <a:off x="-2200203" y="7515623"/>
            <a:ext cx="3888820" cy="3485355"/>
          </a:xfrm>
          <a:custGeom>
            <a:avLst/>
            <a:gdLst/>
            <a:ahLst/>
            <a:cxnLst/>
            <a:rect l="l" t="t" r="r" b="b"/>
            <a:pathLst>
              <a:path w="3888820" h="3485355">
                <a:moveTo>
                  <a:pt x="0" y="0"/>
                </a:moveTo>
                <a:lnTo>
                  <a:pt x="3888820" y="0"/>
                </a:lnTo>
                <a:lnTo>
                  <a:pt x="3888820" y="3485354"/>
                </a:lnTo>
                <a:lnTo>
                  <a:pt x="0" y="34853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9" name="Freeform 9"/>
          <p:cNvSpPr/>
          <p:nvPr/>
        </p:nvSpPr>
        <p:spPr>
          <a:xfrm rot="675348">
            <a:off x="12477356" y="-1035948"/>
            <a:ext cx="3789402" cy="3685194"/>
          </a:xfrm>
          <a:custGeom>
            <a:avLst/>
            <a:gdLst/>
            <a:ahLst/>
            <a:cxnLst/>
            <a:rect l="l" t="t" r="r" b="b"/>
            <a:pathLst>
              <a:path w="3789402" h="3685194">
                <a:moveTo>
                  <a:pt x="0" y="0"/>
                </a:moveTo>
                <a:lnTo>
                  <a:pt x="3789402" y="0"/>
                </a:lnTo>
                <a:lnTo>
                  <a:pt x="3789402" y="3685193"/>
                </a:lnTo>
                <a:lnTo>
                  <a:pt x="0" y="36851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10" name="Freeform 10"/>
          <p:cNvSpPr/>
          <p:nvPr/>
        </p:nvSpPr>
        <p:spPr>
          <a:xfrm rot="710027">
            <a:off x="2141444" y="-1085938"/>
            <a:ext cx="4057937" cy="3692723"/>
          </a:xfrm>
          <a:custGeom>
            <a:avLst/>
            <a:gdLst/>
            <a:ahLst/>
            <a:cxnLst/>
            <a:rect l="l" t="t" r="r" b="b"/>
            <a:pathLst>
              <a:path w="4057937" h="3692723">
                <a:moveTo>
                  <a:pt x="0" y="0"/>
                </a:moveTo>
                <a:lnTo>
                  <a:pt x="4057938" y="0"/>
                </a:lnTo>
                <a:lnTo>
                  <a:pt x="4057938" y="3692723"/>
                </a:lnTo>
                <a:lnTo>
                  <a:pt x="0" y="36927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11" name="Freeform 11"/>
          <p:cNvSpPr/>
          <p:nvPr/>
        </p:nvSpPr>
        <p:spPr>
          <a:xfrm rot="261574">
            <a:off x="16941865" y="-1490132"/>
            <a:ext cx="3763596" cy="3792036"/>
          </a:xfrm>
          <a:custGeom>
            <a:avLst/>
            <a:gdLst/>
            <a:ahLst/>
            <a:cxnLst/>
            <a:rect l="l" t="t" r="r" b="b"/>
            <a:pathLst>
              <a:path w="3763596" h="3792036">
                <a:moveTo>
                  <a:pt x="0" y="0"/>
                </a:moveTo>
                <a:lnTo>
                  <a:pt x="3763596" y="0"/>
                </a:lnTo>
                <a:lnTo>
                  <a:pt x="3763596" y="3792036"/>
                </a:lnTo>
                <a:lnTo>
                  <a:pt x="0" y="37920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12" name="TextBox 12"/>
          <p:cNvSpPr txBox="1"/>
          <p:nvPr/>
        </p:nvSpPr>
        <p:spPr>
          <a:xfrm>
            <a:off x="4000684" y="3948157"/>
            <a:ext cx="10286632" cy="2503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86"/>
              </a:lnSpc>
            </a:pPr>
            <a:r>
              <a:rPr lang="en-US" sz="9052" dirty="0">
                <a:solidFill>
                  <a:srgbClr val="558DFD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Thanks for listening!</a:t>
            </a:r>
          </a:p>
        </p:txBody>
      </p:sp>
      <p:sp>
        <p:nvSpPr>
          <p:cNvPr id="13" name="Freeform 13"/>
          <p:cNvSpPr/>
          <p:nvPr/>
        </p:nvSpPr>
        <p:spPr>
          <a:xfrm>
            <a:off x="-2075123" y="-1202141"/>
            <a:ext cx="3294905" cy="3163108"/>
          </a:xfrm>
          <a:custGeom>
            <a:avLst/>
            <a:gdLst/>
            <a:ahLst/>
            <a:cxnLst/>
            <a:rect l="l" t="t" r="r" b="b"/>
            <a:pathLst>
              <a:path w="3294905" h="3163108">
                <a:moveTo>
                  <a:pt x="0" y="0"/>
                </a:moveTo>
                <a:lnTo>
                  <a:pt x="3294904" y="0"/>
                </a:lnTo>
                <a:lnTo>
                  <a:pt x="3294904" y="3163108"/>
                </a:lnTo>
                <a:lnTo>
                  <a:pt x="0" y="31631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14" name="Freeform 14"/>
          <p:cNvSpPr/>
          <p:nvPr/>
        </p:nvSpPr>
        <p:spPr>
          <a:xfrm rot="-503037">
            <a:off x="17176210" y="7849281"/>
            <a:ext cx="3294905" cy="2230322"/>
          </a:xfrm>
          <a:custGeom>
            <a:avLst/>
            <a:gdLst/>
            <a:ahLst/>
            <a:cxnLst/>
            <a:rect l="l" t="t" r="r" b="b"/>
            <a:pathLst>
              <a:path w="3294905" h="2230322">
                <a:moveTo>
                  <a:pt x="0" y="0"/>
                </a:moveTo>
                <a:lnTo>
                  <a:pt x="3294904" y="0"/>
                </a:lnTo>
                <a:lnTo>
                  <a:pt x="3294904" y="2230322"/>
                </a:lnTo>
                <a:lnTo>
                  <a:pt x="0" y="22303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b="-41822"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991D8DE7-5AF2-F117-76F1-3EE3ECF51802}"/>
              </a:ext>
            </a:extLst>
          </p:cNvPr>
          <p:cNvSpPr txBox="1"/>
          <p:nvPr/>
        </p:nvSpPr>
        <p:spPr>
          <a:xfrm>
            <a:off x="4291726" y="6952813"/>
            <a:ext cx="970454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AT" sz="1600" dirty="0">
                <a:solidFill>
                  <a:srgbClr val="558DFD"/>
                </a:solidFill>
                <a:latin typeface="Bobby Jones Soft"/>
              </a:rPr>
              <a:t>Source: </a:t>
            </a:r>
          </a:p>
          <a:p>
            <a:pPr algn="ctr"/>
            <a:r>
              <a:rPr lang="de-AT" b="0" i="0" dirty="0">
                <a:solidFill>
                  <a:srgbClr val="475569"/>
                </a:solidFill>
                <a:effectLst/>
                <a:latin typeface="Segoe UI" panose="020B0502040204020203" pitchFamily="34" charset="0"/>
              </a:rPr>
              <a:t>Bašić, Ž., </a:t>
            </a:r>
            <a:r>
              <a:rPr lang="de-AT" b="0" i="0" dirty="0" err="1">
                <a:solidFill>
                  <a:srgbClr val="475569"/>
                </a:solidFill>
                <a:effectLst/>
                <a:latin typeface="Segoe UI" panose="020B0502040204020203" pitchFamily="34" charset="0"/>
              </a:rPr>
              <a:t>Banovac</a:t>
            </a:r>
            <a:r>
              <a:rPr lang="de-AT" b="0" i="0" dirty="0">
                <a:solidFill>
                  <a:srgbClr val="475569"/>
                </a:solidFill>
                <a:effectLst/>
                <a:latin typeface="Segoe UI" panose="020B0502040204020203" pitchFamily="34" charset="0"/>
              </a:rPr>
              <a:t>, A., </a:t>
            </a:r>
            <a:r>
              <a:rPr lang="de-AT" b="0" i="0" dirty="0" err="1">
                <a:solidFill>
                  <a:srgbClr val="475569"/>
                </a:solidFill>
                <a:effectLst/>
                <a:latin typeface="Segoe UI" panose="020B0502040204020203" pitchFamily="34" charset="0"/>
              </a:rPr>
              <a:t>Kružić</a:t>
            </a:r>
            <a:r>
              <a:rPr lang="de-AT" b="0" i="0" dirty="0">
                <a:solidFill>
                  <a:srgbClr val="475569"/>
                </a:solidFill>
                <a:effectLst/>
                <a:latin typeface="Segoe UI" panose="020B0502040204020203" pitchFamily="34" charset="0"/>
              </a:rPr>
              <a:t>, I. et al. ChatGPT-3.5 </a:t>
            </a:r>
            <a:r>
              <a:rPr lang="de-AT" b="0" i="0" dirty="0" err="1">
                <a:solidFill>
                  <a:srgbClr val="475569"/>
                </a:solidFill>
                <a:effectLst/>
                <a:latin typeface="Segoe UI" panose="020B0502040204020203" pitchFamily="34" charset="0"/>
              </a:rPr>
              <a:t>as</a:t>
            </a:r>
            <a:r>
              <a:rPr lang="de-AT" b="0" i="0" dirty="0">
                <a:solidFill>
                  <a:srgbClr val="475569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de-AT" b="0" i="0" dirty="0" err="1">
                <a:solidFill>
                  <a:srgbClr val="475569"/>
                </a:solidFill>
                <a:effectLst/>
                <a:latin typeface="Segoe UI" panose="020B0502040204020203" pitchFamily="34" charset="0"/>
              </a:rPr>
              <a:t>writing</a:t>
            </a:r>
            <a:r>
              <a:rPr lang="de-AT" b="0" i="0" dirty="0">
                <a:solidFill>
                  <a:srgbClr val="475569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de-AT" b="0" i="0" dirty="0" err="1">
                <a:solidFill>
                  <a:srgbClr val="475569"/>
                </a:solidFill>
                <a:effectLst/>
                <a:latin typeface="Segoe UI" panose="020B0502040204020203" pitchFamily="34" charset="0"/>
              </a:rPr>
              <a:t>assistance</a:t>
            </a:r>
            <a:r>
              <a:rPr lang="de-AT" b="0" i="0" dirty="0">
                <a:solidFill>
                  <a:srgbClr val="475569"/>
                </a:solidFill>
                <a:effectLst/>
                <a:latin typeface="Segoe UI" panose="020B0502040204020203" pitchFamily="34" charset="0"/>
              </a:rPr>
              <a:t> in </a:t>
            </a:r>
            <a:r>
              <a:rPr lang="de-AT" b="0" i="0" dirty="0" err="1">
                <a:solidFill>
                  <a:srgbClr val="475569"/>
                </a:solidFill>
                <a:effectLst/>
                <a:latin typeface="Segoe UI" panose="020B0502040204020203" pitchFamily="34" charset="0"/>
              </a:rPr>
              <a:t>students</a:t>
            </a:r>
            <a:r>
              <a:rPr lang="de-AT" b="0" i="0" dirty="0">
                <a:solidFill>
                  <a:srgbClr val="475569"/>
                </a:solidFill>
                <a:effectLst/>
                <a:latin typeface="Segoe UI" panose="020B0502040204020203" pitchFamily="34" charset="0"/>
              </a:rPr>
              <a:t>’ </a:t>
            </a:r>
            <a:r>
              <a:rPr lang="de-AT" b="0" i="0" dirty="0" err="1">
                <a:solidFill>
                  <a:srgbClr val="475569"/>
                </a:solidFill>
                <a:effectLst/>
                <a:latin typeface="Segoe UI" panose="020B0502040204020203" pitchFamily="34" charset="0"/>
              </a:rPr>
              <a:t>essays</a:t>
            </a:r>
            <a:r>
              <a:rPr lang="de-AT" b="0" i="0" dirty="0">
                <a:solidFill>
                  <a:srgbClr val="475569"/>
                </a:solidFill>
                <a:effectLst/>
                <a:latin typeface="Segoe UI" panose="020B0502040204020203" pitchFamily="34" charset="0"/>
              </a:rPr>
              <a:t>. </a:t>
            </a:r>
            <a:r>
              <a:rPr lang="de-AT" b="0" i="0" dirty="0" err="1">
                <a:solidFill>
                  <a:srgbClr val="475569"/>
                </a:solidFill>
                <a:effectLst/>
                <a:latin typeface="Segoe UI" panose="020B0502040204020203" pitchFamily="34" charset="0"/>
              </a:rPr>
              <a:t>Humanit</a:t>
            </a:r>
            <a:r>
              <a:rPr lang="de-AT" b="0" i="0" dirty="0">
                <a:solidFill>
                  <a:srgbClr val="475569"/>
                </a:solidFill>
                <a:effectLst/>
                <a:latin typeface="Segoe UI" panose="020B0502040204020203" pitchFamily="34" charset="0"/>
              </a:rPr>
              <a:t> Soc </a:t>
            </a:r>
            <a:r>
              <a:rPr lang="de-AT" b="0" i="0" dirty="0" err="1">
                <a:solidFill>
                  <a:srgbClr val="475569"/>
                </a:solidFill>
                <a:effectLst/>
                <a:latin typeface="Segoe UI" panose="020B0502040204020203" pitchFamily="34" charset="0"/>
              </a:rPr>
              <a:t>Sci</a:t>
            </a:r>
            <a:r>
              <a:rPr lang="de-AT" b="0" i="0" dirty="0">
                <a:solidFill>
                  <a:srgbClr val="475569"/>
                </a:solidFill>
                <a:effectLst/>
                <a:latin typeface="Segoe UI" panose="020B0502040204020203" pitchFamily="34" charset="0"/>
              </a:rPr>
              <a:t> Commun 10, 750 (2023). </a:t>
            </a:r>
          </a:p>
          <a:p>
            <a:pPr algn="ctr"/>
            <a:r>
              <a:rPr lang="de-AT" b="0" i="0" dirty="0">
                <a:effectLst/>
                <a:latin typeface="Segoe UI" panose="020B0502040204020203" pitchFamily="34" charset="0"/>
                <a:hlinkClick r:id="rId14"/>
              </a:rPr>
              <a:t>https://doi.org/10.1057/s41599-023-02269-7</a:t>
            </a:r>
            <a:endParaRPr lang="de-AT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798</Words>
  <Application>Microsoft Office PowerPoint</Application>
  <PresentationFormat>Benutzerdefiniert</PresentationFormat>
  <Paragraphs>128</Paragraphs>
  <Slides>7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6" baseType="lpstr">
      <vt:lpstr>Bobby Jones Soft</vt:lpstr>
      <vt:lpstr>Arial</vt:lpstr>
      <vt:lpstr>Calibri</vt:lpstr>
      <vt:lpstr>Bricolage Grotesque Bold</vt:lpstr>
      <vt:lpstr>Segoe UI</vt:lpstr>
      <vt:lpstr>Bricolage Grotesque</vt:lpstr>
      <vt:lpstr>Aptos</vt:lpstr>
      <vt:lpstr>Canva Student Font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ChatGPT-3.5 as writing assistance in students’ essays</dc:title>
  <cp:lastModifiedBy>Knes, Christina Sophie</cp:lastModifiedBy>
  <cp:revision>2</cp:revision>
  <dcterms:created xsi:type="dcterms:W3CDTF">2006-08-16T00:00:00Z</dcterms:created>
  <dcterms:modified xsi:type="dcterms:W3CDTF">2026-06-16T14:34:57Z</dcterms:modified>
  <dc:identifier>DAHKBqdqDkY</dc:identifier>
</cp:coreProperties>
</file>