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theme/theme3.xml" ContentType="application/vnd.openxmlformats-officedocument.theme+xml"/>
  <Override PartName="/ppt/slideLayouts/slideLayout5.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4" r:id="rId2"/>
    <p:sldMasterId id="2147483670" r:id="rId3"/>
    <p:sldMasterId id="2147483672" r:id="rId4"/>
  </p:sldMasterIdLst>
  <p:notesMasterIdLst>
    <p:notesMasterId r:id="rId20"/>
  </p:notesMasterIdLst>
  <p:sldIdLst>
    <p:sldId id="256" r:id="rId5"/>
    <p:sldId id="276" r:id="rId6"/>
    <p:sldId id="272" r:id="rId7"/>
    <p:sldId id="263" r:id="rId8"/>
    <p:sldId id="264" r:id="rId9"/>
    <p:sldId id="265" r:id="rId10"/>
    <p:sldId id="273" r:id="rId11"/>
    <p:sldId id="274" r:id="rId12"/>
    <p:sldId id="275" r:id="rId13"/>
    <p:sldId id="266" r:id="rId14"/>
    <p:sldId id="267" r:id="rId15"/>
    <p:sldId id="268" r:id="rId16"/>
    <p:sldId id="269" r:id="rId17"/>
    <p:sldId id="270" r:id="rId18"/>
    <p:sldId id="271" r:id="rId19"/>
  </p:sldIdLst>
  <p:sldSz cx="18288000" cy="10287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D98BA"/>
    <a:srgbClr val="97A2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D7754D-FCE6-4153-8057-4CB29E4818C1}" v="38" dt="2026-06-23T01:47:54.394"/>
    <p1510:client id="{55725B31-4962-41AA-844B-8672FCF03F15}" v="5" dt="2026-06-22T11:54:00.2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608" autoAdjust="0"/>
  </p:normalViewPr>
  <p:slideViewPr>
    <p:cSldViewPr snapToGrid="0">
      <p:cViewPr varScale="1">
        <p:scale>
          <a:sx n="33" d="100"/>
          <a:sy n="33" d="100"/>
        </p:scale>
        <p:origin x="1954" y="43"/>
      </p:cViewPr>
      <p:guideLst/>
    </p:cSldViewPr>
  </p:slideViewPr>
  <p:notesTextViewPr>
    <p:cViewPr>
      <p:scale>
        <a:sx n="1" d="1"/>
        <a:sy n="1" d="1"/>
      </p:scale>
      <p:origin x="0" y="-1742"/>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slideMaster" Target="slideMasters/slideMaster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9"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strike="noStrike" spc="-1">
                <a:solidFill>
                  <a:schemeClr val="dk1"/>
                </a:solidFill>
                <a:latin typeface="Calibri"/>
              </a:rPr>
              <a:t>Folie mittels Klicken verschieben</a:t>
            </a:r>
          </a:p>
        </p:txBody>
      </p:sp>
      <p:sp>
        <p:nvSpPr>
          <p:cNvPr id="80"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AT" sz="2000" b="0" strike="noStrike" spc="-1">
                <a:solidFill>
                  <a:srgbClr val="000000"/>
                </a:solidFill>
                <a:latin typeface="Arial"/>
              </a:rPr>
              <a:t>Format der Notizen mittels Klicken bearbeiten</a:t>
            </a:r>
          </a:p>
        </p:txBody>
      </p:sp>
      <p:sp>
        <p:nvSpPr>
          <p:cNvPr id="81"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AT" sz="1400" b="0" strike="noStrike" spc="-1">
                <a:solidFill>
                  <a:srgbClr val="000000"/>
                </a:solidFill>
                <a:latin typeface="Times New Roman"/>
              </a:rPr>
              <a:t>&lt;Kopfzeile&gt;</a:t>
            </a:r>
          </a:p>
        </p:txBody>
      </p:sp>
      <p:sp>
        <p:nvSpPr>
          <p:cNvPr id="82" name="PlaceHolder 4"/>
          <p:cNvSpPr>
            <a:spLocks noGrp="1"/>
          </p:cNvSpPr>
          <p:nvPr>
            <p:ph type="dt" idx="40"/>
          </p:nvPr>
        </p:nvSpPr>
        <p:spPr>
          <a:xfrm>
            <a:off x="4278960" y="0"/>
            <a:ext cx="3280680" cy="534240"/>
          </a:xfrm>
          <a:prstGeom prst="rect">
            <a:avLst/>
          </a:prstGeom>
          <a:noFill/>
          <a:ln w="0">
            <a:noFill/>
          </a:ln>
        </p:spPr>
        <p:txBody>
          <a:bodyPr lIns="0" tIns="0" rIns="0" bIns="0" anchor="t">
            <a:noAutofit/>
          </a:bodyPr>
          <a:lstStyle>
            <a:lvl1pPr indent="0" algn="r">
              <a:buNone/>
              <a:defRPr lang="de-AT" sz="1400" b="0" strike="noStrike" spc="-1">
                <a:solidFill>
                  <a:srgbClr val="000000"/>
                </a:solidFill>
                <a:latin typeface="Times New Roman"/>
              </a:defRPr>
            </a:lvl1pPr>
          </a:lstStyle>
          <a:p>
            <a:pPr indent="0" algn="r">
              <a:buNone/>
            </a:pPr>
            <a:r>
              <a:rPr lang="de-AT" sz="1400" b="0" strike="noStrike" spc="-1">
                <a:solidFill>
                  <a:srgbClr val="000000"/>
                </a:solidFill>
                <a:latin typeface="Times New Roman"/>
              </a:rPr>
              <a:t>&lt;Datum/Uhrzeit&gt;</a:t>
            </a:r>
          </a:p>
        </p:txBody>
      </p:sp>
      <p:sp>
        <p:nvSpPr>
          <p:cNvPr id="83" name="PlaceHolder 5"/>
          <p:cNvSpPr>
            <a:spLocks noGrp="1"/>
          </p:cNvSpPr>
          <p:nvPr>
            <p:ph type="ftr" idx="41"/>
          </p:nvPr>
        </p:nvSpPr>
        <p:spPr>
          <a:xfrm>
            <a:off x="0" y="10157400"/>
            <a:ext cx="3280680" cy="534240"/>
          </a:xfrm>
          <a:prstGeom prst="rect">
            <a:avLst/>
          </a:prstGeom>
          <a:noFill/>
          <a:ln w="0">
            <a:noFill/>
          </a:ln>
        </p:spPr>
        <p:txBody>
          <a:bodyPr lIns="0" tIns="0" rIns="0" bIns="0" anchor="b">
            <a:noAutofit/>
          </a:bodyPr>
          <a:lstStyle>
            <a:lvl1pPr indent="0">
              <a:buNone/>
              <a:defRPr lang="de-AT" sz="1400" b="0" strike="noStrike" spc="-1">
                <a:solidFill>
                  <a:srgbClr val="000000"/>
                </a:solidFill>
                <a:latin typeface="Times New Roman"/>
              </a:defRPr>
            </a:lvl1pPr>
          </a:lstStyle>
          <a:p>
            <a:pPr indent="0">
              <a:buNone/>
            </a:pPr>
            <a:r>
              <a:rPr lang="de-AT" sz="1400" b="0" strike="noStrike" spc="-1">
                <a:solidFill>
                  <a:srgbClr val="000000"/>
                </a:solidFill>
                <a:latin typeface="Times New Roman"/>
              </a:rPr>
              <a:t>&lt;Fußzeile&gt;</a:t>
            </a:r>
          </a:p>
        </p:txBody>
      </p:sp>
      <p:sp>
        <p:nvSpPr>
          <p:cNvPr id="84" name="PlaceHolder 6"/>
          <p:cNvSpPr>
            <a:spLocks noGrp="1"/>
          </p:cNvSpPr>
          <p:nvPr>
            <p:ph type="sldNum" idx="42"/>
          </p:nvPr>
        </p:nvSpPr>
        <p:spPr>
          <a:xfrm>
            <a:off x="4278960" y="10157400"/>
            <a:ext cx="3280680" cy="534240"/>
          </a:xfrm>
          <a:prstGeom prst="rect">
            <a:avLst/>
          </a:prstGeom>
          <a:noFill/>
          <a:ln w="0">
            <a:noFill/>
          </a:ln>
        </p:spPr>
        <p:txBody>
          <a:bodyPr lIns="0" tIns="0" rIns="0" bIns="0" anchor="b">
            <a:noAutofit/>
          </a:bodyPr>
          <a:lstStyle>
            <a:lvl1pPr indent="0" algn="r">
              <a:buNone/>
              <a:defRPr lang="de-AT" sz="1400" b="0" strike="noStrike" spc="-1">
                <a:solidFill>
                  <a:srgbClr val="000000"/>
                </a:solidFill>
                <a:latin typeface="Times New Roman"/>
              </a:defRPr>
            </a:lvl1pPr>
          </a:lstStyle>
          <a:p>
            <a:pPr indent="0" algn="r">
              <a:buNone/>
            </a:pPr>
            <a:fld id="{CFDE2D6C-6BD2-4A76-91E9-DF542D418CB6}" type="slidenum">
              <a:rPr lang="de-AT" sz="1400" b="0" strike="noStrike" spc="-1">
                <a:solidFill>
                  <a:srgbClr val="000000"/>
                </a:solidFill>
                <a:latin typeface="Times New Roman"/>
              </a:rPr>
              <a:t>‹Nr.›</a:t>
            </a:fld>
            <a:endParaRPr lang="de-AT"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noRot="1" noChangeAspect="1"/>
          </p:cNvSpPr>
          <p:nvPr>
            <p:ph type="sldImg"/>
          </p:nvPr>
        </p:nvSpPr>
        <p:spPr>
          <a:xfrm>
            <a:off x="685800" y="1143000"/>
            <a:ext cx="5486040" cy="3085920"/>
          </a:xfrm>
          <a:prstGeom prst="rect">
            <a:avLst/>
          </a:prstGeom>
          <a:ln w="0">
            <a:noFill/>
          </a:ln>
        </p:spPr>
      </p:sp>
      <p:sp>
        <p:nvSpPr>
          <p:cNvPr id="20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de-AT" sz="1800" b="0" strike="noStrike" spc="-1">
              <a:solidFill>
                <a:srgbClr val="000000"/>
              </a:solidFill>
              <a:latin typeface="Arial"/>
            </a:endParaRPr>
          </a:p>
        </p:txBody>
      </p:sp>
      <p:sp>
        <p:nvSpPr>
          <p:cNvPr id="210" name="PlaceHolder 3"/>
          <p:cNvSpPr>
            <a:spLocks noGrp="1"/>
          </p:cNvSpPr>
          <p:nvPr>
            <p:ph type="sldNum" idx="4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6A39BFC6-82B9-4046-A7B9-FDB9E6DDF08B}" type="slidenum">
              <a:rPr lang="de-AT" sz="1200" b="0" strike="noStrike" spc="-1">
                <a:solidFill>
                  <a:srgbClr val="000000"/>
                </a:solidFill>
                <a:latin typeface="Times New Roman"/>
              </a:rPr>
              <a:t>1</a:t>
            </a:fld>
            <a:endParaRPr lang="de-AT" sz="12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p2:notes"/>
          <p:cNvSpPr>
            <a:spLocks noGrp="1" noRot="1" noChangeAspect="1"/>
          </p:cNvSpPr>
          <p:nvPr>
            <p:ph type="sldImg" idx="2"/>
          </p:nvPr>
        </p:nvSpPr>
        <p:spPr>
          <a:xfrm>
            <a:off x="0" y="81280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 name="Google Shape;68;p2:notes"/>
          <p:cNvSpPr txBox="1">
            <a:spLocks noGrp="1"/>
          </p:cNvSpPr>
          <p:nvPr>
            <p:ph type="body" idx="1"/>
          </p:nvPr>
        </p:nvSpPr>
        <p:spPr>
          <a:xfrm>
            <a:off x="756000" y="5078520"/>
            <a:ext cx="6047280" cy="481068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0"/>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The question of </a:t>
            </a:r>
            <a:r>
              <a:rPr lang="de-AT" sz="1500" b="0" i="1" strike="noStrike">
                <a:solidFill>
                  <a:schemeClr val="dk1"/>
                </a:solidFill>
                <a:latin typeface="Arial"/>
                <a:ea typeface="Arial"/>
                <a:cs typeface="Arial"/>
                <a:sym typeface="Arial"/>
              </a:rPr>
              <a:t>the enhancement of student learning</a:t>
            </a:r>
            <a:r>
              <a:rPr lang="de-AT" sz="1500" b="0" strike="noStrike">
                <a:solidFill>
                  <a:schemeClr val="dk1"/>
                </a:solidFill>
                <a:latin typeface="Arial"/>
                <a:ea typeface="Arial"/>
                <a:cs typeface="Arial"/>
                <a:sym typeface="Arial"/>
              </a:rPr>
              <a:t> is relevant because:</a:t>
            </a:r>
            <a:endParaRPr sz="1500" b="0" strike="noStrike">
              <a:solidFill>
                <a:srgbClr val="000000"/>
              </a:solidFill>
              <a:latin typeface="Arial"/>
              <a:ea typeface="Arial"/>
              <a:cs typeface="Arial"/>
              <a:sym typeface="Arial"/>
            </a:endParaRPr>
          </a:p>
          <a:p>
            <a:pPr marL="457200" lvl="0" indent="-324000" algn="l" rtl="0">
              <a:lnSpc>
                <a:spcPct val="115000"/>
              </a:lnSpc>
              <a:spcBef>
                <a:spcPts val="1199"/>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ChatGPT entered educational settings very quickly</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Students already use it: for explanations, brainstorming, writing support, feedback, coding help, and exam preparation</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Teachers and institutions: </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“How to deal with it?” </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Is it a useful learning tool? </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Does it support deeper understanding? </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Does it mainly reduce effort and create risks such as overreliance?</a:t>
            </a:r>
            <a:endParaRPr sz="15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The meta-analysis tries to move beyond opinions and perceptions. </a:t>
            </a:r>
            <a:endParaRPr sz="15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early studies on ChatGPT asked:</a:t>
            </a:r>
            <a:endParaRPr sz="1500" b="0" strike="noStrike">
              <a:solidFill>
                <a:srgbClr val="000000"/>
              </a:solidFill>
              <a:latin typeface="Arial"/>
              <a:ea typeface="Arial"/>
              <a:cs typeface="Arial"/>
              <a:sym typeface="Arial"/>
            </a:endParaRPr>
          </a:p>
          <a:p>
            <a:pPr marL="457200" lvl="0" indent="-324000" algn="l" rtl="0">
              <a:lnSpc>
                <a:spcPct val="115000"/>
              </a:lnSpc>
              <a:spcBef>
                <a:spcPts val="1199"/>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 liked the tool, </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found it helpful, </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whether they intended to use it</a:t>
            </a:r>
            <a:endParaRPr sz="15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Arial"/>
              <a:buNone/>
            </a:pPr>
            <a:r>
              <a:rPr lang="de-AT" sz="1500" b="1" strike="noStrike">
                <a:solidFill>
                  <a:schemeClr val="dk1"/>
                </a:solidFill>
                <a:latin typeface="Arial"/>
                <a:ea typeface="Arial"/>
                <a:cs typeface="Arial"/>
                <a:sym typeface="Arial"/>
              </a:rPr>
              <a:t>interesting, but NOT tell us if ChatGPT causes better learning</a:t>
            </a:r>
            <a:endParaRPr sz="15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focus on experimental and quasi-experimental studies</a:t>
            </a:r>
            <a:br>
              <a:rPr lang="de-AT" sz="1500"/>
            </a:br>
            <a:r>
              <a:rPr lang="de-AT" sz="1500" b="0" strike="noStrike">
                <a:solidFill>
                  <a:schemeClr val="dk1"/>
                </a:solidFill>
                <a:latin typeface="Arial"/>
                <a:ea typeface="Arial"/>
                <a:cs typeface="Arial"/>
                <a:sym typeface="Arial"/>
              </a:rPr>
              <a:t>studies with a ChatGPT group and a control group</a:t>
            </a:r>
            <a:endParaRPr sz="15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Leads to stronger conclusions than purely descriptive studies.</a:t>
            </a:r>
            <a:endParaRPr sz="15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Core idea of review: </a:t>
            </a:r>
            <a:endParaRPr sz="1500" b="0" strike="noStrike">
              <a:solidFill>
                <a:srgbClr val="000000"/>
              </a:solidFill>
              <a:latin typeface="Arial"/>
              <a:ea typeface="Arial"/>
              <a:cs typeface="Arial"/>
              <a:sym typeface="Arial"/>
            </a:endParaRPr>
          </a:p>
          <a:p>
            <a:pPr marL="457200" lvl="0" indent="-324000" algn="l" rtl="0">
              <a:lnSpc>
                <a:spcPct val="115000"/>
              </a:lnSpc>
              <a:spcBef>
                <a:spcPts val="1199"/>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NOT: “Do students like ChatGPT?”</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BUT: “What happens to learning outcomes when ChatGPT is actually used in an educational intervention?”</a:t>
            </a:r>
            <a:endParaRPr sz="1500" b="0" strike="noStrike">
              <a:solidFill>
                <a:srgbClr val="000000"/>
              </a:solidFill>
              <a:latin typeface="Arial"/>
              <a:ea typeface="Arial"/>
              <a:cs typeface="Arial"/>
              <a:sym typeface="Arial"/>
            </a:endParaRPr>
          </a:p>
          <a:p>
            <a:pPr marL="216000" lvl="0" indent="-216000" algn="l" rtl="0">
              <a:lnSpc>
                <a:spcPct val="100000"/>
              </a:lnSpc>
              <a:spcBef>
                <a:spcPts val="1199"/>
              </a:spcBef>
              <a:spcAft>
                <a:spcPts val="0"/>
              </a:spcAft>
              <a:buClr>
                <a:schemeClr val="dk1"/>
              </a:buClr>
              <a:buSzPts val="1700"/>
              <a:buFont typeface="Arial"/>
              <a:buNone/>
            </a:pPr>
            <a:r>
              <a:rPr lang="de-AT" sz="1700" b="0" strike="noStrike">
                <a:solidFill>
                  <a:schemeClr val="dk1"/>
                </a:solidFill>
                <a:latin typeface="Arial"/>
                <a:ea typeface="Arial"/>
                <a:cs typeface="Arial"/>
                <a:sym typeface="Arial"/>
              </a:rPr>
              <a:t>Ziel dieser Folie: kurz begründen, warum diese Meta-Analyse überhaupt wichtig ist.</a:t>
            </a:r>
            <a:endParaRPr sz="1700" b="0" strike="noStrike">
              <a:solidFill>
                <a:srgbClr val="000000"/>
              </a:solidFill>
              <a:latin typeface="Arial"/>
              <a:ea typeface="Arial"/>
              <a:cs typeface="Arial"/>
              <a:sym typeface="Arial"/>
            </a:endParaRPr>
          </a:p>
          <a:p>
            <a:pPr marL="216000" lvl="0" indent="-216000" algn="l" rtl="0">
              <a:lnSpc>
                <a:spcPct val="100000"/>
              </a:lnSpc>
              <a:spcBef>
                <a:spcPts val="0"/>
              </a:spcBef>
              <a:spcAft>
                <a:spcPts val="0"/>
              </a:spcAft>
              <a:buClr>
                <a:schemeClr val="dk1"/>
              </a:buClr>
              <a:buSzPts val="1700"/>
              <a:buFont typeface="Arial"/>
              <a:buNone/>
            </a:pPr>
            <a:r>
              <a:rPr lang="de-AT" sz="1700" b="0" strike="noStrike">
                <a:solidFill>
                  <a:schemeClr val="dk1"/>
                </a:solidFill>
                <a:latin typeface="Arial"/>
                <a:ea typeface="Arial"/>
                <a:cs typeface="Arial"/>
                <a:sym typeface="Arial"/>
              </a:rPr>
              <a:t>Sprechtext:</a:t>
            </a:r>
            <a:endParaRPr sz="17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1700"/>
              <a:buFont typeface="Arial"/>
              <a:buNone/>
            </a:pPr>
            <a:r>
              <a:rPr lang="de-AT" sz="1700" b="0" strike="noStrike">
                <a:solidFill>
                  <a:schemeClr val="dk1"/>
                </a:solidFill>
                <a:latin typeface="Arial"/>
                <a:ea typeface="Arial"/>
                <a:cs typeface="Arial"/>
                <a:sym typeface="Arial"/>
              </a:rPr>
              <a:t>ChatGPT ist sehr schnell in Bildungskontexte hineingekommen. Studierende verwenden es für Erklärungen, Ideensammlung, Feedback oder Schreiben. Gleichzeitig gibt es Sorgen: Academic Integrity, Overreliance oder dass tiefere Verarbeitung verloren geht. Viele frühe Studien waren aber Wahrnehmungsstudien oder Querschnittsstudien. Die können zeigen, dass ChatGPT-Nutzung mit Leistung zusammenhängt, aber nicht, ob ChatGPT die Leistung verursacht. Genau hier setzt Deng et al. an: Sie betrachten experimentelle und quasi-experimentelle Studien, also Evidenz, die näher an Kausalität ist.</a:t>
            </a:r>
            <a:endParaRPr sz="1700" b="0" strike="noStrike">
              <a:solidFill>
                <a:srgbClr val="000000"/>
              </a:solidFill>
              <a:latin typeface="Arial"/>
              <a:ea typeface="Arial"/>
              <a:cs typeface="Arial"/>
              <a:sym typeface="Arial"/>
            </a:endParaRPr>
          </a:p>
          <a:p>
            <a:pPr marL="0" lvl="0" indent="0" algn="l" rtl="0">
              <a:lnSpc>
                <a:spcPct val="100000"/>
              </a:lnSpc>
              <a:spcBef>
                <a:spcPts val="0"/>
              </a:spcBef>
              <a:spcAft>
                <a:spcPts val="0"/>
              </a:spcAft>
              <a:buClr>
                <a:schemeClr val="dk1"/>
              </a:buClr>
              <a:buSzPts val="1800"/>
              <a:buFont typeface="Arial"/>
              <a:buNone/>
            </a:pPr>
            <a:endParaRPr sz="1800" b="0" strike="noStrike">
              <a:solidFill>
                <a:srgbClr val="000000"/>
              </a:solidFill>
              <a:latin typeface="Arial"/>
              <a:ea typeface="Arial"/>
              <a:cs typeface="Arial"/>
              <a:sym typeface="Arial"/>
            </a:endParaRPr>
          </a:p>
        </p:txBody>
      </p:sp>
      <p:sp>
        <p:nvSpPr>
          <p:cNvPr id="69" name="Google Shape;69;p2:notes"/>
          <p:cNvSpPr txBox="1">
            <a:spLocks noGrp="1"/>
          </p:cNvSpPr>
          <p:nvPr>
            <p:ph type="sldNum" idx="12"/>
          </p:nvPr>
        </p:nvSpPr>
        <p:spPr>
          <a:xfrm>
            <a:off x="4278960" y="10157400"/>
            <a:ext cx="3280320" cy="533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rgbClr val="000000"/>
              </a:buClr>
              <a:buSzPts val="1400"/>
              <a:buFont typeface="Times New Roman"/>
              <a:buNone/>
            </a:pPr>
            <a:fld id="{00000000-1234-1234-1234-123412341234}" type="slidenum">
              <a:rPr lang="de-AT" sz="1400" b="0" strike="noStrike">
                <a:solidFill>
                  <a:srgbClr val="000000"/>
                </a:solidFill>
                <a:latin typeface="Times New Roman"/>
                <a:ea typeface="Times New Roman"/>
                <a:cs typeface="Times New Roman"/>
                <a:sym typeface="Times New Roman"/>
              </a:rPr>
              <a:t>3</a:t>
            </a:fld>
            <a:endParaRPr sz="1400" b="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p3:notes"/>
          <p:cNvSpPr txBox="1">
            <a:spLocks noGrp="1"/>
          </p:cNvSpPr>
          <p:nvPr>
            <p:ph type="body" idx="1"/>
          </p:nvPr>
        </p:nvSpPr>
        <p:spPr>
          <a:xfrm>
            <a:off x="756000" y="5078520"/>
            <a:ext cx="6047280" cy="481068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0"/>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The authors structure the review around 3 main research questions.</a:t>
            </a:r>
            <a:endParaRPr sz="1500" b="0" strike="noStrike">
              <a:solidFill>
                <a:srgbClr val="000000"/>
              </a:solidFill>
              <a:latin typeface="Arial"/>
              <a:ea typeface="Arial"/>
              <a:cs typeface="Arial"/>
              <a:sym typeface="Arial"/>
            </a:endParaRPr>
          </a:p>
          <a:p>
            <a:pPr marL="457200" lvl="0" indent="-324000" algn="l" rtl="0">
              <a:lnSpc>
                <a:spcPct val="115000"/>
              </a:lnSpc>
              <a:spcBef>
                <a:spcPts val="1199"/>
              </a:spcBef>
              <a:spcAft>
                <a:spcPts val="0"/>
              </a:spcAft>
              <a:buClr>
                <a:srgbClr val="000000"/>
              </a:buClr>
              <a:buSzPts val="1500"/>
              <a:buFont typeface="Arial"/>
              <a:buAutoNum type="arabicParenR"/>
            </a:pPr>
            <a:r>
              <a:rPr lang="de-AT" sz="1500" b="0" strike="noStrike">
                <a:solidFill>
                  <a:schemeClr val="dk1"/>
                </a:solidFill>
                <a:latin typeface="Arial"/>
                <a:ea typeface="Arial"/>
                <a:cs typeface="Arial"/>
                <a:sym typeface="Arial"/>
              </a:rPr>
              <a:t>Descriptive: Where and how is ChatGPT used in experimental studies? </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AutoNum type="alphaLcParenR"/>
            </a:pPr>
            <a:r>
              <a:rPr lang="de-AT" sz="1500" b="0" strike="noStrike">
                <a:solidFill>
                  <a:schemeClr val="dk1"/>
                </a:solidFill>
                <a:latin typeface="Arial"/>
                <a:ea typeface="Arial"/>
                <a:cs typeface="Arial"/>
                <a:sym typeface="Arial"/>
              </a:rPr>
              <a:t>educational stages</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AutoNum type="alphaLcParenR"/>
            </a:pPr>
            <a:r>
              <a:rPr lang="de-AT" sz="1500" b="0" strike="noStrike">
                <a:solidFill>
                  <a:schemeClr val="dk1"/>
                </a:solidFill>
                <a:latin typeface="Arial"/>
                <a:ea typeface="Arial"/>
                <a:cs typeface="Arial"/>
                <a:sym typeface="Arial"/>
              </a:rPr>
              <a:t>subject areas</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AutoNum type="alphaLcParenR"/>
            </a:pPr>
            <a:r>
              <a:rPr lang="de-AT" sz="1500" b="0" strike="noStrike">
                <a:solidFill>
                  <a:schemeClr val="dk1"/>
                </a:solidFill>
                <a:latin typeface="Arial"/>
                <a:ea typeface="Arial"/>
                <a:cs typeface="Arial"/>
                <a:sym typeface="Arial"/>
              </a:rPr>
              <a:t>intervention settings</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AutoNum type="alphaLcParenR"/>
            </a:pPr>
            <a:r>
              <a:rPr lang="de-AT" sz="1500" b="0" strike="noStrike">
                <a:solidFill>
                  <a:schemeClr val="dk1"/>
                </a:solidFill>
                <a:latin typeface="Arial"/>
                <a:ea typeface="Arial"/>
                <a:cs typeface="Arial"/>
                <a:sym typeface="Arial"/>
              </a:rPr>
              <a:t>duration</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AutoNum type="alphaLcParenR"/>
            </a:pPr>
            <a:r>
              <a:rPr lang="de-AT" sz="1500" b="0" strike="noStrike">
                <a:solidFill>
                  <a:schemeClr val="dk1"/>
                </a:solidFill>
                <a:latin typeface="Arial"/>
                <a:ea typeface="Arial"/>
                <a:cs typeface="Arial"/>
                <a:sym typeface="Arial"/>
              </a:rPr>
              <a:t>how ChatGPT was applied</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AutoNum type="alphaLcParenR"/>
            </a:pPr>
            <a:r>
              <a:rPr lang="de-AT" sz="1500" b="0" strike="noStrike">
                <a:solidFill>
                  <a:schemeClr val="dk1"/>
                </a:solidFill>
                <a:latin typeface="Arial"/>
                <a:ea typeface="Arial"/>
                <a:cs typeface="Arial"/>
                <a:sym typeface="Arial"/>
              </a:rPr>
              <a:t>Eg. direct learning tool / writing assistant / tutor …</a:t>
            </a:r>
            <a:br>
              <a:rPr lang="de-AT" sz="1500"/>
            </a:br>
            <a:r>
              <a:rPr lang="de-AT" sz="1500" b="0" strike="noStrike">
                <a:solidFill>
                  <a:schemeClr val="dk1"/>
                </a:solidFill>
                <a:latin typeface="Arial"/>
                <a:ea typeface="Arial"/>
                <a:cs typeface="Arial"/>
                <a:sym typeface="Arial"/>
              </a:rPr>
              <a:t> </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AutoNum type="arabicParenR"/>
            </a:pPr>
            <a:r>
              <a:rPr lang="de-AT" sz="1500" b="0" strike="noStrike">
                <a:solidFill>
                  <a:schemeClr val="dk1"/>
                </a:solidFill>
                <a:latin typeface="Arial"/>
                <a:ea typeface="Arial"/>
                <a:cs typeface="Arial"/>
                <a:sym typeface="Arial"/>
              </a:rPr>
              <a:t>outcomes: The authors ask how ChatGPT affects different dimensions of student learning. </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AutoNum type="alphaLcParenR"/>
            </a:pPr>
            <a:r>
              <a:rPr lang="de-AT" sz="1500" b="0" strike="noStrike">
                <a:solidFill>
                  <a:schemeClr val="dk1"/>
                </a:solidFill>
                <a:latin typeface="Arial"/>
                <a:ea typeface="Arial"/>
                <a:cs typeface="Arial"/>
                <a:sym typeface="Arial"/>
              </a:rPr>
              <a:t>not only academic performance</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AutoNum type="alphaLcParenR"/>
            </a:pPr>
            <a:r>
              <a:rPr lang="de-AT" sz="1500" b="0" strike="noStrike">
                <a:solidFill>
                  <a:schemeClr val="dk1"/>
                </a:solidFill>
                <a:latin typeface="Arial"/>
                <a:ea typeface="Arial"/>
                <a:cs typeface="Arial"/>
                <a:sym typeface="Arial"/>
              </a:rPr>
              <a:t>affective and motivational states</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AutoNum type="alphaLcParenR"/>
            </a:pPr>
            <a:r>
              <a:rPr lang="de-AT" sz="1500" b="0" strike="noStrike">
                <a:solidFill>
                  <a:schemeClr val="dk1"/>
                </a:solidFill>
                <a:latin typeface="Arial"/>
                <a:ea typeface="Arial"/>
                <a:cs typeface="Arial"/>
                <a:sym typeface="Arial"/>
              </a:rPr>
              <a:t>higher-order thinking </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AutoNum type="alphaLcParenR"/>
            </a:pPr>
            <a:r>
              <a:rPr lang="de-AT" sz="1500" b="0" strike="noStrike">
                <a:solidFill>
                  <a:schemeClr val="dk1"/>
                </a:solidFill>
                <a:latin typeface="Arial"/>
                <a:ea typeface="Arial"/>
                <a:cs typeface="Arial"/>
                <a:sym typeface="Arial"/>
              </a:rPr>
              <a:t>self-efficacy</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AutoNum type="alphaLcParenR"/>
            </a:pPr>
            <a:r>
              <a:rPr lang="de-AT" sz="1500" b="0" strike="noStrike">
                <a:solidFill>
                  <a:schemeClr val="dk1"/>
                </a:solidFill>
                <a:latin typeface="Arial"/>
                <a:ea typeface="Arial"/>
                <a:cs typeface="Arial"/>
                <a:sym typeface="Arial"/>
              </a:rPr>
              <a:t>mental effort</a:t>
            </a:r>
            <a:br>
              <a:rPr lang="de-AT" sz="1500"/>
            </a:br>
            <a:r>
              <a:rPr lang="de-AT" sz="1500" b="0" strike="noStrike">
                <a:solidFill>
                  <a:schemeClr val="dk1"/>
                </a:solidFill>
                <a:latin typeface="Arial"/>
                <a:ea typeface="Arial"/>
                <a:cs typeface="Arial"/>
                <a:sym typeface="Arial"/>
              </a:rPr>
              <a:t>important because “learning” is not one single thing</a:t>
            </a:r>
            <a:br>
              <a:rPr lang="de-AT" sz="1500"/>
            </a:br>
            <a:r>
              <a:rPr lang="de-AT" sz="1500" b="0" strike="noStrike">
                <a:solidFill>
                  <a:schemeClr val="dk1"/>
                </a:solidFill>
                <a:latin typeface="Arial"/>
                <a:ea typeface="Arial"/>
                <a:cs typeface="Arial"/>
                <a:sym typeface="Arial"/>
              </a:rPr>
              <a:t>tool could </a:t>
            </a:r>
            <a:r>
              <a:rPr lang="de-AT" sz="1500" b="1" strike="noStrike">
                <a:solidFill>
                  <a:schemeClr val="dk1"/>
                </a:solidFill>
                <a:latin typeface="Arial"/>
                <a:ea typeface="Arial"/>
                <a:cs typeface="Arial"/>
                <a:sym typeface="Arial"/>
              </a:rPr>
              <a:t>improve test performance but reduce independent thinking</a:t>
            </a:r>
            <a:br>
              <a:rPr lang="de-AT" sz="1500"/>
            </a:br>
            <a:r>
              <a:rPr lang="de-AT" sz="1500" b="0" strike="noStrike">
                <a:solidFill>
                  <a:schemeClr val="dk1"/>
                </a:solidFill>
                <a:latin typeface="Arial"/>
                <a:ea typeface="Arial"/>
                <a:cs typeface="Arial"/>
                <a:sym typeface="Arial"/>
              </a:rPr>
              <a:t>increase motivation but not improve actual performance</a:t>
            </a:r>
            <a:br>
              <a:rPr lang="de-AT" sz="1500"/>
            </a:br>
            <a:r>
              <a:rPr lang="de-AT" sz="1500" b="0" strike="noStrike">
                <a:solidFill>
                  <a:schemeClr val="dk1"/>
                </a:solidFill>
                <a:latin typeface="Arial"/>
                <a:ea typeface="Arial"/>
                <a:cs typeface="Arial"/>
                <a:sym typeface="Arial"/>
              </a:rPr>
              <a:t>the meta-analysis separates different outcome categories</a:t>
            </a:r>
            <a:br>
              <a:rPr lang="de-AT" sz="1500"/>
            </a:br>
            <a:r>
              <a:rPr lang="de-AT" sz="1500" b="0" strike="noStrike">
                <a:solidFill>
                  <a:schemeClr val="dk1"/>
                </a:solidFill>
                <a:latin typeface="Arial"/>
                <a:ea typeface="Arial"/>
                <a:cs typeface="Arial"/>
                <a:sym typeface="Arial"/>
              </a:rPr>
              <a:t> </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AutoNum type="arabicParenR"/>
            </a:pPr>
            <a:r>
              <a:rPr lang="de-AT" sz="1500" b="0" strike="noStrike">
                <a:solidFill>
                  <a:schemeClr val="dk1"/>
                </a:solidFill>
                <a:latin typeface="Arial"/>
                <a:ea typeface="Arial"/>
                <a:cs typeface="Arial"/>
                <a:sym typeface="Arial"/>
              </a:rPr>
              <a:t>methodological: The authors examine how robust the included experimental studies are. </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AutoNum type="alphaLcParenR"/>
            </a:pPr>
            <a:r>
              <a:rPr lang="de-AT" sz="1500" b="0" strike="noStrike">
                <a:solidFill>
                  <a:schemeClr val="dk1"/>
                </a:solidFill>
                <a:latin typeface="Arial"/>
                <a:ea typeface="Arial"/>
                <a:cs typeface="Arial"/>
                <a:sym typeface="Arial"/>
              </a:rPr>
              <a:t>They ask if studies justify their sample sizes</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AutoNum type="alphaLcParenR"/>
            </a:pPr>
            <a:r>
              <a:rPr lang="de-AT" sz="1500" b="0" strike="noStrike">
                <a:solidFill>
                  <a:schemeClr val="dk1"/>
                </a:solidFill>
                <a:latin typeface="Arial"/>
                <a:ea typeface="Arial"/>
                <a:cs typeface="Arial"/>
                <a:sym typeface="Arial"/>
              </a:rPr>
              <a:t>Have experimental and control groups similar baseline?</a:t>
            </a:r>
            <a:br>
              <a:rPr lang="de-AT" sz="1500"/>
            </a:br>
            <a:r>
              <a:rPr lang="de-AT" sz="1500" b="0" strike="noStrike">
                <a:solidFill>
                  <a:schemeClr val="dk1"/>
                </a:solidFill>
                <a:latin typeface="Arial"/>
                <a:ea typeface="Arial"/>
                <a:cs typeface="Arial"/>
                <a:sym typeface="Arial"/>
              </a:rPr>
              <a:t>These points matter because strong effects are less convincing if the study design is weak.</a:t>
            </a:r>
            <a:endParaRPr sz="15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For our presentation, this distinction is important. My part focuses on the general review and </a:t>
            </a:r>
            <a:r>
              <a:rPr lang="de-AT" sz="1500"/>
              <a:t>later on </a:t>
            </a:r>
            <a:r>
              <a:rPr lang="de-AT" sz="1500" b="0" strike="noStrike">
                <a:solidFill>
                  <a:schemeClr val="dk1"/>
                </a:solidFill>
                <a:latin typeface="Arial"/>
                <a:ea typeface="Arial"/>
                <a:cs typeface="Arial"/>
                <a:sym typeface="Arial"/>
              </a:rPr>
              <a:t>main results. Christina will go deeper into PRISMA, quality assessment</a:t>
            </a:r>
            <a:r>
              <a:rPr lang="de-AT" sz="1500"/>
              <a:t>.</a:t>
            </a:r>
            <a:endParaRPr sz="1500" b="0" strike="noStrike">
              <a:solidFill>
                <a:srgbClr val="000000"/>
              </a:solidFill>
              <a:latin typeface="Arial"/>
              <a:ea typeface="Arial"/>
              <a:cs typeface="Arial"/>
              <a:sym typeface="Arial"/>
            </a:endParaRPr>
          </a:p>
          <a:p>
            <a:pPr marL="216000" lvl="0" indent="-216000" algn="l" rtl="0">
              <a:lnSpc>
                <a:spcPct val="100000"/>
              </a:lnSpc>
              <a:spcBef>
                <a:spcPts val="1199"/>
              </a:spcBef>
              <a:spcAft>
                <a:spcPts val="0"/>
              </a:spcAft>
              <a:buClr>
                <a:schemeClr val="dk1"/>
              </a:buClr>
              <a:buSzPts val="1500"/>
              <a:buFont typeface="Arial"/>
              <a:buNone/>
            </a:pPr>
            <a:endParaRPr sz="1500" b="0" strike="noStrike">
              <a:solidFill>
                <a:srgbClr val="000000"/>
              </a:solidFill>
              <a:latin typeface="Arial"/>
              <a:ea typeface="Arial"/>
              <a:cs typeface="Arial"/>
              <a:sym typeface="Arial"/>
            </a:endParaRPr>
          </a:p>
          <a:p>
            <a:pPr marL="216000" lvl="0" indent="-216000" algn="l" rtl="0">
              <a:lnSpc>
                <a:spcPct val="100000"/>
              </a:lnSpc>
              <a:spcBef>
                <a:spcPts val="0"/>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Ziel dieser Folie: die Forschungsfragen zusammenfassen</a:t>
            </a:r>
            <a:endParaRPr sz="1500" b="0" strike="noStrike">
              <a:solidFill>
                <a:srgbClr val="000000"/>
              </a:solidFill>
              <a:latin typeface="Arial"/>
              <a:ea typeface="Arial"/>
              <a:cs typeface="Arial"/>
              <a:sym typeface="Arial"/>
            </a:endParaRPr>
          </a:p>
          <a:p>
            <a:pPr marL="216000" lvl="0" indent="-216000" algn="l" rtl="0">
              <a:lnSpc>
                <a:spcPct val="100000"/>
              </a:lnSpc>
              <a:spcBef>
                <a:spcPts val="0"/>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Sprechtext:</a:t>
            </a:r>
            <a:endParaRPr sz="15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Die Meta-Analyse fragt nicht nur: Wirkt ChatGPT? Die erste Frage ist deskriptiv: Wo wird ChatGPT überhaupt experimentell untersucht, also in welchen Bildungsstufen, Fächern, Settings, über welche Dauer und in welcher Nutzungsform. Die zweite Frage ist die eigentliche Effektfrage: Welche Lernoutcomes verändern sich? Und die dritte Frage ist methodisch: Wie gut sind diese experimentellen Studien abgesichert, etwa durch Stichprobengröße, Randomisierung oder Pretests. Das ist wichtig, weil positive Effekte nur dann überzeugend sind, wenn die Studienqualität mitgedacht wird.</a:t>
            </a:r>
            <a:endParaRPr sz="1500" b="0" strike="noStrike">
              <a:solidFill>
                <a:srgbClr val="000000"/>
              </a:solidFill>
              <a:latin typeface="Arial"/>
              <a:ea typeface="Arial"/>
              <a:cs typeface="Arial"/>
              <a:sym typeface="Arial"/>
            </a:endParaRPr>
          </a:p>
          <a:p>
            <a:pPr marL="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p:txBody>
      </p:sp>
      <p:sp>
        <p:nvSpPr>
          <p:cNvPr id="77" name="Google Shape;77;p3:notes"/>
          <p:cNvSpPr>
            <a:spLocks noGrp="1" noRot="1" noChangeAspect="1"/>
          </p:cNvSpPr>
          <p:nvPr>
            <p:ph type="sldImg" idx="2"/>
          </p:nvPr>
        </p:nvSpPr>
        <p:spPr>
          <a:xfrm>
            <a:off x="0" y="81280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PlaceHolder 1"/>
          <p:cNvSpPr>
            <a:spLocks noGrp="1" noRot="1" noChangeAspect="1"/>
          </p:cNvSpPr>
          <p:nvPr>
            <p:ph type="sldImg"/>
          </p:nvPr>
        </p:nvSpPr>
        <p:spPr>
          <a:xfrm>
            <a:off x="685800" y="1143000"/>
            <a:ext cx="5486400" cy="3086100"/>
          </a:xfrm>
          <a:prstGeom prst="rect">
            <a:avLst/>
          </a:prstGeom>
          <a:ln w="0">
            <a:noFill/>
          </a:ln>
        </p:spPr>
      </p:sp>
      <p:sp>
        <p:nvSpPr>
          <p:cNvPr id="2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de-AT" sz="2000" b="0" strike="noStrike" spc="-1" dirty="0" err="1">
                <a:solidFill>
                  <a:srgbClr val="000000"/>
                </a:solidFill>
                <a:latin typeface="Arial"/>
              </a:rPr>
              <a:t>Before</a:t>
            </a:r>
            <a:r>
              <a:rPr lang="de-AT" sz="2000" b="0" strike="noStrike" spc="-1" dirty="0">
                <a:solidFill>
                  <a:srgbClr val="000000"/>
                </a:solidFill>
                <a:latin typeface="Arial"/>
              </a:rPr>
              <a:t> </a:t>
            </a:r>
            <a:r>
              <a:rPr lang="de-AT" sz="2000" b="0" strike="noStrike" spc="-1" dirty="0" err="1">
                <a:solidFill>
                  <a:srgbClr val="000000"/>
                </a:solidFill>
                <a:latin typeface="Arial"/>
              </a:rPr>
              <a:t>evaluating</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results</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meta-analysis, </a:t>
            </a:r>
            <a:r>
              <a:rPr lang="de-AT" sz="2000" b="0" strike="noStrike" spc="-1" dirty="0" err="1">
                <a:solidFill>
                  <a:srgbClr val="000000"/>
                </a:solidFill>
                <a:latin typeface="Arial"/>
              </a:rPr>
              <a:t>it</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important</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understand</a:t>
            </a:r>
            <a:r>
              <a:rPr lang="de-AT" sz="2000" b="0" strike="noStrike" spc="-1" dirty="0">
                <a:solidFill>
                  <a:srgbClr val="000000"/>
                </a:solidFill>
                <a:latin typeface="Arial"/>
              </a:rPr>
              <a:t> </a:t>
            </a:r>
            <a:r>
              <a:rPr lang="de-AT" sz="2000" b="0" strike="noStrike" spc="-1" dirty="0" err="1">
                <a:solidFill>
                  <a:srgbClr val="000000"/>
                </a:solidFill>
                <a:latin typeface="Arial"/>
              </a:rPr>
              <a:t>how</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selected</a:t>
            </a:r>
            <a:r>
              <a:rPr lang="de-AT" sz="2000" b="0" strike="noStrike" spc="-1" dirty="0">
                <a:solidFill>
                  <a:srgbClr val="000000"/>
                </a:solidFill>
                <a:latin typeface="Arial"/>
              </a:rPr>
              <a:t>. The </a:t>
            </a:r>
            <a:r>
              <a:rPr lang="de-AT" sz="2000" b="0" strike="noStrike" spc="-1" dirty="0" err="1">
                <a:solidFill>
                  <a:srgbClr val="000000"/>
                </a:solidFill>
                <a:latin typeface="Arial"/>
              </a:rPr>
              <a:t>quality</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 meta-analysis </a:t>
            </a:r>
            <a:r>
              <a:rPr lang="de-AT" sz="2000" b="0" strike="noStrike" spc="-1" dirty="0" err="1">
                <a:solidFill>
                  <a:srgbClr val="000000"/>
                </a:solidFill>
                <a:latin typeface="Arial"/>
              </a:rPr>
              <a:t>depends</a:t>
            </a:r>
            <a:r>
              <a:rPr lang="de-AT" sz="2000" b="0" strike="noStrike" spc="-1" dirty="0">
                <a:solidFill>
                  <a:srgbClr val="000000"/>
                </a:solidFill>
                <a:latin typeface="Arial"/>
              </a:rPr>
              <a:t> </a:t>
            </a:r>
            <a:r>
              <a:rPr lang="de-AT" sz="2000" b="0" strike="noStrike" spc="-1" dirty="0" err="1">
                <a:solidFill>
                  <a:srgbClr val="000000"/>
                </a:solidFill>
                <a:latin typeface="Arial"/>
              </a:rPr>
              <a:t>heavily</a:t>
            </a:r>
            <a:r>
              <a:rPr lang="de-AT" sz="2000" b="0" strike="noStrike" spc="-1" dirty="0">
                <a:solidFill>
                  <a:srgbClr val="000000"/>
                </a:solidFill>
                <a:latin typeface="Arial"/>
              </a:rPr>
              <a:t> on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quality</a:t>
            </a:r>
            <a:r>
              <a:rPr lang="de-AT" sz="2000" b="0" strike="noStrike" spc="-1" dirty="0">
                <a:solidFill>
                  <a:srgbClr val="000000"/>
                </a:solidFill>
                <a:latin typeface="Arial"/>
              </a:rPr>
              <a:t> and </a:t>
            </a:r>
            <a:r>
              <a:rPr lang="de-AT" sz="2000" b="0" strike="noStrike" spc="-1" dirty="0" err="1">
                <a:solidFill>
                  <a:srgbClr val="000000"/>
                </a:solidFill>
                <a:latin typeface="Arial"/>
              </a:rPr>
              <a:t>relevance</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that</a:t>
            </a:r>
            <a:r>
              <a:rPr lang="de-AT" sz="2000" b="0" strike="noStrike" spc="-1" dirty="0">
                <a:solidFill>
                  <a:srgbClr val="000000"/>
                </a:solidFill>
                <a:latin typeface="Arial"/>
              </a:rPr>
              <a:t> </a:t>
            </a:r>
            <a:r>
              <a:rPr lang="de-AT" sz="2000" b="0" strike="noStrike" spc="-1" dirty="0" err="1">
                <a:solidFill>
                  <a:srgbClr val="000000"/>
                </a:solidFill>
                <a:latin typeface="Arial"/>
              </a:rPr>
              <a:t>are</a:t>
            </a:r>
            <a:r>
              <a:rPr lang="de-AT" sz="2000" b="0" strike="noStrike" spc="-1" dirty="0">
                <a:solidFill>
                  <a:srgbClr val="000000"/>
                </a:solidFill>
                <a:latin typeface="Arial"/>
              </a:rPr>
              <a:t> </a:t>
            </a:r>
            <a:r>
              <a:rPr lang="de-AT" sz="2000" b="0" strike="noStrike" spc="-1" dirty="0" err="1">
                <a:solidFill>
                  <a:srgbClr val="000000"/>
                </a:solidFill>
                <a:latin typeface="Arial"/>
              </a:rPr>
              <a:t>included</a:t>
            </a:r>
            <a:r>
              <a:rPr lang="de-AT" sz="2000" b="0" strike="noStrike" spc="-1" dirty="0">
                <a:solidFill>
                  <a:srgbClr val="000000"/>
                </a:solidFill>
                <a:latin typeface="Arial"/>
              </a:rPr>
              <a:t>. This </a:t>
            </a:r>
            <a:r>
              <a:rPr lang="de-AT" sz="2000" b="0" strike="noStrike" spc="-1" dirty="0" err="1">
                <a:solidFill>
                  <a:srgbClr val="000000"/>
                </a:solidFill>
                <a:latin typeface="Arial"/>
              </a:rPr>
              <a:t>idea</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often</a:t>
            </a:r>
            <a:r>
              <a:rPr lang="de-AT" sz="2000" b="0" strike="noStrike" spc="-1" dirty="0">
                <a:solidFill>
                  <a:srgbClr val="000000"/>
                </a:solidFill>
                <a:latin typeface="Arial"/>
              </a:rPr>
              <a:t> </a:t>
            </a:r>
            <a:r>
              <a:rPr lang="de-AT" sz="2000" b="0" strike="noStrike" spc="-1" dirty="0" err="1">
                <a:solidFill>
                  <a:srgbClr val="000000"/>
                </a:solidFill>
                <a:latin typeface="Arial"/>
              </a:rPr>
              <a:t>summarized</a:t>
            </a:r>
            <a:r>
              <a:rPr lang="de-AT" sz="2000" b="0" strike="noStrike" spc="-1" dirty="0">
                <a:solidFill>
                  <a:srgbClr val="000000"/>
                </a:solidFill>
                <a:latin typeface="Arial"/>
              </a:rPr>
              <a:t> </a:t>
            </a:r>
            <a:r>
              <a:rPr lang="de-AT" sz="2000" b="0" strike="noStrike" spc="-1" dirty="0" err="1">
                <a:solidFill>
                  <a:srgbClr val="000000"/>
                </a:solidFill>
                <a:latin typeface="Arial"/>
              </a:rPr>
              <a:t>by</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phrase</a:t>
            </a:r>
            <a:r>
              <a:rPr lang="de-AT" sz="2000" b="0" strike="noStrike" spc="-1" dirty="0">
                <a:solidFill>
                  <a:srgbClr val="000000"/>
                </a:solidFill>
                <a:latin typeface="Arial"/>
              </a:rPr>
              <a:t> “</a:t>
            </a:r>
            <a:r>
              <a:rPr lang="de-AT" sz="2000" b="0" strike="noStrike" spc="-1" dirty="0" err="1">
                <a:solidFill>
                  <a:srgbClr val="000000"/>
                </a:solidFill>
                <a:latin typeface="Arial"/>
              </a:rPr>
              <a:t>garbage</a:t>
            </a:r>
            <a:r>
              <a:rPr lang="de-AT" sz="2000" b="0" strike="noStrike" spc="-1" dirty="0">
                <a:solidFill>
                  <a:srgbClr val="000000"/>
                </a:solidFill>
                <a:latin typeface="Arial"/>
              </a:rPr>
              <a:t> in, </a:t>
            </a:r>
            <a:r>
              <a:rPr lang="de-AT" sz="2000" b="0" strike="noStrike" spc="-1" dirty="0" err="1">
                <a:solidFill>
                  <a:srgbClr val="000000"/>
                </a:solidFill>
                <a:latin typeface="Arial"/>
              </a:rPr>
              <a:t>garbage</a:t>
            </a:r>
            <a:r>
              <a:rPr lang="de-AT" sz="2000" b="0" strike="noStrike" spc="-1" dirty="0">
                <a:solidFill>
                  <a:srgbClr val="000000"/>
                </a:solidFill>
                <a:latin typeface="Arial"/>
              </a:rPr>
              <a:t> out“.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As </a:t>
            </a:r>
            <a:r>
              <a:rPr lang="de-AT" sz="2000" b="0" strike="noStrike" spc="-1" dirty="0" err="1">
                <a:solidFill>
                  <a:srgbClr val="000000"/>
                </a:solidFill>
                <a:latin typeface="Arial"/>
              </a:rPr>
              <a:t>you</a:t>
            </a:r>
            <a:r>
              <a:rPr lang="de-AT" sz="2000" b="0" strike="noStrike" spc="-1" dirty="0">
                <a:solidFill>
                  <a:srgbClr val="000000"/>
                </a:solidFill>
                <a:latin typeface="Arial"/>
              </a:rPr>
              <a:t> </a:t>
            </a:r>
            <a:r>
              <a:rPr lang="de-AT" sz="2000" b="0" strike="noStrike" spc="-1" dirty="0" err="1">
                <a:solidFill>
                  <a:srgbClr val="000000"/>
                </a:solidFill>
                <a:latin typeface="Arial"/>
              </a:rPr>
              <a:t>can</a:t>
            </a:r>
            <a:r>
              <a:rPr lang="de-AT" sz="2000" b="0" strike="noStrike" spc="-1" dirty="0">
                <a:solidFill>
                  <a:srgbClr val="000000"/>
                </a:solidFill>
                <a:latin typeface="Arial"/>
              </a:rPr>
              <a:t> </a:t>
            </a:r>
            <a:r>
              <a:rPr lang="de-AT" sz="2000" b="0" strike="noStrike" spc="-1" dirty="0" err="1">
                <a:solidFill>
                  <a:srgbClr val="000000"/>
                </a:solidFill>
                <a:latin typeface="Arial"/>
              </a:rPr>
              <a:t>see</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ensure</a:t>
            </a:r>
            <a:r>
              <a:rPr lang="de-AT" sz="2000" b="0" strike="noStrike" spc="-1" dirty="0">
                <a:solidFill>
                  <a:srgbClr val="000000"/>
                </a:solidFill>
                <a:latin typeface="Arial"/>
              </a:rPr>
              <a:t> a transparent and </a:t>
            </a:r>
            <a:r>
              <a:rPr lang="de-AT" sz="2000" b="0" strike="noStrike" spc="-1" dirty="0" err="1">
                <a:solidFill>
                  <a:srgbClr val="000000"/>
                </a:solidFill>
                <a:latin typeface="Arial"/>
              </a:rPr>
              <a:t>systematic</a:t>
            </a:r>
            <a:r>
              <a:rPr lang="de-AT" sz="2000" b="0" strike="noStrike" spc="-1" dirty="0">
                <a:solidFill>
                  <a:srgbClr val="000000"/>
                </a:solidFill>
                <a:latin typeface="Arial"/>
              </a:rPr>
              <a:t> </a:t>
            </a:r>
            <a:r>
              <a:rPr lang="de-AT" sz="2000" b="0" strike="noStrike" spc="-1" dirty="0" err="1">
                <a:solidFill>
                  <a:srgbClr val="000000"/>
                </a:solidFill>
                <a:latin typeface="Arial"/>
              </a:rPr>
              <a:t>selection</a:t>
            </a:r>
            <a:r>
              <a:rPr lang="de-AT" sz="2000" b="0" strike="noStrike" spc="-1" dirty="0">
                <a:solidFill>
                  <a:srgbClr val="000000"/>
                </a:solidFill>
                <a:latin typeface="Arial"/>
              </a:rPr>
              <a:t> </a:t>
            </a:r>
            <a:r>
              <a:rPr lang="de-AT" sz="2000" b="0" strike="noStrike" spc="-1" dirty="0" err="1">
                <a:solidFill>
                  <a:srgbClr val="000000"/>
                </a:solidFill>
                <a:latin typeface="Arial"/>
              </a:rPr>
              <a:t>process</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authors</a:t>
            </a:r>
            <a:r>
              <a:rPr lang="de-AT" sz="2000" b="0" strike="noStrike" spc="-1" dirty="0">
                <a:solidFill>
                  <a:srgbClr val="000000"/>
                </a:solidFill>
                <a:latin typeface="Arial"/>
              </a:rPr>
              <a:t> </a:t>
            </a:r>
            <a:r>
              <a:rPr lang="de-AT" sz="2000" b="0" strike="noStrike" spc="-1" dirty="0" err="1">
                <a:solidFill>
                  <a:srgbClr val="000000"/>
                </a:solidFill>
                <a:latin typeface="Arial"/>
              </a:rPr>
              <a:t>followed</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PRISMA </a:t>
            </a:r>
            <a:r>
              <a:rPr lang="de-AT" sz="2000" b="0" strike="noStrike" spc="-1" dirty="0" err="1">
                <a:solidFill>
                  <a:srgbClr val="000000"/>
                </a:solidFill>
                <a:latin typeface="Arial"/>
              </a:rPr>
              <a:t>framework</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The </a:t>
            </a:r>
            <a:r>
              <a:rPr lang="de-AT" sz="2000" b="0" strike="noStrike" spc="-1" dirty="0" err="1">
                <a:solidFill>
                  <a:srgbClr val="000000"/>
                </a:solidFill>
                <a:latin typeface="Arial"/>
              </a:rPr>
              <a:t>literature</a:t>
            </a:r>
            <a:r>
              <a:rPr lang="de-AT" sz="2000" b="0" strike="noStrike" spc="-1" dirty="0">
                <a:solidFill>
                  <a:srgbClr val="000000"/>
                </a:solidFill>
                <a:latin typeface="Arial"/>
              </a:rPr>
              <a:t> </a:t>
            </a:r>
            <a:r>
              <a:rPr lang="de-AT" sz="2000" b="0" strike="noStrike" spc="-1" dirty="0" err="1">
                <a:solidFill>
                  <a:srgbClr val="000000"/>
                </a:solidFill>
                <a:latin typeface="Arial"/>
              </a:rPr>
              <a:t>search</a:t>
            </a:r>
            <a:r>
              <a:rPr lang="de-AT" sz="2000" b="0" strike="noStrike" spc="-1" dirty="0">
                <a:solidFill>
                  <a:srgbClr val="000000"/>
                </a:solidFill>
                <a:latin typeface="Arial"/>
              </a:rPr>
              <a:t> was </a:t>
            </a:r>
            <a:r>
              <a:rPr lang="de-AT" sz="2000" b="0" strike="noStrike" spc="-1" dirty="0" err="1">
                <a:solidFill>
                  <a:srgbClr val="000000"/>
                </a:solidFill>
                <a:latin typeface="Arial"/>
              </a:rPr>
              <a:t>conducted</a:t>
            </a:r>
            <a:r>
              <a:rPr lang="de-AT" sz="2000" b="0" strike="noStrike" spc="-1" dirty="0">
                <a:solidFill>
                  <a:srgbClr val="000000"/>
                </a:solidFill>
                <a:latin typeface="Arial"/>
              </a:rPr>
              <a:t> </a:t>
            </a:r>
            <a:r>
              <a:rPr lang="de-AT" sz="2000" b="0" strike="noStrike" spc="-1" dirty="0" err="1">
                <a:solidFill>
                  <a:srgbClr val="000000"/>
                </a:solidFill>
                <a:latin typeface="Arial"/>
              </a:rPr>
              <a:t>across</a:t>
            </a:r>
            <a:r>
              <a:rPr lang="de-AT" sz="2000" b="0" strike="noStrike" spc="-1" dirty="0">
                <a:solidFill>
                  <a:srgbClr val="000000"/>
                </a:solidFill>
                <a:latin typeface="Arial"/>
              </a:rPr>
              <a:t> </a:t>
            </a:r>
            <a:r>
              <a:rPr lang="de-AT" sz="2000" b="0" strike="noStrike" spc="-1" dirty="0" err="1">
                <a:solidFill>
                  <a:srgbClr val="000000"/>
                </a:solidFill>
                <a:latin typeface="Arial"/>
              </a:rPr>
              <a:t>five</a:t>
            </a:r>
            <a:r>
              <a:rPr lang="de-AT" sz="2000" b="0" strike="noStrike" spc="-1" dirty="0">
                <a:solidFill>
                  <a:srgbClr val="000000"/>
                </a:solidFill>
                <a:latin typeface="Arial"/>
              </a:rPr>
              <a:t> </a:t>
            </a:r>
            <a:r>
              <a:rPr lang="de-AT" sz="2000" b="0" strike="noStrike" spc="-1" dirty="0" err="1">
                <a:solidFill>
                  <a:srgbClr val="000000"/>
                </a:solidFill>
                <a:latin typeface="Arial"/>
              </a:rPr>
              <a:t>major</a:t>
            </a:r>
            <a:r>
              <a:rPr lang="de-AT" sz="2000" b="0" strike="noStrike" spc="-1" dirty="0">
                <a:solidFill>
                  <a:srgbClr val="000000"/>
                </a:solidFill>
                <a:latin typeface="Arial"/>
              </a:rPr>
              <a:t> </a:t>
            </a:r>
            <a:r>
              <a:rPr lang="de-AT" sz="2000" b="0" strike="noStrike" spc="-1" dirty="0" err="1">
                <a:solidFill>
                  <a:srgbClr val="000000"/>
                </a:solidFill>
                <a:latin typeface="Arial"/>
              </a:rPr>
              <a:t>scientific</a:t>
            </a:r>
            <a:r>
              <a:rPr lang="de-AT" sz="2000" b="0" strike="noStrike" spc="-1" dirty="0">
                <a:solidFill>
                  <a:srgbClr val="000000"/>
                </a:solidFill>
                <a:latin typeface="Arial"/>
              </a:rPr>
              <a:t> </a:t>
            </a:r>
            <a:r>
              <a:rPr lang="de-AT" sz="2000" b="0" strike="noStrike" spc="-1" dirty="0" err="1">
                <a:solidFill>
                  <a:srgbClr val="000000"/>
                </a:solidFill>
                <a:latin typeface="Arial"/>
              </a:rPr>
              <a:t>databases</a:t>
            </a:r>
            <a:r>
              <a:rPr lang="de-AT" sz="2000" b="0" strike="noStrike" spc="-1" dirty="0">
                <a:solidFill>
                  <a:srgbClr val="000000"/>
                </a:solidFill>
                <a:latin typeface="Arial"/>
              </a:rPr>
              <a:t>: Web </a:t>
            </a:r>
            <a:r>
              <a:rPr lang="de-AT" sz="2000" b="0" strike="noStrike" spc="-1" dirty="0" err="1">
                <a:solidFill>
                  <a:srgbClr val="000000"/>
                </a:solidFill>
                <a:latin typeface="Arial"/>
              </a:rPr>
              <a:t>of</a:t>
            </a:r>
            <a:r>
              <a:rPr lang="de-AT" sz="2000" b="0" strike="noStrike" spc="-1" dirty="0">
                <a:solidFill>
                  <a:srgbClr val="000000"/>
                </a:solidFill>
                <a:latin typeface="Arial"/>
              </a:rPr>
              <a:t> Science, </a:t>
            </a:r>
            <a:r>
              <a:rPr lang="de-AT" sz="2000" b="0" strike="noStrike" spc="-1" dirty="0" err="1">
                <a:solidFill>
                  <a:srgbClr val="000000"/>
                </a:solidFill>
                <a:latin typeface="Arial"/>
              </a:rPr>
              <a:t>EBSCOhost</a:t>
            </a:r>
            <a:r>
              <a:rPr lang="de-AT" sz="2000" b="0" strike="noStrike" spc="-1" dirty="0">
                <a:solidFill>
                  <a:srgbClr val="000000"/>
                </a:solidFill>
                <a:latin typeface="Arial"/>
              </a:rPr>
              <a:t>, Scopus, </a:t>
            </a:r>
            <a:r>
              <a:rPr lang="de-AT" sz="2000" b="0" strike="noStrike" spc="-1" dirty="0" err="1">
                <a:solidFill>
                  <a:srgbClr val="000000"/>
                </a:solidFill>
                <a:latin typeface="Arial"/>
              </a:rPr>
              <a:t>PsycINFO</a:t>
            </a:r>
            <a:r>
              <a:rPr lang="de-AT" sz="2000" b="0" strike="noStrike" spc="-1" dirty="0">
                <a:solidFill>
                  <a:srgbClr val="000000"/>
                </a:solidFill>
                <a:latin typeface="Arial"/>
              </a:rPr>
              <a:t>, and IEEE </a:t>
            </a:r>
            <a:r>
              <a:rPr lang="de-AT" sz="2000" b="0" strike="noStrike" spc="-1" dirty="0" err="1">
                <a:solidFill>
                  <a:srgbClr val="000000"/>
                </a:solidFill>
                <a:latin typeface="Arial"/>
              </a:rPr>
              <a:t>Xplore</a:t>
            </a:r>
            <a:r>
              <a:rPr lang="de-AT" sz="2000" b="0" strike="noStrike" spc="-1" dirty="0">
                <a:solidFill>
                  <a:srgbClr val="000000"/>
                </a:solidFill>
                <a:latin typeface="Arial"/>
              </a:rPr>
              <a:t>. </a:t>
            </a:r>
            <a:r>
              <a:rPr lang="de-AT" sz="2000" b="0" strike="noStrike" spc="-1" dirty="0" err="1">
                <a:solidFill>
                  <a:srgbClr val="000000"/>
                </a:solidFill>
                <a:latin typeface="Arial"/>
              </a:rPr>
              <a:t>Using</a:t>
            </a:r>
            <a:r>
              <a:rPr lang="de-AT" sz="2000" b="0" strike="noStrike" spc="-1" dirty="0">
                <a:solidFill>
                  <a:srgbClr val="000000"/>
                </a:solidFill>
                <a:latin typeface="Arial"/>
              </a:rPr>
              <a:t> </a:t>
            </a:r>
            <a:r>
              <a:rPr lang="de-AT" sz="2000" b="0" strike="noStrike" spc="-1" dirty="0" err="1">
                <a:solidFill>
                  <a:srgbClr val="000000"/>
                </a:solidFill>
                <a:latin typeface="Arial"/>
              </a:rPr>
              <a:t>search</a:t>
            </a:r>
            <a:r>
              <a:rPr lang="de-AT" sz="2000" b="0" strike="noStrike" spc="-1" dirty="0">
                <a:solidFill>
                  <a:srgbClr val="000000"/>
                </a:solidFill>
                <a:latin typeface="Arial"/>
              </a:rPr>
              <a:t> </a:t>
            </a:r>
            <a:r>
              <a:rPr lang="de-AT" sz="2000" b="0" strike="noStrike" spc="-1" dirty="0" err="1">
                <a:solidFill>
                  <a:srgbClr val="000000"/>
                </a:solidFill>
                <a:latin typeface="Arial"/>
              </a:rPr>
              <a:t>terms</a:t>
            </a:r>
            <a:r>
              <a:rPr lang="de-AT" sz="2000" b="0" strike="noStrike" spc="-1" dirty="0">
                <a:solidFill>
                  <a:srgbClr val="000000"/>
                </a:solidFill>
                <a:latin typeface="Arial"/>
              </a:rPr>
              <a:t> </a:t>
            </a:r>
            <a:r>
              <a:rPr lang="de-AT" sz="2000" b="0" strike="noStrike" spc="-1" dirty="0" err="1">
                <a:solidFill>
                  <a:srgbClr val="000000"/>
                </a:solidFill>
                <a:latin typeface="Arial"/>
              </a:rPr>
              <a:t>related</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ChatGPT and </a:t>
            </a:r>
            <a:r>
              <a:rPr lang="de-AT" sz="2000" b="0" strike="noStrike" spc="-1" dirty="0" err="1">
                <a:solidFill>
                  <a:srgbClr val="000000"/>
                </a:solidFill>
                <a:latin typeface="Arial"/>
              </a:rPr>
              <a:t>education</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authors</a:t>
            </a:r>
            <a:r>
              <a:rPr lang="de-AT" sz="2000" b="0" strike="noStrike" spc="-1" dirty="0">
                <a:solidFill>
                  <a:srgbClr val="000000"/>
                </a:solidFill>
                <a:latin typeface="Arial"/>
              </a:rPr>
              <a:t> </a:t>
            </a:r>
            <a:r>
              <a:rPr lang="de-AT" sz="2000" b="0" strike="noStrike" spc="-1" dirty="0" err="1">
                <a:solidFill>
                  <a:srgbClr val="000000"/>
                </a:solidFill>
                <a:latin typeface="Arial"/>
              </a:rPr>
              <a:t>initially</a:t>
            </a:r>
            <a:r>
              <a:rPr lang="de-AT" sz="2000" b="0" strike="noStrike" spc="-1" dirty="0">
                <a:solidFill>
                  <a:srgbClr val="000000"/>
                </a:solidFill>
                <a:latin typeface="Arial"/>
              </a:rPr>
              <a:t> </a:t>
            </a:r>
            <a:r>
              <a:rPr lang="de-AT" sz="2000" b="0" strike="noStrike" spc="-1" dirty="0" err="1">
                <a:solidFill>
                  <a:srgbClr val="000000"/>
                </a:solidFill>
                <a:latin typeface="Arial"/>
              </a:rPr>
              <a:t>identified</a:t>
            </a:r>
            <a:r>
              <a:rPr lang="de-AT" sz="2000" b="0" strike="noStrike" spc="-1" dirty="0">
                <a:solidFill>
                  <a:srgbClr val="000000"/>
                </a:solidFill>
                <a:latin typeface="Arial"/>
              </a:rPr>
              <a:t> 1,683 </a:t>
            </a:r>
            <a:r>
              <a:rPr lang="de-AT" sz="2000" b="0" strike="noStrike" spc="-1" dirty="0" err="1">
                <a:solidFill>
                  <a:srgbClr val="000000"/>
                </a:solidFill>
                <a:latin typeface="Arial"/>
              </a:rPr>
              <a:t>records</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After </a:t>
            </a:r>
            <a:r>
              <a:rPr lang="de-AT" sz="2000" b="0" strike="noStrike" spc="-1" dirty="0" err="1">
                <a:solidFill>
                  <a:srgbClr val="000000"/>
                </a:solidFill>
                <a:latin typeface="Arial"/>
              </a:rPr>
              <a:t>removing</a:t>
            </a:r>
            <a:r>
              <a:rPr lang="de-AT" sz="2000" b="0" strike="noStrike" spc="-1" dirty="0">
                <a:solidFill>
                  <a:srgbClr val="000000"/>
                </a:solidFill>
                <a:latin typeface="Arial"/>
              </a:rPr>
              <a:t> 656 </a:t>
            </a:r>
            <a:r>
              <a:rPr lang="de-AT" sz="2000" b="0" strike="noStrike" spc="-1" dirty="0" err="1">
                <a:solidFill>
                  <a:srgbClr val="000000"/>
                </a:solidFill>
                <a:latin typeface="Arial"/>
              </a:rPr>
              <a:t>duplicate</a:t>
            </a:r>
            <a:r>
              <a:rPr lang="de-AT" sz="2000" b="0" strike="noStrike" spc="-1" dirty="0">
                <a:solidFill>
                  <a:srgbClr val="000000"/>
                </a:solidFill>
                <a:latin typeface="Arial"/>
              </a:rPr>
              <a:t> </a:t>
            </a:r>
            <a:r>
              <a:rPr lang="de-AT" sz="2000" b="0" strike="noStrike" spc="-1" dirty="0" err="1">
                <a:solidFill>
                  <a:srgbClr val="000000"/>
                </a:solidFill>
                <a:latin typeface="Arial"/>
              </a:rPr>
              <a:t>records</a:t>
            </a:r>
            <a:r>
              <a:rPr lang="de-AT" sz="2000" b="0" strike="noStrike" spc="-1" dirty="0">
                <a:solidFill>
                  <a:srgbClr val="000000"/>
                </a:solidFill>
                <a:latin typeface="Arial"/>
              </a:rPr>
              <a:t>, 1,027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remained</a:t>
            </a:r>
            <a:r>
              <a:rPr lang="de-AT" sz="2000" b="0" strike="noStrike" spc="-1" dirty="0">
                <a:solidFill>
                  <a:srgbClr val="000000"/>
                </a:solidFill>
                <a:latin typeface="Arial"/>
              </a:rPr>
              <a:t> </a:t>
            </a:r>
            <a:r>
              <a:rPr lang="de-AT" sz="2000" b="0" strike="noStrike" spc="-1" dirty="0" err="1">
                <a:solidFill>
                  <a:srgbClr val="000000"/>
                </a:solidFill>
                <a:latin typeface="Arial"/>
              </a:rPr>
              <a:t>for</a:t>
            </a:r>
            <a:r>
              <a:rPr lang="de-AT" sz="2000" b="0" strike="noStrike" spc="-1" dirty="0">
                <a:solidFill>
                  <a:srgbClr val="000000"/>
                </a:solidFill>
                <a:latin typeface="Arial"/>
              </a:rPr>
              <a:t> </a:t>
            </a:r>
            <a:r>
              <a:rPr lang="de-AT" sz="2000" b="0" strike="noStrike" spc="-1" dirty="0" err="1">
                <a:solidFill>
                  <a:srgbClr val="000000"/>
                </a:solidFill>
                <a:latin typeface="Arial"/>
              </a:rPr>
              <a:t>screening</a:t>
            </a:r>
            <a:r>
              <a:rPr lang="de-AT" sz="2000" b="0" strike="noStrike" spc="-1" dirty="0">
                <a:solidFill>
                  <a:srgbClr val="000000"/>
                </a:solidFill>
                <a:latin typeface="Arial"/>
              </a:rPr>
              <a:t>. As a </a:t>
            </a:r>
            <a:r>
              <a:rPr lang="de-AT" sz="2000" b="0" strike="noStrike" spc="-1" dirty="0" err="1">
                <a:solidFill>
                  <a:srgbClr val="000000"/>
                </a:solidFill>
                <a:latin typeface="Arial"/>
              </a:rPr>
              <a:t>result</a:t>
            </a:r>
            <a:r>
              <a:rPr lang="de-AT" sz="2000" b="0" strike="noStrike" spc="-1" dirty="0">
                <a:solidFill>
                  <a:srgbClr val="000000"/>
                </a:solidFill>
                <a:latin typeface="Arial"/>
              </a:rPr>
              <a:t>, 899 </a:t>
            </a:r>
            <a:r>
              <a:rPr lang="de-AT" sz="2000" b="0" strike="noStrike" spc="-1" dirty="0" err="1">
                <a:solidFill>
                  <a:srgbClr val="000000"/>
                </a:solidFill>
                <a:latin typeface="Arial"/>
              </a:rPr>
              <a:t>records</a:t>
            </a:r>
            <a:r>
              <a:rPr lang="de-AT" sz="2000" b="0" strike="noStrike" spc="-1" dirty="0">
                <a:solidFill>
                  <a:srgbClr val="000000"/>
                </a:solidFill>
                <a:latin typeface="Arial"/>
              </a:rPr>
              <a:t>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removed</a:t>
            </a:r>
            <a:r>
              <a:rPr lang="de-AT" sz="2000" b="0" strike="noStrike" spc="-1" dirty="0">
                <a:solidFill>
                  <a:srgbClr val="000000"/>
                </a:solidFill>
                <a:latin typeface="Arial"/>
              </a:rPr>
              <a:t> </a:t>
            </a:r>
            <a:r>
              <a:rPr lang="de-AT" sz="2000" b="0" strike="noStrike" spc="-1" dirty="0" err="1">
                <a:solidFill>
                  <a:srgbClr val="000000"/>
                </a:solidFill>
                <a:latin typeface="Arial"/>
              </a:rPr>
              <a:t>during</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initial </a:t>
            </a:r>
            <a:r>
              <a:rPr lang="de-AT" sz="2000" b="0" strike="noStrike" spc="-1" dirty="0" err="1">
                <a:solidFill>
                  <a:srgbClr val="000000"/>
                </a:solidFill>
                <a:latin typeface="Arial"/>
              </a:rPr>
              <a:t>screening</a:t>
            </a:r>
            <a:r>
              <a:rPr lang="de-AT" sz="2000" b="0" strike="noStrike" spc="-1" dirty="0">
                <a:solidFill>
                  <a:srgbClr val="000000"/>
                </a:solidFill>
                <a:latin typeface="Arial"/>
              </a:rPr>
              <a:t> </a:t>
            </a:r>
            <a:r>
              <a:rPr lang="de-AT" sz="2000" b="0" strike="noStrike" spc="-1" dirty="0" err="1">
                <a:solidFill>
                  <a:srgbClr val="000000"/>
                </a:solidFill>
                <a:latin typeface="Arial"/>
              </a:rPr>
              <a:t>process</a:t>
            </a:r>
            <a:r>
              <a:rPr lang="de-AT" sz="2000" b="0" strike="noStrike" spc="-1" dirty="0">
                <a:solidFill>
                  <a:srgbClr val="000000"/>
                </a:solidFill>
                <a:latin typeface="Arial"/>
              </a:rPr>
              <a:t>. The </a:t>
            </a:r>
            <a:r>
              <a:rPr lang="de-AT" sz="2000" b="0" strike="noStrike" spc="-1" dirty="0" err="1">
                <a:solidFill>
                  <a:srgbClr val="000000"/>
                </a:solidFill>
                <a:latin typeface="Arial"/>
              </a:rPr>
              <a:t>remaining</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then</a:t>
            </a:r>
            <a:r>
              <a:rPr lang="de-AT" sz="2000" b="0" strike="noStrike" spc="-1" dirty="0">
                <a:solidFill>
                  <a:srgbClr val="000000"/>
                </a:solidFill>
                <a:latin typeface="Arial"/>
              </a:rPr>
              <a:t> </a:t>
            </a:r>
            <a:r>
              <a:rPr lang="de-AT" sz="2000" b="0" strike="noStrike" spc="-1" dirty="0" err="1">
                <a:solidFill>
                  <a:srgbClr val="000000"/>
                </a:solidFill>
                <a:latin typeface="Arial"/>
              </a:rPr>
              <a:t>examined</a:t>
            </a:r>
            <a:r>
              <a:rPr lang="de-AT" sz="2000" b="0" strike="noStrike" spc="-1" dirty="0">
                <a:solidFill>
                  <a:srgbClr val="000000"/>
                </a:solidFill>
                <a:latin typeface="Arial"/>
              </a:rPr>
              <a:t> in </a:t>
            </a:r>
            <a:r>
              <a:rPr lang="de-AT" sz="2000" b="0" strike="noStrike" spc="-1" dirty="0" err="1">
                <a:solidFill>
                  <a:srgbClr val="000000"/>
                </a:solidFill>
                <a:latin typeface="Arial"/>
              </a:rPr>
              <a:t>greater</a:t>
            </a:r>
            <a:r>
              <a:rPr lang="de-AT" sz="2000" b="0" strike="noStrike" spc="-1" dirty="0">
                <a:solidFill>
                  <a:srgbClr val="000000"/>
                </a:solidFill>
                <a:latin typeface="Arial"/>
              </a:rPr>
              <a:t> </a:t>
            </a:r>
            <a:r>
              <a:rPr lang="de-AT" sz="2000" b="0" strike="noStrike" spc="-1" dirty="0" err="1">
                <a:solidFill>
                  <a:srgbClr val="000000"/>
                </a:solidFill>
                <a:latin typeface="Arial"/>
              </a:rPr>
              <a:t>detail</a:t>
            </a:r>
            <a:r>
              <a:rPr lang="de-AT" sz="2000" b="0" strike="noStrike" spc="-1" dirty="0">
                <a:solidFill>
                  <a:srgbClr val="000000"/>
                </a:solidFill>
                <a:latin typeface="Arial"/>
              </a:rPr>
              <a:t>. After </a:t>
            </a:r>
            <a:r>
              <a:rPr lang="de-AT" sz="2000" b="0" strike="noStrike" spc="-1" dirty="0" err="1">
                <a:solidFill>
                  <a:srgbClr val="000000"/>
                </a:solidFill>
                <a:latin typeface="Arial"/>
              </a:rPr>
              <a:t>attempting</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retrieve</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articles</a:t>
            </a:r>
            <a:r>
              <a:rPr lang="de-AT" sz="2000" b="0" strike="noStrike" spc="-1" dirty="0">
                <a:solidFill>
                  <a:srgbClr val="000000"/>
                </a:solidFill>
                <a:latin typeface="Arial"/>
              </a:rPr>
              <a:t>, 123 </a:t>
            </a:r>
            <a:r>
              <a:rPr lang="de-AT" sz="2000" b="0" strike="noStrike" spc="-1" dirty="0" err="1">
                <a:solidFill>
                  <a:srgbClr val="000000"/>
                </a:solidFill>
                <a:latin typeface="Arial"/>
              </a:rPr>
              <a:t>full</a:t>
            </a:r>
            <a:r>
              <a:rPr lang="de-AT" sz="2000" b="0" strike="noStrike" spc="-1" dirty="0">
                <a:solidFill>
                  <a:srgbClr val="000000"/>
                </a:solidFill>
                <a:latin typeface="Arial"/>
              </a:rPr>
              <a:t>-text </a:t>
            </a:r>
            <a:r>
              <a:rPr lang="de-AT" sz="2000" b="0" strike="noStrike" spc="-1" dirty="0" err="1">
                <a:solidFill>
                  <a:srgbClr val="000000"/>
                </a:solidFill>
                <a:latin typeface="Arial"/>
              </a:rPr>
              <a:t>reports</a:t>
            </a:r>
            <a:r>
              <a:rPr lang="de-AT" sz="2000" b="0" strike="noStrike" spc="-1" dirty="0">
                <a:solidFill>
                  <a:srgbClr val="000000"/>
                </a:solidFill>
                <a:latin typeface="Arial"/>
              </a:rPr>
              <a:t>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assessed</a:t>
            </a:r>
            <a:r>
              <a:rPr lang="de-AT" sz="2000" b="0" strike="noStrike" spc="-1" dirty="0">
                <a:solidFill>
                  <a:srgbClr val="000000"/>
                </a:solidFill>
                <a:latin typeface="Arial"/>
              </a:rPr>
              <a:t> </a:t>
            </a:r>
            <a:r>
              <a:rPr lang="de-AT" sz="2000" b="0" strike="noStrike" spc="-1" dirty="0" err="1">
                <a:solidFill>
                  <a:srgbClr val="000000"/>
                </a:solidFill>
                <a:latin typeface="Arial"/>
              </a:rPr>
              <a:t>for</a:t>
            </a:r>
            <a:r>
              <a:rPr lang="de-AT" sz="2000" b="0" strike="noStrike" spc="-1" dirty="0">
                <a:solidFill>
                  <a:srgbClr val="000000"/>
                </a:solidFill>
                <a:latin typeface="Arial"/>
              </a:rPr>
              <a:t> </a:t>
            </a:r>
            <a:r>
              <a:rPr lang="de-AT" sz="2000" b="0" strike="noStrike" spc="-1" dirty="0" err="1">
                <a:solidFill>
                  <a:srgbClr val="000000"/>
                </a:solidFill>
                <a:latin typeface="Arial"/>
              </a:rPr>
              <a:t>eligibility</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At </a:t>
            </a:r>
            <a:r>
              <a:rPr lang="de-AT" sz="2000" b="0" strike="noStrike" spc="-1" dirty="0" err="1">
                <a:solidFill>
                  <a:srgbClr val="000000"/>
                </a:solidFill>
                <a:latin typeface="Arial"/>
              </a:rPr>
              <a:t>this</a:t>
            </a:r>
            <a:r>
              <a:rPr lang="de-AT" sz="2000" b="0" strike="noStrike" spc="-1" dirty="0">
                <a:solidFill>
                  <a:srgbClr val="000000"/>
                </a:solidFill>
                <a:latin typeface="Arial"/>
              </a:rPr>
              <a:t> </a:t>
            </a:r>
            <a:r>
              <a:rPr lang="de-AT" sz="2000" b="0" strike="noStrike" spc="-1" dirty="0" err="1">
                <a:solidFill>
                  <a:srgbClr val="000000"/>
                </a:solidFill>
                <a:latin typeface="Arial"/>
              </a:rPr>
              <a:t>stage</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authors</a:t>
            </a:r>
            <a:r>
              <a:rPr lang="de-AT" sz="2000" b="0" strike="noStrike" spc="-1" dirty="0">
                <a:solidFill>
                  <a:srgbClr val="000000"/>
                </a:solidFill>
                <a:latin typeface="Arial"/>
              </a:rPr>
              <a:t> </a:t>
            </a:r>
            <a:r>
              <a:rPr lang="de-AT" sz="2000" b="0" strike="noStrike" spc="-1" dirty="0" err="1">
                <a:solidFill>
                  <a:srgbClr val="000000"/>
                </a:solidFill>
                <a:latin typeface="Arial"/>
              </a:rPr>
              <a:t>applied</a:t>
            </a:r>
            <a:r>
              <a:rPr lang="de-AT" sz="2000" b="0" strike="noStrike" spc="-1" dirty="0">
                <a:solidFill>
                  <a:srgbClr val="000000"/>
                </a:solidFill>
                <a:latin typeface="Arial"/>
              </a:rPr>
              <a:t> </a:t>
            </a:r>
            <a:r>
              <a:rPr lang="de-AT" sz="2000" b="0" strike="noStrike" spc="-1" dirty="0" err="1">
                <a:solidFill>
                  <a:srgbClr val="000000"/>
                </a:solidFill>
                <a:latin typeface="Arial"/>
              </a:rPr>
              <a:t>more</a:t>
            </a:r>
            <a:r>
              <a:rPr lang="de-AT" sz="2000" b="0" strike="noStrike" spc="-1" dirty="0">
                <a:solidFill>
                  <a:srgbClr val="000000"/>
                </a:solidFill>
                <a:latin typeface="Arial"/>
              </a:rPr>
              <a:t> </a:t>
            </a:r>
            <a:r>
              <a:rPr lang="de-AT" sz="2000" b="0" strike="noStrike" spc="-1" dirty="0" err="1">
                <a:solidFill>
                  <a:srgbClr val="000000"/>
                </a:solidFill>
                <a:latin typeface="Arial"/>
              </a:rPr>
              <a:t>specific</a:t>
            </a:r>
            <a:r>
              <a:rPr lang="de-AT" sz="2000" b="0" strike="noStrike" spc="-1" dirty="0">
                <a:solidFill>
                  <a:srgbClr val="000000"/>
                </a:solidFill>
                <a:latin typeface="Arial"/>
              </a:rPr>
              <a:t> </a:t>
            </a:r>
            <a:r>
              <a:rPr lang="de-AT" sz="2000" b="0" strike="noStrike" spc="-1" dirty="0" err="1">
                <a:solidFill>
                  <a:srgbClr val="000000"/>
                </a:solidFill>
                <a:latin typeface="Arial"/>
              </a:rPr>
              <a:t>exclusion</a:t>
            </a:r>
            <a:r>
              <a:rPr lang="de-AT" sz="2000" b="0" strike="noStrike" spc="-1" dirty="0">
                <a:solidFill>
                  <a:srgbClr val="000000"/>
                </a:solidFill>
                <a:latin typeface="Arial"/>
              </a:rPr>
              <a:t> </a:t>
            </a:r>
            <a:r>
              <a:rPr lang="de-AT" sz="2000" b="0" strike="noStrike" spc="-1" dirty="0" err="1">
                <a:solidFill>
                  <a:srgbClr val="000000"/>
                </a:solidFill>
                <a:latin typeface="Arial"/>
              </a:rPr>
              <a:t>criteria</a:t>
            </a:r>
            <a:r>
              <a:rPr lang="de-AT" sz="2000" b="0" strike="noStrike" spc="-1" dirty="0">
                <a:solidFill>
                  <a:srgbClr val="000000"/>
                </a:solidFill>
                <a:latin typeface="Arial"/>
              </a:rPr>
              <a:t>. Studies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excluded</a:t>
            </a:r>
            <a:r>
              <a:rPr lang="de-AT" sz="2000" b="0" strike="noStrike" spc="-1" dirty="0">
                <a:solidFill>
                  <a:srgbClr val="000000"/>
                </a:solidFill>
                <a:latin typeface="Arial"/>
              </a:rPr>
              <a:t> </a:t>
            </a:r>
            <a:r>
              <a:rPr lang="de-AT" sz="2000" b="0" strike="noStrike" spc="-1" dirty="0" err="1">
                <a:solidFill>
                  <a:srgbClr val="000000"/>
                </a:solidFill>
                <a:latin typeface="Arial"/>
              </a:rPr>
              <a:t>if</a:t>
            </a:r>
            <a:r>
              <a:rPr lang="de-AT" sz="2000" b="0" strike="noStrike" spc="-1" dirty="0">
                <a:solidFill>
                  <a:srgbClr val="000000"/>
                </a:solidFill>
                <a:latin typeface="Arial"/>
              </a:rPr>
              <a:t> </a:t>
            </a:r>
            <a:r>
              <a:rPr lang="de-AT" sz="2000" b="0" strike="noStrike" spc="-1" dirty="0" err="1">
                <a:solidFill>
                  <a:srgbClr val="000000"/>
                </a:solidFill>
                <a:latin typeface="Arial"/>
              </a:rPr>
              <a:t>they</a:t>
            </a:r>
            <a:r>
              <a:rPr lang="de-AT" sz="2000" b="0" strike="noStrike" spc="-1" dirty="0">
                <a:solidFill>
                  <a:srgbClr val="000000"/>
                </a:solidFill>
                <a:latin typeface="Arial"/>
              </a:rPr>
              <a:t> </a:t>
            </a:r>
            <a:r>
              <a:rPr lang="de-AT" sz="2000" b="0" strike="noStrike" spc="-1" dirty="0" err="1">
                <a:solidFill>
                  <a:srgbClr val="000000"/>
                </a:solidFill>
                <a:latin typeface="Arial"/>
              </a:rPr>
              <a:t>used</a:t>
            </a:r>
            <a:r>
              <a:rPr lang="de-AT" sz="2000" b="0" strike="noStrike" spc="-1" dirty="0">
                <a:solidFill>
                  <a:srgbClr val="000000"/>
                </a:solidFill>
                <a:latin typeface="Arial"/>
              </a:rPr>
              <a:t> non-experimental </a:t>
            </a:r>
            <a:r>
              <a:rPr lang="de-AT" sz="2000" b="0" strike="noStrike" spc="-1" dirty="0" err="1">
                <a:solidFill>
                  <a:srgbClr val="000000"/>
                </a:solidFill>
                <a:latin typeface="Arial"/>
              </a:rPr>
              <a:t>designs</a:t>
            </a:r>
            <a:r>
              <a:rPr lang="de-AT" sz="2000" b="0" strike="noStrike" spc="-1" dirty="0">
                <a:solidFill>
                  <a:srgbClr val="000000"/>
                </a:solidFill>
                <a:latin typeface="Arial"/>
              </a:rPr>
              <a:t>, </a:t>
            </a:r>
            <a:r>
              <a:rPr lang="de-AT" sz="2000" b="0" strike="noStrike" spc="-1" dirty="0" err="1">
                <a:solidFill>
                  <a:srgbClr val="000000"/>
                </a:solidFill>
                <a:latin typeface="Arial"/>
              </a:rPr>
              <a:t>focused</a:t>
            </a:r>
            <a:r>
              <a:rPr lang="de-AT" sz="2000" b="0" strike="noStrike" spc="-1" dirty="0">
                <a:solidFill>
                  <a:srgbClr val="000000"/>
                </a:solidFill>
                <a:latin typeface="Arial"/>
              </a:rPr>
              <a:t> on irrelevant </a:t>
            </a:r>
            <a:r>
              <a:rPr lang="de-AT" sz="2000" b="0" strike="noStrike" spc="-1" dirty="0" err="1">
                <a:solidFill>
                  <a:srgbClr val="000000"/>
                </a:solidFill>
                <a:latin typeface="Arial"/>
              </a:rPr>
              <a:t>topics</a:t>
            </a:r>
            <a:r>
              <a:rPr lang="de-AT" sz="2000" b="0" strike="noStrike" spc="-1" dirty="0">
                <a:solidFill>
                  <a:srgbClr val="000000"/>
                </a:solidFill>
                <a:latin typeface="Arial"/>
              </a:rPr>
              <a:t>, </a:t>
            </a:r>
            <a:r>
              <a:rPr lang="de-AT" sz="2000" b="0" strike="noStrike" spc="-1" dirty="0" err="1">
                <a:solidFill>
                  <a:srgbClr val="000000"/>
                </a:solidFill>
                <a:latin typeface="Arial"/>
              </a:rPr>
              <a:t>lacked</a:t>
            </a:r>
            <a:r>
              <a:rPr lang="de-AT" sz="2000" b="0" strike="noStrike" spc="-1" dirty="0">
                <a:solidFill>
                  <a:srgbClr val="000000"/>
                </a:solidFill>
                <a:latin typeface="Arial"/>
              </a:rPr>
              <a:t> </a:t>
            </a:r>
            <a:r>
              <a:rPr lang="de-AT" sz="2000" b="0" strike="noStrike" spc="-1" dirty="0" err="1">
                <a:solidFill>
                  <a:srgbClr val="000000"/>
                </a:solidFill>
                <a:latin typeface="Arial"/>
              </a:rPr>
              <a:t>student-centered</a:t>
            </a:r>
            <a:r>
              <a:rPr lang="de-AT" sz="2000" b="0" strike="noStrike" spc="-1" dirty="0">
                <a:solidFill>
                  <a:srgbClr val="000000"/>
                </a:solidFill>
                <a:latin typeface="Arial"/>
              </a:rPr>
              <a:t> </a:t>
            </a:r>
            <a:r>
              <a:rPr lang="de-AT" sz="2000" b="0" strike="noStrike" spc="-1" dirty="0" err="1">
                <a:solidFill>
                  <a:srgbClr val="000000"/>
                </a:solidFill>
                <a:latin typeface="Arial"/>
              </a:rPr>
              <a:t>learning</a:t>
            </a:r>
            <a:r>
              <a:rPr lang="de-AT" sz="2000" b="0" strike="noStrike" spc="-1" dirty="0">
                <a:solidFill>
                  <a:srgbClr val="000000"/>
                </a:solidFill>
                <a:latin typeface="Arial"/>
              </a:rPr>
              <a:t> </a:t>
            </a:r>
            <a:r>
              <a:rPr lang="de-AT" sz="2000" b="0" strike="noStrike" spc="-1" dirty="0" err="1">
                <a:solidFill>
                  <a:srgbClr val="000000"/>
                </a:solidFill>
                <a:latin typeface="Arial"/>
              </a:rPr>
              <a:t>outcomes</a:t>
            </a:r>
            <a:r>
              <a:rPr lang="de-AT" sz="2000" b="0" strike="noStrike" spc="-1" dirty="0">
                <a:solidFill>
                  <a:srgbClr val="000000"/>
                </a:solidFill>
                <a:latin typeface="Arial"/>
              </a:rPr>
              <a:t>, </a:t>
            </a:r>
            <a:r>
              <a:rPr lang="de-AT" sz="2000" b="0" strike="noStrike" spc="-1" dirty="0" err="1">
                <a:solidFill>
                  <a:srgbClr val="000000"/>
                </a:solidFill>
                <a:latin typeface="Arial"/>
              </a:rPr>
              <a:t>did</a:t>
            </a:r>
            <a:r>
              <a:rPr lang="de-AT" sz="2000" b="0" strike="noStrike" spc="-1" dirty="0">
                <a:solidFill>
                  <a:srgbClr val="000000"/>
                </a:solidFill>
                <a:latin typeface="Arial"/>
              </a:rPr>
              <a:t> not </a:t>
            </a:r>
            <a:r>
              <a:rPr lang="de-AT" sz="2000" b="0" strike="noStrike" spc="-1" dirty="0" err="1">
                <a:solidFill>
                  <a:srgbClr val="000000"/>
                </a:solidFill>
                <a:latin typeface="Arial"/>
              </a:rPr>
              <a:t>include</a:t>
            </a:r>
            <a:r>
              <a:rPr lang="de-AT" sz="2000" b="0" strike="noStrike" spc="-1" dirty="0">
                <a:solidFill>
                  <a:srgbClr val="000000"/>
                </a:solidFill>
                <a:latin typeface="Arial"/>
              </a:rPr>
              <a:t> an </a:t>
            </a:r>
            <a:r>
              <a:rPr lang="de-AT" sz="2000" b="0" strike="noStrike" spc="-1" dirty="0" err="1">
                <a:solidFill>
                  <a:srgbClr val="000000"/>
                </a:solidFill>
                <a:latin typeface="Arial"/>
              </a:rPr>
              <a:t>appropriate</a:t>
            </a:r>
            <a:r>
              <a:rPr lang="de-AT" sz="2000" b="0" strike="noStrike" spc="-1" dirty="0">
                <a:solidFill>
                  <a:srgbClr val="000000"/>
                </a:solidFill>
                <a:latin typeface="Arial"/>
              </a:rPr>
              <a:t> </a:t>
            </a:r>
            <a:r>
              <a:rPr lang="de-AT" sz="2000" b="0" strike="noStrike" spc="-1" dirty="0" err="1">
                <a:solidFill>
                  <a:srgbClr val="000000"/>
                </a:solidFill>
                <a:latin typeface="Arial"/>
              </a:rPr>
              <a:t>control</a:t>
            </a:r>
            <a:r>
              <a:rPr lang="de-AT" sz="2000" b="0" strike="noStrike" spc="-1" dirty="0">
                <a:solidFill>
                  <a:srgbClr val="000000"/>
                </a:solidFill>
                <a:latin typeface="Arial"/>
              </a:rPr>
              <a:t> </a:t>
            </a:r>
            <a:r>
              <a:rPr lang="de-AT" sz="2000" b="0" strike="noStrike" spc="-1" dirty="0" err="1">
                <a:solidFill>
                  <a:srgbClr val="000000"/>
                </a:solidFill>
                <a:latin typeface="Arial"/>
              </a:rPr>
              <a:t>group</a:t>
            </a:r>
            <a:r>
              <a:rPr lang="de-AT" sz="2000" b="0" strike="noStrike" spc="-1" dirty="0">
                <a:solidFill>
                  <a:srgbClr val="000000"/>
                </a:solidFill>
                <a:latin typeface="Arial"/>
              </a:rPr>
              <a:t>, </a:t>
            </a:r>
            <a:r>
              <a:rPr lang="de-AT" sz="2000" b="0" strike="noStrike" spc="-1" dirty="0" err="1">
                <a:solidFill>
                  <a:srgbClr val="000000"/>
                </a:solidFill>
                <a:latin typeface="Arial"/>
              </a:rPr>
              <a:t>or</a:t>
            </a:r>
            <a:r>
              <a:rPr lang="de-AT" sz="2000" b="0" strike="noStrike" spc="-1" dirty="0">
                <a:solidFill>
                  <a:srgbClr val="000000"/>
                </a:solidFill>
                <a:latin typeface="Arial"/>
              </a:rPr>
              <a:t> </a:t>
            </a:r>
            <a:r>
              <a:rPr lang="de-AT" sz="2000" b="0" strike="noStrike" spc="-1" dirty="0" err="1">
                <a:solidFill>
                  <a:srgbClr val="000000"/>
                </a:solidFill>
                <a:latin typeface="Arial"/>
              </a:rPr>
              <a:t>failed</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provide</a:t>
            </a:r>
            <a:r>
              <a:rPr lang="de-AT" sz="2000" b="0" strike="noStrike" spc="-1" dirty="0">
                <a:solidFill>
                  <a:srgbClr val="000000"/>
                </a:solidFill>
                <a:latin typeface="Arial"/>
              </a:rPr>
              <a:t> </a:t>
            </a:r>
            <a:r>
              <a:rPr lang="de-AT" sz="2000" b="0" strike="noStrike" spc="-1" dirty="0" err="1">
                <a:solidFill>
                  <a:srgbClr val="000000"/>
                </a:solidFill>
                <a:latin typeface="Arial"/>
              </a:rPr>
              <a:t>sufficient</a:t>
            </a:r>
            <a:r>
              <a:rPr lang="de-AT" sz="2000" b="0" strike="noStrike" spc="-1" dirty="0">
                <a:solidFill>
                  <a:srgbClr val="000000"/>
                </a:solidFill>
                <a:latin typeface="Arial"/>
              </a:rPr>
              <a:t> quantitative </a:t>
            </a:r>
            <a:r>
              <a:rPr lang="de-AT" sz="2000" b="0" strike="noStrike" spc="-1" dirty="0" err="1">
                <a:solidFill>
                  <a:srgbClr val="000000"/>
                </a:solidFill>
                <a:latin typeface="Arial"/>
              </a:rPr>
              <a:t>data</a:t>
            </a:r>
            <a:r>
              <a:rPr lang="de-AT" sz="2000" b="0" strike="noStrike" spc="-1" dirty="0">
                <a:solidFill>
                  <a:srgbClr val="000000"/>
                </a:solidFill>
                <a:latin typeface="Arial"/>
              </a:rPr>
              <a:t> </a:t>
            </a:r>
            <a:r>
              <a:rPr lang="de-AT" sz="2000" b="0" strike="noStrike" spc="-1" dirty="0" err="1">
                <a:solidFill>
                  <a:srgbClr val="000000"/>
                </a:solidFill>
                <a:latin typeface="Arial"/>
              </a:rPr>
              <a:t>for</a:t>
            </a:r>
            <a:r>
              <a:rPr lang="de-AT" sz="2000" b="0" strike="noStrike" spc="-1" dirty="0">
                <a:solidFill>
                  <a:srgbClr val="000000"/>
                </a:solidFill>
                <a:latin typeface="Arial"/>
              </a:rPr>
              <a:t> </a:t>
            </a:r>
            <a:r>
              <a:rPr lang="de-AT" sz="2000" b="0" strike="noStrike" spc="-1" dirty="0" err="1">
                <a:solidFill>
                  <a:srgbClr val="000000"/>
                </a:solidFill>
                <a:latin typeface="Arial"/>
              </a:rPr>
              <a:t>analysis</a:t>
            </a:r>
            <a:r>
              <a:rPr lang="de-AT" sz="2000" b="0" strike="noStrike" spc="-1" dirty="0">
                <a:solidFill>
                  <a:srgbClr val="000000"/>
                </a:solidFill>
                <a:latin typeface="Arial"/>
              </a:rPr>
              <a:t>. Additional </a:t>
            </a:r>
            <a:r>
              <a:rPr lang="de-AT" sz="2000" b="0" strike="noStrike" spc="-1" dirty="0" err="1">
                <a:solidFill>
                  <a:srgbClr val="000000"/>
                </a:solidFill>
                <a:latin typeface="Arial"/>
              </a:rPr>
              <a:t>exclusions</a:t>
            </a:r>
            <a:r>
              <a:rPr lang="de-AT" sz="2000" b="0" strike="noStrike" spc="-1" dirty="0">
                <a:solidFill>
                  <a:srgbClr val="000000"/>
                </a:solidFill>
                <a:latin typeface="Arial"/>
              </a:rPr>
              <a:t> </a:t>
            </a:r>
            <a:r>
              <a:rPr lang="de-AT" sz="2000" b="0" strike="noStrike" spc="-1" dirty="0" err="1">
                <a:solidFill>
                  <a:srgbClr val="000000"/>
                </a:solidFill>
                <a:latin typeface="Arial"/>
              </a:rPr>
              <a:t>occurred</a:t>
            </a:r>
            <a:r>
              <a:rPr lang="de-AT" sz="2000" b="0" strike="noStrike" spc="-1" dirty="0">
                <a:solidFill>
                  <a:srgbClr val="000000"/>
                </a:solidFill>
                <a:latin typeface="Arial"/>
              </a:rPr>
              <a:t> </a:t>
            </a:r>
            <a:r>
              <a:rPr lang="de-AT" sz="2000" b="0" strike="noStrike" spc="-1" dirty="0" err="1">
                <a:solidFill>
                  <a:srgbClr val="000000"/>
                </a:solidFill>
                <a:latin typeface="Arial"/>
              </a:rPr>
              <a:t>when</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intervention</a:t>
            </a:r>
            <a:r>
              <a:rPr lang="de-AT" sz="2000" b="0" strike="noStrike" spc="-1" dirty="0">
                <a:solidFill>
                  <a:srgbClr val="000000"/>
                </a:solidFill>
                <a:latin typeface="Arial"/>
              </a:rPr>
              <a:t> </a:t>
            </a:r>
            <a:r>
              <a:rPr lang="de-AT" sz="2000" b="0" strike="noStrike" spc="-1" dirty="0" err="1">
                <a:solidFill>
                  <a:srgbClr val="000000"/>
                </a:solidFill>
                <a:latin typeface="Arial"/>
              </a:rPr>
              <a:t>extended</a:t>
            </a:r>
            <a:r>
              <a:rPr lang="de-AT" sz="2000" b="0" strike="noStrike" spc="-1" dirty="0">
                <a:solidFill>
                  <a:srgbClr val="000000"/>
                </a:solidFill>
                <a:latin typeface="Arial"/>
              </a:rPr>
              <a:t> </a:t>
            </a:r>
            <a:r>
              <a:rPr lang="de-AT" sz="2000" b="0" strike="noStrike" spc="-1" dirty="0" err="1">
                <a:solidFill>
                  <a:srgbClr val="000000"/>
                </a:solidFill>
                <a:latin typeface="Arial"/>
              </a:rPr>
              <a:t>beyond</a:t>
            </a:r>
            <a:r>
              <a:rPr lang="de-AT" sz="2000" b="0" strike="noStrike" spc="-1" dirty="0">
                <a:solidFill>
                  <a:srgbClr val="000000"/>
                </a:solidFill>
                <a:latin typeface="Arial"/>
              </a:rPr>
              <a:t> ChatGPT </a:t>
            </a:r>
            <a:r>
              <a:rPr lang="de-AT" sz="2000" b="0" strike="noStrike" spc="-1" dirty="0" err="1">
                <a:solidFill>
                  <a:srgbClr val="000000"/>
                </a:solidFill>
                <a:latin typeface="Arial"/>
              </a:rPr>
              <a:t>or</a:t>
            </a:r>
            <a:r>
              <a:rPr lang="de-AT" sz="2000" b="0" strike="noStrike" spc="-1" dirty="0">
                <a:solidFill>
                  <a:srgbClr val="000000"/>
                </a:solidFill>
                <a:latin typeface="Arial"/>
              </a:rPr>
              <a:t> </a:t>
            </a:r>
            <a:r>
              <a:rPr lang="de-AT" sz="2000" b="0" strike="noStrike" spc="-1" dirty="0" err="1">
                <a:solidFill>
                  <a:srgbClr val="000000"/>
                </a:solidFill>
                <a:latin typeface="Arial"/>
              </a:rPr>
              <a:t>when</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study</a:t>
            </a:r>
            <a:r>
              <a:rPr lang="de-AT" sz="2000" b="0" strike="noStrike" spc="-1" dirty="0">
                <a:solidFill>
                  <a:srgbClr val="000000"/>
                </a:solidFill>
                <a:latin typeface="Arial"/>
              </a:rPr>
              <a:t> design </a:t>
            </a:r>
            <a:r>
              <a:rPr lang="de-AT" sz="2000" b="0" strike="noStrike" spc="-1" dirty="0" err="1">
                <a:solidFill>
                  <a:srgbClr val="000000"/>
                </a:solidFill>
                <a:latin typeface="Arial"/>
              </a:rPr>
              <a:t>did</a:t>
            </a:r>
            <a:r>
              <a:rPr lang="de-AT" sz="2000" b="0" strike="noStrike" spc="-1" dirty="0">
                <a:solidFill>
                  <a:srgbClr val="000000"/>
                </a:solidFill>
                <a:latin typeface="Arial"/>
              </a:rPr>
              <a:t> not </a:t>
            </a:r>
            <a:r>
              <a:rPr lang="de-AT" sz="2000" b="0" strike="noStrike" spc="-1" dirty="0" err="1">
                <a:solidFill>
                  <a:srgbClr val="000000"/>
                </a:solidFill>
                <a:latin typeface="Arial"/>
              </a:rPr>
              <a:t>allow</a:t>
            </a:r>
            <a:r>
              <a:rPr lang="de-AT" sz="2000" b="0" strike="noStrike" spc="-1" dirty="0">
                <a:solidFill>
                  <a:srgbClr val="000000"/>
                </a:solidFill>
                <a:latin typeface="Arial"/>
              </a:rPr>
              <a:t> </a:t>
            </a:r>
            <a:r>
              <a:rPr lang="de-AT" sz="2000" b="0" strike="noStrike" spc="-1" dirty="0" err="1">
                <a:solidFill>
                  <a:srgbClr val="000000"/>
                </a:solidFill>
                <a:latin typeface="Arial"/>
              </a:rPr>
              <a:t>meaningful</a:t>
            </a:r>
            <a:r>
              <a:rPr lang="de-AT" sz="2000" b="0" strike="noStrike" spc="-1" dirty="0">
                <a:solidFill>
                  <a:srgbClr val="000000"/>
                </a:solidFill>
                <a:latin typeface="Arial"/>
              </a:rPr>
              <a:t> </a:t>
            </a:r>
            <a:r>
              <a:rPr lang="de-AT" sz="2000" b="0" strike="noStrike" spc="-1" dirty="0" err="1">
                <a:solidFill>
                  <a:srgbClr val="000000"/>
                </a:solidFill>
                <a:latin typeface="Arial"/>
              </a:rPr>
              <a:t>comparison</a:t>
            </a:r>
            <a:r>
              <a:rPr lang="de-AT" sz="2000" b="0" strike="noStrike" spc="-1" dirty="0">
                <a:solidFill>
                  <a:srgbClr val="000000"/>
                </a:solidFill>
                <a:latin typeface="Arial"/>
              </a:rPr>
              <a:t> </a:t>
            </a:r>
            <a:r>
              <a:rPr lang="de-AT" sz="2000" b="0" strike="noStrike" spc="-1" dirty="0" err="1">
                <a:solidFill>
                  <a:srgbClr val="000000"/>
                </a:solidFill>
                <a:latin typeface="Arial"/>
              </a:rPr>
              <a:t>between</a:t>
            </a:r>
            <a:r>
              <a:rPr lang="de-AT" sz="2000" b="0" strike="noStrike" spc="-1" dirty="0">
                <a:solidFill>
                  <a:srgbClr val="000000"/>
                </a:solidFill>
                <a:latin typeface="Arial"/>
              </a:rPr>
              <a:t> </a:t>
            </a:r>
            <a:r>
              <a:rPr lang="de-AT" sz="2000" b="0" strike="noStrike" spc="-1" dirty="0" err="1">
                <a:solidFill>
                  <a:srgbClr val="000000"/>
                </a:solidFill>
                <a:latin typeface="Arial"/>
              </a:rPr>
              <a:t>groups</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err="1">
                <a:solidFill>
                  <a:srgbClr val="000000"/>
                </a:solidFill>
                <a:latin typeface="Arial"/>
              </a:rPr>
              <a:t>Following</a:t>
            </a:r>
            <a:r>
              <a:rPr lang="de-AT" sz="2000" b="0" strike="noStrike" spc="-1" dirty="0">
                <a:solidFill>
                  <a:srgbClr val="000000"/>
                </a:solidFill>
                <a:latin typeface="Arial"/>
              </a:rPr>
              <a:t> </a:t>
            </a:r>
            <a:r>
              <a:rPr lang="de-AT" sz="2000" b="0" strike="noStrike" spc="-1" dirty="0" err="1">
                <a:solidFill>
                  <a:srgbClr val="000000"/>
                </a:solidFill>
                <a:latin typeface="Arial"/>
              </a:rPr>
              <a:t>this</a:t>
            </a:r>
            <a:r>
              <a:rPr lang="de-AT" sz="2000" b="0" strike="noStrike" spc="-1" dirty="0">
                <a:solidFill>
                  <a:srgbClr val="000000"/>
                </a:solidFill>
                <a:latin typeface="Arial"/>
              </a:rPr>
              <a:t> </a:t>
            </a:r>
            <a:r>
              <a:rPr lang="de-AT" sz="2000" b="0" strike="noStrike" spc="-1" dirty="0" err="1">
                <a:solidFill>
                  <a:srgbClr val="000000"/>
                </a:solidFill>
                <a:latin typeface="Arial"/>
              </a:rPr>
              <a:t>detailed</a:t>
            </a:r>
            <a:r>
              <a:rPr lang="de-AT" sz="2000" b="0" strike="noStrike" spc="-1" dirty="0">
                <a:solidFill>
                  <a:srgbClr val="000000"/>
                </a:solidFill>
                <a:latin typeface="Arial"/>
              </a:rPr>
              <a:t> </a:t>
            </a:r>
            <a:r>
              <a:rPr lang="de-AT" sz="2000" b="0" strike="noStrike" spc="-1" dirty="0" err="1">
                <a:solidFill>
                  <a:srgbClr val="000000"/>
                </a:solidFill>
                <a:latin typeface="Arial"/>
              </a:rPr>
              <a:t>assessment</a:t>
            </a:r>
            <a:r>
              <a:rPr lang="de-AT" sz="2000" b="0" strike="noStrike" spc="-1" dirty="0">
                <a:solidFill>
                  <a:srgbClr val="000000"/>
                </a:solidFill>
                <a:latin typeface="Arial"/>
              </a:rPr>
              <a:t>, </a:t>
            </a:r>
            <a:r>
              <a:rPr lang="de-AT" sz="2000" b="0" strike="noStrike" spc="-1" dirty="0" err="1">
                <a:solidFill>
                  <a:srgbClr val="000000"/>
                </a:solidFill>
                <a:latin typeface="Arial"/>
              </a:rPr>
              <a:t>three</a:t>
            </a:r>
            <a:r>
              <a:rPr lang="de-AT" sz="2000" b="0" strike="noStrike" spc="-1" dirty="0">
                <a:solidFill>
                  <a:srgbClr val="000000"/>
                </a:solidFill>
                <a:latin typeface="Arial"/>
              </a:rPr>
              <a:t> </a:t>
            </a:r>
            <a:r>
              <a:rPr lang="de-AT" sz="2000" b="0" strike="noStrike" spc="-1" dirty="0" err="1">
                <a:solidFill>
                  <a:srgbClr val="000000"/>
                </a:solidFill>
                <a:latin typeface="Arial"/>
              </a:rPr>
              <a:t>further</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removed</a:t>
            </a:r>
            <a:r>
              <a:rPr lang="de-AT" sz="2000" b="0" strike="noStrike" spc="-1" dirty="0">
                <a:solidFill>
                  <a:srgbClr val="000000"/>
                </a:solidFill>
                <a:latin typeface="Arial"/>
              </a:rPr>
              <a:t> </a:t>
            </a:r>
            <a:r>
              <a:rPr lang="de-AT" sz="2000" b="0" strike="noStrike" spc="-1" dirty="0" err="1">
                <a:solidFill>
                  <a:srgbClr val="000000"/>
                </a:solidFill>
                <a:latin typeface="Arial"/>
              </a:rPr>
              <a:t>during</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quality</a:t>
            </a:r>
            <a:r>
              <a:rPr lang="de-AT" sz="2000" b="0" strike="noStrike" spc="-1" dirty="0">
                <a:solidFill>
                  <a:srgbClr val="000000"/>
                </a:solidFill>
                <a:latin typeface="Arial"/>
              </a:rPr>
              <a:t> </a:t>
            </a:r>
            <a:r>
              <a:rPr lang="de-AT" sz="2000" b="0" strike="noStrike" spc="-1" dirty="0" err="1">
                <a:solidFill>
                  <a:srgbClr val="000000"/>
                </a:solidFill>
                <a:latin typeface="Arial"/>
              </a:rPr>
              <a:t>appraisal</a:t>
            </a:r>
            <a:r>
              <a:rPr lang="de-AT" sz="2000" b="0" strike="noStrike" spc="-1" dirty="0">
                <a:solidFill>
                  <a:srgbClr val="000000"/>
                </a:solidFill>
                <a:latin typeface="Arial"/>
              </a:rPr>
              <a:t> </a:t>
            </a:r>
            <a:r>
              <a:rPr lang="de-AT" sz="2000" b="0" strike="noStrike" spc="-1" dirty="0" err="1">
                <a:solidFill>
                  <a:srgbClr val="000000"/>
                </a:solidFill>
                <a:latin typeface="Arial"/>
              </a:rPr>
              <a:t>stage</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err="1">
                <a:solidFill>
                  <a:srgbClr val="000000"/>
                </a:solidFill>
                <a:latin typeface="Arial"/>
              </a:rPr>
              <a:t>Ultimately</a:t>
            </a:r>
            <a:r>
              <a:rPr lang="de-AT" sz="2000" b="0" strike="noStrike" spc="-1" dirty="0">
                <a:solidFill>
                  <a:srgbClr val="000000"/>
                </a:solidFill>
                <a:latin typeface="Arial"/>
              </a:rPr>
              <a:t>, 69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met</a:t>
            </a:r>
            <a:r>
              <a:rPr lang="de-AT" sz="2000" b="0" strike="noStrike" spc="-1" dirty="0">
                <a:solidFill>
                  <a:srgbClr val="000000"/>
                </a:solidFill>
                <a:latin typeface="Arial"/>
              </a:rPr>
              <a:t> all </a:t>
            </a:r>
            <a:r>
              <a:rPr lang="de-AT" sz="2000" b="0" strike="noStrike" spc="-1" dirty="0" err="1">
                <a:solidFill>
                  <a:srgbClr val="000000"/>
                </a:solidFill>
                <a:latin typeface="Arial"/>
              </a:rPr>
              <a:t>criteria</a:t>
            </a:r>
            <a:r>
              <a:rPr lang="de-AT" sz="2000" b="0" strike="noStrike" spc="-1" dirty="0">
                <a:solidFill>
                  <a:srgbClr val="000000"/>
                </a:solidFill>
                <a:latin typeface="Arial"/>
              </a:rPr>
              <a:t> and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included</a:t>
            </a:r>
            <a:r>
              <a:rPr lang="de-AT" sz="2000" b="0" strike="noStrike" spc="-1" dirty="0">
                <a:solidFill>
                  <a:srgbClr val="000000"/>
                </a:solidFill>
                <a:latin typeface="Arial"/>
              </a:rPr>
              <a:t> in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systematic</a:t>
            </a:r>
            <a:r>
              <a:rPr lang="de-AT" sz="2000" b="0" strike="noStrike" spc="-1" dirty="0">
                <a:solidFill>
                  <a:srgbClr val="000000"/>
                </a:solidFill>
                <a:latin typeface="Arial"/>
              </a:rPr>
              <a:t> review, </a:t>
            </a:r>
            <a:r>
              <a:rPr lang="de-AT" sz="2000" b="0" strike="noStrike" spc="-1" dirty="0" err="1">
                <a:solidFill>
                  <a:srgbClr val="000000"/>
                </a:solidFill>
                <a:latin typeface="Arial"/>
              </a:rPr>
              <a:t>while</a:t>
            </a:r>
            <a:r>
              <a:rPr lang="de-AT" sz="2000" b="0" strike="noStrike" spc="-1" dirty="0">
                <a:solidFill>
                  <a:srgbClr val="000000"/>
                </a:solidFill>
                <a:latin typeface="Arial"/>
              </a:rPr>
              <a:t> 62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provided</a:t>
            </a:r>
            <a:r>
              <a:rPr lang="de-AT" sz="2000" b="0" strike="noStrike" spc="-1" dirty="0">
                <a:solidFill>
                  <a:srgbClr val="000000"/>
                </a:solidFill>
                <a:latin typeface="Arial"/>
              </a:rPr>
              <a:t> </a:t>
            </a:r>
            <a:r>
              <a:rPr lang="de-AT" sz="2000" b="0" strike="noStrike" spc="-1" dirty="0" err="1">
                <a:solidFill>
                  <a:srgbClr val="000000"/>
                </a:solidFill>
                <a:latin typeface="Arial"/>
              </a:rPr>
              <a:t>sufficient</a:t>
            </a:r>
            <a:r>
              <a:rPr lang="de-AT" sz="2000" b="0" strike="noStrike" spc="-1" dirty="0">
                <a:solidFill>
                  <a:srgbClr val="000000"/>
                </a:solidFill>
                <a:latin typeface="Arial"/>
              </a:rPr>
              <a:t> quantitative </a:t>
            </a:r>
            <a:r>
              <a:rPr lang="de-AT" sz="2000" b="0" strike="noStrike" spc="-1" dirty="0" err="1">
                <a:solidFill>
                  <a:srgbClr val="000000"/>
                </a:solidFill>
                <a:latin typeface="Arial"/>
              </a:rPr>
              <a:t>information</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be</a:t>
            </a:r>
            <a:r>
              <a:rPr lang="de-AT" sz="2000" b="0" strike="noStrike" spc="-1" dirty="0">
                <a:solidFill>
                  <a:srgbClr val="000000"/>
                </a:solidFill>
                <a:latin typeface="Arial"/>
              </a:rPr>
              <a:t> </a:t>
            </a:r>
            <a:r>
              <a:rPr lang="de-AT" sz="2000" b="0" strike="noStrike" spc="-1" dirty="0" err="1">
                <a:solidFill>
                  <a:srgbClr val="000000"/>
                </a:solidFill>
                <a:latin typeface="Arial"/>
              </a:rPr>
              <a:t>included</a:t>
            </a:r>
            <a:r>
              <a:rPr lang="de-AT" sz="2000" b="0" strike="noStrike" spc="-1" dirty="0">
                <a:solidFill>
                  <a:srgbClr val="000000"/>
                </a:solidFill>
                <a:latin typeface="Arial"/>
              </a:rPr>
              <a:t> in </a:t>
            </a:r>
            <a:r>
              <a:rPr lang="de-AT" sz="2000" b="0" strike="noStrike" spc="-1" dirty="0" err="1">
                <a:solidFill>
                  <a:srgbClr val="000000"/>
                </a:solidFill>
                <a:latin typeface="Arial"/>
              </a:rPr>
              <a:t>the</a:t>
            </a:r>
            <a:r>
              <a:rPr lang="de-AT" sz="2000" b="0" strike="noStrike" spc="-1" dirty="0">
                <a:solidFill>
                  <a:srgbClr val="000000"/>
                </a:solidFill>
                <a:latin typeface="Arial"/>
              </a:rPr>
              <a:t> final meta-analysis.</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Overall, </a:t>
            </a:r>
            <a:r>
              <a:rPr lang="de-AT" sz="2000" b="0" strike="noStrike" spc="-1" dirty="0" err="1">
                <a:solidFill>
                  <a:srgbClr val="000000"/>
                </a:solidFill>
                <a:latin typeface="Arial"/>
              </a:rPr>
              <a:t>this</a:t>
            </a:r>
            <a:r>
              <a:rPr lang="de-AT" sz="2000" b="0" strike="noStrike" spc="-1" dirty="0">
                <a:solidFill>
                  <a:srgbClr val="000000"/>
                </a:solidFill>
                <a:latin typeface="Arial"/>
              </a:rPr>
              <a:t> PRISMA-</a:t>
            </a:r>
            <a:r>
              <a:rPr lang="de-AT" sz="2000" b="0" strike="noStrike" spc="-1" dirty="0" err="1">
                <a:solidFill>
                  <a:srgbClr val="000000"/>
                </a:solidFill>
                <a:latin typeface="Arial"/>
              </a:rPr>
              <a:t>guided</a:t>
            </a:r>
            <a:r>
              <a:rPr lang="de-AT" sz="2000" b="0" strike="noStrike" spc="-1" dirty="0">
                <a:solidFill>
                  <a:srgbClr val="000000"/>
                </a:solidFill>
                <a:latin typeface="Arial"/>
              </a:rPr>
              <a:t> </a:t>
            </a:r>
            <a:r>
              <a:rPr lang="de-AT" sz="2000" b="0" strike="noStrike" spc="-1" dirty="0" err="1">
                <a:solidFill>
                  <a:srgbClr val="000000"/>
                </a:solidFill>
                <a:latin typeface="Arial"/>
              </a:rPr>
              <a:t>process</a:t>
            </a:r>
            <a:r>
              <a:rPr lang="de-AT" sz="2000" b="0" strike="noStrike" spc="-1" dirty="0">
                <a:solidFill>
                  <a:srgbClr val="000000"/>
                </a:solidFill>
                <a:latin typeface="Arial"/>
              </a:rPr>
              <a:t> </a:t>
            </a:r>
            <a:r>
              <a:rPr lang="de-AT" sz="2000" b="0" strike="noStrike" spc="-1" dirty="0" err="1">
                <a:solidFill>
                  <a:srgbClr val="000000"/>
                </a:solidFill>
                <a:latin typeface="Arial"/>
              </a:rPr>
              <a:t>represents</a:t>
            </a:r>
            <a:r>
              <a:rPr lang="de-AT" sz="2000" b="0" strike="noStrike" spc="-1" dirty="0">
                <a:solidFill>
                  <a:srgbClr val="000000"/>
                </a:solidFill>
                <a:latin typeface="Arial"/>
              </a:rPr>
              <a:t> a </a:t>
            </a:r>
            <a:r>
              <a:rPr lang="de-AT" sz="2000" b="0" strike="noStrike" spc="-1" dirty="0" err="1">
                <a:solidFill>
                  <a:srgbClr val="000000"/>
                </a:solidFill>
                <a:latin typeface="Arial"/>
              </a:rPr>
              <a:t>major</a:t>
            </a:r>
            <a:r>
              <a:rPr lang="de-AT" sz="2000" b="0" strike="noStrike" spc="-1" dirty="0">
                <a:solidFill>
                  <a:srgbClr val="000000"/>
                </a:solidFill>
                <a:latin typeface="Arial"/>
              </a:rPr>
              <a:t> </a:t>
            </a:r>
            <a:r>
              <a:rPr lang="de-AT" sz="2000" b="0" strike="noStrike" spc="-1" dirty="0" err="1">
                <a:solidFill>
                  <a:srgbClr val="000000"/>
                </a:solidFill>
                <a:latin typeface="Arial"/>
              </a:rPr>
              <a:t>strength</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study</a:t>
            </a:r>
            <a:r>
              <a:rPr lang="de-AT" sz="2000" b="0" strike="noStrike" spc="-1" dirty="0">
                <a:solidFill>
                  <a:srgbClr val="000000"/>
                </a:solidFill>
                <a:latin typeface="Arial"/>
              </a:rPr>
              <a:t> </a:t>
            </a:r>
            <a:r>
              <a:rPr lang="de-AT" sz="2000" b="0" strike="noStrike" spc="-1" dirty="0" err="1">
                <a:solidFill>
                  <a:srgbClr val="000000"/>
                </a:solidFill>
                <a:latin typeface="Arial"/>
              </a:rPr>
              <a:t>because</a:t>
            </a:r>
            <a:r>
              <a:rPr lang="de-AT" sz="2000" b="0" strike="noStrike" spc="-1" dirty="0">
                <a:solidFill>
                  <a:srgbClr val="000000"/>
                </a:solidFill>
                <a:latin typeface="Arial"/>
              </a:rPr>
              <a:t> </a:t>
            </a:r>
            <a:r>
              <a:rPr lang="de-AT" sz="2000" b="0" strike="noStrike" spc="-1" dirty="0" err="1">
                <a:solidFill>
                  <a:srgbClr val="000000"/>
                </a:solidFill>
                <a:latin typeface="Arial"/>
              </a:rPr>
              <a:t>it</a:t>
            </a:r>
            <a:r>
              <a:rPr lang="de-AT" sz="2000" b="0" strike="noStrike" spc="-1" dirty="0">
                <a:solidFill>
                  <a:srgbClr val="000000"/>
                </a:solidFill>
                <a:latin typeface="Arial"/>
              </a:rPr>
              <a:t> </a:t>
            </a:r>
            <a:r>
              <a:rPr lang="de-AT" sz="2000" b="0" strike="noStrike" spc="-1" dirty="0" err="1">
                <a:solidFill>
                  <a:srgbClr val="000000"/>
                </a:solidFill>
                <a:latin typeface="Arial"/>
              </a:rPr>
              <a:t>demonstrates</a:t>
            </a:r>
            <a:r>
              <a:rPr lang="de-AT" sz="2000" b="0" strike="noStrike" spc="-1" dirty="0">
                <a:solidFill>
                  <a:srgbClr val="000000"/>
                </a:solidFill>
                <a:latin typeface="Arial"/>
              </a:rPr>
              <a:t> a transparent, </a:t>
            </a:r>
            <a:r>
              <a:rPr lang="de-AT" sz="2000" b="0" strike="noStrike" spc="-1" dirty="0" err="1">
                <a:solidFill>
                  <a:srgbClr val="000000"/>
                </a:solidFill>
                <a:latin typeface="Arial"/>
              </a:rPr>
              <a:t>systematic</a:t>
            </a:r>
            <a:r>
              <a:rPr lang="de-AT" sz="2000" b="0" strike="noStrike" spc="-1" dirty="0">
                <a:solidFill>
                  <a:srgbClr val="000000"/>
                </a:solidFill>
                <a:latin typeface="Arial"/>
              </a:rPr>
              <a:t>, and </a:t>
            </a:r>
            <a:r>
              <a:rPr lang="de-AT" sz="2000" b="0" strike="noStrike" spc="-1" dirty="0" err="1">
                <a:solidFill>
                  <a:srgbClr val="000000"/>
                </a:solidFill>
                <a:latin typeface="Arial"/>
              </a:rPr>
              <a:t>reproducible</a:t>
            </a:r>
            <a:r>
              <a:rPr lang="de-AT" sz="2000" b="0" strike="noStrike" spc="-1" dirty="0">
                <a:solidFill>
                  <a:srgbClr val="000000"/>
                </a:solidFill>
                <a:latin typeface="Arial"/>
              </a:rPr>
              <a:t> </a:t>
            </a:r>
            <a:r>
              <a:rPr lang="de-AT" sz="2000" b="0" strike="noStrike" spc="-1" dirty="0" err="1">
                <a:solidFill>
                  <a:srgbClr val="000000"/>
                </a:solidFill>
                <a:latin typeface="Arial"/>
              </a:rPr>
              <a:t>approach</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selecting</a:t>
            </a:r>
            <a:r>
              <a:rPr lang="de-AT" sz="2000" b="0" strike="noStrike" spc="-1" dirty="0">
                <a:solidFill>
                  <a:srgbClr val="000000"/>
                </a:solidFill>
                <a:latin typeface="Arial"/>
              </a:rPr>
              <a:t> </a:t>
            </a:r>
            <a:r>
              <a:rPr lang="de-AT" sz="2000" b="0" strike="noStrike" spc="-1" dirty="0" err="1">
                <a:solidFill>
                  <a:srgbClr val="000000"/>
                </a:solidFill>
                <a:latin typeface="Arial"/>
              </a:rPr>
              <a:t>evidence</a:t>
            </a:r>
            <a:r>
              <a:rPr lang="de-AT" sz="2000" b="0" strike="noStrike" spc="-1" dirty="0">
                <a:solidFill>
                  <a:srgbClr val="000000"/>
                </a:solidFill>
                <a:latin typeface="Arial"/>
              </a:rPr>
              <a:t>.</a:t>
            </a:r>
          </a:p>
        </p:txBody>
      </p:sp>
      <p:sp>
        <p:nvSpPr>
          <p:cNvPr id="229" name="PlaceHolder 3"/>
          <p:cNvSpPr>
            <a:spLocks noGrp="1"/>
          </p:cNvSpPr>
          <p:nvPr>
            <p:ph type="sldNum" idx="4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5472F9AE-964E-4996-A4E8-BE34D1C1F13E}" type="slidenum">
              <a:rPr lang="de-AT" sz="1200" b="0" strike="noStrike" spc="-1">
                <a:solidFill>
                  <a:srgbClr val="000000"/>
                </a:solidFill>
                <a:latin typeface="Times New Roman"/>
              </a:rPr>
              <a:t>5</a:t>
            </a:fld>
            <a:endParaRPr lang="de-AT" sz="1200" b="0" strike="noStrike" spc="-1">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noRot="1" noChangeAspect="1"/>
          </p:cNvSpPr>
          <p:nvPr>
            <p:ph type="sldImg"/>
          </p:nvPr>
        </p:nvSpPr>
        <p:spPr>
          <a:xfrm>
            <a:off x="685800" y="1143000"/>
            <a:ext cx="5486400" cy="3086100"/>
          </a:xfrm>
          <a:prstGeom prst="rect">
            <a:avLst/>
          </a:prstGeom>
          <a:ln w="0">
            <a:noFill/>
          </a:ln>
        </p:spPr>
      </p:sp>
      <p:sp>
        <p:nvSpPr>
          <p:cNvPr id="2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de-AT" sz="2000" b="0" strike="noStrike" spc="-1" dirty="0">
                <a:solidFill>
                  <a:srgbClr val="000000"/>
                </a:solidFill>
                <a:latin typeface="Arial"/>
              </a:rPr>
              <a:t>After </a:t>
            </a:r>
            <a:r>
              <a:rPr lang="de-AT" sz="2000" b="0" strike="noStrike" spc="-1" dirty="0" err="1">
                <a:solidFill>
                  <a:srgbClr val="000000"/>
                </a:solidFill>
                <a:latin typeface="Arial"/>
              </a:rPr>
              <a:t>the</a:t>
            </a:r>
            <a:r>
              <a:rPr lang="de-AT" sz="2000" b="0" strike="noStrike" spc="-1" dirty="0">
                <a:solidFill>
                  <a:srgbClr val="000000"/>
                </a:solidFill>
                <a:latin typeface="Arial"/>
              </a:rPr>
              <a:t> PRISMA </a:t>
            </a:r>
            <a:r>
              <a:rPr lang="de-AT" sz="2000" b="0" strike="noStrike" spc="-1" dirty="0" err="1">
                <a:solidFill>
                  <a:srgbClr val="000000"/>
                </a:solidFill>
                <a:latin typeface="Arial"/>
              </a:rPr>
              <a:t>process</a:t>
            </a:r>
            <a:r>
              <a:rPr lang="de-AT" sz="2000" b="0" strike="noStrike" spc="-1" dirty="0">
                <a:solidFill>
                  <a:srgbClr val="000000"/>
                </a:solidFill>
                <a:latin typeface="Arial"/>
              </a:rPr>
              <a:t>, </a:t>
            </a:r>
            <a:r>
              <a:rPr lang="de-AT" sz="2000" b="0" strike="noStrike" spc="-1" dirty="0" err="1">
                <a:solidFill>
                  <a:srgbClr val="000000"/>
                </a:solidFill>
                <a:latin typeface="Arial"/>
              </a:rPr>
              <a:t>it</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useful</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look</a:t>
            </a:r>
            <a:r>
              <a:rPr lang="de-AT" sz="2000" b="0" strike="noStrike" spc="-1" dirty="0">
                <a:solidFill>
                  <a:srgbClr val="000000"/>
                </a:solidFill>
                <a:latin typeface="Arial"/>
              </a:rPr>
              <a:t>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characteristics</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69 </a:t>
            </a:r>
            <a:r>
              <a:rPr lang="de-AT" sz="2000" b="0" strike="noStrike" spc="-1" dirty="0" err="1">
                <a:solidFill>
                  <a:srgbClr val="000000"/>
                </a:solidFill>
                <a:latin typeface="Arial"/>
              </a:rPr>
              <a:t>included</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(not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meta</a:t>
            </a:r>
            <a:r>
              <a:rPr lang="de-AT" sz="2000" b="0" strike="noStrike" spc="-1" dirty="0">
                <a:solidFill>
                  <a:srgbClr val="000000"/>
                </a:solidFill>
                <a:latin typeface="Arial"/>
              </a:rPr>
              <a:t> </a:t>
            </a:r>
            <a:r>
              <a:rPr lang="de-AT" sz="2000" b="0" strike="noStrike" spc="-1" dirty="0" err="1">
                <a:solidFill>
                  <a:srgbClr val="000000"/>
                </a:solidFill>
                <a:latin typeface="Arial"/>
              </a:rPr>
              <a:t>analysis</a:t>
            </a:r>
            <a:r>
              <a:rPr lang="de-AT" sz="2000" b="0" strike="noStrike" spc="-1" dirty="0">
                <a:solidFill>
                  <a:srgbClr val="000000"/>
                </a:solidFill>
                <a:latin typeface="Arial"/>
              </a:rPr>
              <a:t> but </a:t>
            </a:r>
            <a:r>
              <a:rPr lang="de-AT" sz="2000" b="0" strike="noStrike" spc="-1" dirty="0" err="1">
                <a:solidFill>
                  <a:srgbClr val="000000"/>
                </a:solidFill>
                <a:latin typeface="Arial"/>
              </a:rPr>
              <a:t>for</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systematic</a:t>
            </a:r>
            <a:r>
              <a:rPr lang="de-AT" sz="2000" b="0" strike="noStrike" spc="-1" dirty="0">
                <a:solidFill>
                  <a:srgbClr val="000000"/>
                </a:solidFill>
                <a:latin typeface="Arial"/>
              </a:rPr>
              <a:t> review) </a:t>
            </a:r>
            <a:r>
              <a:rPr lang="de-AT" sz="2000" b="0" strike="noStrike" spc="-1" dirty="0" err="1">
                <a:solidFill>
                  <a:srgbClr val="000000"/>
                </a:solidFill>
                <a:latin typeface="Arial"/>
              </a:rPr>
              <a:t>as</a:t>
            </a:r>
            <a:r>
              <a:rPr lang="de-AT" sz="2000" b="0" strike="noStrike" spc="-1" dirty="0">
                <a:solidFill>
                  <a:srgbClr val="000000"/>
                </a:solidFill>
                <a:latin typeface="Arial"/>
              </a:rPr>
              <a:t> </a:t>
            </a:r>
            <a:r>
              <a:rPr lang="de-AT" sz="2000" b="0" strike="noStrike" spc="-1" dirty="0" err="1">
                <a:solidFill>
                  <a:srgbClr val="000000"/>
                </a:solidFill>
                <a:latin typeface="Arial"/>
              </a:rPr>
              <a:t>some</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you</a:t>
            </a:r>
            <a:r>
              <a:rPr lang="de-AT" sz="2000" b="0" strike="noStrike" spc="-1" dirty="0">
                <a:solidFill>
                  <a:srgbClr val="000000"/>
                </a:solidFill>
                <a:latin typeface="Arial"/>
              </a:rPr>
              <a:t> </a:t>
            </a:r>
            <a:r>
              <a:rPr lang="de-AT" sz="2000" b="0" strike="noStrike" spc="-1" dirty="0" err="1">
                <a:solidFill>
                  <a:srgbClr val="000000"/>
                </a:solidFill>
                <a:latin typeface="Arial"/>
              </a:rPr>
              <a:t>always</a:t>
            </a:r>
            <a:r>
              <a:rPr lang="de-AT" sz="2000" b="0" strike="noStrike" spc="-1" dirty="0">
                <a:solidFill>
                  <a:srgbClr val="000000"/>
                </a:solidFill>
                <a:latin typeface="Arial"/>
              </a:rPr>
              <a:t> </a:t>
            </a:r>
            <a:r>
              <a:rPr lang="de-AT" sz="2000" b="0" strike="noStrike" spc="-1" dirty="0" err="1">
                <a:solidFill>
                  <a:srgbClr val="000000"/>
                </a:solidFill>
                <a:latin typeface="Arial"/>
              </a:rPr>
              <a:t>want</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know</a:t>
            </a:r>
            <a:r>
              <a:rPr lang="de-AT" sz="2000" b="0" strike="noStrike" spc="-1" dirty="0">
                <a:solidFill>
                  <a:srgbClr val="000000"/>
                </a:solidFill>
                <a:latin typeface="Arial"/>
              </a:rPr>
              <a:t> </a:t>
            </a:r>
            <a:r>
              <a:rPr lang="de-AT" sz="2000" b="0" strike="noStrike" spc="-1" dirty="0" err="1">
                <a:solidFill>
                  <a:srgbClr val="000000"/>
                </a:solidFill>
                <a:latin typeface="Arial"/>
              </a:rPr>
              <a:t>where</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took</a:t>
            </a:r>
            <a:r>
              <a:rPr lang="de-AT" sz="2000" b="0" strike="noStrike" spc="-1" dirty="0">
                <a:solidFill>
                  <a:srgbClr val="000000"/>
                </a:solidFill>
                <a:latin typeface="Arial"/>
              </a:rPr>
              <a:t> </a:t>
            </a:r>
            <a:r>
              <a:rPr lang="de-AT" sz="2000" b="0" strike="noStrike" spc="-1" dirty="0" err="1">
                <a:solidFill>
                  <a:srgbClr val="000000"/>
                </a:solidFill>
                <a:latin typeface="Arial"/>
              </a:rPr>
              <a:t>place</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The </a:t>
            </a:r>
            <a:r>
              <a:rPr lang="de-AT" sz="2000" b="0" strike="noStrike" spc="-1" dirty="0" err="1">
                <a:solidFill>
                  <a:srgbClr val="000000"/>
                </a:solidFill>
                <a:latin typeface="Arial"/>
              </a:rPr>
              <a:t>table</a:t>
            </a:r>
            <a:r>
              <a:rPr lang="de-AT" sz="2000" b="0" strike="noStrike" spc="-1" dirty="0">
                <a:solidFill>
                  <a:srgbClr val="000000"/>
                </a:solidFill>
                <a:latin typeface="Arial"/>
              </a:rPr>
              <a:t> </a:t>
            </a:r>
            <a:r>
              <a:rPr lang="de-AT" sz="2000" b="0" strike="noStrike" spc="-1" dirty="0" err="1">
                <a:solidFill>
                  <a:srgbClr val="000000"/>
                </a:solidFill>
                <a:latin typeface="Arial"/>
              </a:rPr>
              <a:t>shows</a:t>
            </a:r>
            <a:r>
              <a:rPr lang="de-AT" sz="2000" b="0" strike="noStrike" spc="-1" dirty="0">
                <a:solidFill>
                  <a:srgbClr val="000000"/>
                </a:solidFill>
                <a:latin typeface="Arial"/>
              </a:rPr>
              <a:t> </a:t>
            </a:r>
            <a:r>
              <a:rPr lang="de-AT" sz="2000" b="0" strike="noStrike" spc="-1" dirty="0" err="1">
                <a:solidFill>
                  <a:srgbClr val="000000"/>
                </a:solidFill>
                <a:latin typeface="Arial"/>
              </a:rPr>
              <a:t>that</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evidence</a:t>
            </a:r>
            <a:r>
              <a:rPr lang="de-AT" sz="2000" b="0" strike="noStrike" spc="-1" dirty="0">
                <a:solidFill>
                  <a:srgbClr val="000000"/>
                </a:solidFill>
                <a:latin typeface="Arial"/>
              </a:rPr>
              <a:t> </a:t>
            </a:r>
            <a:r>
              <a:rPr lang="de-AT" sz="2000" b="0" strike="noStrike" spc="-1" dirty="0" err="1">
                <a:solidFill>
                  <a:srgbClr val="000000"/>
                </a:solidFill>
                <a:latin typeface="Arial"/>
              </a:rPr>
              <a:t>base</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very</a:t>
            </a:r>
            <a:r>
              <a:rPr lang="de-AT" sz="2000" b="0" strike="noStrike" spc="-1" dirty="0">
                <a:solidFill>
                  <a:srgbClr val="000000"/>
                </a:solidFill>
                <a:latin typeface="Arial"/>
              </a:rPr>
              <a:t> </a:t>
            </a:r>
            <a:r>
              <a:rPr lang="de-AT" sz="2000" b="0" strike="noStrike" spc="-1" dirty="0" err="1">
                <a:solidFill>
                  <a:srgbClr val="000000"/>
                </a:solidFill>
                <a:latin typeface="Arial"/>
              </a:rPr>
              <a:t>recent</a:t>
            </a:r>
            <a:r>
              <a:rPr lang="de-AT" sz="2000" b="0" strike="noStrike" spc="-1" dirty="0">
                <a:solidFill>
                  <a:srgbClr val="000000"/>
                </a:solidFill>
                <a:latin typeface="Arial"/>
              </a:rPr>
              <a:t>: </a:t>
            </a:r>
            <a:r>
              <a:rPr lang="de-AT" sz="2000" b="0" strike="noStrike" spc="-1" dirty="0" err="1">
                <a:solidFill>
                  <a:srgbClr val="000000"/>
                </a:solidFill>
                <a:latin typeface="Arial"/>
              </a:rPr>
              <a:t>more</a:t>
            </a:r>
            <a:r>
              <a:rPr lang="de-AT" sz="2000" b="0" strike="noStrike" spc="-1" dirty="0">
                <a:solidFill>
                  <a:srgbClr val="000000"/>
                </a:solidFill>
                <a:latin typeface="Arial"/>
              </a:rPr>
              <a:t> </a:t>
            </a:r>
            <a:r>
              <a:rPr lang="de-AT" sz="2000" b="0" strike="noStrike" spc="-1" dirty="0" err="1">
                <a:solidFill>
                  <a:srgbClr val="000000"/>
                </a:solidFill>
                <a:latin typeface="Arial"/>
              </a:rPr>
              <a:t>than</a:t>
            </a:r>
            <a:r>
              <a:rPr lang="de-AT" sz="2000" b="0" strike="noStrike" spc="-1" dirty="0">
                <a:solidFill>
                  <a:srgbClr val="000000"/>
                </a:solidFill>
                <a:latin typeface="Arial"/>
              </a:rPr>
              <a:t> 80 </a:t>
            </a:r>
            <a:r>
              <a:rPr lang="de-AT" sz="2000" b="0" strike="noStrike" spc="-1" dirty="0" err="1">
                <a:solidFill>
                  <a:srgbClr val="000000"/>
                </a:solidFill>
                <a:latin typeface="Arial"/>
              </a:rPr>
              <a:t>percent</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published</a:t>
            </a:r>
            <a:r>
              <a:rPr lang="de-AT" sz="2000" b="0" strike="noStrike" spc="-1" dirty="0">
                <a:solidFill>
                  <a:srgbClr val="000000"/>
                </a:solidFill>
                <a:latin typeface="Arial"/>
              </a:rPr>
              <a:t> in 2024, </a:t>
            </a:r>
            <a:r>
              <a:rPr lang="de-AT" sz="2000" b="0" strike="noStrike" spc="-1" dirty="0" err="1">
                <a:solidFill>
                  <a:srgbClr val="000000"/>
                </a:solidFill>
                <a:latin typeface="Arial"/>
              </a:rPr>
              <a:t>which</a:t>
            </a:r>
            <a:r>
              <a:rPr lang="de-AT" sz="2000" b="0" strike="noStrike" spc="-1" dirty="0">
                <a:solidFill>
                  <a:srgbClr val="000000"/>
                </a:solidFill>
                <a:latin typeface="Arial"/>
              </a:rPr>
              <a:t> </a:t>
            </a:r>
            <a:r>
              <a:rPr lang="de-AT" sz="2000" b="0" strike="noStrike" spc="-1" dirty="0" err="1">
                <a:solidFill>
                  <a:srgbClr val="000000"/>
                </a:solidFill>
                <a:latin typeface="Arial"/>
              </a:rPr>
              <a:t>reflects</a:t>
            </a:r>
            <a:r>
              <a:rPr lang="de-AT" sz="2000" b="0" strike="noStrike" spc="-1" dirty="0">
                <a:solidFill>
                  <a:srgbClr val="000000"/>
                </a:solidFill>
                <a:latin typeface="Arial"/>
              </a:rPr>
              <a:t> </a:t>
            </a:r>
            <a:r>
              <a:rPr lang="de-AT" sz="2000" b="0" strike="noStrike" spc="-1" dirty="0" err="1">
                <a:solidFill>
                  <a:srgbClr val="000000"/>
                </a:solidFill>
                <a:latin typeface="Arial"/>
              </a:rPr>
              <a:t>how</a:t>
            </a:r>
            <a:r>
              <a:rPr lang="de-AT" sz="2000" b="0" strike="noStrike" spc="-1" dirty="0">
                <a:solidFill>
                  <a:srgbClr val="000000"/>
                </a:solidFill>
                <a:latin typeface="Arial"/>
              </a:rPr>
              <a:t> </a:t>
            </a:r>
            <a:r>
              <a:rPr lang="de-AT" sz="2000" b="0" strike="noStrike" spc="-1" dirty="0" err="1">
                <a:solidFill>
                  <a:srgbClr val="000000"/>
                </a:solidFill>
                <a:latin typeface="Arial"/>
              </a:rPr>
              <a:t>quickly</a:t>
            </a:r>
            <a:r>
              <a:rPr lang="de-AT" sz="2000" b="0" strike="noStrike" spc="-1" dirty="0">
                <a:solidFill>
                  <a:srgbClr val="000000"/>
                </a:solidFill>
                <a:latin typeface="Arial"/>
              </a:rPr>
              <a:t> </a:t>
            </a:r>
            <a:r>
              <a:rPr lang="de-AT" sz="2000" b="0" strike="noStrike" spc="-1" dirty="0" err="1">
                <a:solidFill>
                  <a:srgbClr val="000000"/>
                </a:solidFill>
                <a:latin typeface="Arial"/>
              </a:rPr>
              <a:t>research</a:t>
            </a:r>
            <a:r>
              <a:rPr lang="de-AT" sz="2000" b="0" strike="noStrike" spc="-1" dirty="0">
                <a:solidFill>
                  <a:srgbClr val="000000"/>
                </a:solidFill>
                <a:latin typeface="Arial"/>
              </a:rPr>
              <a:t> on ChatGPT in </a:t>
            </a:r>
            <a:r>
              <a:rPr lang="de-AT" sz="2000" b="0" strike="noStrike" spc="-1" dirty="0" err="1">
                <a:solidFill>
                  <a:srgbClr val="000000"/>
                </a:solidFill>
                <a:latin typeface="Arial"/>
              </a:rPr>
              <a:t>education</a:t>
            </a:r>
            <a:r>
              <a:rPr lang="de-AT" sz="2000" b="0" strike="noStrike" spc="-1" dirty="0">
                <a:solidFill>
                  <a:srgbClr val="000000"/>
                </a:solidFill>
                <a:latin typeface="Arial"/>
              </a:rPr>
              <a:t> </a:t>
            </a:r>
            <a:r>
              <a:rPr lang="de-AT" sz="2000" b="0" strike="noStrike" spc="-1" dirty="0" err="1">
                <a:solidFill>
                  <a:srgbClr val="000000"/>
                </a:solidFill>
                <a:latin typeface="Arial"/>
              </a:rPr>
              <a:t>has</a:t>
            </a:r>
            <a:r>
              <a:rPr lang="de-AT" sz="2000" b="0" strike="noStrike" spc="-1" dirty="0">
                <a:solidFill>
                  <a:srgbClr val="000000"/>
                </a:solidFill>
                <a:latin typeface="Arial"/>
              </a:rPr>
              <a:t> </a:t>
            </a:r>
            <a:r>
              <a:rPr lang="de-AT" sz="2000" b="0" strike="noStrike" spc="-1" dirty="0" err="1">
                <a:solidFill>
                  <a:srgbClr val="000000"/>
                </a:solidFill>
                <a:latin typeface="Arial"/>
              </a:rPr>
              <a:t>developed</a:t>
            </a:r>
            <a:r>
              <a:rPr lang="de-AT" sz="2000" b="0" strike="noStrike" spc="-1" dirty="0">
                <a:solidFill>
                  <a:srgbClr val="000000"/>
                </a:solidFill>
                <a:latin typeface="Arial"/>
              </a:rPr>
              <a:t> and </a:t>
            </a:r>
            <a:r>
              <a:rPr lang="de-AT" sz="2000" b="0" strike="noStrike" spc="-1" dirty="0" err="1">
                <a:solidFill>
                  <a:srgbClr val="000000"/>
                </a:solidFill>
                <a:latin typeface="Arial"/>
              </a:rPr>
              <a:t>is</a:t>
            </a:r>
            <a:r>
              <a:rPr lang="de-AT" sz="2000" b="0" strike="noStrike" spc="-1" dirty="0">
                <a:solidFill>
                  <a:srgbClr val="000000"/>
                </a:solidFill>
                <a:latin typeface="Arial"/>
              </a:rPr>
              <a:t> still </a:t>
            </a:r>
            <a:r>
              <a:rPr lang="de-AT" sz="2000" b="0" strike="noStrike" spc="-1" dirty="0" err="1">
                <a:solidFill>
                  <a:srgbClr val="000000"/>
                </a:solidFill>
                <a:latin typeface="Arial"/>
              </a:rPr>
              <a:t>developing</a:t>
            </a:r>
            <a:r>
              <a:rPr lang="de-AT" sz="2000" b="0" strike="noStrike" spc="-1" dirty="0">
                <a:solidFill>
                  <a:srgbClr val="000000"/>
                </a:solidFill>
                <a:latin typeface="Arial"/>
              </a:rPr>
              <a:t> </a:t>
            </a:r>
            <a:r>
              <a:rPr lang="de-AT" sz="2000" b="0" strike="noStrike" spc="-1" dirty="0" err="1">
                <a:solidFill>
                  <a:srgbClr val="000000"/>
                </a:solidFill>
                <a:latin typeface="Arial"/>
              </a:rPr>
              <a:t>further</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Most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journal</a:t>
            </a:r>
            <a:r>
              <a:rPr lang="de-AT" sz="2000" b="0" strike="noStrike" spc="-1" dirty="0">
                <a:solidFill>
                  <a:srgbClr val="000000"/>
                </a:solidFill>
                <a:latin typeface="Arial"/>
              </a:rPr>
              <a:t> </a:t>
            </a:r>
            <a:r>
              <a:rPr lang="de-AT" sz="2000" b="0" strike="noStrike" spc="-1" dirty="0" err="1">
                <a:solidFill>
                  <a:srgbClr val="000000"/>
                </a:solidFill>
                <a:latin typeface="Arial"/>
              </a:rPr>
              <a:t>articles</a:t>
            </a:r>
            <a:r>
              <a:rPr lang="de-AT" sz="2000" b="0" strike="noStrike" spc="-1" dirty="0">
                <a:solidFill>
                  <a:srgbClr val="000000"/>
                </a:solidFill>
                <a:latin typeface="Arial"/>
              </a:rPr>
              <a:t>, </a:t>
            </a:r>
            <a:r>
              <a:rPr lang="de-AT" sz="2000" b="0" strike="noStrike" spc="-1" dirty="0" err="1">
                <a:solidFill>
                  <a:srgbClr val="000000"/>
                </a:solidFill>
                <a:latin typeface="Arial"/>
              </a:rPr>
              <a:t>about</a:t>
            </a:r>
            <a:r>
              <a:rPr lang="de-AT" sz="2000" b="0" strike="noStrike" spc="-1" dirty="0">
                <a:solidFill>
                  <a:srgbClr val="000000"/>
                </a:solidFill>
                <a:latin typeface="Arial"/>
              </a:rPr>
              <a:t> 84 </a:t>
            </a:r>
            <a:r>
              <a:rPr lang="de-AT" sz="2000" b="0" strike="noStrike" spc="-1" dirty="0" err="1">
                <a:solidFill>
                  <a:srgbClr val="000000"/>
                </a:solidFill>
                <a:latin typeface="Arial"/>
              </a:rPr>
              <a:t>percent</a:t>
            </a:r>
            <a:r>
              <a:rPr lang="de-AT" sz="2000" b="0" strike="noStrike" spc="-1" dirty="0">
                <a:solidFill>
                  <a:srgbClr val="000000"/>
                </a:solidFill>
                <a:latin typeface="Arial"/>
              </a:rPr>
              <a:t>, </a:t>
            </a:r>
            <a:r>
              <a:rPr lang="de-AT" sz="2000" b="0" strike="noStrike" spc="-1" dirty="0" err="1">
                <a:solidFill>
                  <a:srgbClr val="000000"/>
                </a:solidFill>
                <a:latin typeface="Arial"/>
              </a:rPr>
              <a:t>while</a:t>
            </a:r>
            <a:r>
              <a:rPr lang="de-AT" sz="2000" b="0" strike="noStrike" spc="-1" dirty="0">
                <a:solidFill>
                  <a:srgbClr val="000000"/>
                </a:solidFill>
                <a:latin typeface="Arial"/>
              </a:rPr>
              <a:t> </a:t>
            </a:r>
            <a:r>
              <a:rPr lang="de-AT" sz="2000" b="0" strike="noStrike" spc="-1" dirty="0" err="1">
                <a:solidFill>
                  <a:srgbClr val="000000"/>
                </a:solidFill>
                <a:latin typeface="Arial"/>
              </a:rPr>
              <a:t>around</a:t>
            </a:r>
            <a:r>
              <a:rPr lang="de-AT" sz="2000" b="0" strike="noStrike" spc="-1" dirty="0">
                <a:solidFill>
                  <a:srgbClr val="000000"/>
                </a:solidFill>
                <a:latin typeface="Arial"/>
              </a:rPr>
              <a:t> 16 </a:t>
            </a:r>
            <a:r>
              <a:rPr lang="de-AT" sz="2000" b="0" strike="noStrike" spc="-1" dirty="0" err="1">
                <a:solidFill>
                  <a:srgbClr val="000000"/>
                </a:solidFill>
                <a:latin typeface="Arial"/>
              </a:rPr>
              <a:t>percent</a:t>
            </a:r>
            <a:r>
              <a:rPr lang="de-AT" sz="2000" b="0" strike="noStrike" spc="-1" dirty="0">
                <a:solidFill>
                  <a:srgbClr val="000000"/>
                </a:solidFill>
                <a:latin typeface="Arial"/>
              </a:rPr>
              <a:t>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conference</a:t>
            </a:r>
            <a:r>
              <a:rPr lang="de-AT" sz="2000" b="0" strike="noStrike" spc="-1" dirty="0">
                <a:solidFill>
                  <a:srgbClr val="000000"/>
                </a:solidFill>
                <a:latin typeface="Arial"/>
              </a:rPr>
              <a:t> </a:t>
            </a:r>
            <a:r>
              <a:rPr lang="de-AT" sz="2000" b="0" strike="noStrike" spc="-1" dirty="0" err="1">
                <a:solidFill>
                  <a:srgbClr val="000000"/>
                </a:solidFill>
                <a:latin typeface="Arial"/>
              </a:rPr>
              <a:t>papers</a:t>
            </a:r>
            <a:r>
              <a:rPr lang="de-AT" sz="2000" b="0" strike="noStrike" spc="-1" dirty="0">
                <a:solidFill>
                  <a:srgbClr val="000000"/>
                </a:solidFill>
                <a:latin typeface="Arial"/>
              </a:rPr>
              <a:t>. This </a:t>
            </a:r>
            <a:r>
              <a:rPr lang="de-AT" sz="2000" b="0" strike="noStrike" spc="-1" dirty="0" err="1">
                <a:solidFill>
                  <a:srgbClr val="000000"/>
                </a:solidFill>
                <a:latin typeface="Arial"/>
              </a:rPr>
              <a:t>strengthens</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credibility</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review, </a:t>
            </a:r>
            <a:r>
              <a:rPr lang="de-AT" sz="2000" b="0" strike="noStrike" spc="-1" dirty="0" err="1">
                <a:solidFill>
                  <a:srgbClr val="000000"/>
                </a:solidFill>
                <a:latin typeface="Arial"/>
              </a:rPr>
              <a:t>since</a:t>
            </a:r>
            <a:r>
              <a:rPr lang="de-AT" sz="2000" b="0" strike="noStrike" spc="-1" dirty="0">
                <a:solidFill>
                  <a:srgbClr val="000000"/>
                </a:solidFill>
                <a:latin typeface="Arial"/>
              </a:rPr>
              <a:t> </a:t>
            </a:r>
            <a:r>
              <a:rPr lang="de-AT" sz="2000" b="0" strike="noStrike" spc="-1" dirty="0" err="1">
                <a:solidFill>
                  <a:srgbClr val="000000"/>
                </a:solidFill>
                <a:latin typeface="Arial"/>
              </a:rPr>
              <a:t>journal</a:t>
            </a:r>
            <a:r>
              <a:rPr lang="de-AT" sz="2000" b="0" strike="noStrike" spc="-1" dirty="0">
                <a:solidFill>
                  <a:srgbClr val="000000"/>
                </a:solidFill>
                <a:latin typeface="Arial"/>
              </a:rPr>
              <a:t> </a:t>
            </a:r>
            <a:r>
              <a:rPr lang="de-AT" sz="2000" b="0" strike="noStrike" spc="-1" dirty="0" err="1">
                <a:solidFill>
                  <a:srgbClr val="000000"/>
                </a:solidFill>
                <a:latin typeface="Arial"/>
              </a:rPr>
              <a:t>articles</a:t>
            </a:r>
            <a:r>
              <a:rPr lang="de-AT" sz="2000" b="0" strike="noStrike" spc="-1" dirty="0">
                <a:solidFill>
                  <a:srgbClr val="000000"/>
                </a:solidFill>
                <a:latin typeface="Arial"/>
              </a:rPr>
              <a:t> </a:t>
            </a:r>
            <a:r>
              <a:rPr lang="de-AT" sz="2000" b="0" strike="noStrike" spc="-1" dirty="0" err="1">
                <a:solidFill>
                  <a:srgbClr val="000000"/>
                </a:solidFill>
                <a:latin typeface="Arial"/>
              </a:rPr>
              <a:t>usually</a:t>
            </a:r>
            <a:r>
              <a:rPr lang="de-AT" sz="2000" b="0" strike="noStrike" spc="-1" dirty="0">
                <a:solidFill>
                  <a:srgbClr val="000000"/>
                </a:solidFill>
                <a:latin typeface="Arial"/>
              </a:rPr>
              <a:t> </a:t>
            </a:r>
            <a:r>
              <a:rPr lang="de-AT" sz="2000" b="0" strike="noStrike" spc="-1" dirty="0" err="1">
                <a:solidFill>
                  <a:srgbClr val="000000"/>
                </a:solidFill>
                <a:latin typeface="Arial"/>
              </a:rPr>
              <a:t>undergo</a:t>
            </a:r>
            <a:r>
              <a:rPr lang="de-AT" sz="2000" b="0" strike="noStrike" spc="-1" dirty="0">
                <a:solidFill>
                  <a:srgbClr val="000000"/>
                </a:solidFill>
                <a:latin typeface="Arial"/>
              </a:rPr>
              <a:t> a </a:t>
            </a:r>
            <a:r>
              <a:rPr lang="de-AT" sz="2000" b="0" strike="noStrike" spc="-1" dirty="0" err="1">
                <a:solidFill>
                  <a:srgbClr val="000000"/>
                </a:solidFill>
                <a:latin typeface="Arial"/>
              </a:rPr>
              <a:t>more</a:t>
            </a:r>
            <a:r>
              <a:rPr lang="de-AT" sz="2000" b="0" strike="noStrike" spc="-1" dirty="0">
                <a:solidFill>
                  <a:srgbClr val="000000"/>
                </a:solidFill>
                <a:latin typeface="Arial"/>
              </a:rPr>
              <a:t> </a:t>
            </a:r>
            <a:r>
              <a:rPr lang="de-AT" sz="2000" b="0" strike="noStrike" spc="-1" dirty="0" err="1">
                <a:solidFill>
                  <a:srgbClr val="000000"/>
                </a:solidFill>
                <a:latin typeface="Arial"/>
              </a:rPr>
              <a:t>rigorous</a:t>
            </a:r>
            <a:r>
              <a:rPr lang="de-AT" sz="2000" b="0" strike="noStrike" spc="-1" dirty="0">
                <a:solidFill>
                  <a:srgbClr val="000000"/>
                </a:solidFill>
                <a:latin typeface="Arial"/>
              </a:rPr>
              <a:t> peer-review </a:t>
            </a:r>
            <a:r>
              <a:rPr lang="de-AT" sz="2000" b="0" strike="noStrike" spc="-1" dirty="0" err="1">
                <a:solidFill>
                  <a:srgbClr val="000000"/>
                </a:solidFill>
                <a:latin typeface="Arial"/>
              </a:rPr>
              <a:t>process</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err="1">
                <a:solidFill>
                  <a:srgbClr val="000000"/>
                </a:solidFill>
                <a:latin typeface="Arial"/>
              </a:rPr>
              <a:t>Another</a:t>
            </a:r>
            <a:r>
              <a:rPr lang="de-AT" sz="2000" b="0" strike="noStrike" spc="-1" dirty="0">
                <a:solidFill>
                  <a:srgbClr val="000000"/>
                </a:solidFill>
                <a:latin typeface="Arial"/>
              </a:rPr>
              <a:t> </a:t>
            </a:r>
            <a:r>
              <a:rPr lang="de-AT" sz="2000" b="0" strike="noStrike" spc="-1" dirty="0" err="1">
                <a:solidFill>
                  <a:srgbClr val="000000"/>
                </a:solidFill>
                <a:latin typeface="Arial"/>
              </a:rPr>
              <a:t>important</a:t>
            </a:r>
            <a:r>
              <a:rPr lang="de-AT" sz="2000" b="0" strike="noStrike" spc="-1" dirty="0">
                <a:solidFill>
                  <a:srgbClr val="000000"/>
                </a:solidFill>
                <a:latin typeface="Arial"/>
              </a:rPr>
              <a:t> </a:t>
            </a:r>
            <a:r>
              <a:rPr lang="de-AT" sz="2000" b="0" strike="noStrike" spc="-1" dirty="0" err="1">
                <a:solidFill>
                  <a:srgbClr val="000000"/>
                </a:solidFill>
                <a:latin typeface="Arial"/>
              </a:rPr>
              <a:t>point</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geographical</a:t>
            </a:r>
            <a:r>
              <a:rPr lang="de-AT" sz="2000" b="0" strike="noStrike" spc="-1" dirty="0">
                <a:solidFill>
                  <a:srgbClr val="000000"/>
                </a:solidFill>
                <a:latin typeface="Arial"/>
              </a:rPr>
              <a:t> </a:t>
            </a:r>
            <a:r>
              <a:rPr lang="de-AT" sz="2000" b="0" strike="noStrike" spc="-1" dirty="0" err="1">
                <a:solidFill>
                  <a:srgbClr val="000000"/>
                </a:solidFill>
                <a:latin typeface="Arial"/>
              </a:rPr>
              <a:t>distribution</a:t>
            </a:r>
            <a:r>
              <a:rPr lang="de-AT" sz="2000" b="0" strike="noStrike" spc="-1" dirty="0">
                <a:solidFill>
                  <a:srgbClr val="000000"/>
                </a:solidFill>
                <a:latin typeface="Arial"/>
              </a:rPr>
              <a:t>. More </a:t>
            </a:r>
            <a:r>
              <a:rPr lang="de-AT" sz="2000" b="0" strike="noStrike" spc="-1" dirty="0" err="1">
                <a:solidFill>
                  <a:srgbClr val="000000"/>
                </a:solidFill>
                <a:latin typeface="Arial"/>
              </a:rPr>
              <a:t>than</a:t>
            </a:r>
            <a:r>
              <a:rPr lang="de-AT" sz="2000" b="0" strike="noStrike" spc="-1" dirty="0">
                <a:solidFill>
                  <a:srgbClr val="000000"/>
                </a:solidFill>
                <a:latin typeface="Arial"/>
              </a:rPr>
              <a:t> 70 </a:t>
            </a:r>
            <a:r>
              <a:rPr lang="de-AT" sz="2000" b="0" strike="noStrike" spc="-1" dirty="0" err="1">
                <a:solidFill>
                  <a:srgbClr val="000000"/>
                </a:solidFill>
                <a:latin typeface="Arial"/>
              </a:rPr>
              <a:t>percent</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first</a:t>
            </a:r>
            <a:r>
              <a:rPr lang="de-AT" sz="2000" b="0" strike="noStrike" spc="-1" dirty="0">
                <a:solidFill>
                  <a:srgbClr val="000000"/>
                </a:solidFill>
                <a:latin typeface="Arial"/>
              </a:rPr>
              <a:t> </a:t>
            </a:r>
            <a:r>
              <a:rPr lang="de-AT" sz="2000" b="0" strike="noStrike" spc="-1" dirty="0" err="1">
                <a:solidFill>
                  <a:srgbClr val="000000"/>
                </a:solidFill>
                <a:latin typeface="Arial"/>
              </a:rPr>
              <a:t>authors</a:t>
            </a:r>
            <a:r>
              <a:rPr lang="de-AT" sz="2000" b="0" strike="noStrike" spc="-1" dirty="0">
                <a:solidFill>
                  <a:srgbClr val="000000"/>
                </a:solidFill>
                <a:latin typeface="Arial"/>
              </a:rPr>
              <a:t>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from</a:t>
            </a:r>
            <a:r>
              <a:rPr lang="de-AT" sz="2000" b="0" strike="noStrike" spc="-1" dirty="0">
                <a:solidFill>
                  <a:srgbClr val="000000"/>
                </a:solidFill>
                <a:latin typeface="Arial"/>
              </a:rPr>
              <a:t> Asia, and </a:t>
            </a:r>
            <a:r>
              <a:rPr lang="de-AT" sz="2000" b="0" strike="noStrike" spc="-1" dirty="0" err="1">
                <a:solidFill>
                  <a:srgbClr val="000000"/>
                </a:solidFill>
                <a:latin typeface="Arial"/>
              </a:rPr>
              <a:t>more</a:t>
            </a:r>
            <a:r>
              <a:rPr lang="de-AT" sz="2000" b="0" strike="noStrike" spc="-1" dirty="0">
                <a:solidFill>
                  <a:srgbClr val="000000"/>
                </a:solidFill>
                <a:latin typeface="Arial"/>
              </a:rPr>
              <a:t> </a:t>
            </a:r>
            <a:r>
              <a:rPr lang="de-AT" sz="2000" b="0" strike="noStrike" spc="-1" dirty="0" err="1">
                <a:solidFill>
                  <a:srgbClr val="000000"/>
                </a:solidFill>
                <a:latin typeface="Arial"/>
              </a:rPr>
              <a:t>than</a:t>
            </a:r>
            <a:r>
              <a:rPr lang="de-AT" sz="2000" b="0" strike="noStrike" spc="-1" dirty="0">
                <a:solidFill>
                  <a:srgbClr val="000000"/>
                </a:solidFill>
                <a:latin typeface="Arial"/>
              </a:rPr>
              <a:t> half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were</a:t>
            </a:r>
            <a:r>
              <a:rPr lang="de-AT" sz="2000" b="0" strike="noStrike" spc="-1" dirty="0">
                <a:solidFill>
                  <a:srgbClr val="000000"/>
                </a:solidFill>
                <a:latin typeface="Arial"/>
              </a:rPr>
              <a:t> also </a:t>
            </a:r>
            <a:r>
              <a:rPr lang="de-AT" sz="2000" b="0" strike="noStrike" spc="-1" dirty="0" err="1">
                <a:solidFill>
                  <a:srgbClr val="000000"/>
                </a:solidFill>
                <a:latin typeface="Arial"/>
              </a:rPr>
              <a:t>conducted</a:t>
            </a:r>
            <a:r>
              <a:rPr lang="de-AT" sz="2000" b="0" strike="noStrike" spc="-1" dirty="0">
                <a:solidFill>
                  <a:srgbClr val="000000"/>
                </a:solidFill>
                <a:latin typeface="Arial"/>
              </a:rPr>
              <a:t> in Asian </a:t>
            </a:r>
            <a:r>
              <a:rPr lang="de-AT" sz="2000" b="0" strike="noStrike" spc="-1" dirty="0" err="1">
                <a:solidFill>
                  <a:srgbClr val="000000"/>
                </a:solidFill>
                <a:latin typeface="Arial"/>
              </a:rPr>
              <a:t>educational</a:t>
            </a:r>
            <a:r>
              <a:rPr lang="de-AT" sz="2000" b="0" strike="noStrike" spc="-1" dirty="0">
                <a:solidFill>
                  <a:srgbClr val="000000"/>
                </a:solidFill>
                <a:latin typeface="Arial"/>
              </a:rPr>
              <a:t> </a:t>
            </a:r>
            <a:r>
              <a:rPr lang="de-AT" sz="2000" b="0" strike="noStrike" spc="-1" dirty="0" err="1">
                <a:solidFill>
                  <a:srgbClr val="000000"/>
                </a:solidFill>
                <a:latin typeface="Arial"/>
              </a:rPr>
              <a:t>contexts</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This </a:t>
            </a:r>
            <a:r>
              <a:rPr lang="de-AT" sz="2000" b="0" strike="noStrike" spc="-1" dirty="0" err="1">
                <a:solidFill>
                  <a:srgbClr val="000000"/>
                </a:solidFill>
                <a:latin typeface="Arial"/>
              </a:rPr>
              <a:t>shows</a:t>
            </a:r>
            <a:r>
              <a:rPr lang="de-AT" sz="2000" b="0" strike="noStrike" spc="-1" dirty="0">
                <a:solidFill>
                  <a:srgbClr val="000000"/>
                </a:solidFill>
                <a:latin typeface="Arial"/>
              </a:rPr>
              <a:t> strong </a:t>
            </a:r>
            <a:r>
              <a:rPr lang="de-AT" sz="2000" b="0" strike="noStrike" spc="-1" dirty="0" err="1">
                <a:solidFill>
                  <a:srgbClr val="000000"/>
                </a:solidFill>
                <a:latin typeface="Arial"/>
              </a:rPr>
              <a:t>research</a:t>
            </a:r>
            <a:r>
              <a:rPr lang="de-AT" sz="2000" b="0" strike="noStrike" spc="-1" dirty="0">
                <a:solidFill>
                  <a:srgbClr val="000000"/>
                </a:solidFill>
                <a:latin typeface="Arial"/>
              </a:rPr>
              <a:t> </a:t>
            </a:r>
            <a:r>
              <a:rPr lang="de-AT" sz="2000" b="0" strike="noStrike" spc="-1" dirty="0" err="1">
                <a:solidFill>
                  <a:srgbClr val="000000"/>
                </a:solidFill>
                <a:latin typeface="Arial"/>
              </a:rPr>
              <a:t>activity</a:t>
            </a:r>
            <a:r>
              <a:rPr lang="de-AT" sz="2000" b="0" strike="noStrike" spc="-1" dirty="0">
                <a:solidFill>
                  <a:srgbClr val="000000"/>
                </a:solidFill>
                <a:latin typeface="Arial"/>
              </a:rPr>
              <a:t> in Asia, but </a:t>
            </a:r>
            <a:r>
              <a:rPr lang="de-AT" sz="2000" b="0" strike="noStrike" spc="-1" dirty="0" err="1">
                <a:solidFill>
                  <a:srgbClr val="000000"/>
                </a:solidFill>
                <a:latin typeface="Arial"/>
              </a:rPr>
              <a:t>it</a:t>
            </a:r>
            <a:r>
              <a:rPr lang="de-AT" sz="2000" b="0" strike="noStrike" spc="-1" dirty="0">
                <a:solidFill>
                  <a:srgbClr val="000000"/>
                </a:solidFill>
                <a:latin typeface="Arial"/>
              </a:rPr>
              <a:t> also </a:t>
            </a:r>
            <a:r>
              <a:rPr lang="de-AT" sz="2000" b="0" strike="noStrike" spc="-1" dirty="0" err="1">
                <a:solidFill>
                  <a:srgbClr val="000000"/>
                </a:solidFill>
                <a:latin typeface="Arial"/>
              </a:rPr>
              <a:t>limits</a:t>
            </a:r>
            <a:r>
              <a:rPr lang="de-AT" sz="2000" b="0" strike="noStrike" spc="-1" dirty="0">
                <a:solidFill>
                  <a:srgbClr val="000000"/>
                </a:solidFill>
                <a:latin typeface="Arial"/>
              </a:rPr>
              <a:t> </a:t>
            </a:r>
            <a:r>
              <a:rPr lang="de-AT" sz="2000" b="0" strike="noStrike" spc="-1" dirty="0" err="1">
                <a:solidFill>
                  <a:srgbClr val="000000"/>
                </a:solidFill>
                <a:latin typeface="Arial"/>
              </a:rPr>
              <a:t>generalizability</a:t>
            </a:r>
            <a:r>
              <a:rPr lang="de-AT" sz="2000" b="0" strike="noStrike" spc="-1" dirty="0">
                <a:solidFill>
                  <a:srgbClr val="000000"/>
                </a:solidFill>
                <a:latin typeface="Arial"/>
              </a:rPr>
              <a:t>. Educational </a:t>
            </a:r>
            <a:r>
              <a:rPr lang="de-AT" sz="2000" b="0" strike="noStrike" spc="-1" dirty="0" err="1">
                <a:solidFill>
                  <a:srgbClr val="000000"/>
                </a:solidFill>
                <a:latin typeface="Arial"/>
              </a:rPr>
              <a:t>systems</a:t>
            </a:r>
            <a:r>
              <a:rPr lang="de-AT" sz="2000" b="0" strike="noStrike" spc="-1" dirty="0">
                <a:solidFill>
                  <a:srgbClr val="000000"/>
                </a:solidFill>
                <a:latin typeface="Arial"/>
              </a:rPr>
              <a:t> and </a:t>
            </a:r>
            <a:r>
              <a:rPr lang="de-AT" sz="2000" b="0" strike="noStrike" spc="-1" dirty="0" err="1">
                <a:solidFill>
                  <a:srgbClr val="000000"/>
                </a:solidFill>
                <a:latin typeface="Arial"/>
              </a:rPr>
              <a:t>technology</a:t>
            </a:r>
            <a:r>
              <a:rPr lang="de-AT" sz="2000" b="0" strike="noStrike" spc="-1" dirty="0">
                <a:solidFill>
                  <a:srgbClr val="000000"/>
                </a:solidFill>
                <a:latin typeface="Arial"/>
              </a:rPr>
              <a:t> </a:t>
            </a:r>
            <a:r>
              <a:rPr lang="de-AT" sz="2000" b="0" strike="noStrike" spc="-1" dirty="0" err="1">
                <a:solidFill>
                  <a:srgbClr val="000000"/>
                </a:solidFill>
                <a:latin typeface="Arial"/>
              </a:rPr>
              <a:t>use</a:t>
            </a:r>
            <a:r>
              <a:rPr lang="de-AT" sz="2000" b="0" strike="noStrike" spc="-1" dirty="0">
                <a:solidFill>
                  <a:srgbClr val="000000"/>
                </a:solidFill>
                <a:latin typeface="Arial"/>
              </a:rPr>
              <a:t> </a:t>
            </a:r>
            <a:r>
              <a:rPr lang="de-AT" sz="2000" b="0" strike="noStrike" spc="-1" dirty="0" err="1">
                <a:solidFill>
                  <a:srgbClr val="000000"/>
                </a:solidFill>
                <a:latin typeface="Arial"/>
              </a:rPr>
              <a:t>can</a:t>
            </a:r>
            <a:r>
              <a:rPr lang="de-AT" sz="2000" b="0" strike="noStrike" spc="-1" dirty="0">
                <a:solidFill>
                  <a:srgbClr val="000000"/>
                </a:solidFill>
                <a:latin typeface="Arial"/>
              </a:rPr>
              <a:t> </a:t>
            </a:r>
            <a:r>
              <a:rPr lang="de-AT" sz="2000" b="0" strike="noStrike" spc="-1" dirty="0" err="1">
                <a:solidFill>
                  <a:srgbClr val="000000"/>
                </a:solidFill>
                <a:latin typeface="Arial"/>
              </a:rPr>
              <a:t>differ</a:t>
            </a:r>
            <a:r>
              <a:rPr lang="de-AT" sz="2000" b="0" strike="noStrike" spc="-1" dirty="0">
                <a:solidFill>
                  <a:srgbClr val="000000"/>
                </a:solidFill>
                <a:latin typeface="Arial"/>
              </a:rPr>
              <a:t> </a:t>
            </a:r>
            <a:r>
              <a:rPr lang="de-AT" sz="2000" b="0" strike="noStrike" spc="-1" dirty="0" err="1">
                <a:solidFill>
                  <a:srgbClr val="000000"/>
                </a:solidFill>
                <a:latin typeface="Arial"/>
              </a:rPr>
              <a:t>across</a:t>
            </a:r>
            <a:r>
              <a:rPr lang="de-AT" sz="2000" b="0" strike="noStrike" spc="-1" dirty="0">
                <a:solidFill>
                  <a:srgbClr val="000000"/>
                </a:solidFill>
                <a:latin typeface="Arial"/>
              </a:rPr>
              <a:t> </a:t>
            </a:r>
            <a:r>
              <a:rPr lang="de-AT" sz="2000" b="0" strike="noStrike" spc="-1" dirty="0" err="1">
                <a:solidFill>
                  <a:srgbClr val="000000"/>
                </a:solidFill>
                <a:latin typeface="Arial"/>
              </a:rPr>
              <a:t>regions</a:t>
            </a:r>
            <a:r>
              <a:rPr lang="de-AT" sz="2000" b="0" strike="noStrike" spc="-1" dirty="0">
                <a:solidFill>
                  <a:srgbClr val="000000"/>
                </a:solidFill>
                <a:latin typeface="Arial"/>
              </a:rPr>
              <a:t>, so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findings</a:t>
            </a:r>
            <a:r>
              <a:rPr lang="de-AT" sz="2000" b="0" strike="noStrike" spc="-1" dirty="0">
                <a:solidFill>
                  <a:srgbClr val="000000"/>
                </a:solidFill>
                <a:latin typeface="Arial"/>
              </a:rPr>
              <a:t> </a:t>
            </a:r>
            <a:r>
              <a:rPr lang="de-AT" sz="2000" b="0" strike="noStrike" spc="-1" dirty="0" err="1">
                <a:solidFill>
                  <a:srgbClr val="000000"/>
                </a:solidFill>
                <a:latin typeface="Arial"/>
              </a:rPr>
              <a:t>should</a:t>
            </a:r>
            <a:r>
              <a:rPr lang="de-AT" sz="2000" b="0" strike="noStrike" spc="-1" dirty="0">
                <a:solidFill>
                  <a:srgbClr val="000000"/>
                </a:solidFill>
                <a:latin typeface="Arial"/>
              </a:rPr>
              <a:t> </a:t>
            </a:r>
            <a:r>
              <a:rPr lang="de-AT" sz="2000" b="0" strike="noStrike" spc="-1" dirty="0" err="1">
                <a:solidFill>
                  <a:srgbClr val="000000"/>
                </a:solidFill>
                <a:latin typeface="Arial"/>
              </a:rPr>
              <a:t>be</a:t>
            </a:r>
            <a:r>
              <a:rPr lang="de-AT" sz="2000" b="0" strike="noStrike" spc="-1" dirty="0">
                <a:solidFill>
                  <a:srgbClr val="000000"/>
                </a:solidFill>
                <a:latin typeface="Arial"/>
              </a:rPr>
              <a:t> </a:t>
            </a:r>
            <a:r>
              <a:rPr lang="de-AT" sz="2000" b="0" strike="noStrike" spc="-1" dirty="0" err="1">
                <a:solidFill>
                  <a:srgbClr val="000000"/>
                </a:solidFill>
                <a:latin typeface="Arial"/>
              </a:rPr>
              <a:t>applied</a:t>
            </a:r>
            <a:r>
              <a:rPr lang="de-AT" sz="2000" b="0" strike="noStrike" spc="-1" dirty="0">
                <a:solidFill>
                  <a:srgbClr val="000000"/>
                </a:solidFill>
                <a:latin typeface="Arial"/>
              </a:rPr>
              <a:t> </a:t>
            </a:r>
            <a:r>
              <a:rPr lang="de-AT" sz="2000" b="0" strike="noStrike" spc="-1" dirty="0" err="1">
                <a:solidFill>
                  <a:srgbClr val="000000"/>
                </a:solidFill>
                <a:latin typeface="Arial"/>
              </a:rPr>
              <a:t>carefully</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other</a:t>
            </a:r>
            <a:r>
              <a:rPr lang="de-AT" sz="2000" b="0" strike="noStrike" spc="-1" dirty="0">
                <a:solidFill>
                  <a:srgbClr val="000000"/>
                </a:solidFill>
                <a:latin typeface="Arial"/>
              </a:rPr>
              <a:t> </a:t>
            </a:r>
            <a:r>
              <a:rPr lang="de-AT" sz="2000" b="0" strike="noStrike" spc="-1" dirty="0" err="1">
                <a:solidFill>
                  <a:srgbClr val="000000"/>
                </a:solidFill>
                <a:latin typeface="Arial"/>
              </a:rPr>
              <a:t>contexts</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Overall,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evidence</a:t>
            </a:r>
            <a:r>
              <a:rPr lang="de-AT" sz="2000" b="0" strike="noStrike" spc="-1" dirty="0">
                <a:solidFill>
                  <a:srgbClr val="000000"/>
                </a:solidFill>
                <a:latin typeface="Arial"/>
              </a:rPr>
              <a:t> </a:t>
            </a:r>
            <a:r>
              <a:rPr lang="de-AT" sz="2000" b="0" strike="noStrike" spc="-1" dirty="0" err="1">
                <a:solidFill>
                  <a:srgbClr val="000000"/>
                </a:solidFill>
                <a:latin typeface="Arial"/>
              </a:rPr>
              <a:t>base</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recent</a:t>
            </a:r>
            <a:r>
              <a:rPr lang="de-AT" sz="2000" b="0" strike="noStrike" spc="-1" dirty="0">
                <a:solidFill>
                  <a:srgbClr val="000000"/>
                </a:solidFill>
                <a:latin typeface="Arial"/>
              </a:rPr>
              <a:t> and </a:t>
            </a:r>
            <a:r>
              <a:rPr lang="de-AT" sz="2000" b="0" strike="noStrike" spc="-1" dirty="0" err="1">
                <a:solidFill>
                  <a:srgbClr val="000000"/>
                </a:solidFill>
                <a:latin typeface="Arial"/>
              </a:rPr>
              <a:t>mostly</a:t>
            </a:r>
            <a:r>
              <a:rPr lang="de-AT" sz="2000" b="0" strike="noStrike" spc="-1" dirty="0">
                <a:solidFill>
                  <a:srgbClr val="000000"/>
                </a:solidFill>
                <a:latin typeface="Arial"/>
              </a:rPr>
              <a:t> peer-</a:t>
            </a:r>
            <a:r>
              <a:rPr lang="de-AT" sz="2000" b="0" strike="noStrike" spc="-1" dirty="0" err="1">
                <a:solidFill>
                  <a:srgbClr val="000000"/>
                </a:solidFill>
                <a:latin typeface="Arial"/>
              </a:rPr>
              <a:t>reviewed</a:t>
            </a:r>
            <a:r>
              <a:rPr lang="de-AT" sz="2000" b="0" strike="noStrike" spc="-1" dirty="0">
                <a:solidFill>
                  <a:srgbClr val="000000"/>
                </a:solidFill>
                <a:latin typeface="Arial"/>
              </a:rPr>
              <a:t>, but </a:t>
            </a:r>
            <a:r>
              <a:rPr lang="de-AT" sz="2000" b="0" strike="noStrike" spc="-1" dirty="0" err="1">
                <a:solidFill>
                  <a:srgbClr val="000000"/>
                </a:solidFill>
                <a:latin typeface="Arial"/>
              </a:rPr>
              <a:t>geographically</a:t>
            </a:r>
            <a:r>
              <a:rPr lang="de-AT" sz="2000" b="0" strike="noStrike" spc="-1" dirty="0">
                <a:solidFill>
                  <a:srgbClr val="000000"/>
                </a:solidFill>
                <a:latin typeface="Arial"/>
              </a:rPr>
              <a:t> </a:t>
            </a:r>
            <a:r>
              <a:rPr lang="de-AT" sz="2000" b="0" strike="noStrike" spc="-1" dirty="0" err="1">
                <a:solidFill>
                  <a:srgbClr val="000000"/>
                </a:solidFill>
                <a:latin typeface="Arial"/>
              </a:rPr>
              <a:t>concentrated</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Having </a:t>
            </a:r>
            <a:r>
              <a:rPr lang="de-AT" sz="2000" b="0" strike="noStrike" spc="-1" dirty="0" err="1">
                <a:solidFill>
                  <a:srgbClr val="000000"/>
                </a:solidFill>
                <a:latin typeface="Arial"/>
              </a:rPr>
              <a:t>looked</a:t>
            </a:r>
            <a:r>
              <a:rPr lang="de-AT" sz="2000" b="0" strike="noStrike" spc="-1" dirty="0">
                <a:solidFill>
                  <a:srgbClr val="000000"/>
                </a:solidFill>
                <a:latin typeface="Arial"/>
              </a:rPr>
              <a:t>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study</a:t>
            </a:r>
            <a:r>
              <a:rPr lang="de-AT" sz="2000" b="0" strike="noStrike" spc="-1" dirty="0">
                <a:solidFill>
                  <a:srgbClr val="000000"/>
                </a:solidFill>
                <a:latin typeface="Arial"/>
              </a:rPr>
              <a:t> </a:t>
            </a:r>
            <a:r>
              <a:rPr lang="de-AT" sz="2000" b="0" strike="noStrike" spc="-1" dirty="0" err="1">
                <a:solidFill>
                  <a:srgbClr val="000000"/>
                </a:solidFill>
                <a:latin typeface="Arial"/>
              </a:rPr>
              <a:t>selection</a:t>
            </a:r>
            <a:r>
              <a:rPr lang="de-AT" sz="2000" b="0" strike="noStrike" spc="-1" dirty="0">
                <a:solidFill>
                  <a:srgbClr val="000000"/>
                </a:solidFill>
                <a:latin typeface="Arial"/>
              </a:rPr>
              <a:t> </a:t>
            </a:r>
            <a:r>
              <a:rPr lang="de-AT" sz="2000" b="0" strike="noStrike" spc="-1" dirty="0" err="1">
                <a:solidFill>
                  <a:srgbClr val="000000"/>
                </a:solidFill>
                <a:latin typeface="Arial"/>
              </a:rPr>
              <a:t>process</a:t>
            </a:r>
            <a:r>
              <a:rPr lang="de-AT" sz="2000" b="0" strike="noStrike" spc="-1" dirty="0">
                <a:solidFill>
                  <a:srgbClr val="000000"/>
                </a:solidFill>
                <a:latin typeface="Arial"/>
              </a:rPr>
              <a:t> and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characteristics</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included</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let</a:t>
            </a:r>
            <a:r>
              <a:rPr lang="de-AT" sz="2000" b="0" strike="noStrike" spc="-1" dirty="0">
                <a:solidFill>
                  <a:srgbClr val="000000"/>
                </a:solidFill>
                <a:latin typeface="Arial"/>
              </a:rPr>
              <a:t> </a:t>
            </a:r>
            <a:r>
              <a:rPr lang="de-AT" sz="2000" b="0" strike="noStrike" spc="-1" dirty="0" err="1">
                <a:solidFill>
                  <a:srgbClr val="000000"/>
                </a:solidFill>
                <a:latin typeface="Arial"/>
              </a:rPr>
              <a:t>us</a:t>
            </a:r>
            <a:r>
              <a:rPr lang="de-AT" sz="2000" b="0" strike="noStrike" spc="-1" dirty="0">
                <a:solidFill>
                  <a:srgbClr val="000000"/>
                </a:solidFill>
                <a:latin typeface="Arial"/>
              </a:rPr>
              <a:t> </a:t>
            </a:r>
            <a:r>
              <a:rPr lang="de-AT" sz="2000" b="0" strike="noStrike" spc="-1" dirty="0" err="1">
                <a:solidFill>
                  <a:srgbClr val="000000"/>
                </a:solidFill>
                <a:latin typeface="Arial"/>
              </a:rPr>
              <a:t>continue</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evaluate</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overall</a:t>
            </a:r>
            <a:r>
              <a:rPr lang="de-AT" sz="2000" b="0" strike="noStrike" spc="-1" dirty="0">
                <a:solidFill>
                  <a:srgbClr val="000000"/>
                </a:solidFill>
                <a:latin typeface="Arial"/>
              </a:rPr>
              <a:t> </a:t>
            </a:r>
            <a:r>
              <a:rPr lang="de-AT" sz="2000" b="0" strike="noStrike" spc="-1" dirty="0" err="1">
                <a:solidFill>
                  <a:srgbClr val="000000"/>
                </a:solidFill>
                <a:latin typeface="Arial"/>
              </a:rPr>
              <a:t>quality</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meta-analysis </a:t>
            </a:r>
            <a:r>
              <a:rPr lang="de-AT" sz="2000" b="0" strike="noStrike" spc="-1" dirty="0" err="1">
                <a:solidFill>
                  <a:srgbClr val="000000"/>
                </a:solidFill>
                <a:latin typeface="Arial"/>
              </a:rPr>
              <a:t>using</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MAGIC </a:t>
            </a:r>
            <a:r>
              <a:rPr lang="de-AT" sz="2000" b="0" strike="noStrike" spc="-1" dirty="0" err="1">
                <a:solidFill>
                  <a:srgbClr val="000000"/>
                </a:solidFill>
                <a:latin typeface="Arial"/>
              </a:rPr>
              <a:t>framework</a:t>
            </a:r>
            <a:r>
              <a:rPr lang="de-AT" sz="2000" b="0" strike="noStrike" spc="-1" dirty="0">
                <a:solidFill>
                  <a:srgbClr val="000000"/>
                </a:solidFill>
                <a:latin typeface="Arial"/>
              </a:rPr>
              <a:t>.</a:t>
            </a:r>
          </a:p>
        </p:txBody>
      </p:sp>
      <p:sp>
        <p:nvSpPr>
          <p:cNvPr id="232" name="PlaceHolder 3"/>
          <p:cNvSpPr>
            <a:spLocks noGrp="1"/>
          </p:cNvSpPr>
          <p:nvPr>
            <p:ph type="sldNum" idx="4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E88FFF29-727E-41B4-A59C-8DC2DA8E2D5B}" type="slidenum">
              <a:rPr lang="de-AT" sz="1200" b="0" strike="noStrike" spc="-1">
                <a:solidFill>
                  <a:srgbClr val="000000"/>
                </a:solidFill>
                <a:latin typeface="Times New Roman"/>
              </a:rPr>
              <a:t>6</a:t>
            </a:fld>
            <a:endParaRPr lang="de-AT" sz="1200" b="0" strike="noStrike" spc="-1">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noRot="1" noChangeAspect="1"/>
          </p:cNvSpPr>
          <p:nvPr>
            <p:ph type="sldImg"/>
          </p:nvPr>
        </p:nvSpPr>
        <p:spPr>
          <a:xfrm>
            <a:off x="685800" y="1143000"/>
            <a:ext cx="5486400" cy="3086100"/>
          </a:xfrm>
          <a:prstGeom prst="rect">
            <a:avLst/>
          </a:prstGeom>
          <a:ln w="0">
            <a:noFill/>
          </a:ln>
        </p:spPr>
      </p:sp>
      <p:sp>
        <p:nvSpPr>
          <p:cNvPr id="2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evaluate</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quality</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meta-analysis, </a:t>
            </a:r>
            <a:r>
              <a:rPr lang="de-AT" sz="2000" b="0" strike="noStrike" spc="-1" dirty="0" err="1">
                <a:solidFill>
                  <a:srgbClr val="000000"/>
                </a:solidFill>
                <a:latin typeface="Arial"/>
              </a:rPr>
              <a:t>we</a:t>
            </a:r>
            <a:r>
              <a:rPr lang="de-AT" sz="2000" b="0" strike="noStrike" spc="-1" dirty="0">
                <a:solidFill>
                  <a:srgbClr val="000000"/>
                </a:solidFill>
                <a:latin typeface="Arial"/>
              </a:rPr>
              <a:t> </a:t>
            </a:r>
            <a:r>
              <a:rPr lang="de-AT" sz="2000" b="0" strike="noStrike" spc="-1" dirty="0" err="1">
                <a:solidFill>
                  <a:srgbClr val="000000"/>
                </a:solidFill>
                <a:latin typeface="Arial"/>
              </a:rPr>
              <a:t>applied</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MAGIC </a:t>
            </a:r>
            <a:r>
              <a:rPr lang="de-AT" sz="2000" b="0" strike="noStrike" spc="-1" dirty="0" err="1">
                <a:solidFill>
                  <a:srgbClr val="000000"/>
                </a:solidFill>
                <a:latin typeface="Arial"/>
              </a:rPr>
              <a:t>criteria</a:t>
            </a:r>
            <a:r>
              <a:rPr lang="de-AT" sz="2000" b="0" strike="noStrike" spc="-1" dirty="0">
                <a:solidFill>
                  <a:srgbClr val="000000"/>
                </a:solidFill>
                <a:latin typeface="Arial"/>
              </a:rPr>
              <a:t> </a:t>
            </a:r>
            <a:r>
              <a:rPr lang="de-AT" sz="2000" b="0" strike="noStrike" spc="-1" dirty="0" err="1">
                <a:solidFill>
                  <a:srgbClr val="000000"/>
                </a:solidFill>
                <a:latin typeface="Arial"/>
              </a:rPr>
              <a:t>from</a:t>
            </a:r>
            <a:r>
              <a:rPr lang="de-AT" sz="2000" b="0" strike="noStrike" spc="-1" dirty="0">
                <a:solidFill>
                  <a:srgbClr val="000000"/>
                </a:solidFill>
                <a:latin typeface="Arial"/>
              </a:rPr>
              <a:t> </a:t>
            </a:r>
            <a:r>
              <a:rPr lang="de-AT" sz="2000" b="0" strike="noStrike" spc="-1" dirty="0" err="1">
                <a:solidFill>
                  <a:srgbClr val="000000"/>
                </a:solidFill>
                <a:latin typeface="Arial"/>
              </a:rPr>
              <a:t>our</a:t>
            </a:r>
            <a:r>
              <a:rPr lang="de-AT" sz="2000" b="0" strike="noStrike" spc="-1" dirty="0">
                <a:solidFill>
                  <a:srgbClr val="000000"/>
                </a:solidFill>
                <a:latin typeface="Arial"/>
              </a:rPr>
              <a:t> </a:t>
            </a:r>
            <a:r>
              <a:rPr lang="de-AT" sz="2000" b="0" strike="noStrike" spc="-1" dirty="0" err="1">
                <a:solidFill>
                  <a:srgbClr val="000000"/>
                </a:solidFill>
                <a:latin typeface="Arial"/>
              </a:rPr>
              <a:t>course</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err="1">
                <a:solidFill>
                  <a:srgbClr val="000000"/>
                </a:solidFill>
                <a:latin typeface="Arial"/>
              </a:rPr>
              <a:t>Starting</a:t>
            </a:r>
            <a:r>
              <a:rPr lang="de-AT" sz="2000" b="0" strike="noStrike" spc="-1" dirty="0">
                <a:solidFill>
                  <a:srgbClr val="000000"/>
                </a:solidFill>
                <a:latin typeface="Arial"/>
              </a:rPr>
              <a:t> </a:t>
            </a:r>
            <a:r>
              <a:rPr lang="de-AT" sz="2000" b="0" strike="noStrike" spc="-1" dirty="0" err="1">
                <a:solidFill>
                  <a:srgbClr val="000000"/>
                </a:solidFill>
                <a:latin typeface="Arial"/>
              </a:rPr>
              <a:t>with</a:t>
            </a:r>
            <a:r>
              <a:rPr lang="de-AT" sz="2000" b="0" strike="noStrike" spc="-1" dirty="0">
                <a:solidFill>
                  <a:srgbClr val="000000"/>
                </a:solidFill>
                <a:latin typeface="Arial"/>
              </a:rPr>
              <a:t> </a:t>
            </a:r>
            <a:r>
              <a:rPr lang="de-AT" sz="2000" b="1" strike="noStrike" spc="-1" dirty="0">
                <a:solidFill>
                  <a:srgbClr val="000000"/>
                </a:solidFill>
                <a:latin typeface="Arial"/>
              </a:rPr>
              <a:t>Magnitude</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meta-analysis </a:t>
            </a:r>
            <a:r>
              <a:rPr lang="de-AT" sz="2000" b="0" strike="noStrike" spc="-1" dirty="0" err="1">
                <a:solidFill>
                  <a:srgbClr val="000000"/>
                </a:solidFill>
                <a:latin typeface="Arial"/>
              </a:rPr>
              <a:t>reports</a:t>
            </a:r>
            <a:r>
              <a:rPr lang="de-AT" sz="2000" b="0" strike="noStrike" spc="-1" dirty="0">
                <a:solidFill>
                  <a:srgbClr val="000000"/>
                </a:solidFill>
                <a:latin typeface="Arial"/>
              </a:rPr>
              <a:t> an </a:t>
            </a:r>
            <a:r>
              <a:rPr lang="de-AT" sz="2000" b="0" strike="noStrike" spc="-1" dirty="0" err="1">
                <a:solidFill>
                  <a:srgbClr val="000000"/>
                </a:solidFill>
                <a:latin typeface="Arial"/>
              </a:rPr>
              <a:t>overall</a:t>
            </a:r>
            <a:r>
              <a:rPr lang="de-AT" sz="2000" b="0" strike="noStrike" spc="-1" dirty="0">
                <a:solidFill>
                  <a:srgbClr val="000000"/>
                </a:solidFill>
                <a:latin typeface="Arial"/>
              </a:rPr>
              <a:t> positive </a:t>
            </a:r>
            <a:r>
              <a:rPr lang="de-AT" sz="2000" b="0" strike="noStrike" spc="-1" dirty="0" err="1">
                <a:solidFill>
                  <a:srgbClr val="000000"/>
                </a:solidFill>
                <a:latin typeface="Arial"/>
              </a:rPr>
              <a:t>effect</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ChatGPT on </a:t>
            </a:r>
            <a:r>
              <a:rPr lang="de-AT" sz="2000" b="0" strike="noStrike" spc="-1" dirty="0" err="1">
                <a:solidFill>
                  <a:srgbClr val="000000"/>
                </a:solidFill>
                <a:latin typeface="Arial"/>
              </a:rPr>
              <a:t>student</a:t>
            </a:r>
            <a:r>
              <a:rPr lang="de-AT" sz="2000" b="0" strike="noStrike" spc="-1" dirty="0">
                <a:solidFill>
                  <a:srgbClr val="000000"/>
                </a:solidFill>
                <a:latin typeface="Arial"/>
              </a:rPr>
              <a:t> </a:t>
            </a:r>
            <a:r>
              <a:rPr lang="de-AT" sz="2000" b="0" strike="noStrike" spc="-1" dirty="0" err="1">
                <a:solidFill>
                  <a:srgbClr val="000000"/>
                </a:solidFill>
                <a:latin typeface="Arial"/>
              </a:rPr>
              <a:t>learning</a:t>
            </a:r>
            <a:r>
              <a:rPr lang="de-AT" sz="2000" b="0" strike="noStrike" spc="-1" dirty="0">
                <a:solidFill>
                  <a:srgbClr val="000000"/>
                </a:solidFill>
                <a:latin typeface="Arial"/>
              </a:rPr>
              <a:t>. This </a:t>
            </a:r>
            <a:r>
              <a:rPr lang="de-AT" sz="2000" b="0" strike="noStrike" spc="-1" dirty="0" err="1">
                <a:solidFill>
                  <a:srgbClr val="000000"/>
                </a:solidFill>
                <a:latin typeface="Arial"/>
              </a:rPr>
              <a:t>suggests</a:t>
            </a:r>
            <a:r>
              <a:rPr lang="de-AT" sz="2000" b="0" strike="noStrike" spc="-1" dirty="0">
                <a:solidFill>
                  <a:srgbClr val="000000"/>
                </a:solidFill>
                <a:latin typeface="Arial"/>
              </a:rPr>
              <a:t> </a:t>
            </a:r>
            <a:r>
              <a:rPr lang="de-AT" sz="2000" b="0" strike="noStrike" spc="-1" dirty="0" err="1">
                <a:solidFill>
                  <a:srgbClr val="000000"/>
                </a:solidFill>
                <a:latin typeface="Arial"/>
              </a:rPr>
              <a:t>that</a:t>
            </a:r>
            <a:r>
              <a:rPr lang="de-AT" sz="2000" b="0" strike="noStrike" spc="-1" dirty="0">
                <a:solidFill>
                  <a:srgbClr val="000000"/>
                </a:solidFill>
                <a:latin typeface="Arial"/>
              </a:rPr>
              <a:t>, </a:t>
            </a:r>
            <a:r>
              <a:rPr lang="de-AT" sz="2000" b="0" strike="noStrike" spc="-1" dirty="0" err="1">
                <a:solidFill>
                  <a:srgbClr val="000000"/>
                </a:solidFill>
                <a:latin typeface="Arial"/>
              </a:rPr>
              <a:t>across</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included</a:t>
            </a:r>
            <a:r>
              <a:rPr lang="de-AT" sz="2000" b="0" strike="noStrike" spc="-1" dirty="0">
                <a:solidFill>
                  <a:srgbClr val="000000"/>
                </a:solidFill>
                <a:latin typeface="Arial"/>
              </a:rPr>
              <a:t> experimental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students</a:t>
            </a:r>
            <a:r>
              <a:rPr lang="de-AT" sz="2000" b="0" strike="noStrike" spc="-1" dirty="0">
                <a:solidFill>
                  <a:srgbClr val="000000"/>
                </a:solidFill>
                <a:latin typeface="Arial"/>
              </a:rPr>
              <a:t> </a:t>
            </a:r>
            <a:r>
              <a:rPr lang="de-AT" sz="2000" b="0" strike="noStrike" spc="-1" dirty="0" err="1">
                <a:solidFill>
                  <a:srgbClr val="000000"/>
                </a:solidFill>
                <a:latin typeface="Arial"/>
              </a:rPr>
              <a:t>using</a:t>
            </a:r>
            <a:r>
              <a:rPr lang="de-AT" sz="2000" b="0" strike="noStrike" spc="-1" dirty="0">
                <a:solidFill>
                  <a:srgbClr val="000000"/>
                </a:solidFill>
                <a:latin typeface="Arial"/>
              </a:rPr>
              <a:t> ChatGPT </a:t>
            </a:r>
            <a:r>
              <a:rPr lang="de-AT" sz="2000" b="0" strike="noStrike" spc="-1" dirty="0" err="1">
                <a:solidFill>
                  <a:srgbClr val="000000"/>
                </a:solidFill>
                <a:latin typeface="Arial"/>
              </a:rPr>
              <a:t>tended</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benefit</a:t>
            </a:r>
            <a:r>
              <a:rPr lang="de-AT" sz="2000" b="0" strike="noStrike" spc="-1" dirty="0">
                <a:solidFill>
                  <a:srgbClr val="000000"/>
                </a:solidFill>
                <a:latin typeface="Arial"/>
              </a:rPr>
              <a:t> </a:t>
            </a:r>
            <a:r>
              <a:rPr lang="de-AT" sz="2000" b="0" strike="noStrike" spc="-1" dirty="0" err="1">
                <a:solidFill>
                  <a:srgbClr val="000000"/>
                </a:solidFill>
                <a:latin typeface="Arial"/>
              </a:rPr>
              <a:t>compared</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control</a:t>
            </a:r>
            <a:r>
              <a:rPr lang="de-AT" sz="2000" b="0" strike="noStrike" spc="-1" dirty="0">
                <a:solidFill>
                  <a:srgbClr val="000000"/>
                </a:solidFill>
                <a:latin typeface="Arial"/>
              </a:rPr>
              <a:t> </a:t>
            </a:r>
            <a:r>
              <a:rPr lang="de-AT" sz="2000" b="0" strike="noStrike" spc="-1" dirty="0" err="1">
                <a:solidFill>
                  <a:srgbClr val="000000"/>
                </a:solidFill>
                <a:latin typeface="Arial"/>
              </a:rPr>
              <a:t>groups</a:t>
            </a:r>
            <a:r>
              <a:rPr lang="de-AT" sz="2000" b="0" strike="noStrike" spc="-1" dirty="0">
                <a:solidFill>
                  <a:srgbClr val="000000"/>
                </a:solidFill>
                <a:latin typeface="Arial"/>
              </a:rPr>
              <a:t>. </a:t>
            </a:r>
            <a:r>
              <a:rPr lang="de-AT" sz="2000" b="0" strike="noStrike" spc="-1" dirty="0" err="1">
                <a:solidFill>
                  <a:srgbClr val="000000"/>
                </a:solidFill>
                <a:latin typeface="Arial"/>
              </a:rPr>
              <a:t>However</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size</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effect</a:t>
            </a:r>
            <a:r>
              <a:rPr lang="de-AT" sz="2000" b="0" strike="noStrike" spc="-1" dirty="0">
                <a:solidFill>
                  <a:srgbClr val="000000"/>
                </a:solidFill>
                <a:latin typeface="Arial"/>
              </a:rPr>
              <a:t> </a:t>
            </a:r>
            <a:r>
              <a:rPr lang="de-AT" sz="2000" b="0" strike="noStrike" spc="-1" dirty="0" err="1">
                <a:solidFill>
                  <a:srgbClr val="000000"/>
                </a:solidFill>
                <a:latin typeface="Arial"/>
              </a:rPr>
              <a:t>should</a:t>
            </a:r>
            <a:r>
              <a:rPr lang="de-AT" sz="2000" b="0" strike="noStrike" spc="-1" dirty="0">
                <a:solidFill>
                  <a:srgbClr val="000000"/>
                </a:solidFill>
                <a:latin typeface="Arial"/>
              </a:rPr>
              <a:t> not </a:t>
            </a:r>
            <a:r>
              <a:rPr lang="de-AT" sz="2000" b="0" strike="noStrike" spc="-1" dirty="0" err="1">
                <a:solidFill>
                  <a:srgbClr val="000000"/>
                </a:solidFill>
                <a:latin typeface="Arial"/>
              </a:rPr>
              <a:t>be</a:t>
            </a:r>
            <a:r>
              <a:rPr lang="de-AT" sz="2000" b="0" strike="noStrike" spc="-1" dirty="0">
                <a:solidFill>
                  <a:srgbClr val="000000"/>
                </a:solidFill>
                <a:latin typeface="Arial"/>
              </a:rPr>
              <a:t> </a:t>
            </a:r>
            <a:r>
              <a:rPr lang="de-AT" sz="2000" b="0" strike="noStrike" spc="-1" dirty="0" err="1">
                <a:solidFill>
                  <a:srgbClr val="000000"/>
                </a:solidFill>
                <a:latin typeface="Arial"/>
              </a:rPr>
              <a:t>interpreted</a:t>
            </a:r>
            <a:r>
              <a:rPr lang="de-AT" sz="2000" b="0" strike="noStrike" spc="-1" dirty="0">
                <a:solidFill>
                  <a:srgbClr val="000000"/>
                </a:solidFill>
                <a:latin typeface="Arial"/>
              </a:rPr>
              <a:t> </a:t>
            </a:r>
            <a:r>
              <a:rPr lang="de-AT" sz="2000" b="0" strike="noStrike" spc="-1" dirty="0" err="1">
                <a:solidFill>
                  <a:srgbClr val="000000"/>
                </a:solidFill>
                <a:latin typeface="Arial"/>
              </a:rPr>
              <a:t>as</a:t>
            </a:r>
            <a:r>
              <a:rPr lang="de-AT" sz="2000" b="0" strike="noStrike" spc="-1" dirty="0">
                <a:solidFill>
                  <a:srgbClr val="000000"/>
                </a:solidFill>
                <a:latin typeface="Arial"/>
              </a:rPr>
              <a:t> </a:t>
            </a:r>
            <a:r>
              <a:rPr lang="de-AT" sz="2000" b="0" strike="noStrike" spc="-1" dirty="0" err="1">
                <a:solidFill>
                  <a:srgbClr val="000000"/>
                </a:solidFill>
                <a:latin typeface="Arial"/>
              </a:rPr>
              <a:t>proof</a:t>
            </a:r>
            <a:r>
              <a:rPr lang="de-AT" sz="2000" b="0" strike="noStrike" spc="-1" dirty="0">
                <a:solidFill>
                  <a:srgbClr val="000000"/>
                </a:solidFill>
                <a:latin typeface="Arial"/>
              </a:rPr>
              <a:t> </a:t>
            </a:r>
            <a:r>
              <a:rPr lang="de-AT" sz="2000" b="0" strike="noStrike" spc="-1" dirty="0" err="1">
                <a:solidFill>
                  <a:srgbClr val="000000"/>
                </a:solidFill>
                <a:latin typeface="Arial"/>
              </a:rPr>
              <a:t>that</a:t>
            </a:r>
            <a:r>
              <a:rPr lang="de-AT" sz="2000" b="0" strike="noStrike" spc="-1" dirty="0">
                <a:solidFill>
                  <a:srgbClr val="000000"/>
                </a:solidFill>
                <a:latin typeface="Arial"/>
              </a:rPr>
              <a:t> ChatGPT </a:t>
            </a:r>
            <a:r>
              <a:rPr lang="de-AT" sz="2000" b="0" strike="noStrike" spc="-1" dirty="0" err="1">
                <a:solidFill>
                  <a:srgbClr val="000000"/>
                </a:solidFill>
                <a:latin typeface="Arial"/>
              </a:rPr>
              <a:t>always</a:t>
            </a:r>
            <a:r>
              <a:rPr lang="de-AT" sz="2000" b="0" strike="noStrike" spc="-1" dirty="0">
                <a:solidFill>
                  <a:srgbClr val="000000"/>
                </a:solidFill>
                <a:latin typeface="Arial"/>
              </a:rPr>
              <a:t> </a:t>
            </a:r>
            <a:r>
              <a:rPr lang="de-AT" sz="2000" b="0" strike="noStrike" spc="-1" dirty="0" err="1">
                <a:solidFill>
                  <a:srgbClr val="000000"/>
                </a:solidFill>
                <a:latin typeface="Arial"/>
              </a:rPr>
              <a:t>improves</a:t>
            </a:r>
            <a:r>
              <a:rPr lang="de-AT" sz="2000" b="0" strike="noStrike" spc="-1" dirty="0">
                <a:solidFill>
                  <a:srgbClr val="000000"/>
                </a:solidFill>
                <a:latin typeface="Arial"/>
              </a:rPr>
              <a:t> </a:t>
            </a:r>
            <a:r>
              <a:rPr lang="de-AT" sz="2000" b="0" strike="noStrike" spc="-1" dirty="0" err="1">
                <a:solidFill>
                  <a:srgbClr val="000000"/>
                </a:solidFill>
                <a:latin typeface="Arial"/>
              </a:rPr>
              <a:t>learning</a:t>
            </a:r>
            <a:r>
              <a:rPr lang="de-AT" sz="2000" b="0" strike="noStrike" spc="-1" dirty="0">
                <a:solidFill>
                  <a:srgbClr val="000000"/>
                </a:solidFill>
                <a:latin typeface="Arial"/>
              </a:rPr>
              <a:t>. Rather, </a:t>
            </a:r>
            <a:r>
              <a:rPr lang="de-AT" sz="2000" b="0" strike="noStrike" spc="-1" dirty="0" err="1">
                <a:solidFill>
                  <a:srgbClr val="000000"/>
                </a:solidFill>
                <a:latin typeface="Arial"/>
              </a:rPr>
              <a:t>it</a:t>
            </a:r>
            <a:r>
              <a:rPr lang="de-AT" sz="2000" b="0" strike="noStrike" spc="-1" dirty="0">
                <a:solidFill>
                  <a:srgbClr val="000000"/>
                </a:solidFill>
                <a:latin typeface="Arial"/>
              </a:rPr>
              <a:t> </a:t>
            </a:r>
            <a:r>
              <a:rPr lang="de-AT" sz="2000" b="0" strike="noStrike" spc="-1" dirty="0" err="1">
                <a:solidFill>
                  <a:srgbClr val="000000"/>
                </a:solidFill>
                <a:latin typeface="Arial"/>
              </a:rPr>
              <a:t>indicates</a:t>
            </a:r>
            <a:r>
              <a:rPr lang="de-AT" sz="2000" b="0" strike="noStrike" spc="-1" dirty="0">
                <a:solidFill>
                  <a:srgbClr val="000000"/>
                </a:solidFill>
                <a:latin typeface="Arial"/>
              </a:rPr>
              <a:t> a </a:t>
            </a:r>
            <a:r>
              <a:rPr lang="de-AT" sz="2000" b="0" strike="noStrike" spc="-1" dirty="0" err="1">
                <a:solidFill>
                  <a:srgbClr val="000000"/>
                </a:solidFill>
                <a:latin typeface="Arial"/>
              </a:rPr>
              <a:t>general</a:t>
            </a:r>
            <a:r>
              <a:rPr lang="de-AT" sz="2000" b="0" strike="noStrike" spc="-1" dirty="0">
                <a:solidFill>
                  <a:srgbClr val="000000"/>
                </a:solidFill>
                <a:latin typeface="Arial"/>
              </a:rPr>
              <a:t> positive </a:t>
            </a:r>
            <a:r>
              <a:rPr lang="de-AT" sz="2000" b="0" strike="noStrike" spc="-1" dirty="0" err="1">
                <a:solidFill>
                  <a:srgbClr val="000000"/>
                </a:solidFill>
                <a:latin typeface="Arial"/>
              </a:rPr>
              <a:t>tendency</a:t>
            </a:r>
            <a:r>
              <a:rPr lang="de-AT" sz="2000" b="0" strike="noStrike" spc="-1" dirty="0">
                <a:solidFill>
                  <a:srgbClr val="000000"/>
                </a:solidFill>
                <a:latin typeface="Arial"/>
              </a:rPr>
              <a:t> </a:t>
            </a:r>
            <a:r>
              <a:rPr lang="de-AT" sz="2000" b="0" strike="noStrike" spc="-1" dirty="0" err="1">
                <a:solidFill>
                  <a:srgbClr val="000000"/>
                </a:solidFill>
                <a:latin typeface="Arial"/>
              </a:rPr>
              <a:t>across</a:t>
            </a:r>
            <a:r>
              <a:rPr lang="de-AT" sz="2000" b="0" strike="noStrike" spc="-1" dirty="0">
                <a:solidFill>
                  <a:srgbClr val="000000"/>
                </a:solidFill>
                <a:latin typeface="Arial"/>
              </a:rPr>
              <a:t> different </a:t>
            </a:r>
            <a:r>
              <a:rPr lang="de-AT" sz="2000" b="0" strike="noStrike" spc="-1" dirty="0" err="1">
                <a:solidFill>
                  <a:srgbClr val="000000"/>
                </a:solidFill>
                <a:latin typeface="Arial"/>
              </a:rPr>
              <a:t>studies</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The </a:t>
            </a:r>
            <a:r>
              <a:rPr lang="de-AT" sz="2000" b="0" strike="noStrike" spc="-1" dirty="0" err="1">
                <a:solidFill>
                  <a:srgbClr val="000000"/>
                </a:solidFill>
                <a:latin typeface="Arial"/>
              </a:rPr>
              <a:t>second</a:t>
            </a:r>
            <a:r>
              <a:rPr lang="de-AT" sz="2000" b="0" strike="noStrike" spc="-1" dirty="0">
                <a:solidFill>
                  <a:srgbClr val="000000"/>
                </a:solidFill>
                <a:latin typeface="Arial"/>
              </a:rPr>
              <a:t> </a:t>
            </a:r>
            <a:r>
              <a:rPr lang="de-AT" sz="2000" b="0" strike="noStrike" spc="-1" dirty="0" err="1">
                <a:solidFill>
                  <a:srgbClr val="000000"/>
                </a:solidFill>
                <a:latin typeface="Arial"/>
              </a:rPr>
              <a:t>criterion</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1" strike="noStrike" spc="-1" dirty="0" err="1">
                <a:solidFill>
                  <a:srgbClr val="000000"/>
                </a:solidFill>
                <a:latin typeface="Arial"/>
              </a:rPr>
              <a:t>Articulation</a:t>
            </a:r>
            <a:r>
              <a:rPr lang="de-AT" sz="2000" b="0" strike="noStrike" spc="-1" dirty="0">
                <a:solidFill>
                  <a:srgbClr val="000000"/>
                </a:solidFill>
                <a:latin typeface="Arial"/>
              </a:rPr>
              <a:t>. Here, I </a:t>
            </a:r>
            <a:r>
              <a:rPr lang="de-AT" sz="2000" b="0" strike="noStrike" spc="-1" dirty="0" err="1">
                <a:solidFill>
                  <a:srgbClr val="000000"/>
                </a:solidFill>
                <a:latin typeface="Arial"/>
              </a:rPr>
              <a:t>would</a:t>
            </a:r>
            <a:r>
              <a:rPr lang="de-AT" sz="2000" b="0" strike="noStrike" spc="-1" dirty="0">
                <a:solidFill>
                  <a:srgbClr val="000000"/>
                </a:solidFill>
                <a:latin typeface="Arial"/>
              </a:rPr>
              <a:t> </a:t>
            </a:r>
            <a:r>
              <a:rPr lang="de-AT" sz="2000" b="0" strike="noStrike" spc="-1" dirty="0" err="1">
                <a:solidFill>
                  <a:srgbClr val="000000"/>
                </a:solidFill>
                <a:latin typeface="Arial"/>
              </a:rPr>
              <a:t>say</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meta-analysis </a:t>
            </a:r>
            <a:r>
              <a:rPr lang="de-AT" sz="2000" b="0" strike="noStrike" spc="-1" dirty="0" err="1">
                <a:solidFill>
                  <a:srgbClr val="000000"/>
                </a:solidFill>
                <a:latin typeface="Arial"/>
              </a:rPr>
              <a:t>performs</a:t>
            </a:r>
            <a:r>
              <a:rPr lang="de-AT" sz="2000" b="0" strike="noStrike" spc="-1" dirty="0">
                <a:solidFill>
                  <a:srgbClr val="000000"/>
                </a:solidFill>
                <a:latin typeface="Arial"/>
              </a:rPr>
              <a:t> </a:t>
            </a:r>
            <a:r>
              <a:rPr lang="de-AT" sz="2000" b="0" strike="noStrike" spc="-1" dirty="0" err="1">
                <a:solidFill>
                  <a:srgbClr val="000000"/>
                </a:solidFill>
                <a:latin typeface="Arial"/>
              </a:rPr>
              <a:t>well</a:t>
            </a:r>
            <a:r>
              <a:rPr lang="de-AT" sz="2000" b="0" strike="noStrike" spc="-1" dirty="0">
                <a:solidFill>
                  <a:srgbClr val="000000"/>
                </a:solidFill>
                <a:latin typeface="Arial"/>
              </a:rPr>
              <a:t>. The </a:t>
            </a:r>
            <a:r>
              <a:rPr lang="de-AT" sz="2000" b="0" strike="noStrike" spc="-1" dirty="0" err="1">
                <a:solidFill>
                  <a:srgbClr val="000000"/>
                </a:solidFill>
                <a:latin typeface="Arial"/>
              </a:rPr>
              <a:t>research</a:t>
            </a:r>
            <a:r>
              <a:rPr lang="de-AT" sz="2000" b="0" strike="noStrike" spc="-1" dirty="0">
                <a:solidFill>
                  <a:srgbClr val="000000"/>
                </a:solidFill>
                <a:latin typeface="Arial"/>
              </a:rPr>
              <a:t> </a:t>
            </a:r>
            <a:r>
              <a:rPr lang="de-AT" sz="2000" b="0" strike="noStrike" spc="-1" dirty="0" err="1">
                <a:solidFill>
                  <a:srgbClr val="000000"/>
                </a:solidFill>
                <a:latin typeface="Arial"/>
              </a:rPr>
              <a:t>question</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clearly</a:t>
            </a:r>
            <a:r>
              <a:rPr lang="de-AT" sz="2000" b="0" strike="noStrike" spc="-1" dirty="0">
                <a:solidFill>
                  <a:srgbClr val="000000"/>
                </a:solidFill>
                <a:latin typeface="Arial"/>
              </a:rPr>
              <a:t> </a:t>
            </a:r>
            <a:r>
              <a:rPr lang="de-AT" sz="2000" b="0" strike="noStrike" spc="-1" dirty="0" err="1">
                <a:solidFill>
                  <a:srgbClr val="000000"/>
                </a:solidFill>
                <a:latin typeface="Arial"/>
              </a:rPr>
              <a:t>formulated</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authors</a:t>
            </a:r>
            <a:r>
              <a:rPr lang="de-AT" sz="2000" b="0" strike="noStrike" spc="-1" dirty="0">
                <a:solidFill>
                  <a:srgbClr val="000000"/>
                </a:solidFill>
                <a:latin typeface="Arial"/>
              </a:rPr>
              <a:t> </a:t>
            </a:r>
            <a:r>
              <a:rPr lang="de-AT" sz="2000" b="0" strike="noStrike" spc="-1" dirty="0" err="1">
                <a:solidFill>
                  <a:srgbClr val="000000"/>
                </a:solidFill>
                <a:latin typeface="Arial"/>
              </a:rPr>
              <a:t>want</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investigate</a:t>
            </a:r>
            <a:r>
              <a:rPr lang="de-AT" sz="2000" b="0" strike="noStrike" spc="-1" dirty="0">
                <a:solidFill>
                  <a:srgbClr val="000000"/>
                </a:solidFill>
                <a:latin typeface="Arial"/>
              </a:rPr>
              <a:t> </a:t>
            </a:r>
            <a:r>
              <a:rPr lang="de-AT" sz="2000" b="0" strike="noStrike" spc="-1" dirty="0" err="1">
                <a:solidFill>
                  <a:srgbClr val="000000"/>
                </a:solidFill>
                <a:latin typeface="Arial"/>
              </a:rPr>
              <a:t>whether</a:t>
            </a:r>
            <a:r>
              <a:rPr lang="de-AT" sz="2000" b="0" strike="noStrike" spc="-1" dirty="0">
                <a:solidFill>
                  <a:srgbClr val="000000"/>
                </a:solidFill>
                <a:latin typeface="Arial"/>
              </a:rPr>
              <a:t> ChatGPT </a:t>
            </a:r>
            <a:r>
              <a:rPr lang="de-AT" sz="2000" b="0" strike="noStrike" spc="-1" dirty="0" err="1">
                <a:solidFill>
                  <a:srgbClr val="000000"/>
                </a:solidFill>
                <a:latin typeface="Arial"/>
              </a:rPr>
              <a:t>enhances</a:t>
            </a:r>
            <a:r>
              <a:rPr lang="de-AT" sz="2000" b="0" strike="noStrike" spc="-1" dirty="0">
                <a:solidFill>
                  <a:srgbClr val="000000"/>
                </a:solidFill>
                <a:latin typeface="Arial"/>
              </a:rPr>
              <a:t> </a:t>
            </a:r>
            <a:r>
              <a:rPr lang="de-AT" sz="2000" b="0" strike="noStrike" spc="-1" dirty="0" err="1">
                <a:solidFill>
                  <a:srgbClr val="000000"/>
                </a:solidFill>
                <a:latin typeface="Arial"/>
              </a:rPr>
              <a:t>student</a:t>
            </a:r>
            <a:r>
              <a:rPr lang="de-AT" sz="2000" b="0" strike="noStrike" spc="-1" dirty="0">
                <a:solidFill>
                  <a:srgbClr val="000000"/>
                </a:solidFill>
                <a:latin typeface="Arial"/>
              </a:rPr>
              <a:t> </a:t>
            </a:r>
            <a:r>
              <a:rPr lang="de-AT" sz="2000" b="0" strike="noStrike" spc="-1" dirty="0" err="1">
                <a:solidFill>
                  <a:srgbClr val="000000"/>
                </a:solidFill>
                <a:latin typeface="Arial"/>
              </a:rPr>
              <a:t>learning</a:t>
            </a:r>
            <a:r>
              <a:rPr lang="de-AT" sz="2000" b="0" strike="noStrike" spc="-1" dirty="0">
                <a:solidFill>
                  <a:srgbClr val="000000"/>
                </a:solidFill>
                <a:latin typeface="Arial"/>
              </a:rPr>
              <a:t> </a:t>
            </a:r>
            <a:r>
              <a:rPr lang="de-AT" sz="2000" b="0" strike="noStrike" spc="-1" dirty="0" err="1">
                <a:solidFill>
                  <a:srgbClr val="000000"/>
                </a:solidFill>
                <a:latin typeface="Arial"/>
              </a:rPr>
              <a:t>based</a:t>
            </a:r>
            <a:r>
              <a:rPr lang="de-AT" sz="2000" b="0" strike="noStrike" spc="-1" dirty="0">
                <a:solidFill>
                  <a:srgbClr val="000000"/>
                </a:solidFill>
                <a:latin typeface="Arial"/>
              </a:rPr>
              <a:t> on experimental </a:t>
            </a:r>
            <a:r>
              <a:rPr lang="de-AT" sz="2000" b="0" strike="noStrike" spc="-1" dirty="0" err="1">
                <a:solidFill>
                  <a:srgbClr val="000000"/>
                </a:solidFill>
                <a:latin typeface="Arial"/>
              </a:rPr>
              <a:t>evidence</a:t>
            </a:r>
            <a:r>
              <a:rPr lang="de-AT" sz="2000" b="0" strike="noStrike" spc="-1" dirty="0">
                <a:solidFill>
                  <a:srgbClr val="000000"/>
                </a:solidFill>
                <a:latin typeface="Arial"/>
              </a:rPr>
              <a:t>. The </a:t>
            </a:r>
            <a:r>
              <a:rPr lang="de-AT" sz="2000" b="0" strike="noStrike" spc="-1" dirty="0" err="1">
                <a:solidFill>
                  <a:srgbClr val="000000"/>
                </a:solidFill>
                <a:latin typeface="Arial"/>
              </a:rPr>
              <a:t>inclusion</a:t>
            </a:r>
            <a:r>
              <a:rPr lang="de-AT" sz="2000" b="0" strike="noStrike" spc="-1" dirty="0">
                <a:solidFill>
                  <a:srgbClr val="000000"/>
                </a:solidFill>
                <a:latin typeface="Arial"/>
              </a:rPr>
              <a:t> and </a:t>
            </a:r>
            <a:r>
              <a:rPr lang="de-AT" sz="2000" b="0" strike="noStrike" spc="-1" dirty="0" err="1">
                <a:solidFill>
                  <a:srgbClr val="000000"/>
                </a:solidFill>
                <a:latin typeface="Arial"/>
              </a:rPr>
              <a:t>exclusion</a:t>
            </a:r>
            <a:r>
              <a:rPr lang="de-AT" sz="2000" b="0" strike="noStrike" spc="-1" dirty="0">
                <a:solidFill>
                  <a:srgbClr val="000000"/>
                </a:solidFill>
                <a:latin typeface="Arial"/>
              </a:rPr>
              <a:t> </a:t>
            </a:r>
            <a:r>
              <a:rPr lang="de-AT" sz="2000" b="0" strike="noStrike" spc="-1" dirty="0" err="1">
                <a:solidFill>
                  <a:srgbClr val="000000"/>
                </a:solidFill>
                <a:latin typeface="Arial"/>
              </a:rPr>
              <a:t>criteria</a:t>
            </a:r>
            <a:r>
              <a:rPr lang="de-AT" sz="2000" b="0" strike="noStrike" spc="-1" dirty="0">
                <a:solidFill>
                  <a:srgbClr val="000000"/>
                </a:solidFill>
                <a:latin typeface="Arial"/>
              </a:rPr>
              <a:t> </a:t>
            </a:r>
            <a:r>
              <a:rPr lang="de-AT" sz="2000" b="0" strike="noStrike" spc="-1" dirty="0" err="1">
                <a:solidFill>
                  <a:srgbClr val="000000"/>
                </a:solidFill>
                <a:latin typeface="Arial"/>
              </a:rPr>
              <a:t>are</a:t>
            </a:r>
            <a:r>
              <a:rPr lang="de-AT" sz="2000" b="0" strike="noStrike" spc="-1" dirty="0">
                <a:solidFill>
                  <a:srgbClr val="000000"/>
                </a:solidFill>
                <a:latin typeface="Arial"/>
              </a:rPr>
              <a:t> also </a:t>
            </a:r>
            <a:r>
              <a:rPr lang="de-AT" sz="2000" b="0" strike="noStrike" spc="-1" dirty="0" err="1">
                <a:solidFill>
                  <a:srgbClr val="000000"/>
                </a:solidFill>
                <a:latin typeface="Arial"/>
              </a:rPr>
              <a:t>clearly</a:t>
            </a:r>
            <a:r>
              <a:rPr lang="de-AT" sz="2000" b="0" strike="noStrike" spc="-1" dirty="0">
                <a:solidFill>
                  <a:srgbClr val="000000"/>
                </a:solidFill>
                <a:latin typeface="Arial"/>
              </a:rPr>
              <a:t> </a:t>
            </a:r>
            <a:r>
              <a:rPr lang="de-AT" sz="2000" b="0" strike="noStrike" spc="-1" dirty="0" err="1">
                <a:solidFill>
                  <a:srgbClr val="000000"/>
                </a:solidFill>
                <a:latin typeface="Arial"/>
              </a:rPr>
              <a:t>explained</a:t>
            </a:r>
            <a:r>
              <a:rPr lang="de-AT" sz="2000" b="0" strike="noStrike" spc="-1" dirty="0">
                <a:solidFill>
                  <a:srgbClr val="000000"/>
                </a:solidFill>
                <a:latin typeface="Arial"/>
              </a:rPr>
              <a:t>. This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important</a:t>
            </a:r>
            <a:r>
              <a:rPr lang="de-AT" sz="2000" b="0" strike="noStrike" spc="-1" dirty="0">
                <a:solidFill>
                  <a:srgbClr val="000000"/>
                </a:solidFill>
                <a:latin typeface="Arial"/>
              </a:rPr>
              <a:t> </a:t>
            </a:r>
            <a:r>
              <a:rPr lang="de-AT" sz="2000" b="0" strike="noStrike" spc="-1" dirty="0" err="1">
                <a:solidFill>
                  <a:srgbClr val="000000"/>
                </a:solidFill>
                <a:latin typeface="Arial"/>
              </a:rPr>
              <a:t>because</a:t>
            </a:r>
            <a:r>
              <a:rPr lang="de-AT" sz="2000" b="0" strike="noStrike" spc="-1" dirty="0">
                <a:solidFill>
                  <a:srgbClr val="000000"/>
                </a:solidFill>
                <a:latin typeface="Arial"/>
              </a:rPr>
              <a:t> </a:t>
            </a:r>
            <a:r>
              <a:rPr lang="de-AT" sz="2000" b="0" strike="noStrike" spc="-1" dirty="0" err="1">
                <a:solidFill>
                  <a:srgbClr val="000000"/>
                </a:solidFill>
                <a:latin typeface="Arial"/>
              </a:rPr>
              <a:t>it</a:t>
            </a:r>
            <a:r>
              <a:rPr lang="de-AT" sz="2000" b="0" strike="noStrike" spc="-1" dirty="0">
                <a:solidFill>
                  <a:srgbClr val="000000"/>
                </a:solidFill>
                <a:latin typeface="Arial"/>
              </a:rPr>
              <a:t> </a:t>
            </a:r>
            <a:r>
              <a:rPr lang="de-AT" sz="2000" b="0" strike="noStrike" spc="-1" dirty="0" err="1">
                <a:solidFill>
                  <a:srgbClr val="000000"/>
                </a:solidFill>
                <a:latin typeface="Arial"/>
              </a:rPr>
              <a:t>allows</a:t>
            </a:r>
            <a:r>
              <a:rPr lang="de-AT" sz="2000" b="0" strike="noStrike" spc="-1" dirty="0">
                <a:solidFill>
                  <a:srgbClr val="000000"/>
                </a:solidFill>
                <a:latin typeface="Arial"/>
              </a:rPr>
              <a:t> </a:t>
            </a:r>
            <a:r>
              <a:rPr lang="de-AT" sz="2000" b="0" strike="noStrike" spc="-1" dirty="0" err="1">
                <a:solidFill>
                  <a:srgbClr val="000000"/>
                </a:solidFill>
                <a:latin typeface="Arial"/>
              </a:rPr>
              <a:t>readers</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understand</a:t>
            </a:r>
            <a:r>
              <a:rPr lang="de-AT" sz="2000" b="0" strike="noStrike" spc="-1" dirty="0">
                <a:solidFill>
                  <a:srgbClr val="000000"/>
                </a:solidFill>
                <a:latin typeface="Arial"/>
              </a:rPr>
              <a:t> </a:t>
            </a:r>
            <a:r>
              <a:rPr lang="de-AT" sz="2000" b="0" strike="noStrike" spc="-1" dirty="0" err="1">
                <a:solidFill>
                  <a:srgbClr val="000000"/>
                </a:solidFill>
                <a:latin typeface="Arial"/>
              </a:rPr>
              <a:t>exactly</a:t>
            </a:r>
            <a:r>
              <a:rPr lang="de-AT" sz="2000" b="0" strike="noStrike" spc="-1" dirty="0">
                <a:solidFill>
                  <a:srgbClr val="000000"/>
                </a:solidFill>
                <a:latin typeface="Arial"/>
              </a:rPr>
              <a:t> </a:t>
            </a:r>
            <a:r>
              <a:rPr lang="de-AT" sz="2000" b="0" strike="noStrike" spc="-1" dirty="0" err="1">
                <a:solidFill>
                  <a:srgbClr val="000000"/>
                </a:solidFill>
                <a:latin typeface="Arial"/>
              </a:rPr>
              <a:t>which</a:t>
            </a:r>
            <a:r>
              <a:rPr lang="de-AT" sz="2000" b="0" strike="noStrike" spc="-1" dirty="0">
                <a:solidFill>
                  <a:srgbClr val="000000"/>
                </a:solidFill>
                <a:latin typeface="Arial"/>
              </a:rPr>
              <a:t> </a:t>
            </a:r>
            <a:r>
              <a:rPr lang="de-AT" sz="2000" b="0" strike="noStrike" spc="-1" dirty="0" err="1">
                <a:solidFill>
                  <a:srgbClr val="000000"/>
                </a:solidFill>
                <a:latin typeface="Arial"/>
              </a:rPr>
              <a:t>types</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included</a:t>
            </a:r>
            <a:r>
              <a:rPr lang="de-AT" sz="2000" b="0" strike="noStrike" spc="-1" dirty="0">
                <a:solidFill>
                  <a:srgbClr val="000000"/>
                </a:solidFill>
                <a:latin typeface="Arial"/>
              </a:rPr>
              <a:t> and </a:t>
            </a:r>
            <a:r>
              <a:rPr lang="de-AT" sz="2000" b="0" strike="noStrike" spc="-1" dirty="0" err="1">
                <a:solidFill>
                  <a:srgbClr val="000000"/>
                </a:solidFill>
                <a:latin typeface="Arial"/>
              </a:rPr>
              <a:t>why</a:t>
            </a:r>
            <a:r>
              <a:rPr lang="de-AT" sz="2000" b="0" strike="noStrike" spc="-1" dirty="0">
                <a:solidFill>
                  <a:srgbClr val="000000"/>
                </a:solidFill>
                <a:latin typeface="Arial"/>
              </a:rPr>
              <a:t> </a:t>
            </a:r>
            <a:r>
              <a:rPr lang="de-AT" sz="2000" b="0" strike="noStrike" spc="-1" dirty="0" err="1">
                <a:solidFill>
                  <a:srgbClr val="000000"/>
                </a:solidFill>
                <a:latin typeface="Arial"/>
              </a:rPr>
              <a:t>others</a:t>
            </a:r>
            <a:r>
              <a:rPr lang="de-AT" sz="2000" b="0" strike="noStrike" spc="-1" dirty="0">
                <a:solidFill>
                  <a:srgbClr val="000000"/>
                </a:solidFill>
                <a:latin typeface="Arial"/>
              </a:rPr>
              <a:t>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excluded</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The </a:t>
            </a:r>
            <a:r>
              <a:rPr lang="de-AT" sz="2000" b="0" strike="noStrike" spc="-1" dirty="0" err="1">
                <a:solidFill>
                  <a:srgbClr val="000000"/>
                </a:solidFill>
                <a:latin typeface="Arial"/>
              </a:rPr>
              <a:t>third</a:t>
            </a:r>
            <a:r>
              <a:rPr lang="de-AT" sz="2000" b="0" strike="noStrike" spc="-1" dirty="0">
                <a:solidFill>
                  <a:srgbClr val="000000"/>
                </a:solidFill>
                <a:latin typeface="Arial"/>
              </a:rPr>
              <a:t> </a:t>
            </a:r>
            <a:r>
              <a:rPr lang="de-AT" sz="2000" b="0" strike="noStrike" spc="-1" dirty="0" err="1">
                <a:solidFill>
                  <a:srgbClr val="000000"/>
                </a:solidFill>
                <a:latin typeface="Arial"/>
              </a:rPr>
              <a:t>criterion</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1" strike="noStrike" spc="-1" dirty="0" err="1">
                <a:solidFill>
                  <a:srgbClr val="000000"/>
                </a:solidFill>
                <a:latin typeface="Arial"/>
              </a:rPr>
              <a:t>Generality</a:t>
            </a:r>
            <a:r>
              <a:rPr lang="de-AT" sz="2000" b="0" strike="noStrike" spc="-1" dirty="0">
                <a:solidFill>
                  <a:srgbClr val="000000"/>
                </a:solidFill>
                <a:latin typeface="Arial"/>
              </a:rPr>
              <a:t>. The </a:t>
            </a:r>
            <a:r>
              <a:rPr lang="de-AT" sz="2000" b="0" strike="noStrike" spc="-1" dirty="0" err="1">
                <a:solidFill>
                  <a:srgbClr val="000000"/>
                </a:solidFill>
                <a:latin typeface="Arial"/>
              </a:rPr>
              <a:t>analysis</a:t>
            </a:r>
            <a:r>
              <a:rPr lang="de-AT" sz="2000" b="0" strike="noStrike" spc="-1" dirty="0">
                <a:solidFill>
                  <a:srgbClr val="000000"/>
                </a:solidFill>
                <a:latin typeface="Arial"/>
              </a:rPr>
              <a:t> </a:t>
            </a:r>
            <a:r>
              <a:rPr lang="de-AT" sz="2000" b="0" strike="noStrike" spc="-1" dirty="0" err="1">
                <a:solidFill>
                  <a:srgbClr val="000000"/>
                </a:solidFill>
                <a:latin typeface="Arial"/>
              </a:rPr>
              <a:t>includes</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from</a:t>
            </a:r>
            <a:r>
              <a:rPr lang="de-AT" sz="2000" b="0" strike="noStrike" spc="-1" dirty="0">
                <a:solidFill>
                  <a:srgbClr val="000000"/>
                </a:solidFill>
                <a:latin typeface="Arial"/>
              </a:rPr>
              <a:t> different </a:t>
            </a:r>
            <a:r>
              <a:rPr lang="de-AT" sz="2000" b="0" strike="noStrike" spc="-1" dirty="0" err="1">
                <a:solidFill>
                  <a:srgbClr val="000000"/>
                </a:solidFill>
                <a:latin typeface="Arial"/>
              </a:rPr>
              <a:t>educational</a:t>
            </a:r>
            <a:r>
              <a:rPr lang="de-AT" sz="2000" b="0" strike="noStrike" spc="-1" dirty="0">
                <a:solidFill>
                  <a:srgbClr val="000000"/>
                </a:solidFill>
                <a:latin typeface="Arial"/>
              </a:rPr>
              <a:t> </a:t>
            </a:r>
            <a:r>
              <a:rPr lang="de-AT" sz="2000" b="0" strike="noStrike" spc="-1" dirty="0" err="1">
                <a:solidFill>
                  <a:srgbClr val="000000"/>
                </a:solidFill>
                <a:latin typeface="Arial"/>
              </a:rPr>
              <a:t>contexts</a:t>
            </a:r>
            <a:r>
              <a:rPr lang="de-AT" sz="2000" b="0" strike="noStrike" spc="-1" dirty="0">
                <a:solidFill>
                  <a:srgbClr val="000000"/>
                </a:solidFill>
                <a:latin typeface="Arial"/>
              </a:rPr>
              <a:t>, different </a:t>
            </a:r>
            <a:r>
              <a:rPr lang="de-AT" sz="2000" b="0" strike="noStrike" spc="-1" dirty="0" err="1">
                <a:solidFill>
                  <a:srgbClr val="000000"/>
                </a:solidFill>
                <a:latin typeface="Arial"/>
              </a:rPr>
              <a:t>subjects</a:t>
            </a:r>
            <a:r>
              <a:rPr lang="de-AT" sz="2000" b="0" strike="noStrike" spc="-1" dirty="0">
                <a:solidFill>
                  <a:srgbClr val="000000"/>
                </a:solidFill>
                <a:latin typeface="Arial"/>
              </a:rPr>
              <a:t>, and different </a:t>
            </a:r>
            <a:r>
              <a:rPr lang="de-AT" sz="2000" b="0" strike="noStrike" spc="-1" dirty="0" err="1">
                <a:solidFill>
                  <a:srgbClr val="000000"/>
                </a:solidFill>
                <a:latin typeface="Arial"/>
              </a:rPr>
              <a:t>student</a:t>
            </a:r>
            <a:r>
              <a:rPr lang="de-AT" sz="2000" b="0" strike="noStrike" spc="-1" dirty="0">
                <a:solidFill>
                  <a:srgbClr val="000000"/>
                </a:solidFill>
                <a:latin typeface="Arial"/>
              </a:rPr>
              <a:t> </a:t>
            </a:r>
            <a:r>
              <a:rPr lang="de-AT" sz="2000" b="0" strike="noStrike" spc="-1" dirty="0" err="1">
                <a:solidFill>
                  <a:srgbClr val="000000"/>
                </a:solidFill>
                <a:latin typeface="Arial"/>
              </a:rPr>
              <a:t>populations</a:t>
            </a:r>
            <a:r>
              <a:rPr lang="de-AT" sz="2000" b="0" strike="noStrike" spc="-1" dirty="0">
                <a:solidFill>
                  <a:srgbClr val="000000"/>
                </a:solidFill>
                <a:latin typeface="Arial"/>
              </a:rPr>
              <a:t>. This </a:t>
            </a:r>
            <a:r>
              <a:rPr lang="de-AT" sz="2000" b="0" strike="noStrike" spc="-1" dirty="0" err="1">
                <a:solidFill>
                  <a:srgbClr val="000000"/>
                </a:solidFill>
                <a:latin typeface="Arial"/>
              </a:rPr>
              <a:t>makes</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results</a:t>
            </a:r>
            <a:r>
              <a:rPr lang="de-AT" sz="2000" b="0" strike="noStrike" spc="-1" dirty="0">
                <a:solidFill>
                  <a:srgbClr val="000000"/>
                </a:solidFill>
                <a:latin typeface="Arial"/>
              </a:rPr>
              <a:t> </a:t>
            </a:r>
            <a:r>
              <a:rPr lang="de-AT" sz="2000" b="0" strike="noStrike" spc="-1" dirty="0" err="1">
                <a:solidFill>
                  <a:srgbClr val="000000"/>
                </a:solidFill>
                <a:latin typeface="Arial"/>
              </a:rPr>
              <a:t>more</a:t>
            </a:r>
            <a:r>
              <a:rPr lang="de-AT" sz="2000" b="0" strike="noStrike" spc="-1" dirty="0">
                <a:solidFill>
                  <a:srgbClr val="000000"/>
                </a:solidFill>
                <a:latin typeface="Arial"/>
              </a:rPr>
              <a:t> </a:t>
            </a:r>
            <a:r>
              <a:rPr lang="de-AT" sz="2000" b="0" strike="noStrike" spc="-1" dirty="0" err="1">
                <a:solidFill>
                  <a:srgbClr val="000000"/>
                </a:solidFill>
                <a:latin typeface="Arial"/>
              </a:rPr>
              <a:t>broadly</a:t>
            </a:r>
            <a:r>
              <a:rPr lang="de-AT" sz="2000" b="0" strike="noStrike" spc="-1" dirty="0">
                <a:solidFill>
                  <a:srgbClr val="000000"/>
                </a:solidFill>
                <a:latin typeface="Arial"/>
              </a:rPr>
              <a:t> relevant </a:t>
            </a:r>
            <a:r>
              <a:rPr lang="de-AT" sz="2000" b="0" strike="noStrike" spc="-1" dirty="0" err="1">
                <a:solidFill>
                  <a:srgbClr val="000000"/>
                </a:solidFill>
                <a:latin typeface="Arial"/>
              </a:rPr>
              <a:t>than</a:t>
            </a:r>
            <a:r>
              <a:rPr lang="de-AT" sz="2000" b="0" strike="noStrike" spc="-1" dirty="0">
                <a:solidFill>
                  <a:srgbClr val="000000"/>
                </a:solidFill>
                <a:latin typeface="Arial"/>
              </a:rPr>
              <a:t> a </a:t>
            </a:r>
            <a:r>
              <a:rPr lang="de-AT" sz="2000" b="0" strike="noStrike" spc="-1" dirty="0" err="1">
                <a:solidFill>
                  <a:srgbClr val="000000"/>
                </a:solidFill>
                <a:latin typeface="Arial"/>
              </a:rPr>
              <a:t>single</a:t>
            </a:r>
            <a:r>
              <a:rPr lang="de-AT" sz="2000" b="0" strike="noStrike" spc="-1" dirty="0">
                <a:solidFill>
                  <a:srgbClr val="000000"/>
                </a:solidFill>
                <a:latin typeface="Arial"/>
              </a:rPr>
              <a:t> </a:t>
            </a:r>
            <a:r>
              <a:rPr lang="de-AT" sz="2000" b="0" strike="noStrike" spc="-1" dirty="0" err="1">
                <a:solidFill>
                  <a:srgbClr val="000000"/>
                </a:solidFill>
                <a:latin typeface="Arial"/>
              </a:rPr>
              <a:t>experiment</a:t>
            </a:r>
            <a:r>
              <a:rPr lang="de-AT" sz="2000" b="0" strike="noStrike" spc="-1" dirty="0">
                <a:solidFill>
                  <a:srgbClr val="000000"/>
                </a:solidFill>
                <a:latin typeface="Arial"/>
              </a:rPr>
              <a:t>. At </a:t>
            </a:r>
            <a:r>
              <a:rPr lang="de-AT" sz="2000" b="0" strike="noStrike" spc="-1" dirty="0" err="1">
                <a:solidFill>
                  <a:srgbClr val="000000"/>
                </a:solidFill>
                <a:latin typeface="Arial"/>
              </a:rPr>
              <a:t>the</a:t>
            </a:r>
            <a:r>
              <a:rPr lang="de-AT" sz="2000" b="0" strike="noStrike" spc="-1" dirty="0">
                <a:solidFill>
                  <a:srgbClr val="000000"/>
                </a:solidFill>
                <a:latin typeface="Arial"/>
              </a:rPr>
              <a:t> same time, </a:t>
            </a:r>
            <a:r>
              <a:rPr lang="de-AT" sz="2000" b="0" strike="noStrike" spc="-1" dirty="0" err="1">
                <a:solidFill>
                  <a:srgbClr val="000000"/>
                </a:solidFill>
                <a:latin typeface="Arial"/>
              </a:rPr>
              <a:t>this</a:t>
            </a:r>
            <a:r>
              <a:rPr lang="de-AT" sz="2000" b="0" strike="noStrike" spc="-1" dirty="0">
                <a:solidFill>
                  <a:srgbClr val="000000"/>
                </a:solidFill>
                <a:latin typeface="Arial"/>
              </a:rPr>
              <a:t> also </a:t>
            </a:r>
            <a:r>
              <a:rPr lang="de-AT" sz="2000" b="0" strike="noStrike" spc="-1" dirty="0" err="1">
                <a:solidFill>
                  <a:srgbClr val="000000"/>
                </a:solidFill>
                <a:latin typeface="Arial"/>
              </a:rPr>
              <a:t>creates</a:t>
            </a:r>
            <a:r>
              <a:rPr lang="de-AT" sz="2000" b="0" strike="noStrike" spc="-1" dirty="0">
                <a:solidFill>
                  <a:srgbClr val="000000"/>
                </a:solidFill>
                <a:latin typeface="Arial"/>
              </a:rPr>
              <a:t> a </a:t>
            </a:r>
            <a:r>
              <a:rPr lang="de-AT" sz="2000" b="0" strike="noStrike" spc="-1" dirty="0" err="1">
                <a:solidFill>
                  <a:srgbClr val="000000"/>
                </a:solidFill>
                <a:latin typeface="Arial"/>
              </a:rPr>
              <a:t>challenge</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are</a:t>
            </a:r>
            <a:r>
              <a:rPr lang="de-AT" sz="2000" b="0" strike="noStrike" spc="-1" dirty="0">
                <a:solidFill>
                  <a:srgbClr val="000000"/>
                </a:solidFill>
                <a:latin typeface="Arial"/>
              </a:rPr>
              <a:t> </a:t>
            </a:r>
            <a:r>
              <a:rPr lang="de-AT" sz="2000" b="0" strike="noStrike" spc="-1" dirty="0" err="1">
                <a:solidFill>
                  <a:srgbClr val="000000"/>
                </a:solidFill>
                <a:latin typeface="Arial"/>
              </a:rPr>
              <a:t>quite</a:t>
            </a:r>
            <a:r>
              <a:rPr lang="de-AT" sz="2000" b="0" strike="noStrike" spc="-1" dirty="0">
                <a:solidFill>
                  <a:srgbClr val="000000"/>
                </a:solidFill>
                <a:latin typeface="Arial"/>
              </a:rPr>
              <a:t> </a:t>
            </a:r>
            <a:r>
              <a:rPr lang="de-AT" sz="2000" b="0" strike="noStrike" spc="-1" dirty="0" err="1">
                <a:solidFill>
                  <a:srgbClr val="000000"/>
                </a:solidFill>
                <a:latin typeface="Arial"/>
              </a:rPr>
              <a:t>heterogeneous</a:t>
            </a:r>
            <a:r>
              <a:rPr lang="de-AT" sz="2000" b="0" strike="noStrike" spc="-1" dirty="0">
                <a:solidFill>
                  <a:srgbClr val="000000"/>
                </a:solidFill>
                <a:latin typeface="Arial"/>
              </a:rPr>
              <a:t>. </a:t>
            </a:r>
            <a:r>
              <a:rPr lang="de-AT" sz="2000" b="0" strike="noStrike" spc="-1" dirty="0" err="1">
                <a:solidFill>
                  <a:srgbClr val="000000"/>
                </a:solidFill>
                <a:latin typeface="Arial"/>
              </a:rPr>
              <a:t>For</a:t>
            </a:r>
            <a:r>
              <a:rPr lang="de-AT" sz="2000" b="0" strike="noStrike" spc="-1" dirty="0">
                <a:solidFill>
                  <a:srgbClr val="000000"/>
                </a:solidFill>
                <a:latin typeface="Arial"/>
              </a:rPr>
              <a:t> </a:t>
            </a:r>
            <a:r>
              <a:rPr lang="de-AT" sz="2000" b="0" strike="noStrike" spc="-1" dirty="0" err="1">
                <a:solidFill>
                  <a:srgbClr val="000000"/>
                </a:solidFill>
                <a:latin typeface="Arial"/>
              </a:rPr>
              <a:t>example</a:t>
            </a:r>
            <a:r>
              <a:rPr lang="de-AT" sz="2000" b="0" strike="noStrike" spc="-1" dirty="0">
                <a:solidFill>
                  <a:srgbClr val="000000"/>
                </a:solidFill>
                <a:latin typeface="Arial"/>
              </a:rPr>
              <a:t>, </a:t>
            </a:r>
            <a:r>
              <a:rPr lang="de-AT" sz="2000" b="0" strike="noStrike" spc="-1" dirty="0" err="1">
                <a:solidFill>
                  <a:srgbClr val="000000"/>
                </a:solidFill>
                <a:latin typeface="Arial"/>
              </a:rPr>
              <a:t>using</a:t>
            </a:r>
            <a:r>
              <a:rPr lang="de-AT" sz="2000" b="0" strike="noStrike" spc="-1" dirty="0">
                <a:solidFill>
                  <a:srgbClr val="000000"/>
                </a:solidFill>
                <a:latin typeface="Arial"/>
              </a:rPr>
              <a:t> ChatGPT </a:t>
            </a:r>
            <a:r>
              <a:rPr lang="de-AT" sz="2000" b="0" strike="noStrike" spc="-1" dirty="0" err="1">
                <a:solidFill>
                  <a:srgbClr val="000000"/>
                </a:solidFill>
                <a:latin typeface="Arial"/>
              </a:rPr>
              <a:t>for</a:t>
            </a:r>
            <a:r>
              <a:rPr lang="de-AT" sz="2000" b="0" strike="noStrike" spc="-1" dirty="0">
                <a:solidFill>
                  <a:srgbClr val="000000"/>
                </a:solidFill>
                <a:latin typeface="Arial"/>
              </a:rPr>
              <a:t> </a:t>
            </a:r>
            <a:r>
              <a:rPr lang="de-AT" sz="2000" b="0" strike="noStrike" spc="-1" dirty="0" err="1">
                <a:solidFill>
                  <a:srgbClr val="000000"/>
                </a:solidFill>
                <a:latin typeface="Arial"/>
              </a:rPr>
              <a:t>language</a:t>
            </a:r>
            <a:r>
              <a:rPr lang="de-AT" sz="2000" b="0" strike="noStrike" spc="-1" dirty="0">
                <a:solidFill>
                  <a:srgbClr val="000000"/>
                </a:solidFill>
                <a:latin typeface="Arial"/>
              </a:rPr>
              <a:t> </a:t>
            </a:r>
            <a:r>
              <a:rPr lang="de-AT" sz="2000" b="0" strike="noStrike" spc="-1" dirty="0" err="1">
                <a:solidFill>
                  <a:srgbClr val="000000"/>
                </a:solidFill>
                <a:latin typeface="Arial"/>
              </a:rPr>
              <a:t>learning</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not </a:t>
            </a:r>
            <a:r>
              <a:rPr lang="de-AT" sz="2000" b="0" strike="noStrike" spc="-1" dirty="0" err="1">
                <a:solidFill>
                  <a:srgbClr val="000000"/>
                </a:solidFill>
                <a:latin typeface="Arial"/>
              </a:rPr>
              <a:t>the</a:t>
            </a:r>
            <a:r>
              <a:rPr lang="de-AT" sz="2000" b="0" strike="noStrike" spc="-1" dirty="0">
                <a:solidFill>
                  <a:srgbClr val="000000"/>
                </a:solidFill>
                <a:latin typeface="Arial"/>
              </a:rPr>
              <a:t> same </a:t>
            </a:r>
            <a:r>
              <a:rPr lang="de-AT" sz="2000" b="0" strike="noStrike" spc="-1" dirty="0" err="1">
                <a:solidFill>
                  <a:srgbClr val="000000"/>
                </a:solidFill>
                <a:latin typeface="Arial"/>
              </a:rPr>
              <a:t>as</a:t>
            </a:r>
            <a:r>
              <a:rPr lang="de-AT" sz="2000" b="0" strike="noStrike" spc="-1" dirty="0">
                <a:solidFill>
                  <a:srgbClr val="000000"/>
                </a:solidFill>
                <a:latin typeface="Arial"/>
              </a:rPr>
              <a:t> </a:t>
            </a:r>
            <a:r>
              <a:rPr lang="de-AT" sz="2000" b="0" strike="noStrike" spc="-1" dirty="0" err="1">
                <a:solidFill>
                  <a:srgbClr val="000000"/>
                </a:solidFill>
                <a:latin typeface="Arial"/>
              </a:rPr>
              <a:t>using</a:t>
            </a:r>
            <a:r>
              <a:rPr lang="de-AT" sz="2000" b="0" strike="noStrike" spc="-1" dirty="0">
                <a:solidFill>
                  <a:srgbClr val="000000"/>
                </a:solidFill>
                <a:latin typeface="Arial"/>
              </a:rPr>
              <a:t> </a:t>
            </a:r>
            <a:r>
              <a:rPr lang="de-AT" sz="2000" b="0" strike="noStrike" spc="-1" dirty="0" err="1">
                <a:solidFill>
                  <a:srgbClr val="000000"/>
                </a:solidFill>
                <a:latin typeface="Arial"/>
              </a:rPr>
              <a:t>it</a:t>
            </a:r>
            <a:r>
              <a:rPr lang="de-AT" sz="2000" b="0" strike="noStrike" spc="-1" dirty="0">
                <a:solidFill>
                  <a:srgbClr val="000000"/>
                </a:solidFill>
                <a:latin typeface="Arial"/>
              </a:rPr>
              <a:t> </a:t>
            </a:r>
            <a:r>
              <a:rPr lang="de-AT" sz="2000" b="0" strike="noStrike" spc="-1" dirty="0" err="1">
                <a:solidFill>
                  <a:srgbClr val="000000"/>
                </a:solidFill>
                <a:latin typeface="Arial"/>
              </a:rPr>
              <a:t>for</a:t>
            </a:r>
            <a:r>
              <a:rPr lang="de-AT" sz="2000" b="0" strike="noStrike" spc="-1" dirty="0">
                <a:solidFill>
                  <a:srgbClr val="000000"/>
                </a:solidFill>
                <a:latin typeface="Arial"/>
              </a:rPr>
              <a:t> </a:t>
            </a:r>
            <a:r>
              <a:rPr lang="de-AT" sz="2000" b="0" strike="noStrike" spc="-1" dirty="0" err="1">
                <a:solidFill>
                  <a:srgbClr val="000000"/>
                </a:solidFill>
                <a:latin typeface="Arial"/>
              </a:rPr>
              <a:t>programming</a:t>
            </a:r>
            <a:r>
              <a:rPr lang="de-AT" sz="2000" b="0" strike="noStrike" spc="-1" dirty="0">
                <a:solidFill>
                  <a:srgbClr val="000000"/>
                </a:solidFill>
                <a:latin typeface="Arial"/>
              </a:rPr>
              <a:t>, </a:t>
            </a:r>
            <a:r>
              <a:rPr lang="de-AT" sz="2000" b="0" strike="noStrike" spc="-1" dirty="0" err="1">
                <a:solidFill>
                  <a:srgbClr val="000000"/>
                </a:solidFill>
                <a:latin typeface="Arial"/>
              </a:rPr>
              <a:t>medicine</a:t>
            </a:r>
            <a:r>
              <a:rPr lang="de-AT" sz="2000" b="0" strike="noStrike" spc="-1" dirty="0">
                <a:solidFill>
                  <a:srgbClr val="000000"/>
                </a:solidFill>
                <a:latin typeface="Arial"/>
              </a:rPr>
              <a:t>, </a:t>
            </a:r>
            <a:r>
              <a:rPr lang="de-AT" sz="2000" b="0" strike="noStrike" spc="-1" dirty="0" err="1">
                <a:solidFill>
                  <a:srgbClr val="000000"/>
                </a:solidFill>
                <a:latin typeface="Arial"/>
              </a:rPr>
              <a:t>or</a:t>
            </a:r>
            <a:r>
              <a:rPr lang="de-AT" sz="2000" b="0" strike="noStrike" spc="-1" dirty="0">
                <a:solidFill>
                  <a:srgbClr val="000000"/>
                </a:solidFill>
                <a:latin typeface="Arial"/>
              </a:rPr>
              <a:t> </a:t>
            </a:r>
            <a:r>
              <a:rPr lang="de-AT" sz="2000" b="0" strike="noStrike" spc="-1" dirty="0" err="1">
                <a:solidFill>
                  <a:srgbClr val="000000"/>
                </a:solidFill>
                <a:latin typeface="Arial"/>
              </a:rPr>
              <a:t>general</a:t>
            </a:r>
            <a:r>
              <a:rPr lang="de-AT" sz="2000" b="0" strike="noStrike" spc="-1" dirty="0">
                <a:solidFill>
                  <a:srgbClr val="000000"/>
                </a:solidFill>
                <a:latin typeface="Arial"/>
              </a:rPr>
              <a:t> </a:t>
            </a:r>
            <a:r>
              <a:rPr lang="de-AT" sz="2000" b="0" strike="noStrike" spc="-1" dirty="0" err="1">
                <a:solidFill>
                  <a:srgbClr val="000000"/>
                </a:solidFill>
                <a:latin typeface="Arial"/>
              </a:rPr>
              <a:t>study</a:t>
            </a:r>
            <a:r>
              <a:rPr lang="de-AT" sz="2000" b="0" strike="noStrike" spc="-1" dirty="0">
                <a:solidFill>
                  <a:srgbClr val="000000"/>
                </a:solidFill>
                <a:latin typeface="Arial"/>
              </a:rPr>
              <a:t> support. So, </a:t>
            </a:r>
            <a:r>
              <a:rPr lang="de-AT" sz="2000" b="0" strike="noStrike" spc="-1" dirty="0" err="1">
                <a:solidFill>
                  <a:srgbClr val="000000"/>
                </a:solidFill>
                <a:latin typeface="Arial"/>
              </a:rPr>
              <a:t>while</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findings</a:t>
            </a:r>
            <a:r>
              <a:rPr lang="de-AT" sz="2000" b="0" strike="noStrike" spc="-1" dirty="0">
                <a:solidFill>
                  <a:srgbClr val="000000"/>
                </a:solidFill>
                <a:latin typeface="Arial"/>
              </a:rPr>
              <a:t> </a:t>
            </a:r>
            <a:r>
              <a:rPr lang="de-AT" sz="2000" b="0" strike="noStrike" spc="-1" dirty="0" err="1">
                <a:solidFill>
                  <a:srgbClr val="000000"/>
                </a:solidFill>
                <a:latin typeface="Arial"/>
              </a:rPr>
              <a:t>are</a:t>
            </a:r>
            <a:r>
              <a:rPr lang="de-AT" sz="2000" b="0" strike="noStrike" spc="-1" dirty="0">
                <a:solidFill>
                  <a:srgbClr val="000000"/>
                </a:solidFill>
                <a:latin typeface="Arial"/>
              </a:rPr>
              <a:t> </a:t>
            </a:r>
            <a:r>
              <a:rPr lang="de-AT" sz="2000" b="0" strike="noStrike" spc="-1" dirty="0" err="1">
                <a:solidFill>
                  <a:srgbClr val="000000"/>
                </a:solidFill>
                <a:latin typeface="Arial"/>
              </a:rPr>
              <a:t>broadly</a:t>
            </a:r>
            <a:r>
              <a:rPr lang="de-AT" sz="2000" b="0" strike="noStrike" spc="-1" dirty="0">
                <a:solidFill>
                  <a:srgbClr val="000000"/>
                </a:solidFill>
                <a:latin typeface="Arial"/>
              </a:rPr>
              <a:t> relevant, </a:t>
            </a:r>
            <a:r>
              <a:rPr lang="de-AT" sz="2000" b="0" strike="noStrike" spc="-1" dirty="0" err="1">
                <a:solidFill>
                  <a:srgbClr val="000000"/>
                </a:solidFill>
                <a:latin typeface="Arial"/>
              </a:rPr>
              <a:t>they</a:t>
            </a:r>
            <a:r>
              <a:rPr lang="de-AT" sz="2000" b="0" strike="noStrike" spc="-1" dirty="0">
                <a:solidFill>
                  <a:srgbClr val="000000"/>
                </a:solidFill>
                <a:latin typeface="Arial"/>
              </a:rPr>
              <a:t> </a:t>
            </a:r>
            <a:r>
              <a:rPr lang="de-AT" sz="2000" b="0" strike="noStrike" spc="-1" dirty="0" err="1">
                <a:solidFill>
                  <a:srgbClr val="000000"/>
                </a:solidFill>
                <a:latin typeface="Arial"/>
              </a:rPr>
              <a:t>should</a:t>
            </a:r>
            <a:r>
              <a:rPr lang="de-AT" sz="2000" b="0" strike="noStrike" spc="-1" dirty="0">
                <a:solidFill>
                  <a:srgbClr val="000000"/>
                </a:solidFill>
                <a:latin typeface="Arial"/>
              </a:rPr>
              <a:t> still </a:t>
            </a:r>
            <a:r>
              <a:rPr lang="de-AT" sz="2000" b="0" strike="noStrike" spc="-1" dirty="0" err="1">
                <a:solidFill>
                  <a:srgbClr val="000000"/>
                </a:solidFill>
                <a:latin typeface="Arial"/>
              </a:rPr>
              <a:t>be</a:t>
            </a:r>
            <a:r>
              <a:rPr lang="de-AT" sz="2000" b="0" strike="noStrike" spc="-1" dirty="0">
                <a:solidFill>
                  <a:srgbClr val="000000"/>
                </a:solidFill>
                <a:latin typeface="Arial"/>
              </a:rPr>
              <a:t> </a:t>
            </a:r>
            <a:r>
              <a:rPr lang="de-AT" sz="2000" b="0" strike="noStrike" spc="-1" dirty="0" err="1">
                <a:solidFill>
                  <a:srgbClr val="000000"/>
                </a:solidFill>
                <a:latin typeface="Arial"/>
              </a:rPr>
              <a:t>applied</a:t>
            </a:r>
            <a:r>
              <a:rPr lang="de-AT" sz="2000" b="0" strike="noStrike" spc="-1" dirty="0">
                <a:solidFill>
                  <a:srgbClr val="000000"/>
                </a:solidFill>
                <a:latin typeface="Arial"/>
              </a:rPr>
              <a:t> </a:t>
            </a:r>
            <a:r>
              <a:rPr lang="de-AT" sz="2000" b="0" strike="noStrike" spc="-1" dirty="0" err="1">
                <a:solidFill>
                  <a:srgbClr val="000000"/>
                </a:solidFill>
                <a:latin typeface="Arial"/>
              </a:rPr>
              <a:t>carefully</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specific</a:t>
            </a:r>
            <a:r>
              <a:rPr lang="de-AT" sz="2000" b="0" strike="noStrike" spc="-1" dirty="0">
                <a:solidFill>
                  <a:srgbClr val="000000"/>
                </a:solidFill>
                <a:latin typeface="Arial"/>
              </a:rPr>
              <a:t> </a:t>
            </a:r>
            <a:r>
              <a:rPr lang="de-AT" sz="2000" b="0" strike="noStrike" spc="-1" dirty="0" err="1">
                <a:solidFill>
                  <a:srgbClr val="000000"/>
                </a:solidFill>
                <a:latin typeface="Arial"/>
              </a:rPr>
              <a:t>educational</a:t>
            </a:r>
            <a:r>
              <a:rPr lang="de-AT" sz="2000" b="0" strike="noStrike" spc="-1" dirty="0">
                <a:solidFill>
                  <a:srgbClr val="000000"/>
                </a:solidFill>
                <a:latin typeface="Arial"/>
              </a:rPr>
              <a:t> </a:t>
            </a:r>
            <a:r>
              <a:rPr lang="de-AT" sz="2000" b="0" strike="noStrike" spc="-1" dirty="0" err="1">
                <a:solidFill>
                  <a:srgbClr val="000000"/>
                </a:solidFill>
                <a:latin typeface="Arial"/>
              </a:rPr>
              <a:t>contexts</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The </a:t>
            </a:r>
            <a:r>
              <a:rPr lang="de-AT" sz="2000" b="0" strike="noStrike" spc="-1" dirty="0" err="1">
                <a:solidFill>
                  <a:srgbClr val="000000"/>
                </a:solidFill>
                <a:latin typeface="Arial"/>
              </a:rPr>
              <a:t>fourth</a:t>
            </a:r>
            <a:r>
              <a:rPr lang="de-AT" sz="2000" b="0" strike="noStrike" spc="-1" dirty="0">
                <a:solidFill>
                  <a:srgbClr val="000000"/>
                </a:solidFill>
                <a:latin typeface="Arial"/>
              </a:rPr>
              <a:t> </a:t>
            </a:r>
            <a:r>
              <a:rPr lang="de-AT" sz="2000" b="0" strike="noStrike" spc="-1" dirty="0" err="1">
                <a:solidFill>
                  <a:srgbClr val="000000"/>
                </a:solidFill>
                <a:latin typeface="Arial"/>
              </a:rPr>
              <a:t>criterion</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1" strike="noStrike" spc="-1" dirty="0" err="1">
                <a:solidFill>
                  <a:srgbClr val="000000"/>
                </a:solidFill>
                <a:latin typeface="Arial"/>
              </a:rPr>
              <a:t>Interestingness</a:t>
            </a:r>
            <a:r>
              <a:rPr lang="de-AT" sz="2000" b="0" strike="noStrike" spc="-1" dirty="0">
                <a:solidFill>
                  <a:srgbClr val="000000"/>
                </a:solidFill>
                <a:latin typeface="Arial"/>
              </a:rPr>
              <a:t>. This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one</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strongest</a:t>
            </a:r>
            <a:r>
              <a:rPr lang="de-AT" sz="2000" b="0" strike="noStrike" spc="-1" dirty="0">
                <a:solidFill>
                  <a:srgbClr val="000000"/>
                </a:solidFill>
                <a:latin typeface="Arial"/>
              </a:rPr>
              <a:t> </a:t>
            </a:r>
            <a:r>
              <a:rPr lang="de-AT" sz="2000" b="0" strike="noStrike" spc="-1" dirty="0" err="1">
                <a:solidFill>
                  <a:srgbClr val="000000"/>
                </a:solidFill>
                <a:latin typeface="Arial"/>
              </a:rPr>
              <a:t>aspects</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paper</a:t>
            </a:r>
            <a:r>
              <a:rPr lang="de-AT" sz="2000" b="0" strike="noStrike" spc="-1" dirty="0">
                <a:solidFill>
                  <a:srgbClr val="000000"/>
                </a:solidFill>
                <a:latin typeface="Arial"/>
              </a:rPr>
              <a:t>. ChatGPT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currently</a:t>
            </a:r>
            <a:r>
              <a:rPr lang="de-AT" sz="2000" b="0" strike="noStrike" spc="-1" dirty="0">
                <a:solidFill>
                  <a:srgbClr val="000000"/>
                </a:solidFill>
                <a:latin typeface="Arial"/>
              </a:rPr>
              <a:t> </a:t>
            </a:r>
            <a:r>
              <a:rPr lang="de-AT" sz="2000" b="0" strike="noStrike" spc="-1" dirty="0" err="1">
                <a:solidFill>
                  <a:srgbClr val="000000"/>
                </a:solidFill>
                <a:latin typeface="Arial"/>
              </a:rPr>
              <a:t>one</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most</a:t>
            </a:r>
            <a:r>
              <a:rPr lang="de-AT" sz="2000" b="0" strike="noStrike" spc="-1" dirty="0">
                <a:solidFill>
                  <a:srgbClr val="000000"/>
                </a:solidFill>
                <a:latin typeface="Arial"/>
              </a:rPr>
              <a:t> </a:t>
            </a:r>
            <a:r>
              <a:rPr lang="de-AT" sz="2000" b="0" strike="noStrike" spc="-1" dirty="0" err="1">
                <a:solidFill>
                  <a:srgbClr val="000000"/>
                </a:solidFill>
                <a:latin typeface="Arial"/>
              </a:rPr>
              <a:t>discussed</a:t>
            </a:r>
            <a:r>
              <a:rPr lang="de-AT" sz="2000" b="0" strike="noStrike" spc="-1" dirty="0">
                <a:solidFill>
                  <a:srgbClr val="000000"/>
                </a:solidFill>
                <a:latin typeface="Arial"/>
              </a:rPr>
              <a:t> </a:t>
            </a:r>
            <a:r>
              <a:rPr lang="de-AT" sz="2000" b="0" strike="noStrike" spc="-1" dirty="0" err="1">
                <a:solidFill>
                  <a:srgbClr val="000000"/>
                </a:solidFill>
                <a:latin typeface="Arial"/>
              </a:rPr>
              <a:t>technologies</a:t>
            </a:r>
            <a:r>
              <a:rPr lang="de-AT" sz="2000" b="0" strike="noStrike" spc="-1" dirty="0">
                <a:solidFill>
                  <a:srgbClr val="000000"/>
                </a:solidFill>
                <a:latin typeface="Arial"/>
              </a:rPr>
              <a:t> in </a:t>
            </a:r>
            <a:r>
              <a:rPr lang="de-AT" sz="2000" b="0" strike="noStrike" spc="-1" dirty="0" err="1">
                <a:solidFill>
                  <a:srgbClr val="000000"/>
                </a:solidFill>
                <a:latin typeface="Arial"/>
              </a:rPr>
              <a:t>education</a:t>
            </a:r>
            <a:r>
              <a:rPr lang="de-AT" sz="2000" b="0" strike="noStrike" spc="-1" dirty="0">
                <a:solidFill>
                  <a:srgbClr val="000000"/>
                </a:solidFill>
                <a:latin typeface="Arial"/>
              </a:rPr>
              <a:t>. </a:t>
            </a:r>
            <a:r>
              <a:rPr lang="de-AT" sz="2000" b="0" strike="noStrike" spc="-1" dirty="0" err="1">
                <a:solidFill>
                  <a:srgbClr val="000000"/>
                </a:solidFill>
                <a:latin typeface="Arial"/>
              </a:rPr>
              <a:t>There</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 </a:t>
            </a:r>
            <a:r>
              <a:rPr lang="de-AT" sz="2000" b="0" strike="noStrike" spc="-1" dirty="0" err="1">
                <a:solidFill>
                  <a:srgbClr val="000000"/>
                </a:solidFill>
                <a:latin typeface="Arial"/>
              </a:rPr>
              <a:t>lot</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debate</a:t>
            </a:r>
            <a:r>
              <a:rPr lang="de-AT" sz="2000" b="0" strike="noStrike" spc="-1" dirty="0">
                <a:solidFill>
                  <a:srgbClr val="000000"/>
                </a:solidFill>
                <a:latin typeface="Arial"/>
              </a:rPr>
              <a:t> </a:t>
            </a:r>
            <a:r>
              <a:rPr lang="de-AT" sz="2000" b="0" strike="noStrike" spc="-1" dirty="0" err="1">
                <a:solidFill>
                  <a:srgbClr val="000000"/>
                </a:solidFill>
                <a:latin typeface="Arial"/>
              </a:rPr>
              <a:t>about</a:t>
            </a:r>
            <a:r>
              <a:rPr lang="de-AT" sz="2000" b="0" strike="noStrike" spc="-1" dirty="0">
                <a:solidFill>
                  <a:srgbClr val="000000"/>
                </a:solidFill>
                <a:latin typeface="Arial"/>
              </a:rPr>
              <a:t> </a:t>
            </a:r>
            <a:r>
              <a:rPr lang="de-AT" sz="2000" b="0" strike="noStrike" spc="-1" dirty="0" err="1">
                <a:solidFill>
                  <a:srgbClr val="000000"/>
                </a:solidFill>
                <a:latin typeface="Arial"/>
              </a:rPr>
              <a:t>whether</a:t>
            </a:r>
            <a:r>
              <a:rPr lang="de-AT" sz="2000" b="0" strike="noStrike" spc="-1" dirty="0">
                <a:solidFill>
                  <a:srgbClr val="000000"/>
                </a:solidFill>
                <a:latin typeface="Arial"/>
              </a:rPr>
              <a:t> </a:t>
            </a:r>
            <a:r>
              <a:rPr lang="de-AT" sz="2000" b="0" strike="noStrike" spc="-1" dirty="0" err="1">
                <a:solidFill>
                  <a:srgbClr val="000000"/>
                </a:solidFill>
                <a:latin typeface="Arial"/>
              </a:rPr>
              <a:t>it</a:t>
            </a:r>
            <a:r>
              <a:rPr lang="de-AT" sz="2000" b="0" strike="noStrike" spc="-1" dirty="0">
                <a:solidFill>
                  <a:srgbClr val="000000"/>
                </a:solidFill>
                <a:latin typeface="Arial"/>
              </a:rPr>
              <a:t> </a:t>
            </a:r>
            <a:r>
              <a:rPr lang="de-AT" sz="2000" b="0" strike="noStrike" spc="-1" dirty="0" err="1">
                <a:solidFill>
                  <a:srgbClr val="000000"/>
                </a:solidFill>
                <a:latin typeface="Arial"/>
              </a:rPr>
              <a:t>supports</a:t>
            </a:r>
            <a:r>
              <a:rPr lang="de-AT" sz="2000" b="0" strike="noStrike" spc="-1" dirty="0">
                <a:solidFill>
                  <a:srgbClr val="000000"/>
                </a:solidFill>
                <a:latin typeface="Arial"/>
              </a:rPr>
              <a:t> </a:t>
            </a:r>
            <a:r>
              <a:rPr lang="de-AT" sz="2000" b="0" strike="noStrike" spc="-1" dirty="0" err="1">
                <a:solidFill>
                  <a:srgbClr val="000000"/>
                </a:solidFill>
                <a:latin typeface="Arial"/>
              </a:rPr>
              <a:t>learning</a:t>
            </a:r>
            <a:r>
              <a:rPr lang="de-AT" sz="2000" b="0" strike="noStrike" spc="-1" dirty="0">
                <a:solidFill>
                  <a:srgbClr val="000000"/>
                </a:solidFill>
                <a:latin typeface="Arial"/>
              </a:rPr>
              <a:t>, </a:t>
            </a:r>
            <a:r>
              <a:rPr lang="de-AT" sz="2000" b="0" strike="noStrike" spc="-1" dirty="0" err="1">
                <a:solidFill>
                  <a:srgbClr val="000000"/>
                </a:solidFill>
                <a:latin typeface="Arial"/>
              </a:rPr>
              <a:t>threatens</a:t>
            </a:r>
            <a:r>
              <a:rPr lang="de-AT" sz="2000" b="0" strike="noStrike" spc="-1" dirty="0">
                <a:solidFill>
                  <a:srgbClr val="000000"/>
                </a:solidFill>
                <a:latin typeface="Arial"/>
              </a:rPr>
              <a:t> </a:t>
            </a:r>
            <a:r>
              <a:rPr lang="de-AT" sz="2000" b="0" strike="noStrike" spc="-1" dirty="0" err="1">
                <a:solidFill>
                  <a:srgbClr val="000000"/>
                </a:solidFill>
                <a:latin typeface="Arial"/>
              </a:rPr>
              <a:t>academic</a:t>
            </a:r>
            <a:r>
              <a:rPr lang="de-AT" sz="2000" b="0" strike="noStrike" spc="-1" dirty="0">
                <a:solidFill>
                  <a:srgbClr val="000000"/>
                </a:solidFill>
                <a:latin typeface="Arial"/>
              </a:rPr>
              <a:t> </a:t>
            </a:r>
            <a:r>
              <a:rPr lang="de-AT" sz="2000" b="0" strike="noStrike" spc="-1" dirty="0" err="1">
                <a:solidFill>
                  <a:srgbClr val="000000"/>
                </a:solidFill>
                <a:latin typeface="Arial"/>
              </a:rPr>
              <a:t>integrity</a:t>
            </a:r>
            <a:r>
              <a:rPr lang="de-AT" sz="2000" b="0" strike="noStrike" spc="-1" dirty="0">
                <a:solidFill>
                  <a:srgbClr val="000000"/>
                </a:solidFill>
                <a:latin typeface="Arial"/>
              </a:rPr>
              <a:t>, </a:t>
            </a:r>
            <a:r>
              <a:rPr lang="de-AT" sz="2000" b="0" strike="noStrike" spc="-1" dirty="0" err="1">
                <a:solidFill>
                  <a:srgbClr val="000000"/>
                </a:solidFill>
                <a:latin typeface="Arial"/>
              </a:rPr>
              <a:t>or</a:t>
            </a:r>
            <a:r>
              <a:rPr lang="de-AT" sz="2000" b="0" strike="noStrike" spc="-1" dirty="0">
                <a:solidFill>
                  <a:srgbClr val="000000"/>
                </a:solidFill>
                <a:latin typeface="Arial"/>
              </a:rPr>
              <a:t> </a:t>
            </a:r>
            <a:r>
              <a:rPr lang="de-AT" sz="2000" b="0" strike="noStrike" spc="-1" dirty="0" err="1">
                <a:solidFill>
                  <a:srgbClr val="000000"/>
                </a:solidFill>
                <a:latin typeface="Arial"/>
              </a:rPr>
              <a:t>changes</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role</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teachers</a:t>
            </a:r>
            <a:r>
              <a:rPr lang="de-AT" sz="2000" b="0" strike="noStrike" spc="-1" dirty="0">
                <a:solidFill>
                  <a:srgbClr val="000000"/>
                </a:solidFill>
                <a:latin typeface="Arial"/>
              </a:rPr>
              <a:t> and </a:t>
            </a:r>
            <a:r>
              <a:rPr lang="de-AT" sz="2000" b="0" strike="noStrike" spc="-1" dirty="0" err="1">
                <a:solidFill>
                  <a:srgbClr val="000000"/>
                </a:solidFill>
                <a:latin typeface="Arial"/>
              </a:rPr>
              <a:t>students</a:t>
            </a:r>
            <a:r>
              <a:rPr lang="de-AT" sz="2000" b="0" strike="noStrike" spc="-1" dirty="0">
                <a:solidFill>
                  <a:srgbClr val="000000"/>
                </a:solidFill>
                <a:latin typeface="Arial"/>
              </a:rPr>
              <a:t>. </a:t>
            </a:r>
            <a:r>
              <a:rPr lang="de-AT" sz="2000" b="0" strike="noStrike" spc="-1" dirty="0" err="1">
                <a:solidFill>
                  <a:srgbClr val="000000"/>
                </a:solidFill>
                <a:latin typeface="Arial"/>
              </a:rPr>
              <a:t>Because</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that</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research</a:t>
            </a:r>
            <a:r>
              <a:rPr lang="de-AT" sz="2000" b="0" strike="noStrike" spc="-1" dirty="0">
                <a:solidFill>
                  <a:srgbClr val="000000"/>
                </a:solidFill>
                <a:latin typeface="Arial"/>
              </a:rPr>
              <a:t> </a:t>
            </a:r>
            <a:r>
              <a:rPr lang="de-AT" sz="2000" b="0" strike="noStrike" spc="-1" dirty="0" err="1">
                <a:solidFill>
                  <a:srgbClr val="000000"/>
                </a:solidFill>
                <a:latin typeface="Arial"/>
              </a:rPr>
              <a:t>question</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highly</a:t>
            </a:r>
            <a:r>
              <a:rPr lang="de-AT" sz="2000" b="0" strike="noStrike" spc="-1" dirty="0">
                <a:solidFill>
                  <a:srgbClr val="000000"/>
                </a:solidFill>
                <a:latin typeface="Arial"/>
              </a:rPr>
              <a:t> relevant </a:t>
            </a:r>
            <a:r>
              <a:rPr lang="de-AT" sz="2000" b="0" strike="noStrike" spc="-1" dirty="0" err="1">
                <a:solidFill>
                  <a:srgbClr val="000000"/>
                </a:solidFill>
                <a:latin typeface="Arial"/>
              </a:rPr>
              <a:t>for</a:t>
            </a:r>
            <a:r>
              <a:rPr lang="de-AT" sz="2000" b="0" strike="noStrike" spc="-1" dirty="0">
                <a:solidFill>
                  <a:srgbClr val="000000"/>
                </a:solidFill>
                <a:latin typeface="Arial"/>
              </a:rPr>
              <a:t> </a:t>
            </a:r>
            <a:r>
              <a:rPr lang="de-AT" sz="2000" b="0" strike="noStrike" spc="-1" dirty="0" err="1">
                <a:solidFill>
                  <a:srgbClr val="000000"/>
                </a:solidFill>
                <a:latin typeface="Arial"/>
              </a:rPr>
              <a:t>universities</a:t>
            </a:r>
            <a:r>
              <a:rPr lang="de-AT" sz="2000" b="0" strike="noStrike" spc="-1" dirty="0">
                <a:solidFill>
                  <a:srgbClr val="000000"/>
                </a:solidFill>
                <a:latin typeface="Arial"/>
              </a:rPr>
              <a:t>, </a:t>
            </a:r>
            <a:r>
              <a:rPr lang="de-AT" sz="2000" b="0" strike="noStrike" spc="-1" dirty="0" err="1">
                <a:solidFill>
                  <a:srgbClr val="000000"/>
                </a:solidFill>
                <a:latin typeface="Arial"/>
              </a:rPr>
              <a:t>teachers</a:t>
            </a:r>
            <a:r>
              <a:rPr lang="de-AT" sz="2000" b="0" strike="noStrike" spc="-1" dirty="0">
                <a:solidFill>
                  <a:srgbClr val="000000"/>
                </a:solidFill>
                <a:latin typeface="Arial"/>
              </a:rPr>
              <a:t>, </a:t>
            </a:r>
            <a:r>
              <a:rPr lang="de-AT" sz="2000" b="0" strike="noStrike" spc="-1" dirty="0" err="1">
                <a:solidFill>
                  <a:srgbClr val="000000"/>
                </a:solidFill>
                <a:latin typeface="Arial"/>
              </a:rPr>
              <a:t>students</a:t>
            </a:r>
            <a:r>
              <a:rPr lang="de-AT" sz="2000" b="0" strike="noStrike" spc="-1" dirty="0">
                <a:solidFill>
                  <a:srgbClr val="000000"/>
                </a:solidFill>
                <a:latin typeface="Arial"/>
              </a:rPr>
              <a:t>, and </a:t>
            </a:r>
            <a:r>
              <a:rPr lang="de-AT" sz="2000" b="0" strike="noStrike" spc="-1" dirty="0" err="1">
                <a:solidFill>
                  <a:srgbClr val="000000"/>
                </a:solidFill>
                <a:latin typeface="Arial"/>
              </a:rPr>
              <a:t>policymakers</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The final </a:t>
            </a:r>
            <a:r>
              <a:rPr lang="de-AT" sz="2000" b="0" strike="noStrike" spc="-1" dirty="0" err="1">
                <a:solidFill>
                  <a:srgbClr val="000000"/>
                </a:solidFill>
                <a:latin typeface="Arial"/>
              </a:rPr>
              <a:t>criterion</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1" strike="noStrike" spc="-1" dirty="0">
                <a:solidFill>
                  <a:srgbClr val="000000"/>
                </a:solidFill>
                <a:latin typeface="Arial"/>
              </a:rPr>
              <a:t>Credibility</a:t>
            </a:r>
            <a:r>
              <a:rPr lang="de-AT" sz="2000" b="0" strike="noStrike" spc="-1" dirty="0">
                <a:solidFill>
                  <a:srgbClr val="000000"/>
                </a:solidFill>
                <a:latin typeface="Arial"/>
              </a:rPr>
              <a:t>. The </a:t>
            </a:r>
            <a:r>
              <a:rPr lang="de-AT" sz="2000" b="0" strike="noStrike" spc="-1" dirty="0" err="1">
                <a:solidFill>
                  <a:srgbClr val="000000"/>
                </a:solidFill>
                <a:latin typeface="Arial"/>
              </a:rPr>
              <a:t>credibility</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meta-analysis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strengthened</a:t>
            </a:r>
            <a:r>
              <a:rPr lang="de-AT" sz="2000" b="0" strike="noStrike" spc="-1" dirty="0">
                <a:solidFill>
                  <a:srgbClr val="000000"/>
                </a:solidFill>
                <a:latin typeface="Arial"/>
              </a:rPr>
              <a:t> </a:t>
            </a:r>
            <a:r>
              <a:rPr lang="de-AT" sz="2000" b="0" strike="noStrike" spc="-1" dirty="0" err="1">
                <a:solidFill>
                  <a:srgbClr val="000000"/>
                </a:solidFill>
                <a:latin typeface="Arial"/>
              </a:rPr>
              <a:t>by</a:t>
            </a:r>
            <a:r>
              <a:rPr lang="de-AT" sz="2000" b="0" strike="noStrike" spc="-1" dirty="0">
                <a:solidFill>
                  <a:srgbClr val="000000"/>
                </a:solidFill>
                <a:latin typeface="Arial"/>
              </a:rPr>
              <a:t> </a:t>
            </a:r>
            <a:r>
              <a:rPr lang="de-AT" sz="2000" b="0" strike="noStrike" spc="-1" dirty="0" err="1">
                <a:solidFill>
                  <a:srgbClr val="000000"/>
                </a:solidFill>
                <a:latin typeface="Arial"/>
              </a:rPr>
              <a:t>several</a:t>
            </a:r>
            <a:r>
              <a:rPr lang="de-AT" sz="2000" b="0" strike="noStrike" spc="-1" dirty="0">
                <a:solidFill>
                  <a:srgbClr val="000000"/>
                </a:solidFill>
                <a:latin typeface="Arial"/>
              </a:rPr>
              <a:t> </a:t>
            </a:r>
            <a:r>
              <a:rPr lang="de-AT" sz="2000" b="0" strike="noStrike" spc="-1" dirty="0" err="1">
                <a:solidFill>
                  <a:srgbClr val="000000"/>
                </a:solidFill>
                <a:latin typeface="Arial"/>
              </a:rPr>
              <a:t>methodological</a:t>
            </a:r>
            <a:r>
              <a:rPr lang="de-AT" sz="2000" b="0" strike="noStrike" spc="-1" dirty="0">
                <a:solidFill>
                  <a:srgbClr val="000000"/>
                </a:solidFill>
                <a:latin typeface="Arial"/>
              </a:rPr>
              <a:t> </a:t>
            </a:r>
            <a:r>
              <a:rPr lang="de-AT" sz="2000" b="0" strike="noStrike" spc="-1" dirty="0" err="1">
                <a:solidFill>
                  <a:srgbClr val="000000"/>
                </a:solidFill>
                <a:latin typeface="Arial"/>
              </a:rPr>
              <a:t>choices</a:t>
            </a:r>
            <a:r>
              <a:rPr lang="de-AT" sz="2000" b="0" strike="noStrike" spc="-1" dirty="0">
                <a:solidFill>
                  <a:srgbClr val="000000"/>
                </a:solidFill>
                <a:latin typeface="Arial"/>
              </a:rPr>
              <a:t>. The </a:t>
            </a:r>
            <a:r>
              <a:rPr lang="de-AT" sz="2000" b="0" strike="noStrike" spc="-1" dirty="0" err="1">
                <a:solidFill>
                  <a:srgbClr val="000000"/>
                </a:solidFill>
                <a:latin typeface="Arial"/>
              </a:rPr>
              <a:t>authors</a:t>
            </a:r>
            <a:r>
              <a:rPr lang="de-AT" sz="2000" b="0" strike="noStrike" spc="-1" dirty="0">
                <a:solidFill>
                  <a:srgbClr val="000000"/>
                </a:solidFill>
                <a:latin typeface="Arial"/>
              </a:rPr>
              <a:t> </a:t>
            </a:r>
            <a:r>
              <a:rPr lang="de-AT" sz="2000" b="0" strike="noStrike" spc="-1" dirty="0" err="1">
                <a:solidFill>
                  <a:srgbClr val="000000"/>
                </a:solidFill>
                <a:latin typeface="Arial"/>
              </a:rPr>
              <a:t>followed</a:t>
            </a:r>
            <a:r>
              <a:rPr lang="de-AT" sz="2000" b="0" strike="noStrike" spc="-1" dirty="0">
                <a:solidFill>
                  <a:srgbClr val="000000"/>
                </a:solidFill>
                <a:latin typeface="Arial"/>
              </a:rPr>
              <a:t> PRISMA, </a:t>
            </a:r>
            <a:r>
              <a:rPr lang="de-AT" sz="2000" b="0" strike="noStrike" spc="-1" dirty="0" err="1">
                <a:solidFill>
                  <a:srgbClr val="000000"/>
                </a:solidFill>
                <a:latin typeface="Arial"/>
              </a:rPr>
              <a:t>used</a:t>
            </a:r>
            <a:r>
              <a:rPr lang="de-AT" sz="2000" b="0" strike="noStrike" spc="-1" dirty="0">
                <a:solidFill>
                  <a:srgbClr val="000000"/>
                </a:solidFill>
                <a:latin typeface="Arial"/>
              </a:rPr>
              <a:t> </a:t>
            </a:r>
            <a:r>
              <a:rPr lang="de-AT" sz="2000" b="0" strike="noStrike" spc="-1" dirty="0" err="1">
                <a:solidFill>
                  <a:srgbClr val="000000"/>
                </a:solidFill>
                <a:latin typeface="Arial"/>
              </a:rPr>
              <a:t>predefined</a:t>
            </a:r>
            <a:r>
              <a:rPr lang="de-AT" sz="2000" b="0" strike="noStrike" spc="-1" dirty="0">
                <a:solidFill>
                  <a:srgbClr val="000000"/>
                </a:solidFill>
                <a:latin typeface="Arial"/>
              </a:rPr>
              <a:t> </a:t>
            </a:r>
            <a:r>
              <a:rPr lang="de-AT" sz="2000" b="0" strike="noStrike" spc="-1" dirty="0" err="1">
                <a:solidFill>
                  <a:srgbClr val="000000"/>
                </a:solidFill>
                <a:latin typeface="Arial"/>
              </a:rPr>
              <a:t>inclusion</a:t>
            </a:r>
            <a:r>
              <a:rPr lang="de-AT" sz="2000" b="0" strike="noStrike" spc="-1" dirty="0">
                <a:solidFill>
                  <a:srgbClr val="000000"/>
                </a:solidFill>
                <a:latin typeface="Arial"/>
              </a:rPr>
              <a:t> and </a:t>
            </a:r>
            <a:r>
              <a:rPr lang="de-AT" sz="2000" b="0" strike="noStrike" spc="-1" dirty="0" err="1">
                <a:solidFill>
                  <a:srgbClr val="000000"/>
                </a:solidFill>
                <a:latin typeface="Arial"/>
              </a:rPr>
              <a:t>exclusion</a:t>
            </a:r>
            <a:r>
              <a:rPr lang="de-AT" sz="2000" b="0" strike="noStrike" spc="-1" dirty="0">
                <a:solidFill>
                  <a:srgbClr val="000000"/>
                </a:solidFill>
                <a:latin typeface="Arial"/>
              </a:rPr>
              <a:t> </a:t>
            </a:r>
            <a:r>
              <a:rPr lang="de-AT" sz="2000" b="0" strike="noStrike" spc="-1" dirty="0" err="1">
                <a:solidFill>
                  <a:srgbClr val="000000"/>
                </a:solidFill>
                <a:latin typeface="Arial"/>
              </a:rPr>
              <a:t>criteria</a:t>
            </a:r>
            <a:r>
              <a:rPr lang="de-AT" sz="2000" b="0" strike="noStrike" spc="-1" dirty="0">
                <a:solidFill>
                  <a:srgbClr val="000000"/>
                </a:solidFill>
                <a:latin typeface="Arial"/>
              </a:rPr>
              <a:t>, and </a:t>
            </a:r>
            <a:r>
              <a:rPr lang="de-AT" sz="2000" b="0" strike="noStrike" spc="-1" dirty="0" err="1">
                <a:solidFill>
                  <a:srgbClr val="000000"/>
                </a:solidFill>
                <a:latin typeface="Arial"/>
              </a:rPr>
              <a:t>focused</a:t>
            </a:r>
            <a:r>
              <a:rPr lang="de-AT" sz="2000" b="0" strike="noStrike" spc="-1" dirty="0">
                <a:solidFill>
                  <a:srgbClr val="000000"/>
                </a:solidFill>
                <a:latin typeface="Arial"/>
              </a:rPr>
              <a:t> on experimental and quasi-experimental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rather</a:t>
            </a:r>
            <a:r>
              <a:rPr lang="de-AT" sz="2000" b="0" strike="noStrike" spc="-1" dirty="0">
                <a:solidFill>
                  <a:srgbClr val="000000"/>
                </a:solidFill>
                <a:latin typeface="Arial"/>
              </a:rPr>
              <a:t> </a:t>
            </a:r>
            <a:r>
              <a:rPr lang="de-AT" sz="2000" b="0" strike="noStrike" spc="-1" dirty="0" err="1">
                <a:solidFill>
                  <a:srgbClr val="000000"/>
                </a:solidFill>
                <a:latin typeface="Arial"/>
              </a:rPr>
              <a:t>than</a:t>
            </a:r>
            <a:r>
              <a:rPr lang="de-AT" sz="2000" b="0" strike="noStrike" spc="-1" dirty="0">
                <a:solidFill>
                  <a:srgbClr val="000000"/>
                </a:solidFill>
                <a:latin typeface="Arial"/>
              </a:rPr>
              <a:t> </a:t>
            </a:r>
            <a:r>
              <a:rPr lang="de-AT" sz="2000" b="0" strike="noStrike" spc="-1" dirty="0" err="1">
                <a:solidFill>
                  <a:srgbClr val="000000"/>
                </a:solidFill>
                <a:latin typeface="Arial"/>
              </a:rPr>
              <a:t>only</a:t>
            </a:r>
            <a:r>
              <a:rPr lang="de-AT" sz="2000" b="0" strike="noStrike" spc="-1" dirty="0">
                <a:solidFill>
                  <a:srgbClr val="000000"/>
                </a:solidFill>
                <a:latin typeface="Arial"/>
              </a:rPr>
              <a:t> </a:t>
            </a:r>
            <a:r>
              <a:rPr lang="de-AT" sz="2000" b="0" strike="noStrike" spc="-1" dirty="0" err="1">
                <a:solidFill>
                  <a:srgbClr val="000000"/>
                </a:solidFill>
                <a:latin typeface="Arial"/>
              </a:rPr>
              <a:t>cross-sectional</a:t>
            </a:r>
            <a:r>
              <a:rPr lang="de-AT" sz="2000" b="0" strike="noStrike" spc="-1" dirty="0">
                <a:solidFill>
                  <a:srgbClr val="000000"/>
                </a:solidFill>
                <a:latin typeface="Arial"/>
              </a:rPr>
              <a:t> </a:t>
            </a:r>
            <a:r>
              <a:rPr lang="de-AT" sz="2000" b="0" strike="noStrike" spc="-1" dirty="0" err="1">
                <a:solidFill>
                  <a:srgbClr val="000000"/>
                </a:solidFill>
                <a:latin typeface="Arial"/>
              </a:rPr>
              <a:t>or</a:t>
            </a:r>
            <a:r>
              <a:rPr lang="de-AT" sz="2000" b="0" strike="noStrike" spc="-1" dirty="0">
                <a:solidFill>
                  <a:srgbClr val="000000"/>
                </a:solidFill>
                <a:latin typeface="Arial"/>
              </a:rPr>
              <a:t> </a:t>
            </a:r>
            <a:r>
              <a:rPr lang="de-AT" sz="2000" b="0" strike="noStrike" spc="-1" dirty="0" err="1">
                <a:solidFill>
                  <a:srgbClr val="000000"/>
                </a:solidFill>
                <a:latin typeface="Arial"/>
              </a:rPr>
              <a:t>opinion-based</a:t>
            </a:r>
            <a:r>
              <a:rPr lang="de-AT" sz="2000" b="0" strike="noStrike" spc="-1" dirty="0">
                <a:solidFill>
                  <a:srgbClr val="000000"/>
                </a:solidFill>
                <a:latin typeface="Arial"/>
              </a:rPr>
              <a:t> </a:t>
            </a:r>
            <a:r>
              <a:rPr lang="de-AT" sz="2000" b="0" strike="noStrike" spc="-1" dirty="0" err="1">
                <a:solidFill>
                  <a:srgbClr val="000000"/>
                </a:solidFill>
                <a:latin typeface="Arial"/>
              </a:rPr>
              <a:t>research</a:t>
            </a:r>
            <a:r>
              <a:rPr lang="de-AT" sz="2000" b="0" strike="noStrike" spc="-1" dirty="0">
                <a:solidFill>
                  <a:srgbClr val="000000"/>
                </a:solidFill>
                <a:latin typeface="Arial"/>
              </a:rPr>
              <a:t>. This </a:t>
            </a:r>
            <a:r>
              <a:rPr lang="de-AT" sz="2000" b="0" strike="noStrike" spc="-1" dirty="0" err="1">
                <a:solidFill>
                  <a:srgbClr val="000000"/>
                </a:solidFill>
                <a:latin typeface="Arial"/>
              </a:rPr>
              <a:t>allows</a:t>
            </a:r>
            <a:r>
              <a:rPr lang="de-AT" sz="2000" b="0" strike="noStrike" spc="-1" dirty="0">
                <a:solidFill>
                  <a:srgbClr val="000000"/>
                </a:solidFill>
                <a:latin typeface="Arial"/>
              </a:rPr>
              <a:t> </a:t>
            </a:r>
            <a:r>
              <a:rPr lang="de-AT" sz="2000" b="0" strike="noStrike" spc="-1" dirty="0" err="1">
                <a:solidFill>
                  <a:srgbClr val="000000"/>
                </a:solidFill>
                <a:latin typeface="Arial"/>
              </a:rPr>
              <a:t>stronger</a:t>
            </a:r>
            <a:r>
              <a:rPr lang="de-AT" sz="2000" b="0" strike="noStrike" spc="-1" dirty="0">
                <a:solidFill>
                  <a:srgbClr val="000000"/>
                </a:solidFill>
                <a:latin typeface="Arial"/>
              </a:rPr>
              <a:t> </a:t>
            </a:r>
            <a:r>
              <a:rPr lang="de-AT" sz="2000" b="0" strike="noStrike" spc="-1" dirty="0" err="1">
                <a:solidFill>
                  <a:srgbClr val="000000"/>
                </a:solidFill>
                <a:latin typeface="Arial"/>
              </a:rPr>
              <a:t>conclusions</a:t>
            </a:r>
            <a:r>
              <a:rPr lang="de-AT" sz="2000" b="0" strike="noStrike" spc="-1" dirty="0">
                <a:solidFill>
                  <a:srgbClr val="000000"/>
                </a:solidFill>
                <a:latin typeface="Arial"/>
              </a:rPr>
              <a:t> </a:t>
            </a:r>
            <a:r>
              <a:rPr lang="de-AT" sz="2000" b="0" strike="noStrike" spc="-1" dirty="0" err="1">
                <a:solidFill>
                  <a:srgbClr val="000000"/>
                </a:solidFill>
                <a:latin typeface="Arial"/>
              </a:rPr>
              <a:t>about</a:t>
            </a:r>
            <a:r>
              <a:rPr lang="de-AT" sz="2000" b="0" strike="noStrike" spc="-1" dirty="0">
                <a:solidFill>
                  <a:srgbClr val="000000"/>
                </a:solidFill>
                <a:latin typeface="Arial"/>
              </a:rPr>
              <a:t> potential </a:t>
            </a:r>
            <a:r>
              <a:rPr lang="de-AT" sz="2000" b="0" strike="noStrike" spc="-1" dirty="0" err="1">
                <a:solidFill>
                  <a:srgbClr val="000000"/>
                </a:solidFill>
                <a:latin typeface="Arial"/>
              </a:rPr>
              <a:t>effects</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Overall, </a:t>
            </a:r>
            <a:r>
              <a:rPr lang="de-AT" sz="2000" b="0" strike="noStrike" spc="-1" dirty="0" err="1">
                <a:solidFill>
                  <a:srgbClr val="000000"/>
                </a:solidFill>
                <a:latin typeface="Arial"/>
              </a:rPr>
              <a:t>based</a:t>
            </a:r>
            <a:r>
              <a:rPr lang="de-AT" sz="2000" b="0" strike="noStrike" spc="-1" dirty="0">
                <a:solidFill>
                  <a:srgbClr val="000000"/>
                </a:solidFill>
                <a:latin typeface="Arial"/>
              </a:rPr>
              <a:t> on </a:t>
            </a:r>
            <a:r>
              <a:rPr lang="de-AT" sz="2000" b="0" strike="noStrike" spc="-1" dirty="0" err="1">
                <a:solidFill>
                  <a:srgbClr val="000000"/>
                </a:solidFill>
                <a:latin typeface="Arial"/>
              </a:rPr>
              <a:t>the</a:t>
            </a:r>
            <a:r>
              <a:rPr lang="de-AT" sz="2000" b="0" strike="noStrike" spc="-1" dirty="0">
                <a:solidFill>
                  <a:srgbClr val="000000"/>
                </a:solidFill>
                <a:latin typeface="Arial"/>
              </a:rPr>
              <a:t> MAGIC </a:t>
            </a:r>
            <a:r>
              <a:rPr lang="de-AT" sz="2000" b="0" strike="noStrike" spc="-1" dirty="0" err="1">
                <a:solidFill>
                  <a:srgbClr val="000000"/>
                </a:solidFill>
                <a:latin typeface="Arial"/>
              </a:rPr>
              <a:t>criteria</a:t>
            </a:r>
            <a:r>
              <a:rPr lang="de-AT" sz="2000" b="0" strike="noStrike" spc="-1" dirty="0">
                <a:solidFill>
                  <a:srgbClr val="000000"/>
                </a:solidFill>
                <a:latin typeface="Arial"/>
              </a:rPr>
              <a:t>, </a:t>
            </a:r>
            <a:r>
              <a:rPr lang="de-AT" sz="2000" b="0" strike="noStrike" spc="-1" dirty="0" err="1">
                <a:solidFill>
                  <a:srgbClr val="000000"/>
                </a:solidFill>
                <a:latin typeface="Arial"/>
              </a:rPr>
              <a:t>we</a:t>
            </a:r>
            <a:r>
              <a:rPr lang="de-AT" sz="2000" b="0" strike="noStrike" spc="-1" dirty="0">
                <a:solidFill>
                  <a:srgbClr val="000000"/>
                </a:solidFill>
                <a:latin typeface="Arial"/>
              </a:rPr>
              <a:t> </a:t>
            </a:r>
            <a:r>
              <a:rPr lang="de-AT" sz="2000" b="0" strike="noStrike" spc="-1" dirty="0" err="1">
                <a:solidFill>
                  <a:srgbClr val="000000"/>
                </a:solidFill>
                <a:latin typeface="Arial"/>
              </a:rPr>
              <a:t>would</a:t>
            </a:r>
            <a:r>
              <a:rPr lang="de-AT" sz="2000" b="0" strike="noStrike" spc="-1" dirty="0">
                <a:solidFill>
                  <a:srgbClr val="000000"/>
                </a:solidFill>
                <a:latin typeface="Arial"/>
              </a:rPr>
              <a:t> </a:t>
            </a:r>
            <a:r>
              <a:rPr lang="de-AT" sz="2000" b="0" strike="noStrike" spc="-1" dirty="0" err="1">
                <a:solidFill>
                  <a:srgbClr val="000000"/>
                </a:solidFill>
                <a:latin typeface="Arial"/>
              </a:rPr>
              <a:t>describe</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meta-analysis </a:t>
            </a:r>
            <a:r>
              <a:rPr lang="de-AT" sz="2000" b="0" strike="noStrike" spc="-1" dirty="0" err="1">
                <a:solidFill>
                  <a:srgbClr val="000000"/>
                </a:solidFill>
                <a:latin typeface="Arial"/>
              </a:rPr>
              <a:t>as</a:t>
            </a:r>
            <a:r>
              <a:rPr lang="de-AT" sz="2000" b="0" strike="noStrike" spc="-1" dirty="0">
                <a:solidFill>
                  <a:srgbClr val="000000"/>
                </a:solidFill>
                <a:latin typeface="Arial"/>
              </a:rPr>
              <a:t> relevant, </a:t>
            </a:r>
            <a:r>
              <a:rPr lang="de-AT" sz="2000" b="0" strike="noStrike" spc="-1" dirty="0" err="1">
                <a:solidFill>
                  <a:srgbClr val="000000"/>
                </a:solidFill>
                <a:latin typeface="Arial"/>
              </a:rPr>
              <a:t>clearly</a:t>
            </a:r>
            <a:r>
              <a:rPr lang="de-AT" sz="2000" b="0" strike="noStrike" spc="-1" dirty="0">
                <a:solidFill>
                  <a:srgbClr val="000000"/>
                </a:solidFill>
                <a:latin typeface="Arial"/>
              </a:rPr>
              <a:t> </a:t>
            </a:r>
            <a:r>
              <a:rPr lang="de-AT" sz="2000" b="0" strike="noStrike" spc="-1" dirty="0" err="1">
                <a:solidFill>
                  <a:srgbClr val="000000"/>
                </a:solidFill>
                <a:latin typeface="Arial"/>
              </a:rPr>
              <a:t>articulated</a:t>
            </a:r>
            <a:r>
              <a:rPr lang="de-AT" sz="2000" b="0" strike="noStrike" spc="-1" dirty="0">
                <a:solidFill>
                  <a:srgbClr val="000000"/>
                </a:solidFill>
                <a:latin typeface="Arial"/>
              </a:rPr>
              <a:t>, and </a:t>
            </a:r>
            <a:r>
              <a:rPr lang="de-AT" sz="2000" b="0" strike="noStrike" spc="-1" dirty="0" err="1">
                <a:solidFill>
                  <a:srgbClr val="000000"/>
                </a:solidFill>
                <a:latin typeface="Arial"/>
              </a:rPr>
              <a:t>methodologically</a:t>
            </a:r>
            <a:r>
              <a:rPr lang="de-AT" sz="2000" b="0" strike="noStrike" spc="-1" dirty="0">
                <a:solidFill>
                  <a:srgbClr val="000000"/>
                </a:solidFill>
                <a:latin typeface="Arial"/>
              </a:rPr>
              <a:t> </a:t>
            </a:r>
            <a:r>
              <a:rPr lang="de-AT" sz="2000" b="0" strike="noStrike" spc="-1" dirty="0" err="1">
                <a:solidFill>
                  <a:srgbClr val="000000"/>
                </a:solidFill>
                <a:latin typeface="Arial"/>
              </a:rPr>
              <a:t>credible</a:t>
            </a:r>
            <a:r>
              <a:rPr lang="de-AT" sz="2000" b="0" strike="noStrike" spc="-1" dirty="0">
                <a:solidFill>
                  <a:srgbClr val="000000"/>
                </a:solidFill>
                <a:latin typeface="Arial"/>
              </a:rPr>
              <a:t>. </a:t>
            </a:r>
            <a:r>
              <a:rPr lang="de-AT" sz="2000" b="0" strike="noStrike" spc="-1" dirty="0" err="1">
                <a:solidFill>
                  <a:srgbClr val="000000"/>
                </a:solidFill>
                <a:latin typeface="Arial"/>
              </a:rPr>
              <a:t>However</a:t>
            </a:r>
            <a:r>
              <a:rPr lang="de-AT" sz="2000" b="0" strike="noStrike" spc="-1" dirty="0">
                <a:solidFill>
                  <a:srgbClr val="000000"/>
                </a:solidFill>
                <a:latin typeface="Arial"/>
              </a:rPr>
              <a:t>, </a:t>
            </a:r>
            <a:r>
              <a:rPr lang="de-AT" sz="2000" b="0" strike="noStrike" spc="-1" dirty="0" err="1">
                <a:solidFill>
                  <a:srgbClr val="000000"/>
                </a:solidFill>
                <a:latin typeface="Arial"/>
              </a:rPr>
              <a:t>its</a:t>
            </a:r>
            <a:r>
              <a:rPr lang="de-AT" sz="2000" b="0" strike="noStrike" spc="-1" dirty="0">
                <a:solidFill>
                  <a:srgbClr val="000000"/>
                </a:solidFill>
                <a:latin typeface="Arial"/>
              </a:rPr>
              <a:t> </a:t>
            </a:r>
            <a:r>
              <a:rPr lang="de-AT" sz="2000" b="0" strike="noStrike" spc="-1" dirty="0" err="1">
                <a:solidFill>
                  <a:srgbClr val="000000"/>
                </a:solidFill>
                <a:latin typeface="Arial"/>
              </a:rPr>
              <a:t>generality</a:t>
            </a:r>
            <a:r>
              <a:rPr lang="de-AT" sz="2000" b="0" strike="noStrike" spc="-1" dirty="0">
                <a:solidFill>
                  <a:srgbClr val="000000"/>
                </a:solidFill>
                <a:latin typeface="Arial"/>
              </a:rPr>
              <a:t> and </a:t>
            </a:r>
            <a:r>
              <a:rPr lang="de-AT" sz="2000" b="0" strike="noStrike" spc="-1" dirty="0" err="1">
                <a:solidFill>
                  <a:srgbClr val="000000"/>
                </a:solidFill>
                <a:latin typeface="Arial"/>
              </a:rPr>
              <a:t>magnitude</a:t>
            </a:r>
            <a:r>
              <a:rPr lang="de-AT" sz="2000" b="0" strike="noStrike" spc="-1" dirty="0">
                <a:solidFill>
                  <a:srgbClr val="000000"/>
                </a:solidFill>
                <a:latin typeface="Arial"/>
              </a:rPr>
              <a:t> </a:t>
            </a:r>
            <a:r>
              <a:rPr lang="de-AT" sz="2000" b="0" strike="noStrike" spc="-1" dirty="0" err="1">
                <a:solidFill>
                  <a:srgbClr val="000000"/>
                </a:solidFill>
                <a:latin typeface="Arial"/>
              </a:rPr>
              <a:t>should</a:t>
            </a:r>
            <a:r>
              <a:rPr lang="de-AT" sz="2000" b="0" strike="noStrike" spc="-1" dirty="0">
                <a:solidFill>
                  <a:srgbClr val="000000"/>
                </a:solidFill>
                <a:latin typeface="Arial"/>
              </a:rPr>
              <a:t> </a:t>
            </a:r>
            <a:r>
              <a:rPr lang="de-AT" sz="2000" b="0" strike="noStrike" spc="-1" dirty="0" err="1">
                <a:solidFill>
                  <a:srgbClr val="000000"/>
                </a:solidFill>
                <a:latin typeface="Arial"/>
              </a:rPr>
              <a:t>be</a:t>
            </a:r>
            <a:r>
              <a:rPr lang="de-AT" sz="2000" b="0" strike="noStrike" spc="-1" dirty="0">
                <a:solidFill>
                  <a:srgbClr val="000000"/>
                </a:solidFill>
                <a:latin typeface="Arial"/>
              </a:rPr>
              <a:t> </a:t>
            </a:r>
            <a:r>
              <a:rPr lang="de-AT" sz="2000" b="0" strike="noStrike" spc="-1" dirty="0" err="1">
                <a:solidFill>
                  <a:srgbClr val="000000"/>
                </a:solidFill>
                <a:latin typeface="Arial"/>
              </a:rPr>
              <a:t>interpreted</a:t>
            </a:r>
            <a:r>
              <a:rPr lang="de-AT" sz="2000" b="0" strike="noStrike" spc="-1" dirty="0">
                <a:solidFill>
                  <a:srgbClr val="000000"/>
                </a:solidFill>
                <a:latin typeface="Arial"/>
              </a:rPr>
              <a:t> </a:t>
            </a:r>
            <a:r>
              <a:rPr lang="de-AT" sz="2000" b="0" strike="noStrike" spc="-1" dirty="0" err="1">
                <a:solidFill>
                  <a:srgbClr val="000000"/>
                </a:solidFill>
                <a:latin typeface="Arial"/>
              </a:rPr>
              <a:t>with</a:t>
            </a:r>
            <a:r>
              <a:rPr lang="de-AT" sz="2000" b="0" strike="noStrike" spc="-1" dirty="0">
                <a:solidFill>
                  <a:srgbClr val="000000"/>
                </a:solidFill>
                <a:latin typeface="Arial"/>
              </a:rPr>
              <a:t> </a:t>
            </a:r>
            <a:r>
              <a:rPr lang="de-AT" sz="2000" b="0" strike="noStrike" spc="-1" dirty="0" err="1">
                <a:solidFill>
                  <a:srgbClr val="000000"/>
                </a:solidFill>
                <a:latin typeface="Arial"/>
              </a:rPr>
              <a:t>caution</a:t>
            </a:r>
            <a:r>
              <a:rPr lang="de-AT" sz="2000" b="0" strike="noStrike" spc="-1" dirty="0">
                <a:solidFill>
                  <a:srgbClr val="000000"/>
                </a:solidFill>
                <a:latin typeface="Arial"/>
              </a:rPr>
              <a:t> </a:t>
            </a:r>
            <a:r>
              <a:rPr lang="de-AT" sz="2000" b="0" strike="noStrike" spc="-1" dirty="0" err="1">
                <a:solidFill>
                  <a:srgbClr val="000000"/>
                </a:solidFill>
                <a:latin typeface="Arial"/>
              </a:rPr>
              <a:t>because</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included</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differ</a:t>
            </a:r>
            <a:r>
              <a:rPr lang="de-AT" sz="2000" b="0" strike="noStrike" spc="-1" dirty="0">
                <a:solidFill>
                  <a:srgbClr val="000000"/>
                </a:solidFill>
                <a:latin typeface="Arial"/>
              </a:rPr>
              <a:t> </a:t>
            </a:r>
            <a:r>
              <a:rPr lang="de-AT" sz="2000" b="0" strike="noStrike" spc="-1" dirty="0" err="1">
                <a:solidFill>
                  <a:srgbClr val="000000"/>
                </a:solidFill>
                <a:latin typeface="Arial"/>
              </a:rPr>
              <a:t>considerably</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p:txBody>
      </p:sp>
      <p:sp>
        <p:nvSpPr>
          <p:cNvPr id="235" name="PlaceHolder 3"/>
          <p:cNvSpPr>
            <a:spLocks noGrp="1"/>
          </p:cNvSpPr>
          <p:nvPr>
            <p:ph type="sldNum" idx="5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1D9BD4AB-257C-4827-A686-322BFD56F154}" type="slidenum">
              <a:rPr lang="de-AT" sz="1200" b="0" strike="noStrike" spc="-1">
                <a:solidFill>
                  <a:srgbClr val="000000"/>
                </a:solidFill>
                <a:latin typeface="Times New Roman"/>
              </a:rPr>
              <a:t>7</a:t>
            </a:fld>
            <a:endParaRPr lang="de-AT" sz="1200" b="0" strike="noStrike" spc="-1">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7:notes"/>
          <p:cNvSpPr txBox="1">
            <a:spLocks noGrp="1"/>
          </p:cNvSpPr>
          <p:nvPr>
            <p:ph type="body" idx="1"/>
          </p:nvPr>
        </p:nvSpPr>
        <p:spPr>
          <a:xfrm>
            <a:off x="756000" y="5078520"/>
            <a:ext cx="6047280" cy="481068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0"/>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After the screening process, Deng et al. included 69 studies in the systematic review. Out of these, 62 studies were included in the meta-analysis.</a:t>
            </a:r>
            <a:endParaRPr sz="1500" b="0" strike="noStrike">
              <a:solidFill>
                <a:srgbClr val="000000"/>
              </a:solidFill>
              <a:latin typeface="Arial"/>
              <a:ea typeface="Arial"/>
              <a:cs typeface="Arial"/>
              <a:sym typeface="Arial"/>
            </a:endParaRPr>
          </a:p>
          <a:p>
            <a:pPr marL="457200" lvl="0" indent="-324000" algn="l" rtl="0">
              <a:lnSpc>
                <a:spcPct val="115000"/>
              </a:lnSpc>
              <a:spcBef>
                <a:spcPts val="1199"/>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evidence base - not evenly distributed across all educational contexts</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Most studies were conducted at university level. (~84% were higher education studies)</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a smaller part focused on K-12 education.</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This matters because the results </a:t>
            </a:r>
            <a:r>
              <a:rPr lang="de-AT" sz="1500" b="1" strike="noStrike">
                <a:solidFill>
                  <a:schemeClr val="dk1"/>
                </a:solidFill>
                <a:latin typeface="Arial"/>
                <a:ea typeface="Arial"/>
                <a:cs typeface="Arial"/>
                <a:sym typeface="Arial"/>
              </a:rPr>
              <a:t>may not generalize equally</a:t>
            </a:r>
            <a:r>
              <a:rPr lang="de-AT" sz="1500" b="0" strike="noStrike">
                <a:solidFill>
                  <a:schemeClr val="dk1"/>
                </a:solidFill>
                <a:latin typeface="Arial"/>
                <a:ea typeface="Arial"/>
                <a:cs typeface="Arial"/>
                <a:sym typeface="Arial"/>
              </a:rPr>
              <a:t> → to younger students</a:t>
            </a:r>
            <a:br>
              <a:rPr lang="de-AT" sz="1500"/>
            </a:br>
            <a:r>
              <a:rPr lang="de-AT" sz="1500" b="0" strike="noStrike">
                <a:solidFill>
                  <a:schemeClr val="dk1"/>
                </a:solidFill>
                <a:latin typeface="Arial"/>
                <a:ea typeface="Arial"/>
                <a:cs typeface="Arial"/>
                <a:sym typeface="Arial"/>
              </a:rPr>
              <a:t>University students:</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more autonomy</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more prior knowledge</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more experience with independent learning</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So: ChatGPT might work differently for them than for school students.</a:t>
            </a:r>
            <a:endParaRPr sz="15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Most common subject area:</a:t>
            </a:r>
            <a:endParaRPr sz="1500" b="0" strike="noStrike">
              <a:solidFill>
                <a:srgbClr val="000000"/>
              </a:solidFill>
              <a:latin typeface="Arial"/>
              <a:ea typeface="Arial"/>
              <a:cs typeface="Arial"/>
              <a:sym typeface="Arial"/>
            </a:endParaRPr>
          </a:p>
          <a:p>
            <a:pPr marL="457200" lvl="0" indent="-324000" algn="l" rtl="0">
              <a:lnSpc>
                <a:spcPct val="115000"/>
              </a:lnSpc>
              <a:spcBef>
                <a:spcPts val="1199"/>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mainly language education</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also included studies from other fields: computing, health, physics, and education</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distribution is uneven!</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Take in mind: “ChatGPT supports learning,” for some domains more relevant</a:t>
            </a:r>
            <a:br>
              <a:rPr lang="de-AT" sz="1500"/>
            </a:br>
            <a:r>
              <a:rPr lang="de-AT" sz="1500" b="0" strike="noStrike">
                <a:solidFill>
                  <a:schemeClr val="dk1"/>
                </a:solidFill>
                <a:latin typeface="Arial"/>
                <a:ea typeface="Arial"/>
                <a:cs typeface="Arial"/>
                <a:sym typeface="Arial"/>
              </a:rPr>
              <a:t> </a:t>
            </a:r>
            <a:endParaRPr sz="15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How ChatGPT was used?</a:t>
            </a:r>
            <a:endParaRPr sz="1500" b="0" strike="noStrike">
              <a:solidFill>
                <a:srgbClr val="000000"/>
              </a:solidFill>
              <a:latin typeface="Arial"/>
              <a:ea typeface="Arial"/>
              <a:cs typeface="Arial"/>
              <a:sym typeface="Arial"/>
            </a:endParaRPr>
          </a:p>
          <a:p>
            <a:pPr marL="457200" lvl="0" indent="-324000" algn="l" rtl="0">
              <a:lnSpc>
                <a:spcPct val="115000"/>
              </a:lnSpc>
              <a:spcBef>
                <a:spcPts val="1199"/>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Mainly: direct learning tool - dir. interaction with ChatGPT</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rather than using a highly structured AI-supported learning environment designed by teachers or researchers</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This is interesting from a human factors perspective: Much freedom, but much responsibility</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quality depends on: </a:t>
            </a:r>
            <a:r>
              <a:rPr lang="de-AT" sz="1500" b="1" strike="noStrike">
                <a:solidFill>
                  <a:schemeClr val="dk1"/>
                </a:solidFill>
                <a:latin typeface="Arial"/>
                <a:ea typeface="Arial"/>
                <a:cs typeface="Arial"/>
                <a:sym typeface="Arial"/>
              </a:rPr>
              <a:t>prompting, verification, prior knowledge, and critical thinking.</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Many interventions in classroom settings (several lasted multiple weeks)</a:t>
            </a:r>
            <a:br>
              <a:rPr lang="de-AT" sz="1500"/>
            </a:br>
            <a:r>
              <a:rPr lang="de-AT" sz="1500" b="0" strike="noStrike">
                <a:solidFill>
                  <a:schemeClr val="dk1"/>
                </a:solidFill>
                <a:latin typeface="Arial"/>
                <a:ea typeface="Arial"/>
                <a:cs typeface="Arial"/>
                <a:sym typeface="Arial"/>
              </a:rPr>
              <a:t>not only based on very short lab tasks</a:t>
            </a:r>
            <a:br>
              <a:rPr lang="de-AT" sz="1500"/>
            </a:br>
            <a:r>
              <a:rPr lang="de-AT" sz="1500" b="0" strike="noStrike">
                <a:solidFill>
                  <a:schemeClr val="dk1"/>
                </a:solidFill>
                <a:latin typeface="Arial"/>
                <a:ea typeface="Arial"/>
                <a:cs typeface="Arial"/>
                <a:sym typeface="Arial"/>
              </a:rPr>
              <a:t>However, the authors also found that duration matters in some moderator analyses, </a:t>
            </a:r>
            <a:br>
              <a:rPr lang="de-AT" sz="1500"/>
            </a:br>
            <a:r>
              <a:rPr lang="de-AT" sz="1500" b="0" strike="noStrike">
                <a:solidFill>
                  <a:schemeClr val="dk1"/>
                </a:solidFill>
                <a:latin typeface="Arial"/>
                <a:ea typeface="Arial"/>
                <a:cs typeface="Arial"/>
                <a:sym typeface="Arial"/>
              </a:rPr>
              <a:t>→ to be careful when comparing short and long interventions.</a:t>
            </a:r>
            <a:endParaRPr sz="15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My takeaway from this slide is: </a:t>
            </a:r>
            <a:r>
              <a:rPr lang="de-AT" sz="1500"/>
              <a:t>In most studies, ChatGPT was used as a direct learning tool. This means that students interacted directly with ChatGPT itself. In most cases, they were not guided by a highly structured AI learning environment designed by teachers or researchers. From a human factors perspective, this is important: direct use gives students a lot of freedom, but also a lot of responsibility. The quality of learning may depend on prompting skills, verification strategies, prior knowledge, and critical thinking. </a:t>
            </a:r>
            <a:endParaRPr sz="1500"/>
          </a:p>
          <a:p>
            <a:pPr marL="216000" lvl="0" indent="-216000" algn="l" rtl="0">
              <a:lnSpc>
                <a:spcPct val="100000"/>
              </a:lnSpc>
              <a:spcBef>
                <a:spcPts val="1199"/>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Ziel dieser Folie: die Studienlandschaft zeigen.</a:t>
            </a:r>
            <a:endParaRPr sz="1500" b="0" strike="noStrike">
              <a:solidFill>
                <a:srgbClr val="000000"/>
              </a:solidFill>
              <a:latin typeface="Arial"/>
              <a:ea typeface="Arial"/>
              <a:cs typeface="Arial"/>
              <a:sym typeface="Arial"/>
            </a:endParaRPr>
          </a:p>
          <a:p>
            <a:pPr marL="216000" lvl="0" indent="-216000" algn="l" rtl="0">
              <a:lnSpc>
                <a:spcPct val="100000"/>
              </a:lnSpc>
              <a:spcBef>
                <a:spcPts val="0"/>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Sprechtext:</a:t>
            </a:r>
            <a:endParaRPr sz="15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Nach der Auswahl bleiben 69 Studien im systematischen Review, und 62 davon gehen in die Meta-Analyse ein. Wichtig ist: Diese Evidenzbasis ist nicht gleichmäßig über alle Bildungskontexte verteilt. Der Großteil stammt aus Universitäten, nur ein kleinerer Teil aus K-12. Auch inhaltlich gibt es einen Schwerpunkt auf Sprache beziehungsweise Language Education. Außerdem wird ChatGPT meistens direkt genutzt, also als normales ChatGPT-Tool, nicht als speziell entwickelte Lernapp. Für die Interpretation heißt das: Die Meta-Analyse ist breit, aber die stärkste Evidenz betrifft vor allem Hochschulkontexte.</a:t>
            </a:r>
            <a:endParaRPr sz="1500" b="0" strike="noStrike">
              <a:solidFill>
                <a:srgbClr val="000000"/>
              </a:solidFill>
              <a:latin typeface="Arial"/>
              <a:ea typeface="Arial"/>
              <a:cs typeface="Arial"/>
              <a:sym typeface="Arial"/>
            </a:endParaRPr>
          </a:p>
          <a:p>
            <a:pPr marL="0" lvl="0" indent="0" algn="l" rtl="0">
              <a:lnSpc>
                <a:spcPct val="100000"/>
              </a:lnSpc>
              <a:spcBef>
                <a:spcPts val="0"/>
              </a:spcBef>
              <a:spcAft>
                <a:spcPts val="0"/>
              </a:spcAft>
              <a:buClr>
                <a:schemeClr val="dk1"/>
              </a:buClr>
              <a:buSzPts val="1600"/>
              <a:buFont typeface="Arial"/>
              <a:buNone/>
            </a:pPr>
            <a:endParaRPr sz="1600" b="0" strike="noStrike">
              <a:solidFill>
                <a:srgbClr val="000000"/>
              </a:solidFill>
              <a:latin typeface="Arial"/>
              <a:ea typeface="Arial"/>
              <a:cs typeface="Arial"/>
              <a:sym typeface="Arial"/>
            </a:endParaRPr>
          </a:p>
        </p:txBody>
      </p:sp>
      <p:sp>
        <p:nvSpPr>
          <p:cNvPr id="112" name="Google Shape;112;p7:notes"/>
          <p:cNvSpPr>
            <a:spLocks noGrp="1" noRot="1" noChangeAspect="1"/>
          </p:cNvSpPr>
          <p:nvPr>
            <p:ph type="sldImg" idx="2"/>
          </p:nvPr>
        </p:nvSpPr>
        <p:spPr>
          <a:xfrm>
            <a:off x="0" y="81280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p8:notes"/>
          <p:cNvSpPr>
            <a:spLocks noGrp="1" noRot="1" noChangeAspect="1"/>
          </p:cNvSpPr>
          <p:nvPr>
            <p:ph type="sldImg" idx="2"/>
          </p:nvPr>
        </p:nvSpPr>
        <p:spPr>
          <a:xfrm>
            <a:off x="685800" y="1143000"/>
            <a:ext cx="5485680" cy="308556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p8:notes"/>
          <p:cNvSpPr txBox="1">
            <a:spLocks noGrp="1"/>
          </p:cNvSpPr>
          <p:nvPr>
            <p:ph type="body" idx="1"/>
          </p:nvPr>
        </p:nvSpPr>
        <p:spPr>
          <a:xfrm>
            <a:off x="685800" y="4400640"/>
            <a:ext cx="5485680" cy="359964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0"/>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The authors report effect sizes using Hedges’ g (a standardized effect size).</a:t>
            </a:r>
            <a:br>
              <a:rPr lang="de-AT" sz="1500"/>
            </a:br>
            <a:r>
              <a:rPr lang="de-AT" sz="1500" b="0" strike="noStrike">
                <a:solidFill>
                  <a:schemeClr val="dk1"/>
                </a:solidFill>
                <a:latin typeface="Arial"/>
                <a:ea typeface="Arial"/>
                <a:cs typeface="Arial"/>
                <a:sym typeface="Arial"/>
              </a:rPr>
              <a:t>It tells us how far apart the ChatGPT group and the control group are, measured in standard deviations.</a:t>
            </a:r>
            <a:endParaRPr sz="15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As a rough interpretation: effect 0.2 = small, 0.5 = medium, 0.8 = large, &gt;1 = very large</a:t>
            </a:r>
            <a:br>
              <a:rPr lang="de-AT" sz="1500"/>
            </a:br>
            <a:r>
              <a:rPr lang="de-AT" sz="1500" b="0" strike="noStrike">
                <a:solidFill>
                  <a:schemeClr val="dk1"/>
                </a:solidFill>
                <a:latin typeface="Arial"/>
                <a:ea typeface="Arial"/>
                <a:cs typeface="Arial"/>
                <a:sym typeface="Arial"/>
              </a:rPr>
              <a:t>but especially in education research such large effects should always be interpreted carefully.</a:t>
            </a:r>
            <a:endParaRPr sz="1500" b="0" strike="noStrike">
              <a:solidFill>
                <a:srgbClr val="000000"/>
              </a:solidFill>
              <a:latin typeface="Arial"/>
              <a:ea typeface="Arial"/>
              <a:cs typeface="Arial"/>
              <a:sym typeface="Arial"/>
            </a:endParaRPr>
          </a:p>
          <a:p>
            <a:pPr marL="457200" lvl="0" indent="-324000" algn="l" rtl="0">
              <a:lnSpc>
                <a:spcPct val="115000"/>
              </a:lnSpc>
              <a:spcBef>
                <a:spcPts val="1199"/>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academic performance - large effect 0.712 (44 out of 51 effect sizes were positive)</a:t>
            </a:r>
            <a:br>
              <a:rPr lang="de-AT" sz="1500"/>
            </a:br>
            <a:r>
              <a:rPr lang="de-AT" sz="1500" b="0" strike="noStrike">
                <a:solidFill>
                  <a:schemeClr val="dk1"/>
                </a:solidFill>
                <a:latin typeface="Arial"/>
                <a:ea typeface="Arial"/>
                <a:cs typeface="Arial"/>
                <a:sym typeface="Arial"/>
              </a:rPr>
              <a:t>Average, students using ChatGPT performed better than students in the control conditions</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large positive effect for affective and</a:t>
            </a:r>
            <a:r>
              <a:rPr lang="de-AT" sz="1500" b="1" strike="noStrike">
                <a:solidFill>
                  <a:schemeClr val="dk1"/>
                </a:solidFill>
                <a:latin typeface="Arial"/>
                <a:ea typeface="Arial"/>
                <a:cs typeface="Arial"/>
                <a:sym typeface="Arial"/>
              </a:rPr>
              <a:t> motivational states</a:t>
            </a:r>
            <a:r>
              <a:rPr lang="de-AT" sz="1500" b="0" strike="noStrike">
                <a:solidFill>
                  <a:schemeClr val="dk1"/>
                </a:solidFill>
                <a:latin typeface="Arial"/>
                <a:ea typeface="Arial"/>
                <a:cs typeface="Arial"/>
                <a:sym typeface="Arial"/>
              </a:rPr>
              <a:t> ~ 0.88 (17 out of 20 effect sizes were positive)</a:t>
            </a:r>
            <a:br>
              <a:rPr lang="de-AT" sz="1500"/>
            </a:br>
            <a:r>
              <a:rPr lang="de-AT" sz="1500" b="0" strike="noStrike">
                <a:solidFill>
                  <a:schemeClr val="dk1"/>
                </a:solidFill>
                <a:latin typeface="Arial"/>
                <a:ea typeface="Arial"/>
                <a:cs typeface="Arial"/>
                <a:sym typeface="Arial"/>
              </a:rPr>
              <a:t>ChatGPT may positively influence: feel about learning, e.g. motivation, engagement, or attitude.</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higher-order thinking propensities: positive and large, around 0.70. (14 of 15 effect sizes were positive)</a:t>
            </a:r>
            <a:br>
              <a:rPr lang="de-AT" sz="1500"/>
            </a:br>
            <a:r>
              <a:rPr lang="de-AT" sz="1500" b="0" strike="noStrike">
                <a:solidFill>
                  <a:schemeClr val="dk1"/>
                </a:solidFill>
                <a:latin typeface="Arial"/>
                <a:ea typeface="Arial"/>
                <a:cs typeface="Arial"/>
                <a:sym typeface="Arial"/>
              </a:rPr>
              <a:t>There are concerns about ChatGPT might reduce deeper thinking.</a:t>
            </a:r>
            <a:br>
              <a:rPr lang="de-AT" sz="1500"/>
            </a:br>
            <a:r>
              <a:rPr lang="de-AT" sz="1500" b="0" strike="noStrike">
                <a:solidFill>
                  <a:schemeClr val="dk1"/>
                </a:solidFill>
                <a:latin typeface="Arial"/>
                <a:ea typeface="Arial"/>
                <a:cs typeface="Arial"/>
                <a:sym typeface="Arial"/>
              </a:rPr>
              <a:t>The meta-analysis suggests: at least in experimental studies, ChatGPT can also support outcomes related to higher-order thinking</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However, </a:t>
            </a:r>
            <a:r>
              <a:rPr lang="de-AT" sz="1500" b="1" strike="noStrike">
                <a:solidFill>
                  <a:schemeClr val="dk1"/>
                </a:solidFill>
                <a:latin typeface="Arial"/>
                <a:ea typeface="Arial"/>
                <a:cs typeface="Arial"/>
                <a:sym typeface="Arial"/>
              </a:rPr>
              <a:t>self-efficacy</a:t>
            </a:r>
            <a:r>
              <a:rPr lang="de-AT" sz="1500" b="0" strike="noStrike">
                <a:solidFill>
                  <a:schemeClr val="dk1"/>
                </a:solidFill>
                <a:latin typeface="Arial"/>
                <a:ea typeface="Arial"/>
                <a:cs typeface="Arial"/>
                <a:sym typeface="Arial"/>
              </a:rPr>
              <a:t> was different. The effect was positive, but not statistically significant. (5 out of 7 effect sizes were positive)</a:t>
            </a:r>
            <a:br>
              <a:rPr lang="de-AT" sz="1500"/>
            </a:br>
            <a:r>
              <a:rPr lang="de-AT" sz="1500" b="0" strike="noStrike">
                <a:solidFill>
                  <a:schemeClr val="dk1"/>
                </a:solidFill>
                <a:latin typeface="Arial"/>
                <a:ea typeface="Arial"/>
                <a:cs typeface="Arial"/>
                <a:sym typeface="Arial"/>
              </a:rPr>
              <a:t>We cannot confidently say that ChatGPT improves students’ belief in their own abilities.</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Char char="●"/>
            </a:pPr>
            <a:r>
              <a:rPr lang="de-AT" sz="1500" b="0" strike="noStrike">
                <a:solidFill>
                  <a:schemeClr val="dk1"/>
                </a:solidFill>
                <a:latin typeface="Arial"/>
                <a:ea typeface="Arial"/>
                <a:cs typeface="Arial"/>
                <a:sym typeface="Arial"/>
              </a:rPr>
              <a:t>Mental effort: negative effect, ~minus 0.68. (3 of 4 negative)</a:t>
            </a:r>
            <a:br>
              <a:rPr lang="de-AT" sz="1500"/>
            </a:br>
            <a:r>
              <a:rPr lang="de-AT" sz="1500" b="0" strike="noStrike">
                <a:solidFill>
                  <a:schemeClr val="dk1"/>
                </a:solidFill>
                <a:latin typeface="Arial"/>
                <a:ea typeface="Arial"/>
                <a:cs typeface="Arial"/>
                <a:sym typeface="Arial"/>
              </a:rPr>
              <a:t>Does not mean bad - students reported lower mental effort </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Positive: reduces unnecessary cognitive load</a:t>
            </a:r>
            <a:endParaRPr sz="1500" b="0" strike="noStrike">
              <a:solidFill>
                <a:srgbClr val="000000"/>
              </a:solidFill>
              <a:latin typeface="Arial"/>
              <a:ea typeface="Arial"/>
              <a:cs typeface="Arial"/>
              <a:sym typeface="Arial"/>
            </a:endParaRPr>
          </a:p>
          <a:p>
            <a:pPr marL="914400" lvl="1"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Critical: if lower effort means processing material is less deeply</a:t>
            </a:r>
            <a:endParaRPr sz="15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rgbClr val="188038"/>
              </a:buClr>
              <a:buSzPts val="1100"/>
              <a:buFont typeface="Roboto Mono"/>
              <a:buNone/>
            </a:pPr>
            <a:r>
              <a:rPr lang="de-AT" sz="1100" b="0" strike="noStrike">
                <a:solidFill>
                  <a:srgbClr val="188038"/>
                </a:solidFill>
                <a:latin typeface="Roboto Mono"/>
                <a:ea typeface="Roboto Mono"/>
                <a:cs typeface="Roboto Mono"/>
                <a:sym typeface="Roboto Mono"/>
              </a:rPr>
              <a:t>Trim-and-fill</a:t>
            </a:r>
            <a:r>
              <a:rPr lang="de-AT" sz="1100" b="0" strike="noStrike">
                <a:solidFill>
                  <a:schemeClr val="dk1"/>
                </a:solidFill>
                <a:latin typeface="Roboto Mono"/>
                <a:ea typeface="Roboto Mono"/>
                <a:cs typeface="Roboto Mono"/>
                <a:sym typeface="Roboto Mono"/>
              </a:rPr>
              <a:t> validates if the effect size is distorted: (If the funnel plot is asymmetrically - then potential missing studies are added in calculation and recalculated), a strong reduction would be the problem (here not true)</a:t>
            </a:r>
            <a:endParaRPr sz="11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Roboto Mono"/>
              <a:buNone/>
            </a:pPr>
            <a:r>
              <a:rPr lang="de-AT" sz="1500" b="0" strike="noStrike">
                <a:solidFill>
                  <a:schemeClr val="dk1"/>
                </a:solidFill>
                <a:latin typeface="Roboto Mono"/>
                <a:ea typeface="Roboto Mono"/>
                <a:cs typeface="Roboto Mono"/>
                <a:sym typeface="Roboto Mono"/>
              </a:rPr>
              <a:t>So the overall picture is promising, but not simple! </a:t>
            </a:r>
            <a:endParaRPr sz="1500" b="0" strike="noStrike">
              <a:solidFill>
                <a:srgbClr val="000000"/>
              </a:solidFill>
              <a:latin typeface="Arial"/>
              <a:ea typeface="Arial"/>
              <a:cs typeface="Arial"/>
              <a:sym typeface="Arial"/>
            </a:endParaRPr>
          </a:p>
          <a:p>
            <a:pPr marL="457200" lvl="0" indent="-324000" algn="l" rtl="0">
              <a:lnSpc>
                <a:spcPct val="115000"/>
              </a:lnSpc>
              <a:spcBef>
                <a:spcPts val="1199"/>
              </a:spcBef>
              <a:spcAft>
                <a:spcPts val="0"/>
              </a:spcAft>
              <a:buClr>
                <a:srgbClr val="000000"/>
              </a:buClr>
              <a:buSzPts val="1500"/>
              <a:buFont typeface="Arial"/>
              <a:buChar char="●"/>
            </a:pPr>
            <a:r>
              <a:rPr lang="de-AT" sz="1500" b="0" strike="noStrike">
                <a:solidFill>
                  <a:schemeClr val="dk1"/>
                </a:solidFill>
                <a:latin typeface="Roboto Mono"/>
                <a:ea typeface="Roboto Mono"/>
                <a:cs typeface="Roboto Mono"/>
                <a:sym typeface="Roboto Mono"/>
              </a:rPr>
              <a:t>ChatGPT seems to have positive effects on several learning outcomes</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Char char="●"/>
            </a:pPr>
            <a:r>
              <a:rPr lang="de-AT" sz="1500" b="0" strike="noStrike">
                <a:solidFill>
                  <a:schemeClr val="dk1"/>
                </a:solidFill>
                <a:latin typeface="Roboto Mono"/>
                <a:ea typeface="Roboto Mono"/>
                <a:cs typeface="Roboto Mono"/>
                <a:sym typeface="Roboto Mono"/>
              </a:rPr>
              <a:t>effects differ by outcome</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Arial"/>
              <a:buChar char="●"/>
            </a:pPr>
            <a:r>
              <a:rPr lang="de-AT" sz="1500" b="0" strike="noStrike">
                <a:solidFill>
                  <a:schemeClr val="dk1"/>
                </a:solidFill>
                <a:latin typeface="Roboto Mono"/>
                <a:ea typeface="Roboto Mono"/>
                <a:cs typeface="Roboto Mono"/>
                <a:sym typeface="Roboto Mono"/>
              </a:rPr>
              <a:t>interpreted together with study quality, heterogeneity, and possible bias.</a:t>
            </a:r>
            <a:endParaRPr sz="1500" b="0" strike="noStrike">
              <a:solidFill>
                <a:srgbClr val="000000"/>
              </a:solidFill>
              <a:latin typeface="Arial"/>
              <a:ea typeface="Arial"/>
              <a:cs typeface="Arial"/>
              <a:sym typeface="Arial"/>
            </a:endParaRPr>
          </a:p>
          <a:p>
            <a:pPr marL="216000" lvl="0" indent="-216000" algn="l" rtl="0">
              <a:lnSpc>
                <a:spcPct val="100000"/>
              </a:lnSpc>
              <a:spcBef>
                <a:spcPts val="1199"/>
              </a:spcBef>
              <a:spcAft>
                <a:spcPts val="0"/>
              </a:spcAft>
              <a:buClr>
                <a:schemeClr val="dk1"/>
              </a:buClr>
              <a:buSzPts val="1500"/>
              <a:buFont typeface="Arial"/>
              <a:buNone/>
            </a:pPr>
            <a:endParaRPr sz="1500" b="0" strike="noStrike">
              <a:solidFill>
                <a:srgbClr val="000000"/>
              </a:solidFill>
              <a:latin typeface="Arial"/>
              <a:ea typeface="Arial"/>
              <a:cs typeface="Arial"/>
              <a:sym typeface="Arial"/>
            </a:endParaRPr>
          </a:p>
          <a:p>
            <a:pPr marL="216000" lvl="0" indent="-216000" algn="l" rtl="0">
              <a:lnSpc>
                <a:spcPct val="100000"/>
              </a:lnSpc>
              <a:spcBef>
                <a:spcPts val="0"/>
              </a:spcBef>
              <a:spcAft>
                <a:spcPts val="0"/>
              </a:spcAft>
              <a:buClr>
                <a:schemeClr val="dk1"/>
              </a:buClr>
              <a:buSzPts val="1500"/>
              <a:buFont typeface="Roboto Mono"/>
              <a:buNone/>
            </a:pPr>
            <a:r>
              <a:rPr lang="de-AT" sz="1500" b="0" strike="noStrike">
                <a:solidFill>
                  <a:schemeClr val="dk1"/>
                </a:solidFill>
                <a:latin typeface="Roboto Mono"/>
                <a:ea typeface="Roboto Mono"/>
                <a:cs typeface="Roboto Mono"/>
                <a:sym typeface="Roboto Mono"/>
              </a:rPr>
              <a:t>Ziel dieser Folie: wichtigsten Main Results berichten</a:t>
            </a:r>
            <a:endParaRPr sz="1500" b="0" strike="noStrike">
              <a:solidFill>
                <a:srgbClr val="000000"/>
              </a:solidFill>
              <a:latin typeface="Arial"/>
              <a:ea typeface="Arial"/>
              <a:cs typeface="Arial"/>
              <a:sym typeface="Arial"/>
            </a:endParaRPr>
          </a:p>
          <a:p>
            <a:pPr marL="216000" lvl="0" indent="-216000" algn="l" rtl="0">
              <a:lnSpc>
                <a:spcPct val="100000"/>
              </a:lnSpc>
              <a:spcBef>
                <a:spcPts val="0"/>
              </a:spcBef>
              <a:spcAft>
                <a:spcPts val="0"/>
              </a:spcAft>
              <a:buClr>
                <a:schemeClr val="dk1"/>
              </a:buClr>
              <a:buSzPts val="1500"/>
              <a:buFont typeface="Roboto Mono"/>
              <a:buNone/>
            </a:pPr>
            <a:r>
              <a:rPr lang="de-AT" sz="1500" b="0" strike="noStrike">
                <a:solidFill>
                  <a:schemeClr val="dk1"/>
                </a:solidFill>
                <a:latin typeface="Roboto Mono"/>
                <a:ea typeface="Roboto Mono"/>
                <a:cs typeface="Roboto Mono"/>
                <a:sym typeface="Roboto Mono"/>
              </a:rPr>
              <a:t>Sprechtext:</a:t>
            </a:r>
            <a:endParaRPr sz="15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1500"/>
              <a:buFont typeface="Roboto Mono"/>
              <a:buNone/>
            </a:pPr>
            <a:r>
              <a:rPr lang="de-AT" sz="1500" b="0" strike="noStrike">
                <a:solidFill>
                  <a:schemeClr val="dk1"/>
                </a:solidFill>
                <a:latin typeface="Roboto Mono"/>
                <a:ea typeface="Roboto Mono"/>
                <a:cs typeface="Roboto Mono"/>
                <a:sym typeface="Roboto Mono"/>
              </a:rPr>
              <a:t>Die Ergebnisse sind insgesamt eher positiv. Academic Performance zeigt einen großen positiven Effekt mit g = 0.712. Auch affektiv-motivationale Zustände und Higher-order Thinking Propensities zeigen große positive Effekte. Self-efficacy ist dagegen nicht signifikant. Mental Effort ist negativ, was hier bedeutet: Die wahrgenommene mentale Anstrengung wurde reduziert. Wichtig ist aber, dass diese Outcomes unterschiedlich stark belegt sind. Academic Performance basiert auf vielen Effektgrößen, Mental Effort nur auf wenigen. Deshalb würde ich als Takeaway sagen: ChatGPT sieht vielversprechend aus, aber nicht für alle Outcomes gleich, und die Interpretation hängt davon ab, was genau gemessen wurde. Damit kann Christina gut mit Qualität, Heterogenität und PRISMA anschließen.</a:t>
            </a:r>
            <a:endParaRPr sz="1500" b="0" strike="noStrike">
              <a:solidFill>
                <a:srgbClr val="000000"/>
              </a:solidFill>
              <a:latin typeface="Arial"/>
              <a:ea typeface="Arial"/>
              <a:cs typeface="Arial"/>
              <a:sym typeface="Arial"/>
            </a:endParaRPr>
          </a:p>
        </p:txBody>
      </p:sp>
      <p:sp>
        <p:nvSpPr>
          <p:cNvPr id="127" name="Google Shape;127;p8:notes"/>
          <p:cNvSpPr txBox="1">
            <a:spLocks noGrp="1"/>
          </p:cNvSpPr>
          <p:nvPr>
            <p:ph type="sldNum" idx="12"/>
          </p:nvPr>
        </p:nvSpPr>
        <p:spPr>
          <a:xfrm>
            <a:off x="3884760" y="8685360"/>
            <a:ext cx="2971080" cy="45792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imes New Roman"/>
              <a:buNone/>
            </a:pPr>
            <a:fld id="{00000000-1234-1234-1234-123412341234}" type="slidenum">
              <a:rPr lang="de-AT" sz="1200" b="0" strike="noStrike">
                <a:solidFill>
                  <a:srgbClr val="000000"/>
                </a:solidFill>
                <a:latin typeface="Times New Roman"/>
                <a:ea typeface="Times New Roman"/>
                <a:cs typeface="Times New Roman"/>
                <a:sym typeface="Times New Roman"/>
              </a:rPr>
              <a:t>8</a:t>
            </a:fld>
            <a:endParaRPr sz="1200" b="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9:notes"/>
          <p:cNvSpPr>
            <a:spLocks noGrp="1" noRot="1" noChangeAspect="1"/>
          </p:cNvSpPr>
          <p:nvPr>
            <p:ph type="sldImg" idx="2"/>
          </p:nvPr>
        </p:nvSpPr>
        <p:spPr>
          <a:xfrm>
            <a:off x="0" y="81280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5" name="Google Shape;135;p9:notes"/>
          <p:cNvSpPr txBox="1">
            <a:spLocks noGrp="1"/>
          </p:cNvSpPr>
          <p:nvPr>
            <p:ph type="body" idx="1"/>
          </p:nvPr>
        </p:nvSpPr>
        <p:spPr>
          <a:xfrm>
            <a:off x="756000" y="5078520"/>
            <a:ext cx="6047280" cy="4810680"/>
          </a:xfrm>
          <a:prstGeom prst="rect">
            <a:avLst/>
          </a:prstGeom>
          <a:noFill/>
          <a:ln>
            <a:noFill/>
          </a:ln>
        </p:spPr>
        <p:txBody>
          <a:bodyPr spcFirstLastPara="1" wrap="square" lIns="0" tIns="0" rIns="0" bIns="0" anchor="t" anchorCtr="0">
            <a:noAutofit/>
          </a:bodyPr>
          <a:lstStyle/>
          <a:p>
            <a:pPr marL="457200" lvl="0"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RQ3:</a:t>
            </a:r>
            <a:br>
              <a:rPr lang="de-AT" sz="1500"/>
            </a:br>
            <a:r>
              <a:rPr lang="de-AT" sz="1500" b="0" strike="noStrike">
                <a:solidFill>
                  <a:schemeClr val="dk1"/>
                </a:solidFill>
                <a:latin typeface="Arial"/>
                <a:ea typeface="Arial"/>
                <a:cs typeface="Arial"/>
                <a:sym typeface="Arial"/>
              </a:rPr>
              <a:t>only 8% included a power analysis (assessment if sample size is sufficient)</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nearly 84% have pre test measures</a:t>
            </a:r>
            <a:endParaRPr sz="1500" b="0" strike="noStrike">
              <a:solidFill>
                <a:srgbClr val="000000"/>
              </a:solidFill>
              <a:latin typeface="Arial"/>
              <a:ea typeface="Arial"/>
              <a:cs typeface="Arial"/>
              <a:sym typeface="Arial"/>
            </a:endParaRPr>
          </a:p>
          <a:p>
            <a:pPr marL="457200" lvl="0" indent="-324000" algn="l" rtl="0">
              <a:lnSpc>
                <a:spcPct val="115000"/>
              </a:lnSpc>
              <a:spcBef>
                <a:spcPts val="0"/>
              </a:spcBef>
              <a:spcAft>
                <a:spcPts val="0"/>
              </a:spcAft>
              <a:buClr>
                <a:srgbClr val="000000"/>
              </a:buClr>
              <a:buSzPts val="1500"/>
              <a:buFont typeface="Noto Sans Symbols"/>
              <a:buChar char="●"/>
            </a:pPr>
            <a:r>
              <a:rPr lang="de-AT" sz="1500" b="0" strike="noStrike">
                <a:solidFill>
                  <a:schemeClr val="dk1"/>
                </a:solidFill>
                <a:latin typeface="Arial"/>
                <a:ea typeface="Arial"/>
                <a:cs typeface="Arial"/>
                <a:sym typeface="Arial"/>
              </a:rPr>
              <a:t>more than 60% random assignment</a:t>
            </a:r>
            <a:endParaRPr sz="1500" b="0" strike="noStrike">
              <a:solidFill>
                <a:srgbClr val="000000"/>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Arial"/>
              <a:buNone/>
            </a:pPr>
            <a:r>
              <a:rPr lang="de-AT" sz="1500" b="0" strike="noStrike">
                <a:solidFill>
                  <a:schemeClr val="dk1"/>
                </a:solidFill>
                <a:latin typeface="Arial"/>
                <a:ea typeface="Arial"/>
                <a:cs typeface="Arial"/>
                <a:sym typeface="Arial"/>
              </a:rPr>
              <a:t>This leads nicely into the next part of the presentation: even if the main results look positive, we still need to ask how reliable the evidence is, how the studies were selected, and what limitations remain.</a:t>
            </a:r>
            <a:endParaRPr sz="1500" b="0" strike="noStrike">
              <a:solidFill>
                <a:schemeClr val="dk1"/>
              </a:solidFill>
              <a:latin typeface="Arial"/>
              <a:ea typeface="Arial"/>
              <a:cs typeface="Arial"/>
              <a:sym typeface="Arial"/>
            </a:endParaRPr>
          </a:p>
          <a:p>
            <a:pPr marL="0" lvl="0" indent="0" algn="l" rtl="0">
              <a:lnSpc>
                <a:spcPct val="115000"/>
              </a:lnSpc>
              <a:spcBef>
                <a:spcPts val="1199"/>
              </a:spcBef>
              <a:spcAft>
                <a:spcPts val="0"/>
              </a:spcAft>
              <a:buClr>
                <a:schemeClr val="dk1"/>
              </a:buClr>
              <a:buSzPts val="1500"/>
              <a:buFont typeface="Arial"/>
              <a:buNone/>
            </a:pPr>
            <a:r>
              <a:rPr lang="de-AT" sz="1500"/>
              <a:t>Christina will go deeper into methodological limitations.</a:t>
            </a:r>
            <a:endParaRPr sz="1500"/>
          </a:p>
        </p:txBody>
      </p:sp>
      <p:sp>
        <p:nvSpPr>
          <p:cNvPr id="136" name="Google Shape;136;p9:notes"/>
          <p:cNvSpPr txBox="1">
            <a:spLocks noGrp="1"/>
          </p:cNvSpPr>
          <p:nvPr>
            <p:ph type="sldNum" idx="12"/>
          </p:nvPr>
        </p:nvSpPr>
        <p:spPr>
          <a:xfrm>
            <a:off x="4278960" y="10157400"/>
            <a:ext cx="3280320" cy="5338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Clr>
                <a:srgbClr val="000000"/>
              </a:buClr>
              <a:buSzPts val="1400"/>
              <a:buFont typeface="Times New Roman"/>
              <a:buNone/>
            </a:pPr>
            <a:fld id="{00000000-1234-1234-1234-123412341234}" type="slidenum">
              <a:rPr lang="de-AT" sz="1400" b="0" strike="noStrike">
                <a:solidFill>
                  <a:srgbClr val="000000"/>
                </a:solidFill>
                <a:latin typeface="Times New Roman"/>
                <a:ea typeface="Times New Roman"/>
                <a:cs typeface="Times New Roman"/>
                <a:sym typeface="Times New Roman"/>
              </a:rPr>
              <a:t>9</a:t>
            </a:fld>
            <a:endParaRPr sz="1400" b="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PlaceHolder 1"/>
          <p:cNvSpPr>
            <a:spLocks noGrp="1" noRot="1" noChangeAspect="1"/>
          </p:cNvSpPr>
          <p:nvPr>
            <p:ph type="sldImg"/>
          </p:nvPr>
        </p:nvSpPr>
        <p:spPr>
          <a:xfrm>
            <a:off x="685800" y="1143000"/>
            <a:ext cx="5486400" cy="3086100"/>
          </a:xfrm>
          <a:prstGeom prst="rect">
            <a:avLst/>
          </a:prstGeom>
          <a:ln w="0">
            <a:noFill/>
          </a:ln>
        </p:spPr>
      </p:sp>
      <p:sp>
        <p:nvSpPr>
          <p:cNvPr id="2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de-AT" sz="2000" b="0" strike="noStrike" spc="-1" dirty="0" err="1">
                <a:solidFill>
                  <a:srgbClr val="000000"/>
                </a:solidFill>
                <a:latin typeface="Arial"/>
              </a:rPr>
              <a:t>Although</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meta-analysis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methodologically</a:t>
            </a:r>
            <a:r>
              <a:rPr lang="de-AT" sz="2000" b="0" strike="noStrike" spc="-1" dirty="0">
                <a:solidFill>
                  <a:srgbClr val="000000"/>
                </a:solidFill>
                <a:latin typeface="Arial"/>
              </a:rPr>
              <a:t> strong, </a:t>
            </a:r>
            <a:r>
              <a:rPr lang="de-AT" sz="2000" b="0" strike="noStrike" spc="-1" dirty="0" err="1">
                <a:solidFill>
                  <a:srgbClr val="000000"/>
                </a:solidFill>
                <a:latin typeface="Arial"/>
              </a:rPr>
              <a:t>there</a:t>
            </a:r>
            <a:r>
              <a:rPr lang="de-AT" sz="2000" b="0" strike="noStrike" spc="-1" dirty="0">
                <a:solidFill>
                  <a:srgbClr val="000000"/>
                </a:solidFill>
                <a:latin typeface="Arial"/>
              </a:rPr>
              <a:t> </a:t>
            </a:r>
            <a:r>
              <a:rPr lang="de-AT" sz="2000" b="0" strike="noStrike" spc="-1" dirty="0" err="1">
                <a:solidFill>
                  <a:srgbClr val="000000"/>
                </a:solidFill>
                <a:latin typeface="Arial"/>
              </a:rPr>
              <a:t>are</a:t>
            </a:r>
            <a:r>
              <a:rPr lang="de-AT" sz="2000" b="0" strike="noStrike" spc="-1" dirty="0">
                <a:solidFill>
                  <a:srgbClr val="000000"/>
                </a:solidFill>
                <a:latin typeface="Arial"/>
              </a:rPr>
              <a:t> still </a:t>
            </a:r>
            <a:r>
              <a:rPr lang="de-AT" sz="2000" b="0" strike="noStrike" spc="-1" dirty="0" err="1">
                <a:solidFill>
                  <a:srgbClr val="000000"/>
                </a:solidFill>
                <a:latin typeface="Arial"/>
              </a:rPr>
              <a:t>several</a:t>
            </a:r>
            <a:r>
              <a:rPr lang="de-AT" sz="2000" b="0" strike="noStrike" spc="-1" dirty="0">
                <a:solidFill>
                  <a:srgbClr val="000000"/>
                </a:solidFill>
                <a:latin typeface="Arial"/>
              </a:rPr>
              <a:t> </a:t>
            </a:r>
            <a:r>
              <a:rPr lang="de-AT" sz="2000" b="0" strike="noStrike" spc="-1" dirty="0" err="1">
                <a:solidFill>
                  <a:srgbClr val="000000"/>
                </a:solidFill>
                <a:latin typeface="Arial"/>
              </a:rPr>
              <a:t>limitations</a:t>
            </a:r>
            <a:r>
              <a:rPr lang="de-AT" sz="2000" b="0" strike="noStrike" spc="-1" dirty="0">
                <a:solidFill>
                  <a:srgbClr val="000000"/>
                </a:solidFill>
                <a:latin typeface="Arial"/>
              </a:rPr>
              <a:t> and possible </a:t>
            </a:r>
            <a:r>
              <a:rPr lang="de-AT" sz="2000" b="0" strike="noStrike" spc="-1" dirty="0" err="1">
                <a:solidFill>
                  <a:srgbClr val="000000"/>
                </a:solidFill>
                <a:latin typeface="Arial"/>
              </a:rPr>
              <a:t>sources</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bias</a:t>
            </a:r>
            <a:r>
              <a:rPr lang="de-AT" sz="2000" b="0" strike="noStrike" spc="-1" dirty="0">
                <a:solidFill>
                  <a:srgbClr val="000000"/>
                </a:solidFill>
                <a:latin typeface="Arial"/>
              </a:rPr>
              <a:t> </a:t>
            </a:r>
            <a:r>
              <a:rPr lang="de-AT" sz="2000" b="0" strike="noStrike" spc="-1" dirty="0" err="1">
                <a:solidFill>
                  <a:srgbClr val="000000"/>
                </a:solidFill>
                <a:latin typeface="Arial"/>
              </a:rPr>
              <a:t>that</a:t>
            </a:r>
            <a:r>
              <a:rPr lang="de-AT" sz="2000" b="0" strike="noStrike" spc="-1" dirty="0">
                <a:solidFill>
                  <a:srgbClr val="000000"/>
                </a:solidFill>
                <a:latin typeface="Arial"/>
              </a:rPr>
              <a:t> </a:t>
            </a:r>
            <a:r>
              <a:rPr lang="de-AT" sz="2000" b="0" strike="noStrike" spc="-1" dirty="0" err="1">
                <a:solidFill>
                  <a:srgbClr val="000000"/>
                </a:solidFill>
                <a:latin typeface="Arial"/>
              </a:rPr>
              <a:t>are</a:t>
            </a:r>
            <a:r>
              <a:rPr lang="de-AT" sz="2000" b="0" strike="noStrike" spc="-1" dirty="0">
                <a:solidFill>
                  <a:srgbClr val="000000"/>
                </a:solidFill>
                <a:latin typeface="Arial"/>
              </a:rPr>
              <a:t> </a:t>
            </a:r>
            <a:r>
              <a:rPr lang="de-AT" sz="2000" b="0" strike="noStrike" spc="-1" dirty="0" err="1">
                <a:solidFill>
                  <a:srgbClr val="000000"/>
                </a:solidFill>
                <a:latin typeface="Arial"/>
              </a:rPr>
              <a:t>important</a:t>
            </a:r>
            <a:r>
              <a:rPr lang="de-AT" sz="2000" b="0" strike="noStrike" spc="-1" dirty="0">
                <a:solidFill>
                  <a:srgbClr val="000000"/>
                </a:solidFill>
                <a:latin typeface="Arial"/>
              </a:rPr>
              <a:t> </a:t>
            </a:r>
            <a:r>
              <a:rPr lang="de-AT" sz="2000" b="0" strike="noStrike" spc="-1" dirty="0" err="1">
                <a:solidFill>
                  <a:srgbClr val="000000"/>
                </a:solidFill>
                <a:latin typeface="Arial"/>
              </a:rPr>
              <a:t>for</a:t>
            </a:r>
            <a:r>
              <a:rPr lang="de-AT" sz="2000" b="0" strike="noStrike" spc="-1" dirty="0">
                <a:solidFill>
                  <a:srgbClr val="000000"/>
                </a:solidFill>
                <a:latin typeface="Arial"/>
              </a:rPr>
              <a:t> </a:t>
            </a:r>
            <a:r>
              <a:rPr lang="de-AT" sz="2000" b="0" strike="noStrike" spc="-1" dirty="0" err="1">
                <a:solidFill>
                  <a:srgbClr val="000000"/>
                </a:solidFill>
                <a:latin typeface="Arial"/>
              </a:rPr>
              <a:t>interpreting</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results</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The </a:t>
            </a:r>
            <a:r>
              <a:rPr lang="de-AT" sz="2000" b="0" strike="noStrike" spc="-1" dirty="0" err="1">
                <a:solidFill>
                  <a:srgbClr val="000000"/>
                </a:solidFill>
                <a:latin typeface="Arial"/>
              </a:rPr>
              <a:t>first</a:t>
            </a:r>
            <a:r>
              <a:rPr lang="de-AT" sz="2000" b="0" strike="noStrike" spc="-1" dirty="0">
                <a:solidFill>
                  <a:srgbClr val="000000"/>
                </a:solidFill>
                <a:latin typeface="Arial"/>
              </a:rPr>
              <a:t> </a:t>
            </a:r>
            <a:r>
              <a:rPr lang="de-AT" sz="2000" b="0" strike="noStrike" spc="-1" dirty="0" err="1">
                <a:solidFill>
                  <a:srgbClr val="000000"/>
                </a:solidFill>
                <a:latin typeface="Arial"/>
              </a:rPr>
              <a:t>limitation</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rapid </a:t>
            </a:r>
            <a:r>
              <a:rPr lang="de-AT" sz="2000" b="0" strike="noStrike" spc="-1" dirty="0" err="1">
                <a:solidFill>
                  <a:srgbClr val="000000"/>
                </a:solidFill>
                <a:latin typeface="Arial"/>
              </a:rPr>
              <a:t>development</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ChatGPT </a:t>
            </a:r>
            <a:r>
              <a:rPr lang="de-AT" sz="2000" b="0" strike="noStrike" spc="-1" dirty="0" err="1">
                <a:solidFill>
                  <a:srgbClr val="000000"/>
                </a:solidFill>
                <a:latin typeface="Arial"/>
              </a:rPr>
              <a:t>itself</a:t>
            </a:r>
            <a:r>
              <a:rPr lang="de-AT" sz="2000" b="0" strike="noStrike" spc="-1" dirty="0">
                <a:solidFill>
                  <a:srgbClr val="000000"/>
                </a:solidFill>
                <a:latin typeface="Arial"/>
              </a:rPr>
              <a:t>. Many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included</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were</a:t>
            </a:r>
            <a:r>
              <a:rPr lang="de-AT" sz="2000" b="0" strike="noStrike" spc="-1" dirty="0">
                <a:solidFill>
                  <a:srgbClr val="000000"/>
                </a:solidFill>
                <a:latin typeface="Arial"/>
              </a:rPr>
              <a:t> </a:t>
            </a:r>
            <a:r>
              <a:rPr lang="de-AT" sz="2000" b="0" strike="noStrike" spc="-1" dirty="0" err="1">
                <a:solidFill>
                  <a:srgbClr val="000000"/>
                </a:solidFill>
                <a:latin typeface="Arial"/>
              </a:rPr>
              <a:t>conducted</a:t>
            </a:r>
            <a:r>
              <a:rPr lang="de-AT" sz="2000" b="0" strike="noStrike" spc="-1" dirty="0">
                <a:solidFill>
                  <a:srgbClr val="000000"/>
                </a:solidFill>
                <a:latin typeface="Arial"/>
              </a:rPr>
              <a:t> </a:t>
            </a:r>
            <a:r>
              <a:rPr lang="de-AT" sz="2000" b="0" strike="noStrike" spc="-1" dirty="0" err="1">
                <a:solidFill>
                  <a:srgbClr val="000000"/>
                </a:solidFill>
                <a:latin typeface="Arial"/>
              </a:rPr>
              <a:t>with</a:t>
            </a:r>
            <a:r>
              <a:rPr lang="de-AT" sz="2000" b="0" strike="noStrike" spc="-1" dirty="0">
                <a:solidFill>
                  <a:srgbClr val="000000"/>
                </a:solidFill>
                <a:latin typeface="Arial"/>
              </a:rPr>
              <a:t> </a:t>
            </a:r>
            <a:r>
              <a:rPr lang="de-AT" sz="2000" b="0" strike="noStrike" spc="-1" dirty="0" err="1">
                <a:solidFill>
                  <a:srgbClr val="000000"/>
                </a:solidFill>
                <a:latin typeface="Arial"/>
              </a:rPr>
              <a:t>earlier</a:t>
            </a:r>
            <a:r>
              <a:rPr lang="de-AT" sz="2000" b="0" strike="noStrike" spc="-1" dirty="0">
                <a:solidFill>
                  <a:srgbClr val="000000"/>
                </a:solidFill>
                <a:latin typeface="Arial"/>
              </a:rPr>
              <a:t> </a:t>
            </a:r>
            <a:r>
              <a:rPr lang="de-AT" sz="2000" b="0" strike="noStrike" spc="-1" dirty="0" err="1">
                <a:solidFill>
                  <a:srgbClr val="000000"/>
                </a:solidFill>
                <a:latin typeface="Arial"/>
              </a:rPr>
              <a:t>versions</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ChatGPT, </a:t>
            </a:r>
            <a:r>
              <a:rPr lang="de-AT" sz="2000" b="0" strike="noStrike" spc="-1" dirty="0" err="1">
                <a:solidFill>
                  <a:srgbClr val="000000"/>
                </a:solidFill>
                <a:latin typeface="Arial"/>
              </a:rPr>
              <a:t>especially</a:t>
            </a:r>
            <a:r>
              <a:rPr lang="de-AT" sz="2000" b="0" strike="noStrike" spc="-1" dirty="0">
                <a:solidFill>
                  <a:srgbClr val="000000"/>
                </a:solidFill>
                <a:latin typeface="Arial"/>
              </a:rPr>
              <a:t> GPT-3.5. Since AI </a:t>
            </a:r>
            <a:r>
              <a:rPr lang="de-AT" sz="2000" b="0" strike="noStrike" spc="-1" dirty="0" err="1">
                <a:solidFill>
                  <a:srgbClr val="000000"/>
                </a:solidFill>
                <a:latin typeface="Arial"/>
              </a:rPr>
              <a:t>models</a:t>
            </a:r>
            <a:r>
              <a:rPr lang="de-AT" sz="2000" b="0" strike="noStrike" spc="-1" dirty="0">
                <a:solidFill>
                  <a:srgbClr val="000000"/>
                </a:solidFill>
                <a:latin typeface="Arial"/>
              </a:rPr>
              <a:t> </a:t>
            </a:r>
            <a:r>
              <a:rPr lang="de-AT" sz="2000" b="0" strike="noStrike" spc="-1" dirty="0" err="1">
                <a:solidFill>
                  <a:srgbClr val="000000"/>
                </a:solidFill>
                <a:latin typeface="Arial"/>
              </a:rPr>
              <a:t>develop</a:t>
            </a:r>
            <a:r>
              <a:rPr lang="de-AT" sz="2000" b="0" strike="noStrike" spc="-1" dirty="0">
                <a:solidFill>
                  <a:srgbClr val="000000"/>
                </a:solidFill>
                <a:latin typeface="Arial"/>
              </a:rPr>
              <a:t> </a:t>
            </a:r>
            <a:r>
              <a:rPr lang="de-AT" sz="2000" b="0" strike="noStrike" spc="-1" dirty="0" err="1">
                <a:solidFill>
                  <a:srgbClr val="000000"/>
                </a:solidFill>
                <a:latin typeface="Arial"/>
              </a:rPr>
              <a:t>very</a:t>
            </a:r>
            <a:r>
              <a:rPr lang="de-AT" sz="2000" b="0" strike="noStrike" spc="-1" dirty="0">
                <a:solidFill>
                  <a:srgbClr val="000000"/>
                </a:solidFill>
                <a:latin typeface="Arial"/>
              </a:rPr>
              <a:t> </a:t>
            </a:r>
            <a:r>
              <a:rPr lang="de-AT" sz="2000" b="0" strike="noStrike" spc="-1" dirty="0" err="1">
                <a:solidFill>
                  <a:srgbClr val="000000"/>
                </a:solidFill>
                <a:latin typeface="Arial"/>
              </a:rPr>
              <a:t>quickly</a:t>
            </a:r>
            <a:r>
              <a:rPr lang="de-AT" sz="2000" b="0" strike="noStrike" spc="-1" dirty="0">
                <a:solidFill>
                  <a:srgbClr val="000000"/>
                </a:solidFill>
                <a:latin typeface="Arial"/>
              </a:rPr>
              <a:t>, </a:t>
            </a:r>
            <a:r>
              <a:rPr lang="de-AT" sz="2000" b="0" strike="noStrike" spc="-1" dirty="0" err="1">
                <a:solidFill>
                  <a:srgbClr val="000000"/>
                </a:solidFill>
                <a:latin typeface="Arial"/>
              </a:rPr>
              <a:t>results</a:t>
            </a:r>
            <a:r>
              <a:rPr lang="de-AT" sz="2000" b="0" strike="noStrike" spc="-1" dirty="0">
                <a:solidFill>
                  <a:srgbClr val="000000"/>
                </a:solidFill>
                <a:latin typeface="Arial"/>
              </a:rPr>
              <a:t> </a:t>
            </a:r>
            <a:r>
              <a:rPr lang="de-AT" sz="2000" b="0" strike="noStrike" spc="-1" dirty="0" err="1">
                <a:solidFill>
                  <a:srgbClr val="000000"/>
                </a:solidFill>
                <a:latin typeface="Arial"/>
              </a:rPr>
              <a:t>from</a:t>
            </a:r>
            <a:r>
              <a:rPr lang="de-AT" sz="2000" b="0" strike="noStrike" spc="-1" dirty="0">
                <a:solidFill>
                  <a:srgbClr val="000000"/>
                </a:solidFill>
                <a:latin typeface="Arial"/>
              </a:rPr>
              <a:t> </a:t>
            </a:r>
            <a:r>
              <a:rPr lang="de-AT" sz="2000" b="0" strike="noStrike" spc="-1" dirty="0" err="1">
                <a:solidFill>
                  <a:srgbClr val="000000"/>
                </a:solidFill>
                <a:latin typeface="Arial"/>
              </a:rPr>
              <a:t>earlier</a:t>
            </a:r>
            <a:r>
              <a:rPr lang="de-AT" sz="2000" b="0" strike="noStrike" spc="-1" dirty="0">
                <a:solidFill>
                  <a:srgbClr val="000000"/>
                </a:solidFill>
                <a:latin typeface="Arial"/>
              </a:rPr>
              <a:t> </a:t>
            </a:r>
            <a:r>
              <a:rPr lang="de-AT" sz="2000" b="0" strike="noStrike" spc="-1" dirty="0" err="1">
                <a:solidFill>
                  <a:srgbClr val="000000"/>
                </a:solidFill>
                <a:latin typeface="Arial"/>
              </a:rPr>
              <a:t>versions</a:t>
            </a:r>
            <a:r>
              <a:rPr lang="de-AT" sz="2000" b="0" strike="noStrike" spc="-1" dirty="0">
                <a:solidFill>
                  <a:srgbClr val="000000"/>
                </a:solidFill>
                <a:latin typeface="Arial"/>
              </a:rPr>
              <a:t> </a:t>
            </a:r>
            <a:r>
              <a:rPr lang="de-AT" sz="2000" b="0" strike="noStrike" spc="-1" dirty="0" err="1">
                <a:solidFill>
                  <a:srgbClr val="000000"/>
                </a:solidFill>
                <a:latin typeface="Arial"/>
              </a:rPr>
              <a:t>may</a:t>
            </a:r>
            <a:r>
              <a:rPr lang="de-AT" sz="2000" b="0" strike="noStrike" spc="-1" dirty="0">
                <a:solidFill>
                  <a:srgbClr val="000000"/>
                </a:solidFill>
                <a:latin typeface="Arial"/>
              </a:rPr>
              <a:t> not fully </a:t>
            </a:r>
            <a:r>
              <a:rPr lang="de-AT" sz="2000" b="0" strike="noStrike" spc="-1" dirty="0" err="1">
                <a:solidFill>
                  <a:srgbClr val="000000"/>
                </a:solidFill>
                <a:latin typeface="Arial"/>
              </a:rPr>
              <a:t>represent</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tools</a:t>
            </a:r>
            <a:r>
              <a:rPr lang="de-AT" sz="2000" b="0" strike="noStrike" spc="-1" dirty="0">
                <a:solidFill>
                  <a:srgbClr val="000000"/>
                </a:solidFill>
                <a:latin typeface="Arial"/>
              </a:rPr>
              <a:t> </a:t>
            </a:r>
            <a:r>
              <a:rPr lang="de-AT" sz="2000" b="0" strike="noStrike" spc="-1" dirty="0" err="1">
                <a:solidFill>
                  <a:srgbClr val="000000"/>
                </a:solidFill>
                <a:latin typeface="Arial"/>
              </a:rPr>
              <a:t>that</a:t>
            </a:r>
            <a:r>
              <a:rPr lang="de-AT" sz="2000" b="0" strike="noStrike" spc="-1" dirty="0">
                <a:solidFill>
                  <a:srgbClr val="000000"/>
                </a:solidFill>
                <a:latin typeface="Arial"/>
              </a:rPr>
              <a:t> </a:t>
            </a:r>
            <a:r>
              <a:rPr lang="de-AT" sz="2000" b="0" strike="noStrike" spc="-1" dirty="0" err="1">
                <a:solidFill>
                  <a:srgbClr val="000000"/>
                </a:solidFill>
                <a:latin typeface="Arial"/>
              </a:rPr>
              <a:t>students</a:t>
            </a:r>
            <a:r>
              <a:rPr lang="de-AT" sz="2000" b="0" strike="noStrike" spc="-1" dirty="0">
                <a:solidFill>
                  <a:srgbClr val="000000"/>
                </a:solidFill>
                <a:latin typeface="Arial"/>
              </a:rPr>
              <a:t> </a:t>
            </a:r>
            <a:r>
              <a:rPr lang="de-AT" sz="2000" b="0" strike="noStrike" spc="-1" dirty="0" err="1">
                <a:solidFill>
                  <a:srgbClr val="000000"/>
                </a:solidFill>
                <a:latin typeface="Arial"/>
              </a:rPr>
              <a:t>use</a:t>
            </a:r>
            <a:r>
              <a:rPr lang="de-AT" sz="2000" b="0" strike="noStrike" spc="-1" dirty="0">
                <a:solidFill>
                  <a:srgbClr val="000000"/>
                </a:solidFill>
                <a:latin typeface="Arial"/>
              </a:rPr>
              <a:t> </a:t>
            </a:r>
            <a:r>
              <a:rPr lang="de-AT" sz="2000" b="0" strike="noStrike" spc="-1" dirty="0" err="1">
                <a:solidFill>
                  <a:srgbClr val="000000"/>
                </a:solidFill>
                <a:latin typeface="Arial"/>
              </a:rPr>
              <a:t>today</a:t>
            </a:r>
            <a:r>
              <a:rPr lang="de-AT" sz="2000" b="0" strike="noStrike" spc="-1" dirty="0">
                <a:solidFill>
                  <a:srgbClr val="000000"/>
                </a:solidFill>
                <a:latin typeface="Arial"/>
              </a:rPr>
              <a:t>. This </a:t>
            </a:r>
            <a:r>
              <a:rPr lang="de-AT" sz="2000" b="0" strike="noStrike" spc="-1" dirty="0" err="1">
                <a:solidFill>
                  <a:srgbClr val="000000"/>
                </a:solidFill>
                <a:latin typeface="Arial"/>
              </a:rPr>
              <a:t>makes</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evidence</a:t>
            </a:r>
            <a:r>
              <a:rPr lang="de-AT" sz="2000" b="0" strike="noStrike" spc="-1" dirty="0">
                <a:solidFill>
                  <a:srgbClr val="000000"/>
                </a:solidFill>
                <a:latin typeface="Arial"/>
              </a:rPr>
              <a:t> </a:t>
            </a:r>
            <a:r>
              <a:rPr lang="de-AT" sz="2000" b="0" strike="noStrike" spc="-1" dirty="0" err="1">
                <a:solidFill>
                  <a:srgbClr val="000000"/>
                </a:solidFill>
                <a:latin typeface="Arial"/>
              </a:rPr>
              <a:t>somewhat</a:t>
            </a:r>
            <a:r>
              <a:rPr lang="de-AT" sz="2000" b="0" strike="noStrike" spc="-1" dirty="0">
                <a:solidFill>
                  <a:srgbClr val="000000"/>
                </a:solidFill>
                <a:latin typeface="Arial"/>
              </a:rPr>
              <a:t> time-sensitive.</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A </a:t>
            </a:r>
            <a:r>
              <a:rPr lang="de-AT" sz="2000" b="0" strike="noStrike" spc="-1" dirty="0" err="1">
                <a:solidFill>
                  <a:srgbClr val="000000"/>
                </a:solidFill>
                <a:latin typeface="Arial"/>
              </a:rPr>
              <a:t>second</a:t>
            </a:r>
            <a:r>
              <a:rPr lang="de-AT" sz="2000" b="0" strike="noStrike" spc="-1" dirty="0">
                <a:solidFill>
                  <a:srgbClr val="000000"/>
                </a:solidFill>
                <a:latin typeface="Arial"/>
              </a:rPr>
              <a:t> </a:t>
            </a:r>
            <a:r>
              <a:rPr lang="de-AT" sz="2000" b="0" strike="noStrike" spc="-1" dirty="0" err="1">
                <a:solidFill>
                  <a:srgbClr val="000000"/>
                </a:solidFill>
                <a:latin typeface="Arial"/>
              </a:rPr>
              <a:t>limitation</a:t>
            </a:r>
            <a:r>
              <a:rPr lang="de-AT" sz="2000" b="0" strike="noStrike" spc="-1" dirty="0">
                <a:solidFill>
                  <a:srgbClr val="000000"/>
                </a:solidFill>
                <a:latin typeface="Arial"/>
              </a:rPr>
              <a:t> </a:t>
            </a:r>
            <a:r>
              <a:rPr lang="de-AT" sz="2000" b="0" strike="noStrike" spc="-1" dirty="0" err="1">
                <a:solidFill>
                  <a:srgbClr val="000000"/>
                </a:solidFill>
                <a:latin typeface="Arial"/>
              </a:rPr>
              <a:t>concerns</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duration</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many</a:t>
            </a:r>
            <a:r>
              <a:rPr lang="de-AT" sz="2000" b="0" strike="noStrike" spc="-1" dirty="0">
                <a:solidFill>
                  <a:srgbClr val="000000"/>
                </a:solidFill>
                <a:latin typeface="Arial"/>
              </a:rPr>
              <a:t> </a:t>
            </a:r>
            <a:r>
              <a:rPr lang="de-AT" sz="2000" b="0" strike="noStrike" spc="-1" dirty="0" err="1">
                <a:solidFill>
                  <a:srgbClr val="000000"/>
                </a:solidFill>
                <a:latin typeface="Arial"/>
              </a:rPr>
              <a:t>interventions</a:t>
            </a:r>
            <a:r>
              <a:rPr lang="de-AT" sz="2000" b="0" strike="noStrike" spc="-1" dirty="0">
                <a:solidFill>
                  <a:srgbClr val="000000"/>
                </a:solidFill>
                <a:latin typeface="Arial"/>
              </a:rPr>
              <a:t>. </a:t>
            </a:r>
            <a:r>
              <a:rPr lang="de-AT" sz="2000" b="0" strike="noStrike" spc="-1" dirty="0" err="1">
                <a:solidFill>
                  <a:srgbClr val="000000"/>
                </a:solidFill>
                <a:latin typeface="Arial"/>
              </a:rPr>
              <a:t>Several</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measured</a:t>
            </a:r>
            <a:r>
              <a:rPr lang="de-AT" sz="2000" b="0" strike="noStrike" spc="-1" dirty="0">
                <a:solidFill>
                  <a:srgbClr val="000000"/>
                </a:solidFill>
                <a:latin typeface="Arial"/>
              </a:rPr>
              <a:t> </a:t>
            </a:r>
            <a:r>
              <a:rPr lang="de-AT" sz="2000" b="0" strike="noStrike" spc="-1" dirty="0" err="1">
                <a:solidFill>
                  <a:srgbClr val="000000"/>
                </a:solidFill>
                <a:latin typeface="Arial"/>
              </a:rPr>
              <a:t>short</a:t>
            </a:r>
            <a:r>
              <a:rPr lang="de-AT" sz="2000" b="0" strike="noStrike" spc="-1" dirty="0">
                <a:solidFill>
                  <a:srgbClr val="000000"/>
                </a:solidFill>
                <a:latin typeface="Arial"/>
              </a:rPr>
              <a:t>-term </a:t>
            </a:r>
            <a:r>
              <a:rPr lang="de-AT" sz="2000" b="0" strike="noStrike" spc="-1" dirty="0" err="1">
                <a:solidFill>
                  <a:srgbClr val="000000"/>
                </a:solidFill>
                <a:latin typeface="Arial"/>
              </a:rPr>
              <a:t>effects</a:t>
            </a:r>
            <a:r>
              <a:rPr lang="de-AT" sz="2000" b="0" strike="noStrike" spc="-1" dirty="0">
                <a:solidFill>
                  <a:srgbClr val="000000"/>
                </a:solidFill>
                <a:latin typeface="Arial"/>
              </a:rPr>
              <a:t>, </a:t>
            </a:r>
            <a:r>
              <a:rPr lang="de-AT" sz="2000" b="0" strike="noStrike" spc="-1" dirty="0" err="1">
                <a:solidFill>
                  <a:srgbClr val="000000"/>
                </a:solidFill>
                <a:latin typeface="Arial"/>
              </a:rPr>
              <a:t>for</a:t>
            </a:r>
            <a:r>
              <a:rPr lang="de-AT" sz="2000" b="0" strike="noStrike" spc="-1" dirty="0">
                <a:solidFill>
                  <a:srgbClr val="000000"/>
                </a:solidFill>
                <a:latin typeface="Arial"/>
              </a:rPr>
              <a:t> </a:t>
            </a:r>
            <a:r>
              <a:rPr lang="de-AT" sz="2000" b="0" strike="noStrike" spc="-1" dirty="0" err="1">
                <a:solidFill>
                  <a:srgbClr val="000000"/>
                </a:solidFill>
                <a:latin typeface="Arial"/>
              </a:rPr>
              <a:t>example</a:t>
            </a:r>
            <a:r>
              <a:rPr lang="de-AT" sz="2000" b="0" strike="noStrike" spc="-1" dirty="0">
                <a:solidFill>
                  <a:srgbClr val="000000"/>
                </a:solidFill>
                <a:latin typeface="Arial"/>
              </a:rPr>
              <a:t> </a:t>
            </a:r>
            <a:r>
              <a:rPr lang="de-AT" sz="2000" b="0" strike="noStrike" spc="-1" dirty="0" err="1">
                <a:solidFill>
                  <a:srgbClr val="000000"/>
                </a:solidFill>
                <a:latin typeface="Arial"/>
              </a:rPr>
              <a:t>directly</a:t>
            </a:r>
            <a:r>
              <a:rPr lang="de-AT" sz="2000" b="0" strike="noStrike" spc="-1" dirty="0">
                <a:solidFill>
                  <a:srgbClr val="000000"/>
                </a:solidFill>
                <a:latin typeface="Arial"/>
              </a:rPr>
              <a:t> after a </a:t>
            </a:r>
            <a:r>
              <a:rPr lang="de-AT" sz="2000" b="0" strike="noStrike" spc="-1" dirty="0" err="1">
                <a:solidFill>
                  <a:srgbClr val="000000"/>
                </a:solidFill>
                <a:latin typeface="Arial"/>
              </a:rPr>
              <a:t>learning</a:t>
            </a:r>
            <a:r>
              <a:rPr lang="de-AT" sz="2000" b="0" strike="noStrike" spc="-1" dirty="0">
                <a:solidFill>
                  <a:srgbClr val="000000"/>
                </a:solidFill>
                <a:latin typeface="Arial"/>
              </a:rPr>
              <a:t> </a:t>
            </a:r>
            <a:r>
              <a:rPr lang="de-AT" sz="2000" b="0" strike="noStrike" spc="-1" dirty="0" err="1">
                <a:solidFill>
                  <a:srgbClr val="000000"/>
                </a:solidFill>
                <a:latin typeface="Arial"/>
              </a:rPr>
              <a:t>activity</a:t>
            </a:r>
            <a:r>
              <a:rPr lang="de-AT" sz="2000" b="0" strike="noStrike" spc="-1" dirty="0">
                <a:solidFill>
                  <a:srgbClr val="000000"/>
                </a:solidFill>
                <a:latin typeface="Arial"/>
              </a:rPr>
              <a:t>. This </a:t>
            </a:r>
            <a:r>
              <a:rPr lang="de-AT" sz="2000" b="0" strike="noStrike" spc="-1" dirty="0" err="1">
                <a:solidFill>
                  <a:srgbClr val="000000"/>
                </a:solidFill>
                <a:latin typeface="Arial"/>
              </a:rPr>
              <a:t>tells</a:t>
            </a:r>
            <a:r>
              <a:rPr lang="de-AT" sz="2000" b="0" strike="noStrike" spc="-1" dirty="0">
                <a:solidFill>
                  <a:srgbClr val="000000"/>
                </a:solidFill>
                <a:latin typeface="Arial"/>
              </a:rPr>
              <a:t> </a:t>
            </a:r>
            <a:r>
              <a:rPr lang="de-AT" sz="2000" b="0" strike="noStrike" spc="-1" dirty="0" err="1">
                <a:solidFill>
                  <a:srgbClr val="000000"/>
                </a:solidFill>
                <a:latin typeface="Arial"/>
              </a:rPr>
              <a:t>us</a:t>
            </a:r>
            <a:r>
              <a:rPr lang="de-AT" sz="2000" b="0" strike="noStrike" spc="-1" dirty="0">
                <a:solidFill>
                  <a:srgbClr val="000000"/>
                </a:solidFill>
                <a:latin typeface="Arial"/>
              </a:rPr>
              <a:t> </a:t>
            </a:r>
            <a:r>
              <a:rPr lang="de-AT" sz="2000" b="0" strike="noStrike" spc="-1" dirty="0" err="1">
                <a:solidFill>
                  <a:srgbClr val="000000"/>
                </a:solidFill>
                <a:latin typeface="Arial"/>
              </a:rPr>
              <a:t>something</a:t>
            </a:r>
            <a:r>
              <a:rPr lang="de-AT" sz="2000" b="0" strike="noStrike" spc="-1" dirty="0">
                <a:solidFill>
                  <a:srgbClr val="000000"/>
                </a:solidFill>
                <a:latin typeface="Arial"/>
              </a:rPr>
              <a:t> </a:t>
            </a:r>
            <a:r>
              <a:rPr lang="de-AT" sz="2000" b="0" strike="noStrike" spc="-1" dirty="0" err="1">
                <a:solidFill>
                  <a:srgbClr val="000000"/>
                </a:solidFill>
                <a:latin typeface="Arial"/>
              </a:rPr>
              <a:t>about</a:t>
            </a:r>
            <a:r>
              <a:rPr lang="de-AT" sz="2000" b="0" strike="noStrike" spc="-1" dirty="0">
                <a:solidFill>
                  <a:srgbClr val="000000"/>
                </a:solidFill>
                <a:latin typeface="Arial"/>
              </a:rPr>
              <a:t> immediate </a:t>
            </a:r>
            <a:r>
              <a:rPr lang="de-AT" sz="2000" b="0" strike="noStrike" spc="-1" dirty="0" err="1">
                <a:solidFill>
                  <a:srgbClr val="000000"/>
                </a:solidFill>
                <a:latin typeface="Arial"/>
              </a:rPr>
              <a:t>performance</a:t>
            </a:r>
            <a:r>
              <a:rPr lang="de-AT" sz="2000" b="0" strike="noStrike" spc="-1" dirty="0">
                <a:solidFill>
                  <a:srgbClr val="000000"/>
                </a:solidFill>
                <a:latin typeface="Arial"/>
              </a:rPr>
              <a:t>, but </a:t>
            </a:r>
            <a:r>
              <a:rPr lang="de-AT" sz="2000" b="0" strike="noStrike" spc="-1" dirty="0" err="1">
                <a:solidFill>
                  <a:srgbClr val="000000"/>
                </a:solidFill>
                <a:latin typeface="Arial"/>
              </a:rPr>
              <a:t>less</a:t>
            </a:r>
            <a:r>
              <a:rPr lang="de-AT" sz="2000" b="0" strike="noStrike" spc="-1" dirty="0">
                <a:solidFill>
                  <a:srgbClr val="000000"/>
                </a:solidFill>
                <a:latin typeface="Arial"/>
              </a:rPr>
              <a:t> </a:t>
            </a:r>
            <a:r>
              <a:rPr lang="de-AT" sz="2000" b="0" strike="noStrike" spc="-1" dirty="0" err="1">
                <a:solidFill>
                  <a:srgbClr val="000000"/>
                </a:solidFill>
                <a:latin typeface="Arial"/>
              </a:rPr>
              <a:t>about</a:t>
            </a:r>
            <a:r>
              <a:rPr lang="de-AT" sz="2000" b="0" strike="noStrike" spc="-1" dirty="0">
                <a:solidFill>
                  <a:srgbClr val="000000"/>
                </a:solidFill>
                <a:latin typeface="Arial"/>
              </a:rPr>
              <a:t> </a:t>
            </a:r>
            <a:r>
              <a:rPr lang="de-AT" sz="2000" b="0" strike="noStrike" spc="-1" dirty="0" err="1">
                <a:solidFill>
                  <a:srgbClr val="000000"/>
                </a:solidFill>
                <a:latin typeface="Arial"/>
              </a:rPr>
              <a:t>long</a:t>
            </a:r>
            <a:r>
              <a:rPr lang="de-AT" sz="2000" b="0" strike="noStrike" spc="-1" dirty="0">
                <a:solidFill>
                  <a:srgbClr val="000000"/>
                </a:solidFill>
                <a:latin typeface="Arial"/>
              </a:rPr>
              <a:t>-term </a:t>
            </a:r>
            <a:r>
              <a:rPr lang="de-AT" sz="2000" b="0" strike="noStrike" spc="-1" dirty="0" err="1">
                <a:solidFill>
                  <a:srgbClr val="000000"/>
                </a:solidFill>
                <a:latin typeface="Arial"/>
              </a:rPr>
              <a:t>learning</a:t>
            </a:r>
            <a:r>
              <a:rPr lang="de-AT" sz="2000" b="0" strike="noStrike" spc="-1" dirty="0">
                <a:solidFill>
                  <a:srgbClr val="000000"/>
                </a:solidFill>
                <a:latin typeface="Arial"/>
              </a:rPr>
              <a:t>. </a:t>
            </a:r>
            <a:r>
              <a:rPr lang="de-AT" sz="2000" b="0" strike="noStrike" spc="-1" dirty="0" err="1">
                <a:solidFill>
                  <a:srgbClr val="000000"/>
                </a:solidFill>
                <a:latin typeface="Arial"/>
              </a:rPr>
              <a:t>For</a:t>
            </a:r>
            <a:r>
              <a:rPr lang="de-AT" sz="2000" b="0" strike="noStrike" spc="-1" dirty="0">
                <a:solidFill>
                  <a:srgbClr val="000000"/>
                </a:solidFill>
                <a:latin typeface="Arial"/>
              </a:rPr>
              <a:t> </a:t>
            </a:r>
            <a:r>
              <a:rPr lang="de-AT" sz="2000" b="0" strike="noStrike" spc="-1" dirty="0" err="1">
                <a:solidFill>
                  <a:srgbClr val="000000"/>
                </a:solidFill>
                <a:latin typeface="Arial"/>
              </a:rPr>
              <a:t>education</a:t>
            </a:r>
            <a:r>
              <a:rPr lang="de-AT" sz="2000" b="0" strike="noStrike" spc="-1" dirty="0">
                <a:solidFill>
                  <a:srgbClr val="000000"/>
                </a:solidFill>
                <a:latin typeface="Arial"/>
              </a:rPr>
              <a:t>, </a:t>
            </a:r>
            <a:r>
              <a:rPr lang="de-AT" sz="2000" b="0" strike="noStrike" spc="-1" dirty="0" err="1">
                <a:solidFill>
                  <a:srgbClr val="000000"/>
                </a:solidFill>
                <a:latin typeface="Arial"/>
              </a:rPr>
              <a:t>long</a:t>
            </a:r>
            <a:r>
              <a:rPr lang="de-AT" sz="2000" b="0" strike="noStrike" spc="-1" dirty="0">
                <a:solidFill>
                  <a:srgbClr val="000000"/>
                </a:solidFill>
                <a:latin typeface="Arial"/>
              </a:rPr>
              <a:t>-term </a:t>
            </a:r>
            <a:r>
              <a:rPr lang="de-AT" sz="2000" b="0" strike="noStrike" spc="-1" dirty="0" err="1">
                <a:solidFill>
                  <a:srgbClr val="000000"/>
                </a:solidFill>
                <a:latin typeface="Arial"/>
              </a:rPr>
              <a:t>outcomes</a:t>
            </a:r>
            <a:r>
              <a:rPr lang="de-AT" sz="2000" b="0" strike="noStrike" spc="-1" dirty="0">
                <a:solidFill>
                  <a:srgbClr val="000000"/>
                </a:solidFill>
                <a:latin typeface="Arial"/>
              </a:rPr>
              <a:t> </a:t>
            </a:r>
            <a:r>
              <a:rPr lang="de-AT" sz="2000" b="0" strike="noStrike" spc="-1" dirty="0" err="1">
                <a:solidFill>
                  <a:srgbClr val="000000"/>
                </a:solidFill>
                <a:latin typeface="Arial"/>
              </a:rPr>
              <a:t>are</a:t>
            </a:r>
            <a:r>
              <a:rPr lang="de-AT" sz="2000" b="0" strike="noStrike" spc="-1" dirty="0">
                <a:solidFill>
                  <a:srgbClr val="000000"/>
                </a:solidFill>
                <a:latin typeface="Arial"/>
              </a:rPr>
              <a:t> </a:t>
            </a:r>
            <a:r>
              <a:rPr lang="de-AT" sz="2000" b="0" strike="noStrike" spc="-1" dirty="0" err="1">
                <a:solidFill>
                  <a:srgbClr val="000000"/>
                </a:solidFill>
                <a:latin typeface="Arial"/>
              </a:rPr>
              <a:t>very</a:t>
            </a:r>
            <a:r>
              <a:rPr lang="de-AT" sz="2000" b="0" strike="noStrike" spc="-1" dirty="0">
                <a:solidFill>
                  <a:srgbClr val="000000"/>
                </a:solidFill>
                <a:latin typeface="Arial"/>
              </a:rPr>
              <a:t> </a:t>
            </a:r>
            <a:r>
              <a:rPr lang="de-AT" sz="2000" b="0" strike="noStrike" spc="-1" dirty="0" err="1">
                <a:solidFill>
                  <a:srgbClr val="000000"/>
                </a:solidFill>
                <a:latin typeface="Arial"/>
              </a:rPr>
              <a:t>important</a:t>
            </a:r>
            <a:r>
              <a:rPr lang="de-AT" sz="2000" b="0" strike="noStrike" spc="-1" dirty="0">
                <a:solidFill>
                  <a:srgbClr val="000000"/>
                </a:solidFill>
                <a:latin typeface="Arial"/>
              </a:rPr>
              <a:t>. </a:t>
            </a:r>
            <a:r>
              <a:rPr lang="de-AT" sz="2000" b="0" strike="noStrike" spc="-1" dirty="0" err="1">
                <a:solidFill>
                  <a:srgbClr val="000000"/>
                </a:solidFill>
                <a:latin typeface="Arial"/>
              </a:rPr>
              <a:t>We</a:t>
            </a:r>
            <a:r>
              <a:rPr lang="de-AT" sz="2000" b="0" strike="noStrike" spc="-1" dirty="0">
                <a:solidFill>
                  <a:srgbClr val="000000"/>
                </a:solidFill>
                <a:latin typeface="Arial"/>
              </a:rPr>
              <a:t> do not </a:t>
            </a:r>
            <a:r>
              <a:rPr lang="de-AT" sz="2000" b="0" strike="noStrike" spc="-1" dirty="0" err="1">
                <a:solidFill>
                  <a:srgbClr val="000000"/>
                </a:solidFill>
                <a:latin typeface="Arial"/>
              </a:rPr>
              <a:t>only</a:t>
            </a:r>
            <a:r>
              <a:rPr lang="de-AT" sz="2000" b="0" strike="noStrike" spc="-1" dirty="0">
                <a:solidFill>
                  <a:srgbClr val="000000"/>
                </a:solidFill>
                <a:latin typeface="Arial"/>
              </a:rPr>
              <a:t> </a:t>
            </a:r>
            <a:r>
              <a:rPr lang="de-AT" sz="2000" b="0" strike="noStrike" spc="-1" dirty="0" err="1">
                <a:solidFill>
                  <a:srgbClr val="000000"/>
                </a:solidFill>
                <a:latin typeface="Arial"/>
              </a:rPr>
              <a:t>want</a:t>
            </a:r>
            <a:r>
              <a:rPr lang="de-AT" sz="2000" b="0" strike="noStrike" spc="-1" dirty="0">
                <a:solidFill>
                  <a:srgbClr val="000000"/>
                </a:solidFill>
                <a:latin typeface="Arial"/>
              </a:rPr>
              <a:t> </a:t>
            </a:r>
            <a:r>
              <a:rPr lang="de-AT" sz="2000" b="0" strike="noStrike" spc="-1" dirty="0" err="1">
                <a:solidFill>
                  <a:srgbClr val="000000"/>
                </a:solidFill>
                <a:latin typeface="Arial"/>
              </a:rPr>
              <a:t>students</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perform </a:t>
            </a:r>
            <a:r>
              <a:rPr lang="de-AT" sz="2000" b="0" strike="noStrike" spc="-1" dirty="0" err="1">
                <a:solidFill>
                  <a:srgbClr val="000000"/>
                </a:solidFill>
                <a:latin typeface="Arial"/>
              </a:rPr>
              <a:t>well</a:t>
            </a:r>
            <a:r>
              <a:rPr lang="de-AT" sz="2000" b="0" strike="noStrike" spc="-1" dirty="0">
                <a:solidFill>
                  <a:srgbClr val="000000"/>
                </a:solidFill>
                <a:latin typeface="Arial"/>
              </a:rPr>
              <a:t> </a:t>
            </a:r>
            <a:r>
              <a:rPr lang="de-AT" sz="2000" b="0" strike="noStrike" spc="-1" dirty="0" err="1">
                <a:solidFill>
                  <a:srgbClr val="000000"/>
                </a:solidFill>
                <a:latin typeface="Arial"/>
              </a:rPr>
              <a:t>immediately</a:t>
            </a:r>
            <a:r>
              <a:rPr lang="de-AT" sz="2000" b="0" strike="noStrike" spc="-1" dirty="0">
                <a:solidFill>
                  <a:srgbClr val="000000"/>
                </a:solidFill>
                <a:latin typeface="Arial"/>
              </a:rPr>
              <a:t> after </a:t>
            </a:r>
            <a:r>
              <a:rPr lang="de-AT" sz="2000" b="0" strike="noStrike" spc="-1" dirty="0" err="1">
                <a:solidFill>
                  <a:srgbClr val="000000"/>
                </a:solidFill>
                <a:latin typeface="Arial"/>
              </a:rPr>
              <a:t>using</a:t>
            </a:r>
            <a:r>
              <a:rPr lang="de-AT" sz="2000" b="0" strike="noStrike" spc="-1" dirty="0">
                <a:solidFill>
                  <a:srgbClr val="000000"/>
                </a:solidFill>
                <a:latin typeface="Arial"/>
              </a:rPr>
              <a:t> ChatGPT; </a:t>
            </a:r>
            <a:r>
              <a:rPr lang="de-AT" sz="2000" b="0" strike="noStrike" spc="-1" dirty="0" err="1">
                <a:solidFill>
                  <a:srgbClr val="000000"/>
                </a:solidFill>
                <a:latin typeface="Arial"/>
              </a:rPr>
              <a:t>we</a:t>
            </a:r>
            <a:r>
              <a:rPr lang="de-AT" sz="2000" b="0" strike="noStrike" spc="-1" dirty="0">
                <a:solidFill>
                  <a:srgbClr val="000000"/>
                </a:solidFill>
                <a:latin typeface="Arial"/>
              </a:rPr>
              <a:t> also </a:t>
            </a:r>
            <a:r>
              <a:rPr lang="de-AT" sz="2000" b="0" strike="noStrike" spc="-1" dirty="0" err="1">
                <a:solidFill>
                  <a:srgbClr val="000000"/>
                </a:solidFill>
                <a:latin typeface="Arial"/>
              </a:rPr>
              <a:t>want</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know</a:t>
            </a:r>
            <a:r>
              <a:rPr lang="de-AT" sz="2000" b="0" strike="noStrike" spc="-1" dirty="0">
                <a:solidFill>
                  <a:srgbClr val="000000"/>
                </a:solidFill>
                <a:latin typeface="Arial"/>
              </a:rPr>
              <a:t> </a:t>
            </a:r>
            <a:r>
              <a:rPr lang="de-AT" sz="2000" b="0" strike="noStrike" spc="-1" dirty="0" err="1">
                <a:solidFill>
                  <a:srgbClr val="000000"/>
                </a:solidFill>
                <a:latin typeface="Arial"/>
              </a:rPr>
              <a:t>whether</a:t>
            </a:r>
            <a:r>
              <a:rPr lang="de-AT" sz="2000" b="0" strike="noStrike" spc="-1" dirty="0">
                <a:solidFill>
                  <a:srgbClr val="000000"/>
                </a:solidFill>
                <a:latin typeface="Arial"/>
              </a:rPr>
              <a:t> </a:t>
            </a:r>
            <a:r>
              <a:rPr lang="de-AT" sz="2000" b="0" strike="noStrike" spc="-1" dirty="0" err="1">
                <a:solidFill>
                  <a:srgbClr val="000000"/>
                </a:solidFill>
                <a:latin typeface="Arial"/>
              </a:rPr>
              <a:t>they</a:t>
            </a:r>
            <a:r>
              <a:rPr lang="de-AT" sz="2000" b="0" strike="noStrike" spc="-1" dirty="0">
                <a:solidFill>
                  <a:srgbClr val="000000"/>
                </a:solidFill>
                <a:latin typeface="Arial"/>
              </a:rPr>
              <a:t> </a:t>
            </a:r>
            <a:r>
              <a:rPr lang="de-AT" sz="2000" b="0" strike="noStrike" spc="-1" dirty="0" err="1">
                <a:solidFill>
                  <a:srgbClr val="000000"/>
                </a:solidFill>
                <a:latin typeface="Arial"/>
              </a:rPr>
              <a:t>retain</a:t>
            </a:r>
            <a:r>
              <a:rPr lang="de-AT" sz="2000" b="0" strike="noStrike" spc="-1" dirty="0">
                <a:solidFill>
                  <a:srgbClr val="000000"/>
                </a:solidFill>
                <a:latin typeface="Arial"/>
              </a:rPr>
              <a:t> </a:t>
            </a:r>
            <a:r>
              <a:rPr lang="de-AT" sz="2000" b="0" strike="noStrike" spc="-1" dirty="0" err="1">
                <a:solidFill>
                  <a:srgbClr val="000000"/>
                </a:solidFill>
                <a:latin typeface="Arial"/>
              </a:rPr>
              <a:t>knowledge</a:t>
            </a:r>
            <a:r>
              <a:rPr lang="de-AT" sz="2000" b="0" strike="noStrike" spc="-1" dirty="0">
                <a:solidFill>
                  <a:srgbClr val="000000"/>
                </a:solidFill>
                <a:latin typeface="Arial"/>
              </a:rPr>
              <a:t>, </a:t>
            </a:r>
            <a:r>
              <a:rPr lang="de-AT" sz="2000" b="0" strike="noStrike" spc="-1" dirty="0" err="1">
                <a:solidFill>
                  <a:srgbClr val="000000"/>
                </a:solidFill>
                <a:latin typeface="Arial"/>
              </a:rPr>
              <a:t>develop</a:t>
            </a:r>
            <a:r>
              <a:rPr lang="de-AT" sz="2000" b="0" strike="noStrike" spc="-1" dirty="0">
                <a:solidFill>
                  <a:srgbClr val="000000"/>
                </a:solidFill>
                <a:latin typeface="Arial"/>
              </a:rPr>
              <a:t> </a:t>
            </a:r>
            <a:r>
              <a:rPr lang="de-AT" sz="2000" b="0" strike="noStrike" spc="-1" dirty="0" err="1">
                <a:solidFill>
                  <a:srgbClr val="000000"/>
                </a:solidFill>
                <a:latin typeface="Arial"/>
              </a:rPr>
              <a:t>deeper</a:t>
            </a:r>
            <a:r>
              <a:rPr lang="de-AT" sz="2000" b="0" strike="noStrike" spc="-1" dirty="0">
                <a:solidFill>
                  <a:srgbClr val="000000"/>
                </a:solidFill>
                <a:latin typeface="Arial"/>
              </a:rPr>
              <a:t> </a:t>
            </a:r>
            <a:r>
              <a:rPr lang="de-AT" sz="2000" b="0" strike="noStrike" spc="-1" dirty="0" err="1">
                <a:solidFill>
                  <a:srgbClr val="000000"/>
                </a:solidFill>
                <a:latin typeface="Arial"/>
              </a:rPr>
              <a:t>understanding</a:t>
            </a:r>
            <a:r>
              <a:rPr lang="de-AT" sz="2000" b="0" strike="noStrike" spc="-1" dirty="0">
                <a:solidFill>
                  <a:srgbClr val="000000"/>
                </a:solidFill>
                <a:latin typeface="Arial"/>
              </a:rPr>
              <a:t>, and </a:t>
            </a:r>
            <a:r>
              <a:rPr lang="de-AT" sz="2000" b="0" strike="noStrike" spc="-1" dirty="0" err="1">
                <a:solidFill>
                  <a:srgbClr val="000000"/>
                </a:solidFill>
                <a:latin typeface="Arial"/>
              </a:rPr>
              <a:t>improve</a:t>
            </a:r>
            <a:r>
              <a:rPr lang="de-AT" sz="2000" b="0" strike="noStrike" spc="-1" dirty="0">
                <a:solidFill>
                  <a:srgbClr val="000000"/>
                </a:solidFill>
                <a:latin typeface="Arial"/>
              </a:rPr>
              <a:t> </a:t>
            </a:r>
            <a:r>
              <a:rPr lang="de-AT" sz="2000" b="0" strike="noStrike" spc="-1" dirty="0" err="1">
                <a:solidFill>
                  <a:srgbClr val="000000"/>
                </a:solidFill>
                <a:latin typeface="Arial"/>
              </a:rPr>
              <a:t>critical</a:t>
            </a:r>
            <a:r>
              <a:rPr lang="de-AT" sz="2000" b="0" strike="noStrike" spc="-1" dirty="0">
                <a:solidFill>
                  <a:srgbClr val="000000"/>
                </a:solidFill>
                <a:latin typeface="Arial"/>
              </a:rPr>
              <a:t> </a:t>
            </a:r>
            <a:r>
              <a:rPr lang="de-AT" sz="2000" b="0" strike="noStrike" spc="-1" dirty="0" err="1">
                <a:solidFill>
                  <a:srgbClr val="000000"/>
                </a:solidFill>
                <a:latin typeface="Arial"/>
              </a:rPr>
              <a:t>thinking</a:t>
            </a:r>
            <a:r>
              <a:rPr lang="de-AT" sz="2000" b="0" strike="noStrike" spc="-1" dirty="0">
                <a:solidFill>
                  <a:srgbClr val="000000"/>
                </a:solidFill>
                <a:latin typeface="Arial"/>
              </a:rPr>
              <a:t> </a:t>
            </a:r>
            <a:r>
              <a:rPr lang="de-AT" sz="2000" b="0" strike="noStrike" spc="-1" dirty="0" err="1">
                <a:solidFill>
                  <a:srgbClr val="000000"/>
                </a:solidFill>
                <a:latin typeface="Arial"/>
              </a:rPr>
              <a:t>over</a:t>
            </a:r>
            <a:r>
              <a:rPr lang="de-AT" sz="2000" b="0" strike="noStrike" spc="-1" dirty="0">
                <a:solidFill>
                  <a:srgbClr val="000000"/>
                </a:solidFill>
                <a:latin typeface="Arial"/>
              </a:rPr>
              <a:t> time.</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A </a:t>
            </a:r>
            <a:r>
              <a:rPr lang="de-AT" sz="2000" b="0" strike="noStrike" spc="-1" dirty="0" err="1">
                <a:solidFill>
                  <a:srgbClr val="000000"/>
                </a:solidFill>
                <a:latin typeface="Arial"/>
              </a:rPr>
              <a:t>third</a:t>
            </a:r>
            <a:r>
              <a:rPr lang="de-AT" sz="2000" b="0" strike="noStrike" spc="-1" dirty="0">
                <a:solidFill>
                  <a:srgbClr val="000000"/>
                </a:solidFill>
                <a:latin typeface="Arial"/>
              </a:rPr>
              <a:t> </a:t>
            </a:r>
            <a:r>
              <a:rPr lang="de-AT" sz="2000" b="0" strike="noStrike" spc="-1" dirty="0" err="1">
                <a:solidFill>
                  <a:srgbClr val="000000"/>
                </a:solidFill>
                <a:latin typeface="Arial"/>
              </a:rPr>
              <a:t>issue</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heterogeneity</a:t>
            </a:r>
            <a:r>
              <a:rPr lang="de-AT" sz="2000" b="0" strike="noStrike" spc="-1" dirty="0">
                <a:solidFill>
                  <a:srgbClr val="000000"/>
                </a:solidFill>
                <a:latin typeface="Arial"/>
              </a:rPr>
              <a:t>. The </a:t>
            </a:r>
            <a:r>
              <a:rPr lang="de-AT" sz="2000" b="0" strike="noStrike" spc="-1" dirty="0" err="1">
                <a:solidFill>
                  <a:srgbClr val="000000"/>
                </a:solidFill>
                <a:latin typeface="Arial"/>
              </a:rPr>
              <a:t>included</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differed</a:t>
            </a:r>
            <a:r>
              <a:rPr lang="de-AT" sz="2000" b="0" strike="noStrike" spc="-1" dirty="0">
                <a:solidFill>
                  <a:srgbClr val="000000"/>
                </a:solidFill>
                <a:latin typeface="Arial"/>
              </a:rPr>
              <a:t> in </a:t>
            </a:r>
            <a:r>
              <a:rPr lang="de-AT" sz="2000" b="0" strike="noStrike" spc="-1" dirty="0" err="1">
                <a:solidFill>
                  <a:srgbClr val="000000"/>
                </a:solidFill>
                <a:latin typeface="Arial"/>
              </a:rPr>
              <a:t>many</a:t>
            </a:r>
            <a:r>
              <a:rPr lang="de-AT" sz="2000" b="0" strike="noStrike" spc="-1" dirty="0">
                <a:solidFill>
                  <a:srgbClr val="000000"/>
                </a:solidFill>
                <a:latin typeface="Arial"/>
              </a:rPr>
              <a:t> </a:t>
            </a:r>
            <a:r>
              <a:rPr lang="de-AT" sz="2000" b="0" strike="noStrike" spc="-1" dirty="0" err="1">
                <a:solidFill>
                  <a:srgbClr val="000000"/>
                </a:solidFill>
                <a:latin typeface="Arial"/>
              </a:rPr>
              <a:t>ways</a:t>
            </a:r>
            <a:r>
              <a:rPr lang="de-AT" sz="2000" b="0" strike="noStrike" spc="-1" dirty="0">
                <a:solidFill>
                  <a:srgbClr val="000000"/>
                </a:solidFill>
                <a:latin typeface="Arial"/>
              </a:rPr>
              <a:t>: </a:t>
            </a:r>
            <a:r>
              <a:rPr lang="de-AT" sz="2000" b="0" strike="noStrike" spc="-1" dirty="0" err="1">
                <a:solidFill>
                  <a:srgbClr val="000000"/>
                </a:solidFill>
                <a:latin typeface="Arial"/>
              </a:rPr>
              <a:t>educational</a:t>
            </a:r>
            <a:r>
              <a:rPr lang="de-AT" sz="2000" b="0" strike="noStrike" spc="-1" dirty="0">
                <a:solidFill>
                  <a:srgbClr val="000000"/>
                </a:solidFill>
                <a:latin typeface="Arial"/>
              </a:rPr>
              <a:t> </a:t>
            </a:r>
            <a:r>
              <a:rPr lang="de-AT" sz="2000" b="0" strike="noStrike" spc="-1" dirty="0" err="1">
                <a:solidFill>
                  <a:srgbClr val="000000"/>
                </a:solidFill>
                <a:latin typeface="Arial"/>
              </a:rPr>
              <a:t>level</a:t>
            </a:r>
            <a:r>
              <a:rPr lang="de-AT" sz="2000" b="0" strike="noStrike" spc="-1" dirty="0">
                <a:solidFill>
                  <a:srgbClr val="000000"/>
                </a:solidFill>
                <a:latin typeface="Arial"/>
              </a:rPr>
              <a:t>, </a:t>
            </a:r>
            <a:r>
              <a:rPr lang="de-AT" sz="2000" b="0" strike="noStrike" spc="-1" dirty="0" err="1">
                <a:solidFill>
                  <a:srgbClr val="000000"/>
                </a:solidFill>
                <a:latin typeface="Arial"/>
              </a:rPr>
              <a:t>subject</a:t>
            </a:r>
            <a:r>
              <a:rPr lang="de-AT" sz="2000" b="0" strike="noStrike" spc="-1" dirty="0">
                <a:solidFill>
                  <a:srgbClr val="000000"/>
                </a:solidFill>
                <a:latin typeface="Arial"/>
              </a:rPr>
              <a:t> </a:t>
            </a:r>
            <a:r>
              <a:rPr lang="de-AT" sz="2000" b="0" strike="noStrike" spc="-1" dirty="0" err="1">
                <a:solidFill>
                  <a:srgbClr val="000000"/>
                </a:solidFill>
                <a:latin typeface="Arial"/>
              </a:rPr>
              <a:t>area</a:t>
            </a:r>
            <a:r>
              <a:rPr lang="de-AT" sz="2000" b="0" strike="noStrike" spc="-1" dirty="0">
                <a:solidFill>
                  <a:srgbClr val="000000"/>
                </a:solidFill>
                <a:latin typeface="Arial"/>
              </a:rPr>
              <a:t>, </a:t>
            </a:r>
            <a:r>
              <a:rPr lang="de-AT" sz="2000" b="0" strike="noStrike" spc="-1" dirty="0" err="1">
                <a:solidFill>
                  <a:srgbClr val="000000"/>
                </a:solidFill>
                <a:latin typeface="Arial"/>
              </a:rPr>
              <a:t>intervention</a:t>
            </a:r>
            <a:r>
              <a:rPr lang="de-AT" sz="2000" b="0" strike="noStrike" spc="-1" dirty="0">
                <a:solidFill>
                  <a:srgbClr val="000000"/>
                </a:solidFill>
                <a:latin typeface="Arial"/>
              </a:rPr>
              <a:t> design, </a:t>
            </a:r>
            <a:r>
              <a:rPr lang="de-AT" sz="2000" b="0" strike="noStrike" spc="-1" dirty="0" err="1">
                <a:solidFill>
                  <a:srgbClr val="000000"/>
                </a:solidFill>
                <a:latin typeface="Arial"/>
              </a:rPr>
              <a:t>outcome</a:t>
            </a:r>
            <a:r>
              <a:rPr lang="de-AT" sz="2000" b="0" strike="noStrike" spc="-1" dirty="0">
                <a:solidFill>
                  <a:srgbClr val="000000"/>
                </a:solidFill>
                <a:latin typeface="Arial"/>
              </a:rPr>
              <a:t> </a:t>
            </a:r>
            <a:r>
              <a:rPr lang="de-AT" sz="2000" b="0" strike="noStrike" spc="-1" dirty="0" err="1">
                <a:solidFill>
                  <a:srgbClr val="000000"/>
                </a:solidFill>
                <a:latin typeface="Arial"/>
              </a:rPr>
              <a:t>measures</a:t>
            </a:r>
            <a:r>
              <a:rPr lang="de-AT" sz="2000" b="0" strike="noStrike" spc="-1" dirty="0">
                <a:solidFill>
                  <a:srgbClr val="000000"/>
                </a:solidFill>
                <a:latin typeface="Arial"/>
              </a:rPr>
              <a:t>, and </a:t>
            </a:r>
            <a:r>
              <a:rPr lang="de-AT" sz="2000" b="0" strike="noStrike" spc="-1" dirty="0" err="1">
                <a:solidFill>
                  <a:srgbClr val="000000"/>
                </a:solidFill>
                <a:latin typeface="Arial"/>
              </a:rPr>
              <a:t>how</a:t>
            </a:r>
            <a:r>
              <a:rPr lang="de-AT" sz="2000" b="0" strike="noStrike" spc="-1" dirty="0">
                <a:solidFill>
                  <a:srgbClr val="000000"/>
                </a:solidFill>
                <a:latin typeface="Arial"/>
              </a:rPr>
              <a:t> ChatGPT was </a:t>
            </a:r>
            <a:r>
              <a:rPr lang="de-AT" sz="2000" b="0" strike="noStrike" spc="-1" dirty="0" err="1">
                <a:solidFill>
                  <a:srgbClr val="000000"/>
                </a:solidFill>
                <a:latin typeface="Arial"/>
              </a:rPr>
              <a:t>used</a:t>
            </a:r>
            <a:r>
              <a:rPr lang="de-AT" sz="2000" b="0" strike="noStrike" spc="-1" dirty="0">
                <a:solidFill>
                  <a:srgbClr val="000000"/>
                </a:solidFill>
                <a:latin typeface="Arial"/>
              </a:rPr>
              <a:t>. This </a:t>
            </a:r>
            <a:r>
              <a:rPr lang="de-AT" sz="2000" b="0" strike="noStrike" spc="-1" dirty="0" err="1">
                <a:solidFill>
                  <a:srgbClr val="000000"/>
                </a:solidFill>
                <a:latin typeface="Arial"/>
              </a:rPr>
              <a:t>diversity</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useful</a:t>
            </a:r>
            <a:r>
              <a:rPr lang="de-AT" sz="2000" b="0" strike="noStrike" spc="-1" dirty="0">
                <a:solidFill>
                  <a:srgbClr val="000000"/>
                </a:solidFill>
                <a:latin typeface="Arial"/>
              </a:rPr>
              <a:t> </a:t>
            </a:r>
            <a:r>
              <a:rPr lang="de-AT" sz="2000" b="0" strike="noStrike" spc="-1" dirty="0" err="1">
                <a:solidFill>
                  <a:srgbClr val="000000"/>
                </a:solidFill>
                <a:latin typeface="Arial"/>
              </a:rPr>
              <a:t>because</a:t>
            </a:r>
            <a:r>
              <a:rPr lang="de-AT" sz="2000" b="0" strike="noStrike" spc="-1" dirty="0">
                <a:solidFill>
                  <a:srgbClr val="000000"/>
                </a:solidFill>
                <a:latin typeface="Arial"/>
              </a:rPr>
              <a:t> </a:t>
            </a:r>
            <a:r>
              <a:rPr lang="de-AT" sz="2000" b="0" strike="noStrike" spc="-1" dirty="0" err="1">
                <a:solidFill>
                  <a:srgbClr val="000000"/>
                </a:solidFill>
                <a:latin typeface="Arial"/>
              </a:rPr>
              <a:t>it</a:t>
            </a:r>
            <a:r>
              <a:rPr lang="de-AT" sz="2000" b="0" strike="noStrike" spc="-1" dirty="0">
                <a:solidFill>
                  <a:srgbClr val="000000"/>
                </a:solidFill>
                <a:latin typeface="Arial"/>
              </a:rPr>
              <a:t> </a:t>
            </a:r>
            <a:r>
              <a:rPr lang="de-AT" sz="2000" b="0" strike="noStrike" spc="-1" dirty="0" err="1">
                <a:solidFill>
                  <a:srgbClr val="000000"/>
                </a:solidFill>
                <a:latin typeface="Arial"/>
              </a:rPr>
              <a:t>gives</a:t>
            </a:r>
            <a:r>
              <a:rPr lang="de-AT" sz="2000" b="0" strike="noStrike" spc="-1" dirty="0">
                <a:solidFill>
                  <a:srgbClr val="000000"/>
                </a:solidFill>
                <a:latin typeface="Arial"/>
              </a:rPr>
              <a:t> a </a:t>
            </a:r>
            <a:r>
              <a:rPr lang="de-AT" sz="2000" b="0" strike="noStrike" spc="-1" dirty="0" err="1">
                <a:solidFill>
                  <a:srgbClr val="000000"/>
                </a:solidFill>
                <a:latin typeface="Arial"/>
              </a:rPr>
              <a:t>broad</a:t>
            </a:r>
            <a:r>
              <a:rPr lang="de-AT" sz="2000" b="0" strike="noStrike" spc="-1" dirty="0">
                <a:solidFill>
                  <a:srgbClr val="000000"/>
                </a:solidFill>
                <a:latin typeface="Arial"/>
              </a:rPr>
              <a:t> </a:t>
            </a:r>
            <a:r>
              <a:rPr lang="de-AT" sz="2000" b="0" strike="noStrike" spc="-1" dirty="0" err="1">
                <a:solidFill>
                  <a:srgbClr val="000000"/>
                </a:solidFill>
                <a:latin typeface="Arial"/>
              </a:rPr>
              <a:t>picture</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field</a:t>
            </a:r>
            <a:r>
              <a:rPr lang="de-AT" sz="2000" b="0" strike="noStrike" spc="-1" dirty="0">
                <a:solidFill>
                  <a:srgbClr val="000000"/>
                </a:solidFill>
                <a:latin typeface="Arial"/>
              </a:rPr>
              <a:t>, but </a:t>
            </a:r>
            <a:r>
              <a:rPr lang="de-AT" sz="2000" b="0" strike="noStrike" spc="-1" dirty="0" err="1">
                <a:solidFill>
                  <a:srgbClr val="000000"/>
                </a:solidFill>
                <a:latin typeface="Arial"/>
              </a:rPr>
              <a:t>it</a:t>
            </a:r>
            <a:r>
              <a:rPr lang="de-AT" sz="2000" b="0" strike="noStrike" spc="-1" dirty="0">
                <a:solidFill>
                  <a:srgbClr val="000000"/>
                </a:solidFill>
                <a:latin typeface="Arial"/>
              </a:rPr>
              <a:t> also </a:t>
            </a:r>
            <a:r>
              <a:rPr lang="de-AT" sz="2000" b="0" strike="noStrike" spc="-1" dirty="0" err="1">
                <a:solidFill>
                  <a:srgbClr val="000000"/>
                </a:solidFill>
                <a:latin typeface="Arial"/>
              </a:rPr>
              <a:t>makes</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overall</a:t>
            </a:r>
            <a:r>
              <a:rPr lang="de-AT" sz="2000" b="0" strike="noStrike" spc="-1" dirty="0">
                <a:solidFill>
                  <a:srgbClr val="000000"/>
                </a:solidFill>
                <a:latin typeface="Arial"/>
              </a:rPr>
              <a:t> </a:t>
            </a:r>
            <a:r>
              <a:rPr lang="de-AT" sz="2000" b="0" strike="noStrike" spc="-1" dirty="0" err="1">
                <a:solidFill>
                  <a:srgbClr val="000000"/>
                </a:solidFill>
                <a:latin typeface="Arial"/>
              </a:rPr>
              <a:t>effect</a:t>
            </a:r>
            <a:r>
              <a:rPr lang="de-AT" sz="2000" b="0" strike="noStrike" spc="-1" dirty="0">
                <a:solidFill>
                  <a:srgbClr val="000000"/>
                </a:solidFill>
                <a:latin typeface="Arial"/>
              </a:rPr>
              <a:t> </a:t>
            </a:r>
            <a:r>
              <a:rPr lang="de-AT" sz="2000" b="0" strike="noStrike" spc="-1" dirty="0" err="1">
                <a:solidFill>
                  <a:srgbClr val="000000"/>
                </a:solidFill>
                <a:latin typeface="Arial"/>
              </a:rPr>
              <a:t>harder</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interpret</a:t>
            </a:r>
            <a:r>
              <a:rPr lang="de-AT" sz="2000" b="0" strike="noStrike" spc="-1" dirty="0">
                <a:solidFill>
                  <a:srgbClr val="000000"/>
                </a:solidFill>
                <a:latin typeface="Arial"/>
              </a:rPr>
              <a:t>. A positive </a:t>
            </a:r>
            <a:r>
              <a:rPr lang="de-AT" sz="2000" b="0" strike="noStrike" spc="-1" dirty="0" err="1">
                <a:solidFill>
                  <a:srgbClr val="000000"/>
                </a:solidFill>
                <a:latin typeface="Arial"/>
              </a:rPr>
              <a:t>average</a:t>
            </a:r>
            <a:r>
              <a:rPr lang="de-AT" sz="2000" b="0" strike="noStrike" spc="-1" dirty="0">
                <a:solidFill>
                  <a:srgbClr val="000000"/>
                </a:solidFill>
                <a:latin typeface="Arial"/>
              </a:rPr>
              <a:t> </a:t>
            </a:r>
            <a:r>
              <a:rPr lang="de-AT" sz="2000" b="0" strike="noStrike" spc="-1" dirty="0" err="1">
                <a:solidFill>
                  <a:srgbClr val="000000"/>
                </a:solidFill>
                <a:latin typeface="Arial"/>
              </a:rPr>
              <a:t>effect</a:t>
            </a:r>
            <a:r>
              <a:rPr lang="de-AT" sz="2000" b="0" strike="noStrike" spc="-1" dirty="0">
                <a:solidFill>
                  <a:srgbClr val="000000"/>
                </a:solidFill>
                <a:latin typeface="Arial"/>
              </a:rPr>
              <a:t> </a:t>
            </a:r>
            <a:r>
              <a:rPr lang="de-AT" sz="2000" b="0" strike="noStrike" spc="-1" dirty="0" err="1">
                <a:solidFill>
                  <a:srgbClr val="000000"/>
                </a:solidFill>
                <a:latin typeface="Arial"/>
              </a:rPr>
              <a:t>does</a:t>
            </a:r>
            <a:r>
              <a:rPr lang="de-AT" sz="2000" b="0" strike="noStrike" spc="-1" dirty="0">
                <a:solidFill>
                  <a:srgbClr val="000000"/>
                </a:solidFill>
                <a:latin typeface="Arial"/>
              </a:rPr>
              <a:t> not </a:t>
            </a:r>
            <a:r>
              <a:rPr lang="de-AT" sz="2000" b="0" strike="noStrike" spc="-1" dirty="0" err="1">
                <a:solidFill>
                  <a:srgbClr val="000000"/>
                </a:solidFill>
                <a:latin typeface="Arial"/>
              </a:rPr>
              <a:t>mean</a:t>
            </a:r>
            <a:r>
              <a:rPr lang="de-AT" sz="2000" b="0" strike="noStrike" spc="-1" dirty="0">
                <a:solidFill>
                  <a:srgbClr val="000000"/>
                </a:solidFill>
                <a:latin typeface="Arial"/>
              </a:rPr>
              <a:t> </a:t>
            </a:r>
            <a:r>
              <a:rPr lang="de-AT" sz="2000" b="0" strike="noStrike" spc="-1" dirty="0" err="1">
                <a:solidFill>
                  <a:srgbClr val="000000"/>
                </a:solidFill>
                <a:latin typeface="Arial"/>
              </a:rPr>
              <a:t>that</a:t>
            </a:r>
            <a:r>
              <a:rPr lang="de-AT" sz="2000" b="0" strike="noStrike" spc="-1" dirty="0">
                <a:solidFill>
                  <a:srgbClr val="000000"/>
                </a:solidFill>
                <a:latin typeface="Arial"/>
              </a:rPr>
              <a:t> ChatGPT </a:t>
            </a:r>
            <a:r>
              <a:rPr lang="de-AT" sz="2000" b="0" strike="noStrike" spc="-1" dirty="0" err="1">
                <a:solidFill>
                  <a:srgbClr val="000000"/>
                </a:solidFill>
                <a:latin typeface="Arial"/>
              </a:rPr>
              <a:t>works</a:t>
            </a:r>
            <a:r>
              <a:rPr lang="de-AT" sz="2000" b="0" strike="noStrike" spc="-1" dirty="0">
                <a:solidFill>
                  <a:srgbClr val="000000"/>
                </a:solidFill>
                <a:latin typeface="Arial"/>
              </a:rPr>
              <a:t> </a:t>
            </a:r>
            <a:r>
              <a:rPr lang="de-AT" sz="2000" b="0" strike="noStrike" spc="-1" dirty="0" err="1">
                <a:solidFill>
                  <a:srgbClr val="000000"/>
                </a:solidFill>
                <a:latin typeface="Arial"/>
              </a:rPr>
              <a:t>equally</a:t>
            </a:r>
            <a:r>
              <a:rPr lang="de-AT" sz="2000" b="0" strike="noStrike" spc="-1" dirty="0">
                <a:solidFill>
                  <a:srgbClr val="000000"/>
                </a:solidFill>
                <a:latin typeface="Arial"/>
              </a:rPr>
              <a:t> </a:t>
            </a:r>
            <a:r>
              <a:rPr lang="de-AT" sz="2000" b="0" strike="noStrike" spc="-1" dirty="0" err="1">
                <a:solidFill>
                  <a:srgbClr val="000000"/>
                </a:solidFill>
                <a:latin typeface="Arial"/>
              </a:rPr>
              <a:t>well</a:t>
            </a:r>
            <a:r>
              <a:rPr lang="de-AT" sz="2000" b="0" strike="noStrike" spc="-1" dirty="0">
                <a:solidFill>
                  <a:srgbClr val="000000"/>
                </a:solidFill>
                <a:latin typeface="Arial"/>
              </a:rPr>
              <a:t> in </a:t>
            </a:r>
            <a:r>
              <a:rPr lang="de-AT" sz="2000" b="0" strike="noStrike" spc="-1" dirty="0" err="1">
                <a:solidFill>
                  <a:srgbClr val="000000"/>
                </a:solidFill>
                <a:latin typeface="Arial"/>
              </a:rPr>
              <a:t>every</a:t>
            </a:r>
            <a:r>
              <a:rPr lang="de-AT" sz="2000" b="0" strike="noStrike" spc="-1" dirty="0">
                <a:solidFill>
                  <a:srgbClr val="000000"/>
                </a:solidFill>
                <a:latin typeface="Arial"/>
              </a:rPr>
              <a:t> </a:t>
            </a:r>
            <a:r>
              <a:rPr lang="de-AT" sz="2000" b="0" strike="noStrike" spc="-1" dirty="0" err="1">
                <a:solidFill>
                  <a:srgbClr val="000000"/>
                </a:solidFill>
                <a:latin typeface="Arial"/>
              </a:rPr>
              <a:t>setting</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err="1">
                <a:solidFill>
                  <a:srgbClr val="000000"/>
                </a:solidFill>
                <a:latin typeface="Arial"/>
              </a:rPr>
              <a:t>There</a:t>
            </a:r>
            <a:r>
              <a:rPr lang="de-AT" sz="2000" b="0" strike="noStrike" spc="-1" dirty="0">
                <a:solidFill>
                  <a:srgbClr val="000000"/>
                </a:solidFill>
                <a:latin typeface="Arial"/>
              </a:rPr>
              <a:t> </a:t>
            </a:r>
            <a:r>
              <a:rPr lang="de-AT" sz="2000" b="0" strike="noStrike" spc="-1" dirty="0" err="1">
                <a:solidFill>
                  <a:srgbClr val="000000"/>
                </a:solidFill>
                <a:latin typeface="Arial"/>
              </a:rPr>
              <a:t>are</a:t>
            </a:r>
            <a:r>
              <a:rPr lang="de-AT" sz="2000" b="0" strike="noStrike" spc="-1" dirty="0">
                <a:solidFill>
                  <a:srgbClr val="000000"/>
                </a:solidFill>
                <a:latin typeface="Arial"/>
              </a:rPr>
              <a:t> also </a:t>
            </a:r>
            <a:r>
              <a:rPr lang="de-AT" sz="2000" b="0" strike="noStrike" spc="-1" dirty="0" err="1">
                <a:solidFill>
                  <a:srgbClr val="000000"/>
                </a:solidFill>
                <a:latin typeface="Arial"/>
              </a:rPr>
              <a:t>several</a:t>
            </a:r>
            <a:r>
              <a:rPr lang="de-AT" sz="2000" b="0" strike="noStrike" spc="-1" dirty="0">
                <a:solidFill>
                  <a:srgbClr val="000000"/>
                </a:solidFill>
                <a:latin typeface="Arial"/>
              </a:rPr>
              <a:t> possible </a:t>
            </a:r>
            <a:r>
              <a:rPr lang="de-AT" sz="2000" b="0" strike="noStrike" spc="-1" dirty="0" err="1">
                <a:solidFill>
                  <a:srgbClr val="000000"/>
                </a:solidFill>
                <a:latin typeface="Arial"/>
              </a:rPr>
              <a:t>biases</a:t>
            </a:r>
            <a:r>
              <a:rPr lang="de-AT" sz="2000" b="0" strike="noStrike" spc="-1" dirty="0">
                <a:solidFill>
                  <a:srgbClr val="000000"/>
                </a:solidFill>
                <a:latin typeface="Arial"/>
              </a:rPr>
              <a:t>. </a:t>
            </a:r>
            <a:r>
              <a:rPr lang="de-AT" sz="2000" b="0" strike="noStrike" spc="-1" dirty="0" err="1">
                <a:solidFill>
                  <a:srgbClr val="000000"/>
                </a:solidFill>
                <a:latin typeface="Arial"/>
              </a:rPr>
              <a:t>One</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1" strike="noStrike" spc="-1" dirty="0" err="1">
                <a:solidFill>
                  <a:srgbClr val="000000"/>
                </a:solidFill>
                <a:latin typeface="Arial"/>
              </a:rPr>
              <a:t>publication</a:t>
            </a:r>
            <a:r>
              <a:rPr lang="de-AT" sz="2000" b="1" strike="noStrike" spc="-1" dirty="0">
                <a:solidFill>
                  <a:srgbClr val="000000"/>
                </a:solidFill>
                <a:latin typeface="Arial"/>
              </a:rPr>
              <a:t> </a:t>
            </a:r>
            <a:r>
              <a:rPr lang="de-AT" sz="2000" b="1" strike="noStrike" spc="-1" dirty="0" err="1">
                <a:solidFill>
                  <a:srgbClr val="000000"/>
                </a:solidFill>
                <a:latin typeface="Arial"/>
              </a:rPr>
              <a:t>bias</a:t>
            </a:r>
            <a:r>
              <a:rPr lang="de-AT" sz="2000" b="0" strike="noStrike" spc="-1" dirty="0">
                <a:solidFill>
                  <a:srgbClr val="000000"/>
                </a:solidFill>
                <a:latin typeface="Arial"/>
              </a:rPr>
              <a:t>. Studies </a:t>
            </a:r>
            <a:r>
              <a:rPr lang="de-AT" sz="2000" b="0" strike="noStrike" spc="-1" dirty="0" err="1">
                <a:solidFill>
                  <a:srgbClr val="000000"/>
                </a:solidFill>
                <a:latin typeface="Arial"/>
              </a:rPr>
              <a:t>with</a:t>
            </a:r>
            <a:r>
              <a:rPr lang="de-AT" sz="2000" b="0" strike="noStrike" spc="-1" dirty="0">
                <a:solidFill>
                  <a:srgbClr val="000000"/>
                </a:solidFill>
                <a:latin typeface="Arial"/>
              </a:rPr>
              <a:t> positive </a:t>
            </a:r>
            <a:r>
              <a:rPr lang="de-AT" sz="2000" b="0" strike="noStrike" spc="-1" dirty="0" err="1">
                <a:solidFill>
                  <a:srgbClr val="000000"/>
                </a:solidFill>
                <a:latin typeface="Arial"/>
              </a:rPr>
              <a:t>or</a:t>
            </a:r>
            <a:r>
              <a:rPr lang="de-AT" sz="2000" b="0" strike="noStrike" spc="-1" dirty="0">
                <a:solidFill>
                  <a:srgbClr val="000000"/>
                </a:solidFill>
                <a:latin typeface="Arial"/>
              </a:rPr>
              <a:t> </a:t>
            </a:r>
            <a:r>
              <a:rPr lang="de-AT" sz="2000" b="0" strike="noStrike" spc="-1" dirty="0" err="1">
                <a:solidFill>
                  <a:srgbClr val="000000"/>
                </a:solidFill>
                <a:latin typeface="Arial"/>
              </a:rPr>
              <a:t>significant</a:t>
            </a:r>
            <a:r>
              <a:rPr lang="de-AT" sz="2000" b="0" strike="noStrike" spc="-1" dirty="0">
                <a:solidFill>
                  <a:srgbClr val="000000"/>
                </a:solidFill>
                <a:latin typeface="Arial"/>
              </a:rPr>
              <a:t> </a:t>
            </a:r>
            <a:r>
              <a:rPr lang="de-AT" sz="2000" b="0" strike="noStrike" spc="-1" dirty="0" err="1">
                <a:solidFill>
                  <a:srgbClr val="000000"/>
                </a:solidFill>
                <a:latin typeface="Arial"/>
              </a:rPr>
              <a:t>results</a:t>
            </a:r>
            <a:r>
              <a:rPr lang="de-AT" sz="2000" b="0" strike="noStrike" spc="-1" dirty="0">
                <a:solidFill>
                  <a:srgbClr val="000000"/>
                </a:solidFill>
                <a:latin typeface="Arial"/>
              </a:rPr>
              <a:t> </a:t>
            </a:r>
            <a:r>
              <a:rPr lang="de-AT" sz="2000" b="0" strike="noStrike" spc="-1" dirty="0" err="1">
                <a:solidFill>
                  <a:srgbClr val="000000"/>
                </a:solidFill>
                <a:latin typeface="Arial"/>
              </a:rPr>
              <a:t>are</a:t>
            </a:r>
            <a:r>
              <a:rPr lang="de-AT" sz="2000" b="0" strike="noStrike" spc="-1" dirty="0">
                <a:solidFill>
                  <a:srgbClr val="000000"/>
                </a:solidFill>
                <a:latin typeface="Arial"/>
              </a:rPr>
              <a:t> </a:t>
            </a:r>
            <a:r>
              <a:rPr lang="de-AT" sz="2000" b="0" strike="noStrike" spc="-1" dirty="0" err="1">
                <a:solidFill>
                  <a:srgbClr val="000000"/>
                </a:solidFill>
                <a:latin typeface="Arial"/>
              </a:rPr>
              <a:t>often</a:t>
            </a:r>
            <a:r>
              <a:rPr lang="de-AT" sz="2000" b="0" strike="noStrike" spc="-1" dirty="0">
                <a:solidFill>
                  <a:srgbClr val="000000"/>
                </a:solidFill>
                <a:latin typeface="Arial"/>
              </a:rPr>
              <a:t> </a:t>
            </a:r>
            <a:r>
              <a:rPr lang="de-AT" sz="2000" b="0" strike="noStrike" spc="-1" dirty="0" err="1">
                <a:solidFill>
                  <a:srgbClr val="000000"/>
                </a:solidFill>
                <a:latin typeface="Arial"/>
              </a:rPr>
              <a:t>more</a:t>
            </a:r>
            <a:r>
              <a:rPr lang="de-AT" sz="2000" b="0" strike="noStrike" spc="-1" dirty="0">
                <a:solidFill>
                  <a:srgbClr val="000000"/>
                </a:solidFill>
                <a:latin typeface="Arial"/>
              </a:rPr>
              <a:t> </a:t>
            </a:r>
            <a:r>
              <a:rPr lang="de-AT" sz="2000" b="0" strike="noStrike" spc="-1" dirty="0" err="1">
                <a:solidFill>
                  <a:srgbClr val="000000"/>
                </a:solidFill>
                <a:latin typeface="Arial"/>
              </a:rPr>
              <a:t>likely</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be</a:t>
            </a:r>
            <a:r>
              <a:rPr lang="de-AT" sz="2000" b="0" strike="noStrike" spc="-1" dirty="0">
                <a:solidFill>
                  <a:srgbClr val="000000"/>
                </a:solidFill>
                <a:latin typeface="Arial"/>
              </a:rPr>
              <a:t> </a:t>
            </a:r>
            <a:r>
              <a:rPr lang="de-AT" sz="2000" b="0" strike="noStrike" spc="-1" dirty="0" err="1">
                <a:solidFill>
                  <a:srgbClr val="000000"/>
                </a:solidFill>
                <a:latin typeface="Arial"/>
              </a:rPr>
              <a:t>published</a:t>
            </a:r>
            <a:r>
              <a:rPr lang="de-AT" sz="2000" b="0" strike="noStrike" spc="-1" dirty="0">
                <a:solidFill>
                  <a:srgbClr val="000000"/>
                </a:solidFill>
                <a:latin typeface="Arial"/>
              </a:rPr>
              <a:t> </a:t>
            </a:r>
            <a:r>
              <a:rPr lang="de-AT" sz="2000" b="0" strike="noStrike" spc="-1" dirty="0" err="1">
                <a:solidFill>
                  <a:srgbClr val="000000"/>
                </a:solidFill>
                <a:latin typeface="Arial"/>
              </a:rPr>
              <a:t>than</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with</a:t>
            </a:r>
            <a:r>
              <a:rPr lang="de-AT" sz="2000" b="0" strike="noStrike" spc="-1" dirty="0">
                <a:solidFill>
                  <a:srgbClr val="000000"/>
                </a:solidFill>
                <a:latin typeface="Arial"/>
              </a:rPr>
              <a:t> null </a:t>
            </a:r>
            <a:r>
              <a:rPr lang="de-AT" sz="2000" b="0" strike="noStrike" spc="-1" dirty="0" err="1">
                <a:solidFill>
                  <a:srgbClr val="000000"/>
                </a:solidFill>
                <a:latin typeface="Arial"/>
              </a:rPr>
              <a:t>or</a:t>
            </a:r>
            <a:r>
              <a:rPr lang="de-AT" sz="2000" b="0" strike="noStrike" spc="-1" dirty="0">
                <a:solidFill>
                  <a:srgbClr val="000000"/>
                </a:solidFill>
                <a:latin typeface="Arial"/>
              </a:rPr>
              <a:t> negative </a:t>
            </a:r>
            <a:r>
              <a:rPr lang="de-AT" sz="2000" b="0" strike="noStrike" spc="-1" dirty="0" err="1">
                <a:solidFill>
                  <a:srgbClr val="000000"/>
                </a:solidFill>
                <a:latin typeface="Arial"/>
              </a:rPr>
              <a:t>findings</a:t>
            </a:r>
            <a:r>
              <a:rPr lang="de-AT" sz="2000" b="0" strike="noStrike" spc="-1" dirty="0">
                <a:solidFill>
                  <a:srgbClr val="000000"/>
                </a:solidFill>
                <a:latin typeface="Arial"/>
              </a:rPr>
              <a:t>. </a:t>
            </a:r>
            <a:r>
              <a:rPr lang="de-AT" sz="2000" b="0" strike="noStrike" spc="-1" dirty="0" err="1">
                <a:solidFill>
                  <a:srgbClr val="000000"/>
                </a:solidFill>
                <a:latin typeface="Arial"/>
              </a:rPr>
              <a:t>If</a:t>
            </a:r>
            <a:r>
              <a:rPr lang="de-AT" sz="2000" b="0" strike="noStrike" spc="-1" dirty="0">
                <a:solidFill>
                  <a:srgbClr val="000000"/>
                </a:solidFill>
                <a:latin typeface="Arial"/>
              </a:rPr>
              <a:t> </a:t>
            </a:r>
            <a:r>
              <a:rPr lang="de-AT" sz="2000" b="0" strike="noStrike" spc="-1" dirty="0" err="1">
                <a:solidFill>
                  <a:srgbClr val="000000"/>
                </a:solidFill>
                <a:latin typeface="Arial"/>
              </a:rPr>
              <a:t>this</a:t>
            </a:r>
            <a:r>
              <a:rPr lang="de-AT" sz="2000" b="0" strike="noStrike" spc="-1" dirty="0">
                <a:solidFill>
                  <a:srgbClr val="000000"/>
                </a:solidFill>
                <a:latin typeface="Arial"/>
              </a:rPr>
              <a:t> </a:t>
            </a:r>
            <a:r>
              <a:rPr lang="de-AT" sz="2000" b="0" strike="noStrike" spc="-1" dirty="0" err="1">
                <a:solidFill>
                  <a:srgbClr val="000000"/>
                </a:solidFill>
                <a:latin typeface="Arial"/>
              </a:rPr>
              <a:t>happens</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average</a:t>
            </a:r>
            <a:r>
              <a:rPr lang="de-AT" sz="2000" b="0" strike="noStrike" spc="-1" dirty="0">
                <a:solidFill>
                  <a:srgbClr val="000000"/>
                </a:solidFill>
                <a:latin typeface="Arial"/>
              </a:rPr>
              <a:t> </a:t>
            </a:r>
            <a:r>
              <a:rPr lang="de-AT" sz="2000" b="0" strike="noStrike" spc="-1" dirty="0" err="1">
                <a:solidFill>
                  <a:srgbClr val="000000"/>
                </a:solidFill>
                <a:latin typeface="Arial"/>
              </a:rPr>
              <a:t>effect</a:t>
            </a:r>
            <a:r>
              <a:rPr lang="de-AT" sz="2000" b="0" strike="noStrike" spc="-1" dirty="0">
                <a:solidFill>
                  <a:srgbClr val="000000"/>
                </a:solidFill>
                <a:latin typeface="Arial"/>
              </a:rPr>
              <a:t> in </a:t>
            </a:r>
            <a:r>
              <a:rPr lang="de-AT" sz="2000" b="0" strike="noStrike" spc="-1" dirty="0" err="1">
                <a:solidFill>
                  <a:srgbClr val="000000"/>
                </a:solidFill>
                <a:latin typeface="Arial"/>
              </a:rPr>
              <a:t>the</a:t>
            </a:r>
            <a:r>
              <a:rPr lang="de-AT" sz="2000" b="0" strike="noStrike" spc="-1" dirty="0">
                <a:solidFill>
                  <a:srgbClr val="000000"/>
                </a:solidFill>
                <a:latin typeface="Arial"/>
              </a:rPr>
              <a:t> meta-analysis </a:t>
            </a:r>
            <a:r>
              <a:rPr lang="de-AT" sz="2000" b="0" strike="noStrike" spc="-1" dirty="0" err="1">
                <a:solidFill>
                  <a:srgbClr val="000000"/>
                </a:solidFill>
                <a:latin typeface="Arial"/>
              </a:rPr>
              <a:t>may</a:t>
            </a:r>
            <a:r>
              <a:rPr lang="de-AT" sz="2000" b="0" strike="noStrike" spc="-1" dirty="0">
                <a:solidFill>
                  <a:srgbClr val="000000"/>
                </a:solidFill>
                <a:latin typeface="Arial"/>
              </a:rPr>
              <a:t> </a:t>
            </a:r>
            <a:r>
              <a:rPr lang="de-AT" sz="2000" b="0" strike="noStrike" spc="-1" dirty="0" err="1">
                <a:solidFill>
                  <a:srgbClr val="000000"/>
                </a:solidFill>
                <a:latin typeface="Arial"/>
              </a:rPr>
              <a:t>be</a:t>
            </a:r>
            <a:r>
              <a:rPr lang="de-AT" sz="2000" b="0" strike="noStrike" spc="-1" dirty="0">
                <a:solidFill>
                  <a:srgbClr val="000000"/>
                </a:solidFill>
                <a:latin typeface="Arial"/>
              </a:rPr>
              <a:t> </a:t>
            </a:r>
            <a:r>
              <a:rPr lang="de-AT" sz="2000" b="0" strike="noStrike" spc="-1" dirty="0" err="1">
                <a:solidFill>
                  <a:srgbClr val="000000"/>
                </a:solidFill>
                <a:latin typeface="Arial"/>
              </a:rPr>
              <a:t>overestimated</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err="1">
                <a:solidFill>
                  <a:srgbClr val="000000"/>
                </a:solidFill>
                <a:latin typeface="Arial"/>
              </a:rPr>
              <a:t>Another</a:t>
            </a:r>
            <a:r>
              <a:rPr lang="de-AT" sz="2000" b="0" strike="noStrike" spc="-1" dirty="0">
                <a:solidFill>
                  <a:srgbClr val="000000"/>
                </a:solidFill>
                <a:latin typeface="Arial"/>
              </a:rPr>
              <a:t> </a:t>
            </a:r>
            <a:r>
              <a:rPr lang="de-AT" sz="2000" b="0" strike="noStrike" spc="-1" dirty="0" err="1">
                <a:solidFill>
                  <a:srgbClr val="000000"/>
                </a:solidFill>
                <a:latin typeface="Arial"/>
              </a:rPr>
              <a:t>issue</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small</a:t>
            </a:r>
            <a:r>
              <a:rPr lang="de-AT" sz="2000" b="0" strike="noStrike" spc="-1" dirty="0">
                <a:solidFill>
                  <a:srgbClr val="000000"/>
                </a:solidFill>
                <a:latin typeface="Arial"/>
              </a:rPr>
              <a:t> sample </a:t>
            </a:r>
            <a:r>
              <a:rPr lang="de-AT" sz="2000" b="0" strike="noStrike" spc="-1" dirty="0" err="1">
                <a:solidFill>
                  <a:srgbClr val="000000"/>
                </a:solidFill>
                <a:latin typeface="Arial"/>
              </a:rPr>
              <a:t>size</a:t>
            </a:r>
            <a:r>
              <a:rPr lang="de-AT" sz="2000" b="0" strike="noStrike" spc="-1" dirty="0">
                <a:solidFill>
                  <a:srgbClr val="000000"/>
                </a:solidFill>
                <a:latin typeface="Arial"/>
              </a:rPr>
              <a:t>. Some </a:t>
            </a:r>
            <a:r>
              <a:rPr lang="de-AT" sz="2000" b="0" strike="noStrike" spc="-1" dirty="0" err="1">
                <a:solidFill>
                  <a:srgbClr val="000000"/>
                </a:solidFill>
                <a:latin typeface="Arial"/>
              </a:rPr>
              <a:t>included</a:t>
            </a:r>
            <a:r>
              <a:rPr lang="de-AT" sz="2000" b="0" strike="noStrike" spc="-1" dirty="0">
                <a:solidFill>
                  <a:srgbClr val="000000"/>
                </a:solidFill>
                <a:latin typeface="Arial"/>
              </a:rPr>
              <a: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had</a:t>
            </a:r>
            <a:r>
              <a:rPr lang="de-AT" sz="2000" b="0" strike="noStrike" spc="-1" dirty="0">
                <a:solidFill>
                  <a:srgbClr val="000000"/>
                </a:solidFill>
                <a:latin typeface="Arial"/>
              </a:rPr>
              <a:t> </a:t>
            </a:r>
            <a:r>
              <a:rPr lang="de-AT" sz="2000" b="0" strike="noStrike" spc="-1" dirty="0" err="1">
                <a:solidFill>
                  <a:srgbClr val="000000"/>
                </a:solidFill>
                <a:latin typeface="Arial"/>
              </a:rPr>
              <a:t>relatively</a:t>
            </a:r>
            <a:r>
              <a:rPr lang="de-AT" sz="2000" b="0" strike="noStrike" spc="-1" dirty="0">
                <a:solidFill>
                  <a:srgbClr val="000000"/>
                </a:solidFill>
                <a:latin typeface="Arial"/>
              </a:rPr>
              <a:t> </a:t>
            </a:r>
            <a:r>
              <a:rPr lang="de-AT" sz="2000" b="0" strike="noStrike" spc="-1" dirty="0" err="1">
                <a:solidFill>
                  <a:srgbClr val="000000"/>
                </a:solidFill>
                <a:latin typeface="Arial"/>
              </a:rPr>
              <a:t>small</a:t>
            </a:r>
            <a:r>
              <a:rPr lang="de-AT" sz="2000" b="0" strike="noStrike" spc="-1" dirty="0">
                <a:solidFill>
                  <a:srgbClr val="000000"/>
                </a:solidFill>
                <a:latin typeface="Arial"/>
              </a:rPr>
              <a:t> </a:t>
            </a:r>
            <a:r>
              <a:rPr lang="de-AT" sz="2000" b="0" strike="noStrike" spc="-1" dirty="0" err="1">
                <a:solidFill>
                  <a:srgbClr val="000000"/>
                </a:solidFill>
                <a:latin typeface="Arial"/>
              </a:rPr>
              <a:t>samples</a:t>
            </a:r>
            <a:r>
              <a:rPr lang="de-AT" sz="2000" b="0" strike="noStrike" spc="-1" dirty="0">
                <a:solidFill>
                  <a:srgbClr val="000000"/>
                </a:solidFill>
                <a:latin typeface="Arial"/>
              </a:rPr>
              <a:t>, </a:t>
            </a:r>
            <a:r>
              <a:rPr lang="de-AT" sz="2000" b="0" strike="noStrike" spc="-1" dirty="0" err="1">
                <a:solidFill>
                  <a:srgbClr val="000000"/>
                </a:solidFill>
                <a:latin typeface="Arial"/>
              </a:rPr>
              <a:t>which</a:t>
            </a:r>
            <a:r>
              <a:rPr lang="de-AT" sz="2000" b="0" strike="noStrike" spc="-1" dirty="0">
                <a:solidFill>
                  <a:srgbClr val="000000"/>
                </a:solidFill>
                <a:latin typeface="Arial"/>
              </a:rPr>
              <a:t> </a:t>
            </a:r>
            <a:r>
              <a:rPr lang="de-AT" sz="2000" b="0" strike="noStrike" spc="-1" dirty="0" err="1">
                <a:solidFill>
                  <a:srgbClr val="000000"/>
                </a:solidFill>
                <a:latin typeface="Arial"/>
              </a:rPr>
              <a:t>can</a:t>
            </a:r>
            <a:r>
              <a:rPr lang="de-AT" sz="2000" b="0" strike="noStrike" spc="-1" dirty="0">
                <a:solidFill>
                  <a:srgbClr val="000000"/>
                </a:solidFill>
                <a:latin typeface="Arial"/>
              </a:rPr>
              <a:t> </a:t>
            </a:r>
            <a:r>
              <a:rPr lang="de-AT" sz="2000" b="0" strike="noStrike" spc="-1" dirty="0" err="1">
                <a:solidFill>
                  <a:srgbClr val="000000"/>
                </a:solidFill>
                <a:latin typeface="Arial"/>
              </a:rPr>
              <a:t>make</a:t>
            </a:r>
            <a:r>
              <a:rPr lang="de-AT" sz="2000" b="0" strike="noStrike" spc="-1" dirty="0">
                <a:solidFill>
                  <a:srgbClr val="000000"/>
                </a:solidFill>
                <a:latin typeface="Arial"/>
              </a:rPr>
              <a:t> </a:t>
            </a:r>
            <a:r>
              <a:rPr lang="de-AT" sz="2000" b="0" strike="noStrike" spc="-1" dirty="0" err="1">
                <a:solidFill>
                  <a:srgbClr val="000000"/>
                </a:solidFill>
                <a:latin typeface="Arial"/>
              </a:rPr>
              <a:t>results</a:t>
            </a:r>
            <a:r>
              <a:rPr lang="de-AT" sz="2000" b="0" strike="noStrike" spc="-1" dirty="0">
                <a:solidFill>
                  <a:srgbClr val="000000"/>
                </a:solidFill>
                <a:latin typeface="Arial"/>
              </a:rPr>
              <a:t> </a:t>
            </a:r>
            <a:r>
              <a:rPr lang="de-AT" sz="2000" b="0" strike="noStrike" spc="-1" dirty="0" err="1">
                <a:solidFill>
                  <a:srgbClr val="000000"/>
                </a:solidFill>
                <a:latin typeface="Arial"/>
              </a:rPr>
              <a:t>less</a:t>
            </a:r>
            <a:r>
              <a:rPr lang="de-AT" sz="2000" b="0" strike="noStrike" spc="-1" dirty="0">
                <a:solidFill>
                  <a:srgbClr val="000000"/>
                </a:solidFill>
                <a:latin typeface="Arial"/>
              </a:rPr>
              <a:t> </a:t>
            </a:r>
            <a:r>
              <a:rPr lang="de-AT" sz="2000" b="0" strike="noStrike" spc="-1" dirty="0" err="1">
                <a:solidFill>
                  <a:srgbClr val="000000"/>
                </a:solidFill>
                <a:latin typeface="Arial"/>
              </a:rPr>
              <a:t>stable</a:t>
            </a:r>
            <a:r>
              <a:rPr lang="de-AT" sz="2000" b="0" strike="noStrike" spc="-1" dirty="0">
                <a:solidFill>
                  <a:srgbClr val="000000"/>
                </a:solidFill>
                <a:latin typeface="Arial"/>
              </a:rPr>
              <a:t>, like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one</a:t>
            </a:r>
            <a:r>
              <a:rPr lang="de-AT" sz="2000" b="0" strike="noStrike" spc="-1" dirty="0">
                <a:solidFill>
                  <a:srgbClr val="000000"/>
                </a:solidFill>
                <a:latin typeface="Arial"/>
              </a:rPr>
              <a:t> I will </a:t>
            </a:r>
            <a:r>
              <a:rPr lang="de-AT" sz="2000" b="0" strike="noStrike" spc="-1" dirty="0" err="1">
                <a:solidFill>
                  <a:srgbClr val="000000"/>
                </a:solidFill>
                <a:latin typeface="Arial"/>
              </a:rPr>
              <a:t>present</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you</a:t>
            </a:r>
            <a:r>
              <a:rPr lang="de-AT" sz="2000" b="0" strike="noStrike" spc="-1" dirty="0">
                <a:solidFill>
                  <a:srgbClr val="000000"/>
                </a:solidFill>
                <a:latin typeface="Arial"/>
              </a:rPr>
              <a:t> </a:t>
            </a:r>
            <a:r>
              <a:rPr lang="de-AT" sz="2000" b="0" strike="noStrike" spc="-1" dirty="0" err="1">
                <a:solidFill>
                  <a:srgbClr val="000000"/>
                </a:solidFill>
                <a:latin typeface="Arial"/>
              </a:rPr>
              <a:t>where</a:t>
            </a:r>
            <a:r>
              <a:rPr lang="de-AT" sz="2000" b="0" strike="noStrike" spc="-1" dirty="0">
                <a:solidFill>
                  <a:srgbClr val="000000"/>
                </a:solidFill>
                <a:latin typeface="Arial"/>
              </a:rPr>
              <a:t> </a:t>
            </a:r>
            <a:r>
              <a:rPr lang="de-AT" sz="2000" b="0" strike="noStrike" spc="-1" dirty="0" err="1">
                <a:solidFill>
                  <a:srgbClr val="000000"/>
                </a:solidFill>
                <a:latin typeface="Arial"/>
              </a:rPr>
              <a:t>only</a:t>
            </a:r>
            <a:r>
              <a:rPr lang="de-AT" sz="2000" b="0" strike="noStrike" spc="-1" dirty="0">
                <a:solidFill>
                  <a:srgbClr val="000000"/>
                </a:solidFill>
                <a:latin typeface="Arial"/>
              </a:rPr>
              <a:t> 18 </a:t>
            </a:r>
            <a:r>
              <a:rPr lang="de-AT" sz="2000" b="0" strike="noStrike" spc="-1" dirty="0" err="1">
                <a:solidFill>
                  <a:srgbClr val="000000"/>
                </a:solidFill>
                <a:latin typeface="Arial"/>
              </a:rPr>
              <a:t>students</a:t>
            </a:r>
            <a:r>
              <a:rPr lang="de-AT" sz="2000" b="0" strike="noStrike" spc="-1" dirty="0">
                <a:solidFill>
                  <a:srgbClr val="000000"/>
                </a:solidFill>
                <a:latin typeface="Arial"/>
              </a:rPr>
              <a:t> </a:t>
            </a:r>
            <a:r>
              <a:rPr lang="de-AT" sz="2000" b="0" strike="noStrike" spc="-1" dirty="0" err="1">
                <a:solidFill>
                  <a:srgbClr val="000000"/>
                </a:solidFill>
                <a:latin typeface="Arial"/>
              </a:rPr>
              <a:t>took</a:t>
            </a:r>
            <a:r>
              <a:rPr lang="de-AT" sz="2000" b="0" strike="noStrike" spc="-1" dirty="0">
                <a:solidFill>
                  <a:srgbClr val="000000"/>
                </a:solidFill>
                <a:latin typeface="Arial"/>
              </a:rPr>
              <a:t> part. Small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can</a:t>
            </a:r>
            <a:r>
              <a:rPr lang="de-AT" sz="2000" b="0" strike="noStrike" spc="-1" dirty="0">
                <a:solidFill>
                  <a:srgbClr val="000000"/>
                </a:solidFill>
                <a:latin typeface="Arial"/>
              </a:rPr>
              <a:t> </a:t>
            </a:r>
            <a:r>
              <a:rPr lang="de-AT" sz="2000" b="0" strike="noStrike" spc="-1" dirty="0" err="1">
                <a:solidFill>
                  <a:srgbClr val="000000"/>
                </a:solidFill>
                <a:latin typeface="Arial"/>
              </a:rPr>
              <a:t>sometimes</a:t>
            </a:r>
            <a:r>
              <a:rPr lang="de-AT" sz="2000" b="0" strike="noStrike" spc="-1" dirty="0">
                <a:solidFill>
                  <a:srgbClr val="000000"/>
                </a:solidFill>
                <a:latin typeface="Arial"/>
              </a:rPr>
              <a:t> </a:t>
            </a:r>
            <a:r>
              <a:rPr lang="de-AT" sz="2000" b="0" strike="noStrike" spc="-1" dirty="0" err="1">
                <a:solidFill>
                  <a:srgbClr val="000000"/>
                </a:solidFill>
                <a:latin typeface="Arial"/>
              </a:rPr>
              <a:t>produce</a:t>
            </a:r>
            <a:r>
              <a:rPr lang="de-AT" sz="2000" b="0" strike="noStrike" spc="-1" dirty="0">
                <a:solidFill>
                  <a:srgbClr val="000000"/>
                </a:solidFill>
                <a:latin typeface="Arial"/>
              </a:rPr>
              <a:t> </a:t>
            </a:r>
            <a:r>
              <a:rPr lang="de-AT" sz="2000" b="0" strike="noStrike" spc="-1" dirty="0" err="1">
                <a:solidFill>
                  <a:srgbClr val="000000"/>
                </a:solidFill>
                <a:latin typeface="Arial"/>
              </a:rPr>
              <a:t>exaggerated</a:t>
            </a:r>
            <a:r>
              <a:rPr lang="de-AT" sz="2000" b="0" strike="noStrike" spc="-1" dirty="0">
                <a:solidFill>
                  <a:srgbClr val="000000"/>
                </a:solidFill>
                <a:latin typeface="Arial"/>
              </a:rPr>
              <a:t> </a:t>
            </a:r>
            <a:r>
              <a:rPr lang="de-AT" sz="2000" b="0" strike="noStrike" spc="-1" dirty="0" err="1">
                <a:solidFill>
                  <a:srgbClr val="000000"/>
                </a:solidFill>
                <a:latin typeface="Arial"/>
              </a:rPr>
              <a:t>effects</a:t>
            </a:r>
            <a:r>
              <a:rPr lang="de-AT" sz="2000" b="0" strike="noStrike" spc="-1" dirty="0">
                <a:solidFill>
                  <a:srgbClr val="000000"/>
                </a:solidFill>
                <a:latin typeface="Arial"/>
              </a:rPr>
              <a:t>, </a:t>
            </a:r>
            <a:r>
              <a:rPr lang="de-AT" sz="2000" b="0" strike="noStrike" spc="-1" dirty="0" err="1">
                <a:solidFill>
                  <a:srgbClr val="000000"/>
                </a:solidFill>
                <a:latin typeface="Arial"/>
              </a:rPr>
              <a:t>especially</a:t>
            </a:r>
            <a:r>
              <a:rPr lang="de-AT" sz="2000" b="0" strike="noStrike" spc="-1" dirty="0">
                <a:solidFill>
                  <a:srgbClr val="000000"/>
                </a:solidFill>
                <a:latin typeface="Arial"/>
              </a:rPr>
              <a:t> in a </a:t>
            </a:r>
            <a:r>
              <a:rPr lang="de-AT" sz="2000" b="0" strike="noStrike" spc="-1" dirty="0" err="1">
                <a:solidFill>
                  <a:srgbClr val="000000"/>
                </a:solidFill>
                <a:latin typeface="Arial"/>
              </a:rPr>
              <a:t>new</a:t>
            </a:r>
            <a:r>
              <a:rPr lang="de-AT" sz="2000" b="0" strike="noStrike" spc="-1" dirty="0">
                <a:solidFill>
                  <a:srgbClr val="000000"/>
                </a:solidFill>
                <a:latin typeface="Arial"/>
              </a:rPr>
              <a:t> and </a:t>
            </a:r>
            <a:r>
              <a:rPr lang="de-AT" sz="2000" b="0" strike="noStrike" spc="-1" dirty="0" err="1">
                <a:solidFill>
                  <a:srgbClr val="000000"/>
                </a:solidFill>
                <a:latin typeface="Arial"/>
              </a:rPr>
              <a:t>rapidly</a:t>
            </a:r>
            <a:r>
              <a:rPr lang="de-AT" sz="2000" b="0" strike="noStrike" spc="-1" dirty="0">
                <a:solidFill>
                  <a:srgbClr val="000000"/>
                </a:solidFill>
                <a:latin typeface="Arial"/>
              </a:rPr>
              <a:t> </a:t>
            </a:r>
            <a:r>
              <a:rPr lang="de-AT" sz="2000" b="0" strike="noStrike" spc="-1" dirty="0" err="1">
                <a:solidFill>
                  <a:srgbClr val="000000"/>
                </a:solidFill>
                <a:latin typeface="Arial"/>
              </a:rPr>
              <a:t>developing</a:t>
            </a:r>
            <a:r>
              <a:rPr lang="de-AT" sz="2000" b="0" strike="noStrike" spc="-1" dirty="0">
                <a:solidFill>
                  <a:srgbClr val="000000"/>
                </a:solidFill>
                <a:latin typeface="Arial"/>
              </a:rPr>
              <a:t> </a:t>
            </a:r>
            <a:r>
              <a:rPr lang="de-AT" sz="2000" b="0" strike="noStrike" spc="-1" dirty="0" err="1">
                <a:solidFill>
                  <a:srgbClr val="000000"/>
                </a:solidFill>
                <a:latin typeface="Arial"/>
              </a:rPr>
              <a:t>research</a:t>
            </a:r>
            <a:r>
              <a:rPr lang="de-AT" sz="2000" b="0" strike="noStrike" spc="-1" dirty="0">
                <a:solidFill>
                  <a:srgbClr val="000000"/>
                </a:solidFill>
                <a:latin typeface="Arial"/>
              </a:rPr>
              <a:t> </a:t>
            </a:r>
            <a:r>
              <a:rPr lang="de-AT" sz="2000" b="0" strike="noStrike" spc="-1" dirty="0" err="1">
                <a:solidFill>
                  <a:srgbClr val="000000"/>
                </a:solidFill>
                <a:latin typeface="Arial"/>
              </a:rPr>
              <a:t>area</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A </a:t>
            </a:r>
            <a:r>
              <a:rPr lang="de-AT" sz="2000" b="0" strike="noStrike" spc="-1" dirty="0" err="1">
                <a:solidFill>
                  <a:srgbClr val="000000"/>
                </a:solidFill>
                <a:latin typeface="Arial"/>
              </a:rPr>
              <a:t>further</a:t>
            </a:r>
            <a:r>
              <a:rPr lang="de-AT" sz="2000" b="0" strike="noStrike" spc="-1" dirty="0">
                <a:solidFill>
                  <a:srgbClr val="000000"/>
                </a:solidFill>
                <a:latin typeface="Arial"/>
              </a:rPr>
              <a:t> possible </a:t>
            </a:r>
            <a:r>
              <a:rPr lang="de-AT" sz="2000" b="0" strike="noStrike" spc="-1" dirty="0" err="1">
                <a:solidFill>
                  <a:srgbClr val="000000"/>
                </a:solidFill>
                <a:latin typeface="Arial"/>
              </a:rPr>
              <a:t>bias</a:t>
            </a:r>
            <a:r>
              <a:rPr lang="de-AT" sz="2000" b="0" strike="noStrike" spc="-1" dirty="0">
                <a:solidFill>
                  <a:srgbClr val="000000"/>
                </a:solidFill>
                <a:latin typeface="Arial"/>
              </a:rPr>
              <a: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novelty</a:t>
            </a:r>
            <a:r>
              <a:rPr lang="de-AT" sz="2000" b="0" strike="noStrike" spc="-1" dirty="0">
                <a:solidFill>
                  <a:srgbClr val="000000"/>
                </a:solidFill>
                <a:latin typeface="Arial"/>
              </a:rPr>
              <a:t> </a:t>
            </a:r>
            <a:r>
              <a:rPr lang="de-AT" sz="2000" b="0" strike="noStrike" spc="-1" dirty="0" err="1">
                <a:solidFill>
                  <a:srgbClr val="000000"/>
                </a:solidFill>
                <a:latin typeface="Arial"/>
              </a:rPr>
              <a:t>effect</a:t>
            </a:r>
            <a:r>
              <a:rPr lang="de-AT" sz="2000" b="0" strike="noStrike" spc="-1" dirty="0">
                <a:solidFill>
                  <a:srgbClr val="000000"/>
                </a:solidFill>
                <a:latin typeface="Arial"/>
              </a:rPr>
              <a:t>. </a:t>
            </a:r>
            <a:r>
              <a:rPr lang="de-AT" sz="2000" b="0" strike="noStrike" spc="-1" dirty="0" err="1">
                <a:solidFill>
                  <a:srgbClr val="000000"/>
                </a:solidFill>
                <a:latin typeface="Arial"/>
              </a:rPr>
              <a:t>Students</a:t>
            </a:r>
            <a:r>
              <a:rPr lang="de-AT" sz="2000" b="0" strike="noStrike" spc="-1" dirty="0">
                <a:solidFill>
                  <a:srgbClr val="000000"/>
                </a:solidFill>
                <a:latin typeface="Arial"/>
              </a:rPr>
              <a:t> </a:t>
            </a:r>
            <a:r>
              <a:rPr lang="de-AT" sz="2000" b="0" strike="noStrike" spc="-1" dirty="0" err="1">
                <a:solidFill>
                  <a:srgbClr val="000000"/>
                </a:solidFill>
                <a:latin typeface="Arial"/>
              </a:rPr>
              <a:t>may</a:t>
            </a:r>
            <a:r>
              <a:rPr lang="de-AT" sz="2000" b="0" strike="noStrike" spc="-1" dirty="0">
                <a:solidFill>
                  <a:srgbClr val="000000"/>
                </a:solidFill>
                <a:latin typeface="Arial"/>
              </a:rPr>
              <a:t> </a:t>
            </a:r>
            <a:r>
              <a:rPr lang="de-AT" sz="2000" b="0" strike="noStrike" spc="-1" dirty="0" err="1">
                <a:solidFill>
                  <a:srgbClr val="000000"/>
                </a:solidFill>
                <a:latin typeface="Arial"/>
              </a:rPr>
              <a:t>be</a:t>
            </a:r>
            <a:r>
              <a:rPr lang="de-AT" sz="2000" b="0" strike="noStrike" spc="-1" dirty="0">
                <a:solidFill>
                  <a:srgbClr val="000000"/>
                </a:solidFill>
                <a:latin typeface="Arial"/>
              </a:rPr>
              <a:t> </a:t>
            </a:r>
            <a:r>
              <a:rPr lang="de-AT" sz="2000" b="0" strike="noStrike" spc="-1" dirty="0" err="1">
                <a:solidFill>
                  <a:srgbClr val="000000"/>
                </a:solidFill>
                <a:latin typeface="Arial"/>
              </a:rPr>
              <a:t>more</a:t>
            </a:r>
            <a:r>
              <a:rPr lang="de-AT" sz="2000" b="0" strike="noStrike" spc="-1" dirty="0">
                <a:solidFill>
                  <a:srgbClr val="000000"/>
                </a:solidFill>
                <a:latin typeface="Arial"/>
              </a:rPr>
              <a:t> </a:t>
            </a:r>
            <a:r>
              <a:rPr lang="de-AT" sz="2000" b="0" strike="noStrike" spc="-1" dirty="0" err="1">
                <a:solidFill>
                  <a:srgbClr val="000000"/>
                </a:solidFill>
                <a:latin typeface="Arial"/>
              </a:rPr>
              <a:t>motivated</a:t>
            </a:r>
            <a:r>
              <a:rPr lang="de-AT" sz="2000" b="0" strike="noStrike" spc="-1" dirty="0">
                <a:solidFill>
                  <a:srgbClr val="000000"/>
                </a:solidFill>
                <a:latin typeface="Arial"/>
              </a:rPr>
              <a:t> </a:t>
            </a:r>
            <a:r>
              <a:rPr lang="de-AT" sz="2000" b="0" strike="noStrike" spc="-1" dirty="0" err="1">
                <a:solidFill>
                  <a:srgbClr val="000000"/>
                </a:solidFill>
                <a:latin typeface="Arial"/>
              </a:rPr>
              <a:t>simply</a:t>
            </a:r>
            <a:r>
              <a:rPr lang="de-AT" sz="2000" b="0" strike="noStrike" spc="-1" dirty="0">
                <a:solidFill>
                  <a:srgbClr val="000000"/>
                </a:solidFill>
                <a:latin typeface="Arial"/>
              </a:rPr>
              <a:t> </a:t>
            </a:r>
            <a:r>
              <a:rPr lang="de-AT" sz="2000" b="0" strike="noStrike" spc="-1" dirty="0" err="1">
                <a:solidFill>
                  <a:srgbClr val="000000"/>
                </a:solidFill>
                <a:latin typeface="Arial"/>
              </a:rPr>
              <a:t>because</a:t>
            </a:r>
            <a:r>
              <a:rPr lang="de-AT" sz="2000" b="0" strike="noStrike" spc="-1" dirty="0">
                <a:solidFill>
                  <a:srgbClr val="000000"/>
                </a:solidFill>
                <a:latin typeface="Arial"/>
              </a:rPr>
              <a:t> ChatGPT </a:t>
            </a:r>
            <a:r>
              <a:rPr lang="de-AT" sz="2000" b="0" strike="noStrike" spc="-1" dirty="0" err="1">
                <a:solidFill>
                  <a:srgbClr val="000000"/>
                </a:solidFill>
                <a:latin typeface="Arial"/>
              </a:rPr>
              <a:t>is</a:t>
            </a:r>
            <a:r>
              <a:rPr lang="de-AT" sz="2000" b="0" strike="noStrike" spc="-1" dirty="0">
                <a:solidFill>
                  <a:srgbClr val="000000"/>
                </a:solidFill>
                <a:latin typeface="Arial"/>
              </a:rPr>
              <a:t> </a:t>
            </a:r>
            <a:r>
              <a:rPr lang="de-AT" sz="2000" b="0" strike="noStrike" spc="-1" dirty="0" err="1">
                <a:solidFill>
                  <a:srgbClr val="000000"/>
                </a:solidFill>
                <a:latin typeface="Arial"/>
              </a:rPr>
              <a:t>new</a:t>
            </a:r>
            <a:r>
              <a:rPr lang="de-AT" sz="2000" b="0" strike="noStrike" spc="-1" dirty="0">
                <a:solidFill>
                  <a:srgbClr val="000000"/>
                </a:solidFill>
                <a:latin typeface="Arial"/>
              </a:rPr>
              <a:t> and </a:t>
            </a:r>
            <a:r>
              <a:rPr lang="de-AT" sz="2000" b="0" strike="noStrike" spc="-1" dirty="0" err="1">
                <a:solidFill>
                  <a:srgbClr val="000000"/>
                </a:solidFill>
                <a:latin typeface="Arial"/>
              </a:rPr>
              <a:t>interesting</a:t>
            </a:r>
            <a:r>
              <a:rPr lang="de-AT" sz="2000" b="0" strike="noStrike" spc="-1" dirty="0">
                <a:solidFill>
                  <a:srgbClr val="000000"/>
                </a:solidFill>
                <a:latin typeface="Arial"/>
              </a:rPr>
              <a:t>. In </a:t>
            </a:r>
            <a:r>
              <a:rPr lang="de-AT" sz="2000" b="0" strike="noStrike" spc="-1" dirty="0" err="1">
                <a:solidFill>
                  <a:srgbClr val="000000"/>
                </a:solidFill>
                <a:latin typeface="Arial"/>
              </a:rPr>
              <a:t>that</a:t>
            </a:r>
            <a:r>
              <a:rPr lang="de-AT" sz="2000" b="0" strike="noStrike" spc="-1" dirty="0">
                <a:solidFill>
                  <a:srgbClr val="000000"/>
                </a:solidFill>
                <a:latin typeface="Arial"/>
              </a:rPr>
              <a:t> </a:t>
            </a:r>
            <a:r>
              <a:rPr lang="de-AT" sz="2000" b="0" strike="noStrike" spc="-1" dirty="0" err="1">
                <a:solidFill>
                  <a:srgbClr val="000000"/>
                </a:solidFill>
                <a:latin typeface="Arial"/>
              </a:rPr>
              <a:t>case</a:t>
            </a:r>
            <a:r>
              <a:rPr lang="de-AT" sz="2000" b="0" strike="noStrike" spc="-1" dirty="0">
                <a:solidFill>
                  <a:srgbClr val="000000"/>
                </a:solidFill>
                <a:latin typeface="Arial"/>
              </a:rPr>
              <a:t>, </a:t>
            </a:r>
            <a:r>
              <a:rPr lang="de-AT" sz="2000" b="0" strike="noStrike" spc="-1" dirty="0" err="1">
                <a:solidFill>
                  <a:srgbClr val="000000"/>
                </a:solidFill>
                <a:latin typeface="Arial"/>
              </a:rPr>
              <a:t>some</a:t>
            </a:r>
            <a:r>
              <a:rPr lang="de-AT" sz="2000" b="0" strike="noStrike" spc="-1" dirty="0">
                <a:solidFill>
                  <a:srgbClr val="000000"/>
                </a:solidFill>
                <a:latin typeface="Arial"/>
              </a:rPr>
              <a:t> positive </a:t>
            </a:r>
            <a:r>
              <a:rPr lang="de-AT" sz="2000" b="0" strike="noStrike" spc="-1" dirty="0" err="1">
                <a:solidFill>
                  <a:srgbClr val="000000"/>
                </a:solidFill>
                <a:latin typeface="Arial"/>
              </a:rPr>
              <a:t>effects</a:t>
            </a:r>
            <a:r>
              <a:rPr lang="de-AT" sz="2000" b="0" strike="noStrike" spc="-1" dirty="0">
                <a:solidFill>
                  <a:srgbClr val="000000"/>
                </a:solidFill>
                <a:latin typeface="Arial"/>
              </a:rPr>
              <a:t> </a:t>
            </a:r>
            <a:r>
              <a:rPr lang="de-AT" sz="2000" b="0" strike="noStrike" spc="-1" dirty="0" err="1">
                <a:solidFill>
                  <a:srgbClr val="000000"/>
                </a:solidFill>
                <a:latin typeface="Arial"/>
              </a:rPr>
              <a:t>might</a:t>
            </a:r>
            <a:r>
              <a:rPr lang="de-AT" sz="2000" b="0" strike="noStrike" spc="-1" dirty="0">
                <a:solidFill>
                  <a:srgbClr val="000000"/>
                </a:solidFill>
                <a:latin typeface="Arial"/>
              </a:rPr>
              <a:t> </a:t>
            </a:r>
            <a:r>
              <a:rPr lang="de-AT" sz="2000" b="0" strike="noStrike" spc="-1" dirty="0" err="1">
                <a:solidFill>
                  <a:srgbClr val="000000"/>
                </a:solidFill>
                <a:latin typeface="Arial"/>
              </a:rPr>
              <a:t>reflect</a:t>
            </a:r>
            <a:r>
              <a:rPr lang="de-AT" sz="2000" b="0" strike="noStrike" spc="-1" dirty="0">
                <a:solidFill>
                  <a:srgbClr val="000000"/>
                </a:solidFill>
                <a:latin typeface="Arial"/>
              </a:rPr>
              <a:t> </a:t>
            </a:r>
            <a:r>
              <a:rPr lang="de-AT" sz="2000" b="0" strike="noStrike" spc="-1" dirty="0" err="1">
                <a:solidFill>
                  <a:srgbClr val="000000"/>
                </a:solidFill>
                <a:latin typeface="Arial"/>
              </a:rPr>
              <a:t>curiosity</a:t>
            </a:r>
            <a:r>
              <a:rPr lang="de-AT" sz="2000" b="0" strike="noStrike" spc="-1" dirty="0">
                <a:solidFill>
                  <a:srgbClr val="000000"/>
                </a:solidFill>
                <a:latin typeface="Arial"/>
              </a:rPr>
              <a:t> </a:t>
            </a:r>
            <a:r>
              <a:rPr lang="de-AT" sz="2000" b="0" strike="noStrike" spc="-1" dirty="0" err="1">
                <a:solidFill>
                  <a:srgbClr val="000000"/>
                </a:solidFill>
                <a:latin typeface="Arial"/>
              </a:rPr>
              <a:t>or</a:t>
            </a:r>
            <a:r>
              <a:rPr lang="de-AT" sz="2000" b="0" strike="noStrike" spc="-1" dirty="0">
                <a:solidFill>
                  <a:srgbClr val="000000"/>
                </a:solidFill>
                <a:latin typeface="Arial"/>
              </a:rPr>
              <a:t> </a:t>
            </a:r>
            <a:r>
              <a:rPr lang="de-AT" sz="2000" b="0" strike="noStrike" spc="-1" dirty="0" err="1">
                <a:solidFill>
                  <a:srgbClr val="000000"/>
                </a:solidFill>
                <a:latin typeface="Arial"/>
              </a:rPr>
              <a:t>excitement</a:t>
            </a:r>
            <a:r>
              <a:rPr lang="de-AT" sz="2000" b="0" strike="noStrike" spc="-1" dirty="0">
                <a:solidFill>
                  <a:srgbClr val="000000"/>
                </a:solidFill>
                <a:latin typeface="Arial"/>
              </a:rPr>
              <a:t> </a:t>
            </a:r>
            <a:r>
              <a:rPr lang="de-AT" sz="2000" b="0" strike="noStrike" spc="-1" dirty="0" err="1">
                <a:solidFill>
                  <a:srgbClr val="000000"/>
                </a:solidFill>
                <a:latin typeface="Arial"/>
              </a:rPr>
              <a:t>rather</a:t>
            </a:r>
            <a:r>
              <a:rPr lang="de-AT" sz="2000" b="0" strike="noStrike" spc="-1" dirty="0">
                <a:solidFill>
                  <a:srgbClr val="000000"/>
                </a:solidFill>
                <a:latin typeface="Arial"/>
              </a:rPr>
              <a:t> </a:t>
            </a:r>
            <a:r>
              <a:rPr lang="de-AT" sz="2000" b="0" strike="noStrike" spc="-1" dirty="0" err="1">
                <a:solidFill>
                  <a:srgbClr val="000000"/>
                </a:solidFill>
                <a:latin typeface="Arial"/>
              </a:rPr>
              <a:t>than</a:t>
            </a:r>
            <a:r>
              <a:rPr lang="de-AT" sz="2000" b="0" strike="noStrike" spc="-1" dirty="0">
                <a:solidFill>
                  <a:srgbClr val="000000"/>
                </a:solidFill>
                <a:latin typeface="Arial"/>
              </a:rPr>
              <a:t> a </a:t>
            </a:r>
            <a:r>
              <a:rPr lang="de-AT" sz="2000" b="0" strike="noStrike" spc="-1" dirty="0" err="1">
                <a:solidFill>
                  <a:srgbClr val="000000"/>
                </a:solidFill>
                <a:latin typeface="Arial"/>
              </a:rPr>
              <a:t>stable</a:t>
            </a:r>
            <a:r>
              <a:rPr lang="de-AT" sz="2000" b="0" strike="noStrike" spc="-1" dirty="0">
                <a:solidFill>
                  <a:srgbClr val="000000"/>
                </a:solidFill>
                <a:latin typeface="Arial"/>
              </a:rPr>
              <a:t> </a:t>
            </a:r>
            <a:r>
              <a:rPr lang="de-AT" sz="2000" b="0" strike="noStrike" spc="-1" dirty="0" err="1">
                <a:solidFill>
                  <a:srgbClr val="000000"/>
                </a:solidFill>
                <a:latin typeface="Arial"/>
              </a:rPr>
              <a:t>educational</a:t>
            </a:r>
            <a:r>
              <a:rPr lang="de-AT" sz="2000" b="0" strike="noStrike" spc="-1" dirty="0">
                <a:solidFill>
                  <a:srgbClr val="000000"/>
                </a:solidFill>
                <a:latin typeface="Arial"/>
              </a:rPr>
              <a:t> </a:t>
            </a:r>
            <a:r>
              <a:rPr lang="de-AT" sz="2000" b="0" strike="noStrike" spc="-1" dirty="0" err="1">
                <a:solidFill>
                  <a:srgbClr val="000000"/>
                </a:solidFill>
                <a:latin typeface="Arial"/>
              </a:rPr>
              <a:t>benefit</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err="1">
                <a:solidFill>
                  <a:srgbClr val="000000"/>
                </a:solidFill>
                <a:latin typeface="Arial"/>
              </a:rPr>
              <a:t>Finally</a:t>
            </a:r>
            <a:r>
              <a:rPr lang="de-AT" sz="2000" b="0" strike="noStrike" spc="-1" dirty="0">
                <a:solidFill>
                  <a:srgbClr val="000000"/>
                </a:solidFill>
                <a:latin typeface="Arial"/>
              </a:rPr>
              <a:t>, different </a:t>
            </a:r>
            <a:r>
              <a:rPr lang="de-AT" sz="2000" b="0" strike="noStrike" spc="-1" dirty="0" err="1">
                <a:solidFill>
                  <a:srgbClr val="000000"/>
                </a:solidFill>
                <a:latin typeface="Arial"/>
              </a:rPr>
              <a:t>studies</a:t>
            </a:r>
            <a:r>
              <a:rPr lang="de-AT" sz="2000" b="0" strike="noStrike" spc="-1" dirty="0">
                <a:solidFill>
                  <a:srgbClr val="000000"/>
                </a:solidFill>
                <a:latin typeface="Arial"/>
              </a:rPr>
              <a:t> </a:t>
            </a:r>
            <a:r>
              <a:rPr lang="de-AT" sz="2000" b="0" strike="noStrike" spc="-1" dirty="0" err="1">
                <a:solidFill>
                  <a:srgbClr val="000000"/>
                </a:solidFill>
                <a:latin typeface="Arial"/>
              </a:rPr>
              <a:t>used</a:t>
            </a:r>
            <a:r>
              <a:rPr lang="de-AT" sz="2000" b="0" strike="noStrike" spc="-1" dirty="0">
                <a:solidFill>
                  <a:srgbClr val="000000"/>
                </a:solidFill>
                <a:latin typeface="Arial"/>
              </a:rPr>
              <a:t> different </a:t>
            </a:r>
            <a:r>
              <a:rPr lang="de-AT" sz="2000" b="0" strike="noStrike" spc="-1" dirty="0" err="1">
                <a:solidFill>
                  <a:srgbClr val="000000"/>
                </a:solidFill>
                <a:latin typeface="Arial"/>
              </a:rPr>
              <a:t>versions</a:t>
            </a:r>
            <a:r>
              <a:rPr lang="de-AT" sz="2000" b="0" strike="noStrike" spc="-1" dirty="0">
                <a:solidFill>
                  <a:srgbClr val="000000"/>
                </a:solidFill>
                <a:latin typeface="Arial"/>
              </a:rPr>
              <a:t> and </a:t>
            </a:r>
            <a:r>
              <a:rPr lang="de-AT" sz="2000" b="0" strike="noStrike" spc="-1" dirty="0" err="1">
                <a:solidFill>
                  <a:srgbClr val="000000"/>
                </a:solidFill>
                <a:latin typeface="Arial"/>
              </a:rPr>
              <a:t>implementations</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ChatGPT. Some </a:t>
            </a:r>
            <a:r>
              <a:rPr lang="de-AT" sz="2000" b="0" strike="noStrike" spc="-1" dirty="0" err="1">
                <a:solidFill>
                  <a:srgbClr val="000000"/>
                </a:solidFill>
                <a:latin typeface="Arial"/>
              </a:rPr>
              <a:t>students</a:t>
            </a:r>
            <a:r>
              <a:rPr lang="de-AT" sz="2000" b="0" strike="noStrike" spc="-1" dirty="0">
                <a:solidFill>
                  <a:srgbClr val="000000"/>
                </a:solidFill>
                <a:latin typeface="Arial"/>
              </a:rPr>
              <a:t> </a:t>
            </a:r>
            <a:r>
              <a:rPr lang="de-AT" sz="2000" b="0" strike="noStrike" spc="-1" dirty="0" err="1">
                <a:solidFill>
                  <a:srgbClr val="000000"/>
                </a:solidFill>
                <a:latin typeface="Arial"/>
              </a:rPr>
              <a:t>used</a:t>
            </a:r>
            <a:r>
              <a:rPr lang="de-AT" sz="2000" b="0" strike="noStrike" spc="-1" dirty="0">
                <a:solidFill>
                  <a:srgbClr val="000000"/>
                </a:solidFill>
                <a:latin typeface="Arial"/>
              </a:rPr>
              <a:t> ChatGPT </a:t>
            </a:r>
            <a:r>
              <a:rPr lang="de-AT" sz="2000" b="0" strike="noStrike" spc="-1" dirty="0" err="1">
                <a:solidFill>
                  <a:srgbClr val="000000"/>
                </a:solidFill>
                <a:latin typeface="Arial"/>
              </a:rPr>
              <a:t>directly</a:t>
            </a:r>
            <a:r>
              <a:rPr lang="de-AT" sz="2000" b="0" strike="noStrike" spc="-1" dirty="0">
                <a:solidFill>
                  <a:srgbClr val="000000"/>
                </a:solidFill>
                <a:latin typeface="Arial"/>
              </a:rPr>
              <a:t>, </a:t>
            </a:r>
            <a:r>
              <a:rPr lang="de-AT" sz="2000" b="0" strike="noStrike" spc="-1" dirty="0" err="1">
                <a:solidFill>
                  <a:srgbClr val="000000"/>
                </a:solidFill>
                <a:latin typeface="Arial"/>
              </a:rPr>
              <a:t>while</a:t>
            </a:r>
            <a:r>
              <a:rPr lang="de-AT" sz="2000" b="0" strike="noStrike" spc="-1" dirty="0">
                <a:solidFill>
                  <a:srgbClr val="000000"/>
                </a:solidFill>
                <a:latin typeface="Arial"/>
              </a:rPr>
              <a:t> </a:t>
            </a:r>
            <a:r>
              <a:rPr lang="de-AT" sz="2000" b="0" strike="noStrike" spc="-1" dirty="0" err="1">
                <a:solidFill>
                  <a:srgbClr val="000000"/>
                </a:solidFill>
                <a:latin typeface="Arial"/>
              </a:rPr>
              <a:t>others</a:t>
            </a:r>
            <a:r>
              <a:rPr lang="de-AT" sz="2000" b="0" strike="noStrike" spc="-1" dirty="0">
                <a:solidFill>
                  <a:srgbClr val="000000"/>
                </a:solidFill>
                <a:latin typeface="Arial"/>
              </a:rPr>
              <a:t> </a:t>
            </a:r>
            <a:r>
              <a:rPr lang="de-AT" sz="2000" b="0" strike="noStrike" spc="-1" dirty="0" err="1">
                <a:solidFill>
                  <a:srgbClr val="000000"/>
                </a:solidFill>
                <a:latin typeface="Arial"/>
              </a:rPr>
              <a:t>used</a:t>
            </a:r>
            <a:r>
              <a:rPr lang="de-AT" sz="2000" b="0" strike="noStrike" spc="-1" dirty="0">
                <a:solidFill>
                  <a:srgbClr val="000000"/>
                </a:solidFill>
                <a:latin typeface="Arial"/>
              </a:rPr>
              <a:t> </a:t>
            </a:r>
            <a:r>
              <a:rPr lang="de-AT" sz="2000" b="0" strike="noStrike" spc="-1" dirty="0" err="1">
                <a:solidFill>
                  <a:srgbClr val="000000"/>
                </a:solidFill>
                <a:latin typeface="Arial"/>
              </a:rPr>
              <a:t>tools</a:t>
            </a:r>
            <a:r>
              <a:rPr lang="de-AT" sz="2000" b="0" strike="noStrike" spc="-1" dirty="0">
                <a:solidFill>
                  <a:srgbClr val="000000"/>
                </a:solidFill>
                <a:latin typeface="Arial"/>
              </a:rPr>
              <a:t> </a:t>
            </a:r>
            <a:r>
              <a:rPr lang="de-AT" sz="2000" b="0" strike="noStrike" spc="-1" dirty="0" err="1">
                <a:solidFill>
                  <a:srgbClr val="000000"/>
                </a:solidFill>
                <a:latin typeface="Arial"/>
              </a:rPr>
              <a:t>based</a:t>
            </a:r>
            <a:r>
              <a:rPr lang="de-AT" sz="2000" b="0" strike="noStrike" spc="-1" dirty="0">
                <a:solidFill>
                  <a:srgbClr val="000000"/>
                </a:solidFill>
                <a:latin typeface="Arial"/>
              </a:rPr>
              <a:t> on ChatGPT. This </a:t>
            </a:r>
            <a:r>
              <a:rPr lang="de-AT" sz="2000" b="0" strike="noStrike" spc="-1" dirty="0" err="1">
                <a:solidFill>
                  <a:srgbClr val="000000"/>
                </a:solidFill>
                <a:latin typeface="Arial"/>
              </a:rPr>
              <a:t>makes</a:t>
            </a:r>
            <a:r>
              <a:rPr lang="de-AT" sz="2000" b="0" strike="noStrike" spc="-1" dirty="0">
                <a:solidFill>
                  <a:srgbClr val="000000"/>
                </a:solidFill>
                <a:latin typeface="Arial"/>
              </a:rPr>
              <a:t> </a:t>
            </a:r>
            <a:r>
              <a:rPr lang="de-AT" sz="2000" b="0" strike="noStrike" spc="-1" dirty="0" err="1">
                <a:solidFill>
                  <a:srgbClr val="000000"/>
                </a:solidFill>
                <a:latin typeface="Arial"/>
              </a:rPr>
              <a:t>it</a:t>
            </a:r>
            <a:r>
              <a:rPr lang="de-AT" sz="2000" b="0" strike="noStrike" spc="-1" dirty="0">
                <a:solidFill>
                  <a:srgbClr val="000000"/>
                </a:solidFill>
                <a:latin typeface="Arial"/>
              </a:rPr>
              <a:t> </a:t>
            </a:r>
            <a:r>
              <a:rPr lang="de-AT" sz="2000" b="0" strike="noStrike" spc="-1" dirty="0" err="1">
                <a:solidFill>
                  <a:srgbClr val="000000"/>
                </a:solidFill>
                <a:latin typeface="Arial"/>
              </a:rPr>
              <a:t>difficult</a:t>
            </a:r>
            <a:r>
              <a:rPr lang="de-AT" sz="2000" b="0" strike="noStrike" spc="-1" dirty="0">
                <a:solidFill>
                  <a:srgbClr val="000000"/>
                </a:solidFill>
                <a:latin typeface="Arial"/>
              </a:rPr>
              <a:t> </a:t>
            </a:r>
            <a:r>
              <a:rPr lang="de-AT" sz="2000" b="0" strike="noStrike" spc="-1" dirty="0" err="1">
                <a:solidFill>
                  <a:srgbClr val="000000"/>
                </a:solidFill>
                <a:latin typeface="Arial"/>
              </a:rPr>
              <a:t>to</a:t>
            </a:r>
            <a:r>
              <a:rPr lang="de-AT" sz="2000" b="0" strike="noStrike" spc="-1" dirty="0">
                <a:solidFill>
                  <a:srgbClr val="000000"/>
                </a:solidFill>
                <a:latin typeface="Arial"/>
              </a:rPr>
              <a:t> </a:t>
            </a:r>
            <a:r>
              <a:rPr lang="de-AT" sz="2000" b="0" strike="noStrike" spc="-1" dirty="0" err="1">
                <a:solidFill>
                  <a:srgbClr val="000000"/>
                </a:solidFill>
                <a:latin typeface="Arial"/>
              </a:rPr>
              <a:t>know</a:t>
            </a:r>
            <a:r>
              <a:rPr lang="de-AT" sz="2000" b="0" strike="noStrike" spc="-1" dirty="0">
                <a:solidFill>
                  <a:srgbClr val="000000"/>
                </a:solidFill>
                <a:latin typeface="Arial"/>
              </a:rPr>
              <a:t> </a:t>
            </a:r>
            <a:r>
              <a:rPr lang="de-AT" sz="2000" b="0" strike="noStrike" spc="-1" dirty="0" err="1">
                <a:solidFill>
                  <a:srgbClr val="000000"/>
                </a:solidFill>
                <a:latin typeface="Arial"/>
              </a:rPr>
              <a:t>whether</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observed</a:t>
            </a:r>
            <a:r>
              <a:rPr lang="de-AT" sz="2000" b="0" strike="noStrike" spc="-1" dirty="0">
                <a:solidFill>
                  <a:srgbClr val="000000"/>
                </a:solidFill>
                <a:latin typeface="Arial"/>
              </a:rPr>
              <a:t> </a:t>
            </a:r>
            <a:r>
              <a:rPr lang="de-AT" sz="2000" b="0" strike="noStrike" spc="-1" dirty="0" err="1">
                <a:solidFill>
                  <a:srgbClr val="000000"/>
                </a:solidFill>
                <a:latin typeface="Arial"/>
              </a:rPr>
              <a:t>effects</a:t>
            </a:r>
            <a:r>
              <a:rPr lang="de-AT" sz="2000" b="0" strike="noStrike" spc="-1" dirty="0">
                <a:solidFill>
                  <a:srgbClr val="000000"/>
                </a:solidFill>
                <a:latin typeface="Arial"/>
              </a:rPr>
              <a:t> </a:t>
            </a:r>
            <a:r>
              <a:rPr lang="de-AT" sz="2000" b="0" strike="noStrike" spc="-1" dirty="0" err="1">
                <a:solidFill>
                  <a:srgbClr val="000000"/>
                </a:solidFill>
                <a:latin typeface="Arial"/>
              </a:rPr>
              <a:t>come</a:t>
            </a:r>
            <a:r>
              <a:rPr lang="de-AT" sz="2000" b="0" strike="noStrike" spc="-1" dirty="0">
                <a:solidFill>
                  <a:srgbClr val="000000"/>
                </a:solidFill>
                <a:latin typeface="Arial"/>
              </a:rPr>
              <a:t> </a:t>
            </a:r>
            <a:r>
              <a:rPr lang="de-AT" sz="2000" b="0" strike="noStrike" spc="-1" dirty="0" err="1">
                <a:solidFill>
                  <a:srgbClr val="000000"/>
                </a:solidFill>
                <a:latin typeface="Arial"/>
              </a:rPr>
              <a:t>from</a:t>
            </a:r>
            <a:r>
              <a:rPr lang="de-AT" sz="2000" b="0" strike="noStrike" spc="-1" dirty="0">
                <a:solidFill>
                  <a:srgbClr val="000000"/>
                </a:solidFill>
                <a:latin typeface="Arial"/>
              </a:rPr>
              <a:t> ChatGPT </a:t>
            </a:r>
            <a:r>
              <a:rPr lang="de-AT" sz="2000" b="0" strike="noStrike" spc="-1" dirty="0" err="1">
                <a:solidFill>
                  <a:srgbClr val="000000"/>
                </a:solidFill>
                <a:latin typeface="Arial"/>
              </a:rPr>
              <a:t>itself</a:t>
            </a:r>
            <a:r>
              <a:rPr lang="de-AT" sz="2000" b="0" strike="noStrike" spc="-1" dirty="0">
                <a:solidFill>
                  <a:srgbClr val="000000"/>
                </a:solidFill>
                <a:latin typeface="Arial"/>
              </a:rPr>
              <a:t>, </a:t>
            </a:r>
            <a:r>
              <a:rPr lang="de-AT" sz="2000" b="0" strike="noStrike" spc="-1" dirty="0" err="1">
                <a:solidFill>
                  <a:srgbClr val="000000"/>
                </a:solidFill>
                <a:latin typeface="Arial"/>
              </a:rPr>
              <a:t>from</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instructional</a:t>
            </a:r>
            <a:r>
              <a:rPr lang="de-AT" sz="2000" b="0" strike="noStrike" spc="-1" dirty="0">
                <a:solidFill>
                  <a:srgbClr val="000000"/>
                </a:solidFill>
                <a:latin typeface="Arial"/>
              </a:rPr>
              <a:t> design, </a:t>
            </a:r>
            <a:r>
              <a:rPr lang="de-AT" sz="2000" b="0" strike="noStrike" spc="-1" dirty="0" err="1">
                <a:solidFill>
                  <a:srgbClr val="000000"/>
                </a:solidFill>
                <a:latin typeface="Arial"/>
              </a:rPr>
              <a:t>or</a:t>
            </a:r>
            <a:r>
              <a:rPr lang="de-AT" sz="2000" b="0" strike="noStrike" spc="-1" dirty="0">
                <a:solidFill>
                  <a:srgbClr val="000000"/>
                </a:solidFill>
                <a:latin typeface="Arial"/>
              </a:rPr>
              <a:t> </a:t>
            </a:r>
            <a:r>
              <a:rPr lang="de-AT" sz="2000" b="0" strike="noStrike" spc="-1" dirty="0" err="1">
                <a:solidFill>
                  <a:srgbClr val="000000"/>
                </a:solidFill>
                <a:latin typeface="Arial"/>
              </a:rPr>
              <a:t>from</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novelty</a:t>
            </a:r>
            <a:r>
              <a:rPr lang="de-AT" sz="2000" b="0" strike="noStrike" spc="-1" dirty="0">
                <a:solidFill>
                  <a:srgbClr val="000000"/>
                </a:solidFill>
                <a:latin typeface="Arial"/>
              </a:rPr>
              <a:t> </a:t>
            </a:r>
            <a:r>
              <a:rPr lang="de-AT" sz="2000" b="0" strike="noStrike" spc="-1" dirty="0" err="1">
                <a:solidFill>
                  <a:srgbClr val="000000"/>
                </a:solidFill>
                <a:latin typeface="Arial"/>
              </a:rPr>
              <a:t>of</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technology</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a:p>
            <a:pPr marL="216000" indent="0">
              <a:lnSpc>
                <a:spcPct val="100000"/>
              </a:lnSpc>
              <a:buNone/>
            </a:pPr>
            <a:r>
              <a:rPr lang="de-AT" sz="2000" b="0" strike="noStrike" spc="-1" dirty="0">
                <a:solidFill>
                  <a:srgbClr val="000000"/>
                </a:solidFill>
                <a:latin typeface="Arial"/>
              </a:rPr>
              <a:t>So, </a:t>
            </a:r>
            <a:r>
              <a:rPr lang="de-AT" sz="2000" b="0" strike="noStrike" spc="-1" dirty="0" err="1">
                <a:solidFill>
                  <a:srgbClr val="000000"/>
                </a:solidFill>
                <a:latin typeface="Arial"/>
              </a:rPr>
              <a:t>our</a:t>
            </a:r>
            <a:r>
              <a:rPr lang="de-AT" sz="2000" b="0" strike="noStrike" spc="-1" dirty="0">
                <a:solidFill>
                  <a:srgbClr val="000000"/>
                </a:solidFill>
                <a:latin typeface="Arial"/>
              </a:rPr>
              <a:t> </a:t>
            </a:r>
            <a:r>
              <a:rPr lang="de-AT" sz="2000" b="0" strike="noStrike" spc="-1" dirty="0" err="1">
                <a:solidFill>
                  <a:srgbClr val="000000"/>
                </a:solidFill>
                <a:latin typeface="Arial"/>
              </a:rPr>
              <a:t>critical</a:t>
            </a:r>
            <a:r>
              <a:rPr lang="de-AT" sz="2000" b="0" strike="noStrike" spc="-1" dirty="0">
                <a:solidFill>
                  <a:srgbClr val="000000"/>
                </a:solidFill>
                <a:latin typeface="Arial"/>
              </a:rPr>
              <a:t> </a:t>
            </a:r>
            <a:r>
              <a:rPr lang="de-AT" sz="2000" b="0" strike="noStrike" spc="-1" dirty="0" err="1">
                <a:solidFill>
                  <a:srgbClr val="000000"/>
                </a:solidFill>
                <a:latin typeface="Arial"/>
              </a:rPr>
              <a:t>evaluation</a:t>
            </a:r>
            <a:r>
              <a:rPr lang="de-AT" sz="2000" b="0" strike="noStrike" spc="-1" dirty="0">
                <a:solidFill>
                  <a:srgbClr val="000000"/>
                </a:solidFill>
                <a:latin typeface="Arial"/>
              </a:rPr>
              <a:t> </a:t>
            </a:r>
            <a:r>
              <a:rPr lang="de-AT" sz="2000" b="0" strike="noStrike" spc="-1" dirty="0" err="1">
                <a:solidFill>
                  <a:srgbClr val="000000"/>
                </a:solidFill>
                <a:latin typeface="Arial"/>
              </a:rPr>
              <a:t>would</a:t>
            </a:r>
            <a:r>
              <a:rPr lang="de-AT" sz="2000" b="0" strike="noStrike" spc="-1" dirty="0">
                <a:solidFill>
                  <a:srgbClr val="000000"/>
                </a:solidFill>
                <a:latin typeface="Arial"/>
              </a:rPr>
              <a:t> </a:t>
            </a:r>
            <a:r>
              <a:rPr lang="de-AT" sz="2000" b="0" strike="noStrike" spc="-1" dirty="0" err="1">
                <a:solidFill>
                  <a:srgbClr val="000000"/>
                </a:solidFill>
                <a:latin typeface="Arial"/>
              </a:rPr>
              <a:t>be</a:t>
            </a:r>
            <a:r>
              <a:rPr lang="de-AT" sz="2000" b="0" strike="noStrike" spc="-1" dirty="0">
                <a:solidFill>
                  <a:srgbClr val="000000"/>
                </a:solidFill>
                <a:latin typeface="Arial"/>
              </a:rPr>
              <a: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findings</a:t>
            </a:r>
            <a:r>
              <a:rPr lang="de-AT" sz="2000" b="0" strike="noStrike" spc="-1" dirty="0">
                <a:solidFill>
                  <a:srgbClr val="000000"/>
                </a:solidFill>
                <a:latin typeface="Arial"/>
              </a:rPr>
              <a:t> </a:t>
            </a:r>
            <a:r>
              <a:rPr lang="de-AT" sz="2000" b="0" strike="noStrike" spc="-1" dirty="0" err="1">
                <a:solidFill>
                  <a:srgbClr val="000000"/>
                </a:solidFill>
                <a:latin typeface="Arial"/>
              </a:rPr>
              <a:t>are</a:t>
            </a:r>
            <a:r>
              <a:rPr lang="de-AT" sz="2000" b="0" strike="noStrike" spc="-1" dirty="0">
                <a:solidFill>
                  <a:srgbClr val="000000"/>
                </a:solidFill>
                <a:latin typeface="Arial"/>
              </a:rPr>
              <a:t> promising, but </a:t>
            </a:r>
            <a:r>
              <a:rPr lang="de-AT" sz="2000" b="0" strike="noStrike" spc="-1" dirty="0" err="1">
                <a:solidFill>
                  <a:srgbClr val="000000"/>
                </a:solidFill>
                <a:latin typeface="Arial"/>
              </a:rPr>
              <a:t>they</a:t>
            </a:r>
            <a:r>
              <a:rPr lang="de-AT" sz="2000" b="0" strike="noStrike" spc="-1" dirty="0">
                <a:solidFill>
                  <a:srgbClr val="000000"/>
                </a:solidFill>
                <a:latin typeface="Arial"/>
              </a:rPr>
              <a:t> </a:t>
            </a:r>
            <a:r>
              <a:rPr lang="de-AT" sz="2000" b="0" strike="noStrike" spc="-1" dirty="0" err="1">
                <a:solidFill>
                  <a:srgbClr val="000000"/>
                </a:solidFill>
                <a:latin typeface="Arial"/>
              </a:rPr>
              <a:t>should</a:t>
            </a:r>
            <a:r>
              <a:rPr lang="de-AT" sz="2000" b="0" strike="noStrike" spc="-1" dirty="0">
                <a:solidFill>
                  <a:srgbClr val="000000"/>
                </a:solidFill>
                <a:latin typeface="Arial"/>
              </a:rPr>
              <a:t> not </a:t>
            </a:r>
            <a:r>
              <a:rPr lang="de-AT" sz="2000" b="0" strike="noStrike" spc="-1" dirty="0" err="1">
                <a:solidFill>
                  <a:srgbClr val="000000"/>
                </a:solidFill>
                <a:latin typeface="Arial"/>
              </a:rPr>
              <a:t>be</a:t>
            </a:r>
            <a:r>
              <a:rPr lang="de-AT" sz="2000" b="0" strike="noStrike" spc="-1" dirty="0">
                <a:solidFill>
                  <a:srgbClr val="000000"/>
                </a:solidFill>
                <a:latin typeface="Arial"/>
              </a:rPr>
              <a:t> </a:t>
            </a:r>
            <a:r>
              <a:rPr lang="de-AT" sz="2000" b="0" strike="noStrike" spc="-1" dirty="0" err="1">
                <a:solidFill>
                  <a:srgbClr val="000000"/>
                </a:solidFill>
                <a:latin typeface="Arial"/>
              </a:rPr>
              <a:t>interpreted</a:t>
            </a:r>
            <a:r>
              <a:rPr lang="de-AT" sz="2000" b="0" strike="noStrike" spc="-1" dirty="0">
                <a:solidFill>
                  <a:srgbClr val="000000"/>
                </a:solidFill>
                <a:latin typeface="Arial"/>
              </a:rPr>
              <a:t> </a:t>
            </a:r>
            <a:r>
              <a:rPr lang="de-AT" sz="2000" b="0" strike="noStrike" spc="-1" dirty="0" err="1">
                <a:solidFill>
                  <a:srgbClr val="000000"/>
                </a:solidFill>
                <a:latin typeface="Arial"/>
              </a:rPr>
              <a:t>as</a:t>
            </a:r>
            <a:r>
              <a:rPr lang="de-AT" sz="2000" b="0" strike="noStrike" spc="-1" dirty="0">
                <a:solidFill>
                  <a:srgbClr val="000000"/>
                </a:solidFill>
                <a:latin typeface="Arial"/>
              </a:rPr>
              <a:t> final </a:t>
            </a:r>
            <a:r>
              <a:rPr lang="de-AT" sz="2000" b="0" strike="noStrike" spc="-1" dirty="0" err="1">
                <a:solidFill>
                  <a:srgbClr val="000000"/>
                </a:solidFill>
                <a:latin typeface="Arial"/>
              </a:rPr>
              <a:t>proof</a:t>
            </a:r>
            <a:r>
              <a:rPr lang="de-AT" sz="2000" b="0" strike="noStrike" spc="-1" dirty="0">
                <a:solidFill>
                  <a:srgbClr val="000000"/>
                </a:solidFill>
                <a:latin typeface="Arial"/>
              </a:rPr>
              <a:t>. The meta-analysis </a:t>
            </a:r>
            <a:r>
              <a:rPr lang="de-AT" sz="2000" b="0" strike="noStrike" spc="-1" dirty="0" err="1">
                <a:solidFill>
                  <a:srgbClr val="000000"/>
                </a:solidFill>
                <a:latin typeface="Arial"/>
              </a:rPr>
              <a:t>provides</a:t>
            </a:r>
            <a:r>
              <a:rPr lang="de-AT" sz="2000" b="0" strike="noStrike" spc="-1" dirty="0">
                <a:solidFill>
                  <a:srgbClr val="000000"/>
                </a:solidFill>
                <a:latin typeface="Arial"/>
              </a:rPr>
              <a:t> </a:t>
            </a:r>
            <a:r>
              <a:rPr lang="de-AT" sz="2000" b="0" strike="noStrike" spc="-1" dirty="0" err="1">
                <a:solidFill>
                  <a:srgbClr val="000000"/>
                </a:solidFill>
                <a:latin typeface="Arial"/>
              </a:rPr>
              <a:t>valuable</a:t>
            </a:r>
            <a:r>
              <a:rPr lang="de-AT" sz="2000" b="0" strike="noStrike" spc="-1" dirty="0">
                <a:solidFill>
                  <a:srgbClr val="000000"/>
                </a:solidFill>
                <a:latin typeface="Arial"/>
              </a:rPr>
              <a:t> </a:t>
            </a:r>
            <a:r>
              <a:rPr lang="de-AT" sz="2000" b="0" strike="noStrike" spc="-1" dirty="0" err="1">
                <a:solidFill>
                  <a:srgbClr val="000000"/>
                </a:solidFill>
                <a:latin typeface="Arial"/>
              </a:rPr>
              <a:t>evidence</a:t>
            </a:r>
            <a:r>
              <a:rPr lang="de-AT" sz="2000" b="0" strike="noStrike" spc="-1" dirty="0">
                <a:solidFill>
                  <a:srgbClr val="000000"/>
                </a:solidFill>
                <a:latin typeface="Arial"/>
              </a:rPr>
              <a:t>, but </a:t>
            </a:r>
            <a:r>
              <a:rPr lang="de-AT" sz="2000" b="0" strike="noStrike" spc="-1" dirty="0" err="1">
                <a:solidFill>
                  <a:srgbClr val="000000"/>
                </a:solidFill>
                <a:latin typeface="Arial"/>
              </a:rPr>
              <a:t>the</a:t>
            </a:r>
            <a:r>
              <a:rPr lang="de-AT" sz="2000" b="0" strike="noStrike" spc="-1" dirty="0">
                <a:solidFill>
                  <a:srgbClr val="000000"/>
                </a:solidFill>
                <a:latin typeface="Arial"/>
              </a:rPr>
              <a:t> </a:t>
            </a:r>
            <a:r>
              <a:rPr lang="de-AT" sz="2000" b="0" strike="noStrike" spc="-1" dirty="0" err="1">
                <a:solidFill>
                  <a:srgbClr val="000000"/>
                </a:solidFill>
                <a:latin typeface="Arial"/>
              </a:rPr>
              <a:t>field</a:t>
            </a:r>
            <a:r>
              <a:rPr lang="de-AT" sz="2000" b="0" strike="noStrike" spc="-1" dirty="0">
                <a:solidFill>
                  <a:srgbClr val="000000"/>
                </a:solidFill>
                <a:latin typeface="Arial"/>
              </a:rPr>
              <a:t> still </a:t>
            </a:r>
            <a:r>
              <a:rPr lang="de-AT" sz="2000" b="0" strike="noStrike" spc="-1" dirty="0" err="1">
                <a:solidFill>
                  <a:srgbClr val="000000"/>
                </a:solidFill>
                <a:latin typeface="Arial"/>
              </a:rPr>
              <a:t>needs</a:t>
            </a:r>
            <a:r>
              <a:rPr lang="de-AT" sz="2000" b="0" strike="noStrike" spc="-1" dirty="0">
                <a:solidFill>
                  <a:srgbClr val="000000"/>
                </a:solidFill>
                <a:latin typeface="Arial"/>
              </a:rPr>
              <a:t> </a:t>
            </a:r>
            <a:r>
              <a:rPr lang="de-AT" sz="2000" b="0" strike="noStrike" spc="-1" dirty="0" err="1">
                <a:solidFill>
                  <a:srgbClr val="000000"/>
                </a:solidFill>
                <a:latin typeface="Arial"/>
              </a:rPr>
              <a:t>more</a:t>
            </a:r>
            <a:r>
              <a:rPr lang="de-AT" sz="2000" b="0" strike="noStrike" spc="-1" dirty="0">
                <a:solidFill>
                  <a:srgbClr val="000000"/>
                </a:solidFill>
                <a:latin typeface="Arial"/>
              </a:rPr>
              <a:t> </a:t>
            </a:r>
            <a:r>
              <a:rPr lang="de-AT" sz="2000" b="0" strike="noStrike" spc="-1" dirty="0" err="1">
                <a:solidFill>
                  <a:srgbClr val="000000"/>
                </a:solidFill>
                <a:latin typeface="Arial"/>
              </a:rPr>
              <a:t>long</a:t>
            </a:r>
            <a:r>
              <a:rPr lang="de-AT" sz="2000" b="0" strike="noStrike" spc="-1" dirty="0">
                <a:solidFill>
                  <a:srgbClr val="000000"/>
                </a:solidFill>
                <a:latin typeface="Arial"/>
              </a:rPr>
              <a:t>-term, high-quality and </a:t>
            </a:r>
            <a:r>
              <a:rPr lang="de-AT" sz="2000" b="0" strike="noStrike" spc="-1" dirty="0" err="1">
                <a:solidFill>
                  <a:srgbClr val="000000"/>
                </a:solidFill>
                <a:latin typeface="Arial"/>
              </a:rPr>
              <a:t>context</a:t>
            </a:r>
            <a:r>
              <a:rPr lang="de-AT" sz="2000" b="0" strike="noStrike" spc="-1" dirty="0">
                <a:solidFill>
                  <a:srgbClr val="000000"/>
                </a:solidFill>
                <a:latin typeface="Arial"/>
              </a:rPr>
              <a:t>-sensitive experimental </a:t>
            </a:r>
            <a:r>
              <a:rPr lang="de-AT" sz="2000" b="0" strike="noStrike" spc="-1" dirty="0" err="1">
                <a:solidFill>
                  <a:srgbClr val="000000"/>
                </a:solidFill>
                <a:latin typeface="Arial"/>
              </a:rPr>
              <a:t>research</a:t>
            </a:r>
            <a:r>
              <a:rPr lang="de-AT" sz="2000" b="0" strike="noStrike" spc="-1" dirty="0">
                <a:solidFill>
                  <a:srgbClr val="000000"/>
                </a:solidFill>
                <a:latin typeface="Arial"/>
              </a:rPr>
              <a:t>.</a:t>
            </a:r>
          </a:p>
          <a:p>
            <a:pPr marL="216000" indent="0">
              <a:lnSpc>
                <a:spcPct val="100000"/>
              </a:lnSpc>
              <a:buNone/>
            </a:pPr>
            <a:endParaRPr lang="de-AT" sz="2000" b="0" strike="noStrike" spc="-1" dirty="0">
              <a:solidFill>
                <a:srgbClr val="000000"/>
              </a:solidFill>
              <a:latin typeface="Arial"/>
            </a:endParaRPr>
          </a:p>
        </p:txBody>
      </p:sp>
      <p:sp>
        <p:nvSpPr>
          <p:cNvPr id="238" name="PlaceHolder 3"/>
          <p:cNvSpPr>
            <a:spLocks noGrp="1"/>
          </p:cNvSpPr>
          <p:nvPr>
            <p:ph type="sldNum" idx="5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CAF69199-B4EA-47D4-ACA5-B5FEBAC3CEC3}" type="slidenum">
              <a:rPr lang="de-AT" sz="1200" b="0" strike="noStrike" spc="-1">
                <a:solidFill>
                  <a:srgbClr val="000000"/>
                </a:solidFill>
                <a:latin typeface="Times New Roman"/>
              </a:rPr>
              <a:t>11</a:t>
            </a:fld>
            <a:endParaRPr lang="de-AT" sz="1200" b="0" strike="noStrike" spc="-1">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noRot="1" noChangeAspect="1"/>
          </p:cNvSpPr>
          <p:nvPr>
            <p:ph type="sldImg"/>
          </p:nvPr>
        </p:nvSpPr>
        <p:spPr>
          <a:xfrm>
            <a:off x="685800" y="1143000"/>
            <a:ext cx="5486400" cy="3086100"/>
          </a:xfrm>
          <a:prstGeom prst="rect">
            <a:avLst/>
          </a:prstGeom>
          <a:ln w="0">
            <a:noFill/>
          </a:ln>
        </p:spPr>
      </p:sp>
      <p:sp>
        <p:nvSpPr>
          <p:cNvPr id="2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de-AT" sz="1800" b="0" strike="noStrike" spc="-1">
              <a:solidFill>
                <a:srgbClr val="000000"/>
              </a:solidFill>
              <a:latin typeface="Arial"/>
            </a:endParaRPr>
          </a:p>
        </p:txBody>
      </p:sp>
      <p:sp>
        <p:nvSpPr>
          <p:cNvPr id="241" name="PlaceHolder 3"/>
          <p:cNvSpPr>
            <a:spLocks noGrp="1"/>
          </p:cNvSpPr>
          <p:nvPr>
            <p:ph type="sldNum" idx="5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1285541C-0A58-4666-BBF6-465CFB63AC87}" type="slidenum">
              <a:rPr lang="de-AT" sz="1200" b="0" strike="noStrike" spc="-1">
                <a:solidFill>
                  <a:srgbClr val="000000"/>
                </a:solidFill>
                <a:latin typeface="Times New Roman"/>
              </a:rPr>
              <a:t>11</a:t>
            </a:fld>
            <a:endParaRPr lang="de-AT" sz="1200" b="0" strike="noStrike" spc="-1">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PlaceHolder 1"/>
          <p:cNvSpPr>
            <a:spLocks noGrp="1" noRot="1" noChangeAspect="1"/>
          </p:cNvSpPr>
          <p:nvPr>
            <p:ph type="sldImg"/>
          </p:nvPr>
        </p:nvSpPr>
        <p:spPr>
          <a:xfrm>
            <a:off x="685800" y="1143000"/>
            <a:ext cx="5486400" cy="3086100"/>
          </a:xfrm>
          <a:prstGeom prst="rect">
            <a:avLst/>
          </a:prstGeom>
          <a:ln w="0">
            <a:noFill/>
          </a:ln>
        </p:spPr>
      </p:sp>
      <p:sp>
        <p:nvSpPr>
          <p:cNvPr id="2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de-AT" sz="1800" b="0" strike="noStrike" spc="-1">
              <a:solidFill>
                <a:srgbClr val="000000"/>
              </a:solidFill>
              <a:latin typeface="Arial"/>
            </a:endParaRPr>
          </a:p>
        </p:txBody>
      </p:sp>
      <p:sp>
        <p:nvSpPr>
          <p:cNvPr id="244" name="PlaceHolder 3"/>
          <p:cNvSpPr>
            <a:spLocks noGrp="1"/>
          </p:cNvSpPr>
          <p:nvPr>
            <p:ph type="sldNum" idx="5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BEF33CA5-2FF6-4C95-97DF-49A5C991C65B}" type="slidenum">
              <a:rPr lang="de-AT" sz="1200" b="0" strike="noStrike" spc="-1">
                <a:solidFill>
                  <a:srgbClr val="000000"/>
                </a:solidFill>
                <a:latin typeface="Times New Roman"/>
              </a:rPr>
              <a:t>15</a:t>
            </a:fld>
            <a:endParaRPr lang="de-AT" sz="12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5" name="PlaceHolder 2"/>
          <p:cNvSpPr>
            <a:spLocks noGrp="1"/>
          </p:cNvSpPr>
          <p:nvPr>
            <p:ph type="subTitle"/>
          </p:nvPr>
        </p:nvSpPr>
        <p:spPr>
          <a:xfrm>
            <a:off x="914400" y="2406960"/>
            <a:ext cx="16458840" cy="5965920"/>
          </a:xfrm>
          <a:prstGeom prst="rect">
            <a:avLst/>
          </a:prstGeom>
          <a:noFill/>
          <a:ln w="0">
            <a:noFill/>
          </a:ln>
        </p:spPr>
        <p:txBody>
          <a:bodyPr lIns="0" tIns="0" rIns="0" bIns="0" anchor="ctr">
            <a:noAutofit/>
          </a:bodyPr>
          <a:lstStyle/>
          <a:p>
            <a:pPr indent="0" algn="ctr">
              <a:buNone/>
            </a:pPr>
            <a:endParaRPr lang="de-AT" sz="3200" b="0" strike="noStrike" spc="-1">
              <a:solidFill>
                <a:srgbClr val="000000"/>
              </a:solidFill>
              <a:latin typeface="Arial"/>
            </a:endParaRPr>
          </a:p>
        </p:txBody>
      </p:sp>
      <p:sp>
        <p:nvSpPr>
          <p:cNvPr id="2" name="PlaceHolder 3"/>
          <p:cNvSpPr>
            <a:spLocks noGrp="1"/>
          </p:cNvSpPr>
          <p:nvPr>
            <p:ph type="ftr" idx="2"/>
          </p:nvPr>
        </p:nvSpPr>
        <p:spPr/>
        <p:txBody>
          <a:bodyPr/>
          <a:lstStyle/>
          <a:p>
            <a:r>
              <a:t>Footer</a:t>
            </a:r>
          </a:p>
        </p:txBody>
      </p:sp>
      <p:sp>
        <p:nvSpPr>
          <p:cNvPr id="3" name="PlaceHolder 4"/>
          <p:cNvSpPr>
            <a:spLocks noGrp="1"/>
          </p:cNvSpPr>
          <p:nvPr>
            <p:ph type="sldNum" idx="3"/>
          </p:nvPr>
        </p:nvSpPr>
        <p:spPr/>
        <p:txBody>
          <a:bodyPr/>
          <a:lstStyle/>
          <a:p>
            <a:fld id="{FA7EECEE-2F6B-467B-8B39-EC262E94499F}" type="slidenum">
              <a:t>‹Nr.›</a:t>
            </a:fld>
            <a:endParaRPr/>
          </a:p>
        </p:txBody>
      </p:sp>
      <p:sp>
        <p:nvSpPr>
          <p:cNvPr id="6" name="PlaceHolder 5"/>
          <p:cNvSpPr>
            <a:spLocks noGrp="1"/>
          </p:cNvSpPr>
          <p:nvPr>
            <p:ph type="dt" idx="1"/>
          </p:nvPr>
        </p:nvSpPr>
        <p:spPr/>
        <p:txBody>
          <a:body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lstStyle/>
          <a:p>
            <a:r>
              <a:t>Footer</a:t>
            </a:r>
          </a:p>
        </p:txBody>
      </p:sp>
      <p:sp>
        <p:nvSpPr>
          <p:cNvPr id="3" name="PlaceHolder 2"/>
          <p:cNvSpPr>
            <a:spLocks noGrp="1"/>
          </p:cNvSpPr>
          <p:nvPr>
            <p:ph type="sldNum" idx="27"/>
          </p:nvPr>
        </p:nvSpPr>
        <p:spPr/>
        <p:txBody>
          <a:bodyPr/>
          <a:lstStyle/>
          <a:p>
            <a:fld id="{99CC0D31-2224-4E13-9E77-306A271CE5A5}" type="slidenum">
              <a:t>‹Nr.›</a:t>
            </a:fld>
            <a:endParaRPr/>
          </a:p>
        </p:txBody>
      </p:sp>
      <p:sp>
        <p:nvSpPr>
          <p:cNvPr id="4" name="PlaceHolder 3"/>
          <p:cNvSpPr>
            <a:spLocks noGrp="1"/>
          </p:cNvSpPr>
          <p:nvPr>
            <p:ph type="dt" idx="25"/>
          </p:nvPr>
        </p:nvSpPr>
        <p:spPr/>
        <p:txBody>
          <a:body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25"/>
        <p:cNvGrpSpPr/>
        <p:nvPr/>
      </p:nvGrpSpPr>
      <p:grpSpPr>
        <a:xfrm>
          <a:off x="0" y="0"/>
          <a:ext cx="0" cy="0"/>
          <a:chOff x="0" y="0"/>
          <a:chExt cx="0" cy="0"/>
        </a:xfrm>
      </p:grpSpPr>
      <p:sp>
        <p:nvSpPr>
          <p:cNvPr id="26" name="Google Shape;26;p4"/>
          <p:cNvSpPr txBox="1">
            <a:spLocks noGrp="1"/>
          </p:cNvSpPr>
          <p:nvPr>
            <p:ph type="title"/>
          </p:nvPr>
        </p:nvSpPr>
        <p:spPr>
          <a:xfrm>
            <a:off x="914400" y="410400"/>
            <a:ext cx="16458840" cy="1717560"/>
          </a:xfrm>
          <a:prstGeom prst="rect">
            <a:avLst/>
          </a:prstGeom>
          <a:noFill/>
          <a:ln>
            <a:noFill/>
          </a:ln>
        </p:spPr>
        <p:txBody>
          <a:bodyPr spcFirstLastPara="1" wrap="square" lIns="0" tIns="0" rIns="0" bIns="0" anchor="ctr" anchorCtr="0">
            <a:no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4"/>
          <p:cNvSpPr txBox="1">
            <a:spLocks noGrp="1"/>
          </p:cNvSpPr>
          <p:nvPr>
            <p:ph type="subTitle" idx="1"/>
          </p:nvPr>
        </p:nvSpPr>
        <p:spPr>
          <a:xfrm>
            <a:off x="914400" y="2406960"/>
            <a:ext cx="16458840" cy="5965920"/>
          </a:xfrm>
          <a:prstGeom prst="rect">
            <a:avLst/>
          </a:prstGeom>
          <a:noFill/>
          <a:ln>
            <a:noFill/>
          </a:ln>
        </p:spPr>
        <p:txBody>
          <a:bodyPr spcFirstLastPara="1" wrap="square" lIns="0" tIns="0" rIns="0" bIns="0" anchor="ctr" anchorCtr="0">
            <a:noAutofit/>
          </a:bodyPr>
          <a:lstStyle>
            <a:lvl1pPr lvl="0" algn="l">
              <a:lnSpc>
                <a:spcPct val="90000"/>
              </a:lnSpc>
              <a:spcBef>
                <a:spcPts val="1000"/>
              </a:spcBef>
              <a:spcAft>
                <a:spcPts val="0"/>
              </a:spcAft>
              <a:buClr>
                <a:schemeClr val="dk1"/>
              </a:buClr>
              <a:buSzPts val="1800"/>
              <a:buChar char="•"/>
              <a:defRPr/>
            </a:lvl1pPr>
            <a:lvl2pPr lvl="1" algn="l">
              <a:lnSpc>
                <a:spcPct val="90000"/>
              </a:lnSpc>
              <a:spcBef>
                <a:spcPts val="500"/>
              </a:spcBef>
              <a:spcAft>
                <a:spcPts val="0"/>
              </a:spcAft>
              <a:buClr>
                <a:schemeClr val="dk1"/>
              </a:buClr>
              <a:buSzPts val="1800"/>
              <a:buChar char="•"/>
              <a:defRPr/>
            </a:lvl2pPr>
            <a:lvl3pPr lvl="2" algn="l">
              <a:lnSpc>
                <a:spcPct val="90000"/>
              </a:lnSpc>
              <a:spcBef>
                <a:spcPts val="500"/>
              </a:spcBef>
              <a:spcAft>
                <a:spcPts val="0"/>
              </a:spcAft>
              <a:buClr>
                <a:schemeClr val="dk1"/>
              </a:buClr>
              <a:buSzPts val="1800"/>
              <a:buChar char="•"/>
              <a:defRPr/>
            </a:lvl3pPr>
            <a:lvl4pPr lvl="3" algn="l">
              <a:lnSpc>
                <a:spcPct val="90000"/>
              </a:lnSpc>
              <a:spcBef>
                <a:spcPts val="500"/>
              </a:spcBef>
              <a:spcAft>
                <a:spcPts val="0"/>
              </a:spcAft>
              <a:buClr>
                <a:schemeClr val="dk1"/>
              </a:buClr>
              <a:buSzPts val="1800"/>
              <a:buChar char="•"/>
              <a:defRPr/>
            </a:lvl4pPr>
            <a:lvl5pPr lvl="4" algn="l">
              <a:lnSpc>
                <a:spcPct val="90000"/>
              </a:lnSpc>
              <a:spcBef>
                <a:spcPts val="500"/>
              </a:spcBef>
              <a:spcAft>
                <a:spcPts val="0"/>
              </a:spcAft>
              <a:buClr>
                <a:schemeClr val="dk1"/>
              </a:buClr>
              <a:buSzPts val="1800"/>
              <a:buChar char="•"/>
              <a:defRPr/>
            </a:lvl5pPr>
            <a:lvl6pPr lvl="5" algn="l">
              <a:lnSpc>
                <a:spcPct val="90000"/>
              </a:lnSpc>
              <a:spcBef>
                <a:spcPts val="500"/>
              </a:spcBef>
              <a:spcAft>
                <a:spcPts val="0"/>
              </a:spcAft>
              <a:buClr>
                <a:schemeClr val="dk1"/>
              </a:buClr>
              <a:buSzPts val="1800"/>
              <a:buChar char="•"/>
              <a:defRPr/>
            </a:lvl6pPr>
            <a:lvl7pPr lvl="6" algn="l">
              <a:lnSpc>
                <a:spcPct val="90000"/>
              </a:lnSpc>
              <a:spcBef>
                <a:spcPts val="500"/>
              </a:spcBef>
              <a:spcAft>
                <a:spcPts val="0"/>
              </a:spcAft>
              <a:buClr>
                <a:schemeClr val="dk1"/>
              </a:buClr>
              <a:buSzPts val="1800"/>
              <a:buChar char="•"/>
              <a:defRPr/>
            </a:lvl7pPr>
            <a:lvl8pPr lvl="7" algn="l">
              <a:lnSpc>
                <a:spcPct val="90000"/>
              </a:lnSpc>
              <a:spcBef>
                <a:spcPts val="500"/>
              </a:spcBef>
              <a:spcAft>
                <a:spcPts val="0"/>
              </a:spcAft>
              <a:buClr>
                <a:schemeClr val="dk1"/>
              </a:buClr>
              <a:buSzPts val="1800"/>
              <a:buChar char="•"/>
              <a:defRPr/>
            </a:lvl8pPr>
            <a:lvl9pPr lvl="8" algn="l">
              <a:lnSpc>
                <a:spcPct val="90000"/>
              </a:lnSpc>
              <a:spcBef>
                <a:spcPts val="500"/>
              </a:spcBef>
              <a:spcAft>
                <a:spcPts val="0"/>
              </a:spcAft>
              <a:buClr>
                <a:schemeClr val="dk1"/>
              </a:buClr>
              <a:buSzPts val="1800"/>
              <a:buChar char="•"/>
              <a:defRPr/>
            </a:lvl9pPr>
          </a:lstStyle>
          <a:p>
            <a:endParaRPr/>
          </a:p>
        </p:txBody>
      </p:sp>
      <p:sp>
        <p:nvSpPr>
          <p:cNvPr id="28" name="Google Shape;28;p4"/>
          <p:cNvSpPr txBox="1">
            <a:spLocks noGrp="1"/>
          </p:cNvSpPr>
          <p:nvPr>
            <p:ph type="ftr" idx="11"/>
          </p:nvPr>
        </p:nvSpPr>
        <p:spPr>
          <a:xfrm>
            <a:off x="3124080" y="6356520"/>
            <a:ext cx="2894760" cy="36432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Clr>
                <a:srgbClr val="000000"/>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4"/>
          <p:cNvSpPr txBox="1">
            <a:spLocks noGrp="1"/>
          </p:cNvSpPr>
          <p:nvPr>
            <p:ph type="sldNum" idx="12"/>
          </p:nvPr>
        </p:nvSpPr>
        <p:spPr>
          <a:xfrm>
            <a:off x="6553080" y="6356520"/>
            <a:ext cx="2133000" cy="364320"/>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buClr>
                <a:srgbClr val="888888"/>
              </a:buClr>
              <a:buSzPts val="1200"/>
              <a:buFont typeface="Calibri"/>
              <a:buNone/>
              <a:defRPr sz="1200" b="0" strike="noStrike">
                <a:solidFill>
                  <a:srgbClr val="888888"/>
                </a:solidFill>
                <a:latin typeface="Calibri"/>
                <a:ea typeface="Calibri"/>
                <a:cs typeface="Calibri"/>
                <a:sym typeface="Calibri"/>
              </a:defRPr>
            </a:lvl1pPr>
            <a:lvl2pPr marL="0" lvl="1" indent="0" algn="r">
              <a:lnSpc>
                <a:spcPct val="100000"/>
              </a:lnSpc>
              <a:spcBef>
                <a:spcPts val="0"/>
              </a:spcBef>
              <a:buClr>
                <a:srgbClr val="888888"/>
              </a:buClr>
              <a:buSzPts val="1200"/>
              <a:buFont typeface="Calibri"/>
              <a:buNone/>
              <a:defRPr sz="1200" b="0" strike="noStrike">
                <a:solidFill>
                  <a:srgbClr val="888888"/>
                </a:solidFill>
                <a:latin typeface="Calibri"/>
                <a:ea typeface="Calibri"/>
                <a:cs typeface="Calibri"/>
                <a:sym typeface="Calibri"/>
              </a:defRPr>
            </a:lvl2pPr>
            <a:lvl3pPr marL="0" lvl="2" indent="0" algn="r">
              <a:lnSpc>
                <a:spcPct val="100000"/>
              </a:lnSpc>
              <a:spcBef>
                <a:spcPts val="0"/>
              </a:spcBef>
              <a:buClr>
                <a:srgbClr val="888888"/>
              </a:buClr>
              <a:buSzPts val="1200"/>
              <a:buFont typeface="Calibri"/>
              <a:buNone/>
              <a:defRPr sz="1200" b="0" strike="noStrike">
                <a:solidFill>
                  <a:srgbClr val="888888"/>
                </a:solidFill>
                <a:latin typeface="Calibri"/>
                <a:ea typeface="Calibri"/>
                <a:cs typeface="Calibri"/>
                <a:sym typeface="Calibri"/>
              </a:defRPr>
            </a:lvl3pPr>
            <a:lvl4pPr marL="0" lvl="3" indent="0" algn="r">
              <a:lnSpc>
                <a:spcPct val="100000"/>
              </a:lnSpc>
              <a:spcBef>
                <a:spcPts val="0"/>
              </a:spcBef>
              <a:buClr>
                <a:srgbClr val="888888"/>
              </a:buClr>
              <a:buSzPts val="1200"/>
              <a:buFont typeface="Calibri"/>
              <a:buNone/>
              <a:defRPr sz="1200" b="0" strike="noStrike">
                <a:solidFill>
                  <a:srgbClr val="888888"/>
                </a:solidFill>
                <a:latin typeface="Calibri"/>
                <a:ea typeface="Calibri"/>
                <a:cs typeface="Calibri"/>
                <a:sym typeface="Calibri"/>
              </a:defRPr>
            </a:lvl4pPr>
            <a:lvl5pPr marL="0" lvl="4" indent="0" algn="r">
              <a:lnSpc>
                <a:spcPct val="100000"/>
              </a:lnSpc>
              <a:spcBef>
                <a:spcPts val="0"/>
              </a:spcBef>
              <a:buClr>
                <a:srgbClr val="888888"/>
              </a:buClr>
              <a:buSzPts val="1200"/>
              <a:buFont typeface="Calibri"/>
              <a:buNone/>
              <a:defRPr sz="1200" b="0" strike="noStrike">
                <a:solidFill>
                  <a:srgbClr val="888888"/>
                </a:solidFill>
                <a:latin typeface="Calibri"/>
                <a:ea typeface="Calibri"/>
                <a:cs typeface="Calibri"/>
                <a:sym typeface="Calibri"/>
              </a:defRPr>
            </a:lvl5pPr>
            <a:lvl6pPr marL="0" lvl="5" indent="0" algn="r">
              <a:lnSpc>
                <a:spcPct val="100000"/>
              </a:lnSpc>
              <a:spcBef>
                <a:spcPts val="0"/>
              </a:spcBef>
              <a:buClr>
                <a:srgbClr val="888888"/>
              </a:buClr>
              <a:buSzPts val="1200"/>
              <a:buFont typeface="Calibri"/>
              <a:buNone/>
              <a:defRPr sz="1200" b="0" strike="noStrike">
                <a:solidFill>
                  <a:srgbClr val="888888"/>
                </a:solidFill>
                <a:latin typeface="Calibri"/>
                <a:ea typeface="Calibri"/>
                <a:cs typeface="Calibri"/>
                <a:sym typeface="Calibri"/>
              </a:defRPr>
            </a:lvl6pPr>
            <a:lvl7pPr marL="0" lvl="6" indent="0" algn="r">
              <a:lnSpc>
                <a:spcPct val="100000"/>
              </a:lnSpc>
              <a:spcBef>
                <a:spcPts val="0"/>
              </a:spcBef>
              <a:buClr>
                <a:srgbClr val="888888"/>
              </a:buClr>
              <a:buSzPts val="1200"/>
              <a:buFont typeface="Calibri"/>
              <a:buNone/>
              <a:defRPr sz="1200" b="0" strike="noStrike">
                <a:solidFill>
                  <a:srgbClr val="888888"/>
                </a:solidFill>
                <a:latin typeface="Calibri"/>
                <a:ea typeface="Calibri"/>
                <a:cs typeface="Calibri"/>
                <a:sym typeface="Calibri"/>
              </a:defRPr>
            </a:lvl7pPr>
            <a:lvl8pPr marL="0" lvl="7" indent="0" algn="r">
              <a:lnSpc>
                <a:spcPct val="100000"/>
              </a:lnSpc>
              <a:spcBef>
                <a:spcPts val="0"/>
              </a:spcBef>
              <a:buClr>
                <a:srgbClr val="888888"/>
              </a:buClr>
              <a:buSzPts val="1200"/>
              <a:buFont typeface="Calibri"/>
              <a:buNone/>
              <a:defRPr sz="1200" b="0" strike="noStrike">
                <a:solidFill>
                  <a:srgbClr val="888888"/>
                </a:solidFill>
                <a:latin typeface="Calibri"/>
                <a:ea typeface="Calibri"/>
                <a:cs typeface="Calibri"/>
                <a:sym typeface="Calibri"/>
              </a:defRPr>
            </a:lvl8pPr>
            <a:lvl9pPr marL="0" lvl="8" indent="0" algn="r">
              <a:lnSpc>
                <a:spcPct val="100000"/>
              </a:lnSpc>
              <a:spcBef>
                <a:spcPts val="0"/>
              </a:spcBef>
              <a:buClr>
                <a:srgbClr val="888888"/>
              </a:buClr>
              <a:buSzPts val="1200"/>
              <a:buFont typeface="Calibri"/>
              <a:buNone/>
              <a:defRPr sz="1200" b="0" strike="noStrik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de-AT"/>
              <a:t>‹Nr.›</a:t>
            </a:fld>
            <a:endParaRPr/>
          </a:p>
        </p:txBody>
      </p:sp>
      <p:sp>
        <p:nvSpPr>
          <p:cNvPr id="30" name="Google Shape;30;p4"/>
          <p:cNvSpPr txBox="1">
            <a:spLocks noGrp="1"/>
          </p:cNvSpPr>
          <p:nvPr>
            <p:ph type="dt" idx="10"/>
          </p:nvPr>
        </p:nvSpPr>
        <p:spPr>
          <a:xfrm>
            <a:off x="457200" y="6356520"/>
            <a:ext cx="2133000" cy="36432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Clr>
                <a:srgbClr val="000000"/>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extLst>
      <p:ext uri="{BB962C8B-B14F-4D97-AF65-F5344CB8AC3E}">
        <p14:creationId xmlns:p14="http://schemas.microsoft.com/office/powerpoint/2010/main" val="29191783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72"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73" name="PlaceHolder 2"/>
          <p:cNvSpPr>
            <a:spLocks noGrp="1"/>
          </p:cNvSpPr>
          <p:nvPr>
            <p:ph type="subTitle"/>
          </p:nvPr>
        </p:nvSpPr>
        <p:spPr>
          <a:xfrm>
            <a:off x="914400" y="2406960"/>
            <a:ext cx="16458840" cy="5965920"/>
          </a:xfrm>
          <a:prstGeom prst="rect">
            <a:avLst/>
          </a:prstGeom>
          <a:noFill/>
          <a:ln w="0">
            <a:noFill/>
          </a:ln>
        </p:spPr>
        <p:txBody>
          <a:bodyPr lIns="0" tIns="0" rIns="0" bIns="0" anchor="ctr">
            <a:noAutofit/>
          </a:bodyPr>
          <a:lstStyle/>
          <a:p>
            <a:pPr indent="0" algn="ctr">
              <a:buNone/>
            </a:pPr>
            <a:endParaRPr lang="de-AT" sz="3200" b="0" strike="noStrike" spc="-1">
              <a:solidFill>
                <a:srgbClr val="000000"/>
              </a:solidFill>
              <a:latin typeface="Arial"/>
            </a:endParaRPr>
          </a:p>
        </p:txBody>
      </p:sp>
      <p:sp>
        <p:nvSpPr>
          <p:cNvPr id="4" name="PlaceHolder 3"/>
          <p:cNvSpPr>
            <a:spLocks noGrp="1"/>
          </p:cNvSpPr>
          <p:nvPr>
            <p:ph type="ftr" idx="34"/>
          </p:nvPr>
        </p:nvSpPr>
        <p:spPr/>
        <p:txBody>
          <a:bodyPr/>
          <a:lstStyle/>
          <a:p>
            <a:r>
              <a:t>Footer</a:t>
            </a:r>
          </a:p>
        </p:txBody>
      </p:sp>
      <p:sp>
        <p:nvSpPr>
          <p:cNvPr id="5" name="PlaceHolder 4"/>
          <p:cNvSpPr>
            <a:spLocks noGrp="1"/>
          </p:cNvSpPr>
          <p:nvPr>
            <p:ph type="sldNum" idx="35"/>
          </p:nvPr>
        </p:nvSpPr>
        <p:spPr/>
        <p:txBody>
          <a:bodyPr/>
          <a:lstStyle/>
          <a:p>
            <a:fld id="{2E946B1E-915B-45A6-9111-CEC363C1624D}" type="slidenum">
              <a:t>‹Nr.›</a:t>
            </a:fld>
            <a:endParaRPr/>
          </a:p>
        </p:txBody>
      </p:sp>
      <p:sp>
        <p:nvSpPr>
          <p:cNvPr id="6" name="PlaceHolder 5"/>
          <p:cNvSpPr>
            <a:spLocks noGrp="1"/>
          </p:cNvSpPr>
          <p:nvPr>
            <p:ph type="dt" idx="36"/>
          </p:nvPr>
        </p:nvSpPr>
        <p:spPr/>
        <p:txBody>
          <a:body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lstStyle/>
          <a:p>
            <a:r>
              <a:t>Footer</a:t>
            </a:r>
          </a:p>
        </p:txBody>
      </p:sp>
      <p:sp>
        <p:nvSpPr>
          <p:cNvPr id="3" name="PlaceHolder 2"/>
          <p:cNvSpPr>
            <a:spLocks noGrp="1"/>
          </p:cNvSpPr>
          <p:nvPr>
            <p:ph type="sldNum" idx="38"/>
          </p:nvPr>
        </p:nvSpPr>
        <p:spPr/>
        <p:txBody>
          <a:bodyPr/>
          <a:lstStyle/>
          <a:p>
            <a:fld id="{874CC747-E09C-4D30-A267-4E1FF8FB8704}" type="slidenum">
              <a:t>‹Nr.›</a:t>
            </a:fld>
            <a:endParaRPr/>
          </a:p>
        </p:txBody>
      </p:sp>
      <p:sp>
        <p:nvSpPr>
          <p:cNvPr id="4" name="PlaceHolder 3"/>
          <p:cNvSpPr>
            <a:spLocks noGrp="1"/>
          </p:cNvSpPr>
          <p:nvPr>
            <p:ph type="dt" idx="39"/>
          </p:nvPr>
        </p:nvSpPr>
        <p:spPr/>
        <p:txBody>
          <a:body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4.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p>
            <a:pPr indent="0" algn="ctr" defTabSz="914400">
              <a:lnSpc>
                <a:spcPct val="100000"/>
              </a:lnSpc>
              <a:buNone/>
            </a:pPr>
            <a:r>
              <a:rPr lang="en-US" sz="4400" b="0" strike="noStrike" spc="-1">
                <a:solidFill>
                  <a:schemeClr val="dk1"/>
                </a:solidFill>
                <a:latin typeface="Calibri"/>
              </a:rPr>
              <a:t>Click to edit Master title style</a:t>
            </a:r>
          </a:p>
        </p:txBody>
      </p:sp>
      <p:sp>
        <p:nvSpPr>
          <p:cNvPr id="5"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defTabSz="914400">
              <a:lnSpc>
                <a:spcPct val="100000"/>
              </a:lnSpc>
              <a:buNone/>
              <a:defRPr lang="en-US" sz="1200" b="0" strike="noStrike" spc="-1">
                <a:solidFill>
                  <a:schemeClr val="dk1">
                    <a:tint val="75000"/>
                  </a:schemeClr>
                </a:solidFill>
                <a:latin typeface="Calibri"/>
              </a:defRPr>
            </a:lvl1pPr>
          </a:lstStyle>
          <a:p>
            <a:pPr indent="0" defTabSz="914400">
              <a:lnSpc>
                <a:spcPct val="100000"/>
              </a:lnSpc>
              <a:buNone/>
            </a:pPr>
            <a:r>
              <a:rPr lang="en-US" sz="1200" b="0" strike="noStrike" spc="-1">
                <a:solidFill>
                  <a:schemeClr val="dk1">
                    <a:tint val="75000"/>
                  </a:schemeClr>
                </a:solidFill>
                <a:latin typeface="Calibri"/>
              </a:rPr>
              <a:t> </a:t>
            </a:r>
            <a:endParaRPr lang="de-AT" sz="1200" b="0" strike="noStrike" spc="-1">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de-AT" sz="1400" b="0" strike="noStrike" spc="-1">
                <a:solidFill>
                  <a:srgbClr val="000000"/>
                </a:solidFill>
                <a:latin typeface="Times New Roman"/>
              </a:defRPr>
            </a:lvl1pPr>
          </a:lstStyle>
          <a:p>
            <a:pPr indent="0" algn="ctr">
              <a:buNone/>
            </a:pPr>
            <a:r>
              <a:rPr lang="de-AT" sz="1400" b="0" strike="noStrike" spc="-1">
                <a:solidFill>
                  <a:srgbClr val="000000"/>
                </a:solidFill>
                <a:latin typeface="Times New Roman"/>
              </a:rPr>
              <a:t> </a:t>
            </a: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strike="noStrike" spc="-1">
                <a:solidFill>
                  <a:schemeClr val="dk1">
                    <a:tint val="75000"/>
                  </a:schemeClr>
                </a:solidFill>
                <a:latin typeface="Calibri"/>
              </a:defRPr>
            </a:lvl1pPr>
          </a:lstStyle>
          <a:p>
            <a:pPr indent="0" algn="r" defTabSz="914400">
              <a:lnSpc>
                <a:spcPct val="100000"/>
              </a:lnSpc>
              <a:buNone/>
            </a:pPr>
            <a:fld id="{C61503AA-5246-42FC-AA7D-33A38BC9AD77}" type="slidenum">
              <a:rPr lang="en-US" sz="1200" b="0" strike="noStrike" spc="-1">
                <a:solidFill>
                  <a:schemeClr val="dk1">
                    <a:tint val="75000"/>
                  </a:schemeClr>
                </a:solidFill>
                <a:latin typeface="Calibri"/>
              </a:rPr>
              <a:t>‹Nr.›</a:t>
            </a:fld>
            <a:endParaRPr lang="de-AT" sz="12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defTabSz="914400">
              <a:lnSpc>
                <a:spcPct val="100000"/>
              </a:lnSpc>
              <a:buNone/>
              <a:defRPr lang="en-US" sz="1200" b="0" strike="noStrike" spc="-1">
                <a:solidFill>
                  <a:schemeClr val="dk1">
                    <a:tint val="75000"/>
                  </a:schemeClr>
                </a:solidFill>
                <a:latin typeface="Calibri"/>
              </a:defRPr>
            </a:lvl1pPr>
          </a:lstStyle>
          <a:p>
            <a:pPr indent="0" defTabSz="914400">
              <a:lnSpc>
                <a:spcPct val="100000"/>
              </a:lnSpc>
              <a:buNone/>
            </a:pPr>
            <a:r>
              <a:rPr lang="en-US" sz="1200" b="0" strike="noStrike" spc="-1">
                <a:solidFill>
                  <a:schemeClr val="dk1">
                    <a:tint val="75000"/>
                  </a:schemeClr>
                </a:solidFill>
                <a:latin typeface="Calibri"/>
              </a:rPr>
              <a:t>&lt;Datum/Uhrzeit&gt;</a:t>
            </a:r>
            <a:endParaRPr lang="de-AT" sz="1200" b="0" strike="noStrike" spc="-1">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de-AT" sz="1400" b="0" strike="noStrike" spc="-1">
                <a:solidFill>
                  <a:srgbClr val="000000"/>
                </a:solidFill>
                <a:latin typeface="Times New Roman"/>
              </a:defRPr>
            </a:lvl1pPr>
          </a:lstStyle>
          <a:p>
            <a:pPr indent="0" algn="ctr">
              <a:buNone/>
            </a:pPr>
            <a:r>
              <a:rPr lang="de-AT" sz="1400" b="0" strike="noStrike" spc="-1">
                <a:solidFill>
                  <a:srgbClr val="000000"/>
                </a:solidFill>
                <a:latin typeface="Times New Roman"/>
              </a:rPr>
              <a:t>&lt;Fußzeile&gt;</a:t>
            </a: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strike="noStrike" spc="-1">
                <a:solidFill>
                  <a:schemeClr val="dk1">
                    <a:tint val="75000"/>
                  </a:schemeClr>
                </a:solidFill>
                <a:latin typeface="Calibri"/>
              </a:defRPr>
            </a:lvl1pPr>
          </a:lstStyle>
          <a:p>
            <a:pPr indent="0" algn="r" defTabSz="914400">
              <a:lnSpc>
                <a:spcPct val="100000"/>
              </a:lnSpc>
              <a:buNone/>
            </a:pPr>
            <a:fld id="{B78B57CE-9233-4D42-88CA-44CFC9D73484}" type="slidenum">
              <a:rPr lang="en-US" sz="1200" b="0" strike="noStrike" spc="-1">
                <a:solidFill>
                  <a:schemeClr val="dk1">
                    <a:tint val="75000"/>
                  </a:schemeClr>
                </a:solidFill>
                <a:latin typeface="Calibri"/>
              </a:rPr>
              <a:t>‹Nr.›</a:t>
            </a:fld>
            <a:endParaRPr lang="de-AT" sz="1200" b="0" strike="noStrike" spc="-1">
              <a:solidFill>
                <a:srgbClr val="000000"/>
              </a:solidFill>
              <a:latin typeface="Times New Roman"/>
            </a:endParaRPr>
          </a:p>
        </p:txBody>
      </p:sp>
      <p:sp>
        <p:nvSpPr>
          <p:cNvPr id="53" name="PlaceHolder 4"/>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buNone/>
            </a:pPr>
            <a:r>
              <a:rPr lang="en-US" sz="1800" b="0" strike="noStrike" spc="-1">
                <a:solidFill>
                  <a:schemeClr val="dk1"/>
                </a:solidFill>
                <a:latin typeface="Calibri"/>
              </a:rPr>
              <a:t>Format des Titeltextes durch Klicken bearbeiten</a:t>
            </a:r>
          </a:p>
        </p:txBody>
      </p:sp>
      <p:sp>
        <p:nvSpPr>
          <p:cNvPr id="54" name="PlaceHolder 5"/>
          <p:cNvSpPr>
            <a:spLocks noGrp="1"/>
          </p:cNvSpPr>
          <p:nvPr>
            <p:ph type="body"/>
          </p:nvPr>
        </p:nvSpPr>
        <p:spPr>
          <a:xfrm>
            <a:off x="914400" y="2406960"/>
            <a:ext cx="16458840" cy="5965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Format des Gliederungstextes durch Klicken bearbeiten</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Zweite Gliederungsebene</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Dritte Gliederungsebene</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Vierte Gliederungsebene</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Fünfte Gliederungsebene</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Sechste Gliederungsebene</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Siebte Gliederungsebene</a:t>
            </a:r>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7" name="PlaceHolder 1"/>
          <p:cNvSpPr>
            <a:spLocks noGrp="1"/>
          </p:cNvSpPr>
          <p:nvPr>
            <p:ph type="title"/>
          </p:nvPr>
        </p:nvSpPr>
        <p:spPr>
          <a:xfrm>
            <a:off x="914400" y="410400"/>
            <a:ext cx="16458480" cy="1717200"/>
          </a:xfrm>
          <a:prstGeom prst="rect">
            <a:avLst/>
          </a:prstGeom>
          <a:noFill/>
          <a:ln w="0">
            <a:noFill/>
          </a:ln>
        </p:spPr>
        <p:txBody>
          <a:bodyPr lIns="0" tIns="0" rIns="0" bIns="0" anchor="ctr">
            <a:noAutofit/>
          </a:bodyPr>
          <a:lstStyle/>
          <a:p>
            <a:pPr indent="0">
              <a:buNone/>
            </a:pPr>
            <a:r>
              <a:rPr lang="de-AT" sz="1800" b="0" strike="noStrike" spc="-1">
                <a:solidFill>
                  <a:srgbClr val="000000"/>
                </a:solidFill>
                <a:latin typeface="Arial"/>
              </a:rPr>
              <a:t>Format des Titeltextes durch Klicken bearbeiten</a:t>
            </a:r>
          </a:p>
        </p:txBody>
      </p:sp>
      <p:sp>
        <p:nvSpPr>
          <p:cNvPr id="68" name="PlaceHolder 2"/>
          <p:cNvSpPr>
            <a:spLocks noGrp="1"/>
          </p:cNvSpPr>
          <p:nvPr>
            <p:ph type="ftr" idx="34"/>
          </p:nvPr>
        </p:nvSpPr>
        <p:spPr>
          <a:xfrm>
            <a:off x="3124080" y="6356520"/>
            <a:ext cx="2894760" cy="364320"/>
          </a:xfrm>
          <a:prstGeom prst="rect">
            <a:avLst/>
          </a:prstGeom>
          <a:noFill/>
          <a:ln w="0">
            <a:noFill/>
          </a:ln>
        </p:spPr>
        <p:txBody>
          <a:bodyPr lIns="91440" tIns="45720" rIns="91440" bIns="45720" anchor="ctr">
            <a:noAutofit/>
          </a:bodyPr>
          <a:lstStyle>
            <a:lvl1pPr indent="0" algn="ctr">
              <a:buNone/>
              <a:defRPr lang="de-AT" sz="1400" b="0" strike="noStrike" spc="-1">
                <a:solidFill>
                  <a:srgbClr val="000000"/>
                </a:solidFill>
                <a:latin typeface="Times New Roman"/>
              </a:defRPr>
            </a:lvl1pPr>
          </a:lstStyle>
          <a:p>
            <a:pPr indent="0" algn="ctr">
              <a:buNone/>
            </a:pPr>
            <a:r>
              <a:rPr lang="de-AT" sz="1400" b="0" strike="noStrike" spc="-1">
                <a:solidFill>
                  <a:srgbClr val="000000"/>
                </a:solidFill>
                <a:latin typeface="Times New Roman"/>
              </a:rPr>
              <a:t>&lt;Fußzeile&gt;</a:t>
            </a:r>
          </a:p>
        </p:txBody>
      </p:sp>
      <p:sp>
        <p:nvSpPr>
          <p:cNvPr id="69" name="PlaceHolder 3"/>
          <p:cNvSpPr>
            <a:spLocks noGrp="1"/>
          </p:cNvSpPr>
          <p:nvPr>
            <p:ph type="sldNum" idx="35"/>
          </p:nvPr>
        </p:nvSpPr>
        <p:spPr>
          <a:xfrm>
            <a:off x="6553080" y="6356520"/>
            <a:ext cx="213300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strike="noStrike" spc="-1">
                <a:solidFill>
                  <a:srgbClr val="888888"/>
                </a:solidFill>
                <a:latin typeface="Calibri"/>
                <a:ea typeface="Calibri"/>
              </a:defRPr>
            </a:lvl1pPr>
          </a:lstStyle>
          <a:p>
            <a:pPr indent="0" algn="r">
              <a:lnSpc>
                <a:spcPct val="100000"/>
              </a:lnSpc>
              <a:buNone/>
              <a:tabLst>
                <a:tab pos="0" algn="l"/>
              </a:tabLst>
            </a:pPr>
            <a:fld id="{9EE2336A-4367-4A21-AC24-FAB29F25B9D4}" type="slidenum">
              <a:rPr lang="en-US" sz="1200" b="0" strike="noStrike" spc="-1">
                <a:solidFill>
                  <a:srgbClr val="888888"/>
                </a:solidFill>
                <a:latin typeface="Calibri"/>
                <a:ea typeface="Calibri"/>
              </a:rPr>
              <a:t>‹Nr.›</a:t>
            </a:fld>
            <a:endParaRPr lang="de-AT" sz="1200" b="0" strike="noStrike" spc="-1">
              <a:solidFill>
                <a:srgbClr val="000000"/>
              </a:solidFill>
              <a:latin typeface="Times New Roman"/>
            </a:endParaRPr>
          </a:p>
        </p:txBody>
      </p:sp>
      <p:sp>
        <p:nvSpPr>
          <p:cNvPr id="70" name="PlaceHolder 4"/>
          <p:cNvSpPr>
            <a:spLocks noGrp="1"/>
          </p:cNvSpPr>
          <p:nvPr>
            <p:ph type="dt" idx="36"/>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de-AT" sz="1400" b="0" strike="noStrike" spc="-1">
                <a:solidFill>
                  <a:srgbClr val="000000"/>
                </a:solidFill>
                <a:latin typeface="Times New Roman"/>
              </a:defRPr>
            </a:lvl1pPr>
          </a:lstStyle>
          <a:p>
            <a:pPr indent="0">
              <a:buNone/>
            </a:pPr>
            <a:r>
              <a:rPr lang="de-AT" sz="1400" b="0" strike="noStrike" spc="-1">
                <a:solidFill>
                  <a:srgbClr val="000000"/>
                </a:solidFill>
                <a:latin typeface="Times New Roman"/>
              </a:rPr>
              <a:t>&lt;Datum/Uhrzeit&gt;</a:t>
            </a:r>
          </a:p>
        </p:txBody>
      </p:sp>
      <p:sp>
        <p:nvSpPr>
          <p:cNvPr id="71" name="PlaceHolder 5"/>
          <p:cNvSpPr>
            <a:spLocks noGrp="1"/>
          </p:cNvSpPr>
          <p:nvPr>
            <p:ph type="body"/>
          </p:nvPr>
        </p:nvSpPr>
        <p:spPr>
          <a:xfrm>
            <a:off x="914400" y="2406960"/>
            <a:ext cx="16458840" cy="5965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AT"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AT"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AT"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AT"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AT" sz="20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AT" sz="20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AT" sz="2000" b="0" strike="noStrike" spc="-1">
                <a:solidFill>
                  <a:srgbClr val="000000"/>
                </a:solidFill>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PlaceHolder 1"/>
          <p:cNvSpPr>
            <a:spLocks noGrp="1"/>
          </p:cNvSpPr>
          <p:nvPr>
            <p:ph type="ftr" idx="37"/>
          </p:nvPr>
        </p:nvSpPr>
        <p:spPr>
          <a:xfrm>
            <a:off x="3124080" y="6356520"/>
            <a:ext cx="2894760" cy="364320"/>
          </a:xfrm>
          <a:prstGeom prst="rect">
            <a:avLst/>
          </a:prstGeom>
          <a:noFill/>
          <a:ln w="0">
            <a:noFill/>
          </a:ln>
        </p:spPr>
        <p:txBody>
          <a:bodyPr lIns="91440" tIns="45720" rIns="91440" bIns="45720" anchor="ctr">
            <a:noAutofit/>
          </a:bodyPr>
          <a:lstStyle>
            <a:lvl1pPr indent="0" algn="ctr">
              <a:buNone/>
              <a:defRPr lang="de-AT" sz="1400" b="0" strike="noStrike" spc="-1">
                <a:solidFill>
                  <a:srgbClr val="000000"/>
                </a:solidFill>
                <a:latin typeface="Times New Roman"/>
              </a:defRPr>
            </a:lvl1pPr>
          </a:lstStyle>
          <a:p>
            <a:pPr indent="0" algn="ctr">
              <a:buNone/>
            </a:pPr>
            <a:r>
              <a:rPr lang="de-AT" sz="1400" b="0" strike="noStrike" spc="-1">
                <a:solidFill>
                  <a:srgbClr val="000000"/>
                </a:solidFill>
                <a:latin typeface="Times New Roman"/>
              </a:rPr>
              <a:t>&lt;Fußzeile&gt;</a:t>
            </a:r>
          </a:p>
        </p:txBody>
      </p:sp>
      <p:sp>
        <p:nvSpPr>
          <p:cNvPr id="75" name="PlaceHolder 2"/>
          <p:cNvSpPr>
            <a:spLocks noGrp="1"/>
          </p:cNvSpPr>
          <p:nvPr>
            <p:ph type="sldNum" idx="38"/>
          </p:nvPr>
        </p:nvSpPr>
        <p:spPr>
          <a:xfrm>
            <a:off x="6553080" y="6356520"/>
            <a:ext cx="213300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strike="noStrike" spc="-1">
                <a:solidFill>
                  <a:srgbClr val="888888"/>
                </a:solidFill>
                <a:latin typeface="Calibri"/>
                <a:ea typeface="Calibri"/>
              </a:defRPr>
            </a:lvl1pPr>
          </a:lstStyle>
          <a:p>
            <a:pPr indent="0" algn="r">
              <a:lnSpc>
                <a:spcPct val="100000"/>
              </a:lnSpc>
              <a:buNone/>
              <a:tabLst>
                <a:tab pos="0" algn="l"/>
              </a:tabLst>
            </a:pPr>
            <a:fld id="{2D6D501F-DF76-4EA7-8760-355DCF3E1915}" type="slidenum">
              <a:rPr lang="en-US" sz="1200" b="0" strike="noStrike" spc="-1">
                <a:solidFill>
                  <a:srgbClr val="888888"/>
                </a:solidFill>
                <a:latin typeface="Calibri"/>
                <a:ea typeface="Calibri"/>
              </a:rPr>
              <a:t>‹Nr.›</a:t>
            </a:fld>
            <a:endParaRPr lang="de-AT" sz="1200" b="0" strike="noStrike" spc="-1">
              <a:solidFill>
                <a:srgbClr val="000000"/>
              </a:solidFill>
              <a:latin typeface="Times New Roman"/>
            </a:endParaRPr>
          </a:p>
        </p:txBody>
      </p:sp>
      <p:sp>
        <p:nvSpPr>
          <p:cNvPr id="76" name="PlaceHolder 3"/>
          <p:cNvSpPr>
            <a:spLocks noGrp="1"/>
          </p:cNvSpPr>
          <p:nvPr>
            <p:ph type="dt" idx="39"/>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de-AT" sz="1400" b="0" strike="noStrike" spc="-1">
                <a:solidFill>
                  <a:srgbClr val="000000"/>
                </a:solidFill>
                <a:latin typeface="Times New Roman"/>
              </a:defRPr>
            </a:lvl1pPr>
          </a:lstStyle>
          <a:p>
            <a:pPr indent="0">
              <a:buNone/>
            </a:pPr>
            <a:r>
              <a:rPr lang="de-AT" sz="1400" b="0" strike="noStrike" spc="-1">
                <a:solidFill>
                  <a:srgbClr val="000000"/>
                </a:solidFill>
                <a:latin typeface="Times New Roman"/>
              </a:rPr>
              <a:t>&lt;Datum/Uhrzeit&gt;</a:t>
            </a:r>
          </a:p>
        </p:txBody>
      </p:sp>
      <p:sp>
        <p:nvSpPr>
          <p:cNvPr id="77" name="PlaceHolder 4"/>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buNone/>
            </a:pPr>
            <a:r>
              <a:rPr lang="de-AT" sz="1400" b="0" strike="noStrike" spc="-1">
                <a:solidFill>
                  <a:srgbClr val="000000"/>
                </a:solidFill>
                <a:latin typeface="Arial"/>
              </a:rPr>
              <a:t>Format des Titeltextes durch Klicken bearbeiten</a:t>
            </a:r>
          </a:p>
        </p:txBody>
      </p:sp>
      <p:sp>
        <p:nvSpPr>
          <p:cNvPr id="78" name="PlaceHolder 5"/>
          <p:cNvSpPr>
            <a:spLocks noGrp="1"/>
          </p:cNvSpPr>
          <p:nvPr>
            <p:ph type="body"/>
          </p:nvPr>
        </p:nvSpPr>
        <p:spPr>
          <a:xfrm>
            <a:off x="914400" y="2406960"/>
            <a:ext cx="16458840" cy="5965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AT"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AT"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AT"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AT"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AT" sz="20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AT" sz="20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AT" sz="2000" b="0" strike="noStrike" spc="-1">
                <a:solidFill>
                  <a:srgbClr val="000000"/>
                </a:solidFill>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3"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hyperlink" Target="https://tinasophie15.github.io/tcpp_project_chatgpt_learn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Group 3"/>
          <p:cNvGrpSpPr/>
          <p:nvPr/>
        </p:nvGrpSpPr>
        <p:grpSpPr>
          <a:xfrm>
            <a:off x="8991720" y="-135360"/>
            <a:ext cx="9295920" cy="10445040"/>
            <a:chOff x="8991720" y="-135360"/>
            <a:chExt cx="9295920" cy="10445040"/>
          </a:xfrm>
        </p:grpSpPr>
        <p:sp>
          <p:nvSpPr>
            <p:cNvPr id="86" name="Freeform 4"/>
            <p:cNvSpPr/>
            <p:nvPr/>
          </p:nvSpPr>
          <p:spPr>
            <a:xfrm>
              <a:off x="8991720" y="0"/>
              <a:ext cx="9295920" cy="10309680"/>
            </a:xfrm>
            <a:custGeom>
              <a:avLst/>
              <a:gdLst>
                <a:gd name="textAreaLeft" fmla="*/ 0 w 9295920"/>
                <a:gd name="textAreaRight" fmla="*/ 9296280 w 9295920"/>
                <a:gd name="textAreaTop" fmla="*/ 0 h 10309680"/>
                <a:gd name="textAreaBottom" fmla="*/ 10310040 h 10309680"/>
              </a:gdLst>
              <a:ahLst/>
              <a:cxnLst/>
              <a:rect l="textAreaLeft" t="textAreaTop" r="textAreaRight" b="textAreaBottom"/>
              <a:pathLst>
                <a:path w="2570205" h="2899719">
                  <a:moveTo>
                    <a:pt x="0" y="0"/>
                  </a:moveTo>
                  <a:lnTo>
                    <a:pt x="2570205" y="0"/>
                  </a:lnTo>
                  <a:lnTo>
                    <a:pt x="2570205" y="2899719"/>
                  </a:lnTo>
                  <a:lnTo>
                    <a:pt x="0" y="2899719"/>
                  </a:lnTo>
                  <a:close/>
                </a:path>
              </a:pathLst>
            </a:custGeom>
            <a:solidFill>
              <a:srgbClr val="6D98BA"/>
            </a:solidFill>
            <a:ln w="28575" cap="sq">
              <a:solidFill>
                <a:srgbClr val="000000"/>
              </a:solidFill>
              <a:miter/>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87" name="TextBox 5"/>
            <p:cNvSpPr/>
            <p:nvPr/>
          </p:nvSpPr>
          <p:spPr>
            <a:xfrm>
              <a:off x="8991720" y="-135360"/>
              <a:ext cx="9295920" cy="10445040"/>
            </a:xfrm>
            <a:prstGeom prst="rect">
              <a:avLst/>
            </a:prstGeom>
            <a:solidFill>
              <a:srgbClr val="6D98BA"/>
            </a:solidFill>
            <a:ln w="0">
              <a:solidFill>
                <a:srgbClr val="000000"/>
              </a:solidFill>
            </a:ln>
          </p:spPr>
          <p:style>
            <a:lnRef idx="0">
              <a:scrgbClr r="0" g="0" b="0"/>
            </a:lnRef>
            <a:fillRef idx="0">
              <a:scrgbClr r="0" g="0" b="0"/>
            </a:fillRef>
            <a:effectRef idx="0">
              <a:scrgbClr r="0" g="0" b="0"/>
            </a:effectRef>
            <a:fontRef idx="minor"/>
          </p:style>
          <p:txBody>
            <a:bodyPr lIns="50760" tIns="50760" rIns="50760" bIns="50760" anchor="ctr">
              <a:noAutofit/>
            </a:bodyPr>
            <a:lstStyle/>
            <a:p>
              <a:pPr algn="ctr" defTabSz="914400">
                <a:lnSpc>
                  <a:spcPts val="2659"/>
                </a:lnSpc>
              </a:pPr>
              <a:endParaRPr lang="en-US" sz="1800" b="0" strike="noStrike" spc="-1">
                <a:solidFill>
                  <a:schemeClr val="dk1"/>
                </a:solidFill>
                <a:latin typeface="Calibri"/>
              </a:endParaRPr>
            </a:p>
          </p:txBody>
        </p:sp>
      </p:grpSp>
      <p:sp>
        <p:nvSpPr>
          <p:cNvPr id="88" name="Freeform 2"/>
          <p:cNvSpPr/>
          <p:nvPr/>
        </p:nvSpPr>
        <p:spPr>
          <a:xfrm>
            <a:off x="632520" y="3969360"/>
            <a:ext cx="7729200" cy="5893200"/>
          </a:xfrm>
          <a:custGeom>
            <a:avLst/>
            <a:gdLst>
              <a:gd name="textAreaLeft" fmla="*/ 0 w 7729200"/>
              <a:gd name="textAreaRight" fmla="*/ 7729560 w 7729200"/>
              <a:gd name="textAreaTop" fmla="*/ 0 h 5893200"/>
              <a:gd name="textAreaBottom" fmla="*/ 5893560 h 5893200"/>
            </a:gdLst>
            <a:ahLst/>
            <a:cxnLst/>
            <a:rect l="textAreaLeft" t="textAreaTop" r="textAreaRight" b="textAreaBottom"/>
            <a:pathLst>
              <a:path w="7729481" h="5893729">
                <a:moveTo>
                  <a:pt x="0" y="0"/>
                </a:moveTo>
                <a:lnTo>
                  <a:pt x="7729481" y="0"/>
                </a:lnTo>
                <a:lnTo>
                  <a:pt x="7729481" y="5893729"/>
                </a:lnTo>
                <a:lnTo>
                  <a:pt x="0" y="5893729"/>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89" name="TextBox 6"/>
          <p:cNvSpPr/>
          <p:nvPr/>
        </p:nvSpPr>
        <p:spPr>
          <a:xfrm>
            <a:off x="1325880" y="1103040"/>
            <a:ext cx="15635880" cy="365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6000" b="0" strike="noStrike" spc="-1" dirty="0">
                <a:solidFill>
                  <a:schemeClr val="dk1"/>
                </a:solidFill>
                <a:latin typeface="Fredoka"/>
                <a:ea typeface="Fredoka"/>
              </a:rPr>
              <a:t>Does ChatGPT enhance student learning? </a:t>
            </a:r>
            <a:br>
              <a:rPr sz="6000" dirty="0"/>
            </a:br>
            <a:r>
              <a:rPr lang="en-US" sz="6000" b="0" strike="noStrike" spc="-1" dirty="0">
                <a:solidFill>
                  <a:schemeClr val="dk1"/>
                </a:solidFill>
                <a:latin typeface="Fredoka"/>
                <a:ea typeface="Fredoka"/>
              </a:rPr>
              <a:t>A systematic review and meta-analysis of experimental studies</a:t>
            </a:r>
            <a:endParaRPr lang="de-AT" sz="6000" b="0" strike="noStrike" spc="-1" dirty="0">
              <a:solidFill>
                <a:srgbClr val="000000"/>
              </a:solidFill>
              <a:latin typeface="Arial"/>
            </a:endParaRPr>
          </a:p>
        </p:txBody>
      </p:sp>
      <p:sp>
        <p:nvSpPr>
          <p:cNvPr id="90" name="Textfeld 3"/>
          <p:cNvSpPr/>
          <p:nvPr/>
        </p:nvSpPr>
        <p:spPr>
          <a:xfrm>
            <a:off x="5279400" y="3998880"/>
            <a:ext cx="7729200" cy="57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de-AT" sz="3200" b="0" strike="noStrike" spc="-1">
                <a:solidFill>
                  <a:schemeClr val="dk1"/>
                </a:solidFill>
                <a:latin typeface="Fredoka"/>
              </a:rPr>
              <a:t>Deng et al. (2024)</a:t>
            </a:r>
            <a:endParaRPr lang="de-AT" sz="3200" b="0" strike="noStrike" spc="-1">
              <a:solidFill>
                <a:srgbClr val="000000"/>
              </a:solidFill>
              <a:latin typeface="Arial"/>
            </a:endParaRPr>
          </a:p>
        </p:txBody>
      </p:sp>
      <p:sp>
        <p:nvSpPr>
          <p:cNvPr id="91" name="Textfeld 5"/>
          <p:cNvSpPr/>
          <p:nvPr/>
        </p:nvSpPr>
        <p:spPr>
          <a:xfrm>
            <a:off x="10091520" y="7429680"/>
            <a:ext cx="815292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3600" b="0" strike="noStrike" spc="-1" dirty="0">
                <a:solidFill>
                  <a:schemeClr val="dk1"/>
                </a:solidFill>
                <a:latin typeface="Century Gothic"/>
              </a:rPr>
              <a:t>Maria Clara Escanuela dos Santos</a:t>
            </a:r>
            <a:endParaRPr lang="de-AT" sz="3600" b="0" strike="noStrike" spc="-1" dirty="0">
              <a:solidFill>
                <a:srgbClr val="000000"/>
              </a:solidFill>
              <a:latin typeface="Arial"/>
            </a:endParaRPr>
          </a:p>
          <a:p>
            <a:pPr defTabSz="914400">
              <a:lnSpc>
                <a:spcPct val="100000"/>
              </a:lnSpc>
            </a:pPr>
            <a:r>
              <a:rPr lang="de-AT" sz="3600" b="0" strike="noStrike" spc="-1" dirty="0">
                <a:solidFill>
                  <a:schemeClr val="dk1"/>
                </a:solidFill>
                <a:latin typeface="Century Gothic"/>
              </a:rPr>
              <a:t>Marina Tatjana Hofer</a:t>
            </a:r>
            <a:endParaRPr lang="de-AT" sz="3600" b="0" strike="noStrike" spc="-1" dirty="0">
              <a:solidFill>
                <a:srgbClr val="000000"/>
              </a:solidFill>
              <a:latin typeface="Arial"/>
            </a:endParaRPr>
          </a:p>
          <a:p>
            <a:pPr defTabSz="914400">
              <a:lnSpc>
                <a:spcPct val="100000"/>
              </a:lnSpc>
            </a:pPr>
            <a:r>
              <a:rPr lang="de-AT" sz="3600" b="0" strike="noStrike" spc="-1" dirty="0">
                <a:solidFill>
                  <a:schemeClr val="dk1"/>
                </a:solidFill>
                <a:latin typeface="Century Gothic"/>
              </a:rPr>
              <a:t>Christina Sophie Knes</a:t>
            </a:r>
            <a:endParaRPr lang="de-AT" sz="3600" b="0" strike="noStrike" spc="-1" dirty="0">
              <a:solidFill>
                <a:srgbClr val="000000"/>
              </a:solidFill>
              <a:latin typeface="Arial"/>
            </a:endParaRPr>
          </a:p>
        </p:txBody>
      </p:sp>
      <p:pic>
        <p:nvPicPr>
          <p:cNvPr id="92" name="Picture 2" descr="Chatgpt logo Icon"/>
          <p:cNvPicPr/>
          <p:nvPr/>
        </p:nvPicPr>
        <p:blipFill>
          <a:blip r:embed="rId4"/>
          <a:stretch/>
        </p:blipFill>
        <p:spPr>
          <a:xfrm>
            <a:off x="2362320" y="6591240"/>
            <a:ext cx="837720" cy="837720"/>
          </a:xfrm>
          <a:prstGeom prst="rect">
            <a:avLst/>
          </a:prstGeom>
          <a:ln w="0">
            <a:noFill/>
          </a:ln>
        </p:spPr>
      </p:pic>
      <p:sp>
        <p:nvSpPr>
          <p:cNvPr id="93" name="Textfeld 92"/>
          <p:cNvSpPr txBox="1"/>
          <p:nvPr/>
        </p:nvSpPr>
        <p:spPr>
          <a:xfrm>
            <a:off x="9099720" y="5016600"/>
            <a:ext cx="215640" cy="232560"/>
          </a:xfrm>
          <a:prstGeom prst="rect">
            <a:avLst/>
          </a:prstGeom>
          <a:noFill/>
          <a:ln w="0">
            <a:noFill/>
          </a:ln>
        </p:spPr>
        <p:txBody>
          <a:bodyPr lIns="90000" tIns="45000" rIns="90000" bIns="45000" anchor="t">
            <a:noAutofit/>
          </a:bodyPr>
          <a:lstStyle/>
          <a:p>
            <a:r>
              <a:rPr lang="de-AT" sz="1000" b="0" strike="noStrike" spc="-1">
                <a:solidFill>
                  <a:srgbClr val="000000"/>
                </a:solidFill>
                <a:latin typeface="Arial"/>
              </a:rPr>
              <a:t> </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10"/>
          <p:cNvSpPr txBox="1">
            <a:spLocks noGrp="1"/>
          </p:cNvSpPr>
          <p:nvPr>
            <p:ph type="title"/>
          </p:nvPr>
        </p:nvSpPr>
        <p:spPr>
          <a:xfrm>
            <a:off x="914400" y="410400"/>
            <a:ext cx="16458480" cy="1717200"/>
          </a:xfrm>
          <a:prstGeom prst="rect">
            <a:avLst/>
          </a:prstGeom>
          <a:noFill/>
          <a:ln>
            <a:noFill/>
          </a:ln>
        </p:spPr>
        <p:txBody>
          <a:bodyPr spcFirstLastPara="1" wrap="square" lIns="0" tIns="0" rIns="0" bIns="0" anchor="ctr" anchorCtr="0">
            <a:noAutofit/>
          </a:bodyPr>
          <a:lstStyle/>
          <a:p>
            <a:pPr marL="0" lvl="0" indent="0" algn="l" rtl="0">
              <a:lnSpc>
                <a:spcPct val="100000"/>
              </a:lnSpc>
              <a:spcBef>
                <a:spcPts val="0"/>
              </a:spcBef>
              <a:spcAft>
                <a:spcPts val="0"/>
              </a:spcAft>
              <a:buClr>
                <a:schemeClr val="dk1"/>
              </a:buClr>
              <a:buSzPts val="4400"/>
              <a:buFont typeface="Fredoka"/>
              <a:buNone/>
            </a:pPr>
            <a:r>
              <a:rPr lang="de-AT" sz="4400" b="0" strike="noStrike">
                <a:solidFill>
                  <a:schemeClr val="dk1"/>
                </a:solidFill>
                <a:latin typeface="Fredoka"/>
                <a:ea typeface="Fredoka"/>
                <a:cs typeface="Fredoka"/>
                <a:sym typeface="Fredoka"/>
              </a:rPr>
              <a:t>Why this meta-analysis?</a:t>
            </a:r>
            <a:endParaRPr sz="4400" b="0" strike="noStrike">
              <a:solidFill>
                <a:srgbClr val="000000"/>
              </a:solidFill>
              <a:latin typeface="Arial"/>
              <a:ea typeface="Arial"/>
              <a:cs typeface="Arial"/>
              <a:sym typeface="Arial"/>
            </a:endParaRPr>
          </a:p>
        </p:txBody>
      </p:sp>
      <p:sp>
        <p:nvSpPr>
          <p:cNvPr id="72" name="Google Shape;72;p10"/>
          <p:cNvSpPr txBox="1">
            <a:spLocks noGrp="1"/>
          </p:cNvSpPr>
          <p:nvPr>
            <p:ph type="subTitle" idx="1"/>
          </p:nvPr>
        </p:nvSpPr>
        <p:spPr>
          <a:xfrm>
            <a:off x="914400" y="2406950"/>
            <a:ext cx="13055700" cy="7071900"/>
          </a:xfrm>
          <a:prstGeom prst="rect">
            <a:avLst/>
          </a:prstGeom>
          <a:noFill/>
          <a:ln>
            <a:noFill/>
          </a:ln>
        </p:spPr>
        <p:txBody>
          <a:bodyPr spcFirstLastPara="1" wrap="square" lIns="0" tIns="0" rIns="0" bIns="0" anchor="ctr" anchorCtr="0">
            <a:noAutofit/>
          </a:bodyPr>
          <a:lstStyle/>
          <a:p>
            <a:pPr marL="0" lvl="0" indent="0" algn="l" rtl="0">
              <a:spcBef>
                <a:spcPts val="1000"/>
              </a:spcBef>
              <a:spcAft>
                <a:spcPts val="0"/>
              </a:spcAft>
              <a:buNone/>
            </a:pPr>
            <a:r>
              <a:rPr lang="de-AT" b="1">
                <a:latin typeface="Century Gothic"/>
                <a:ea typeface="Century Gothic"/>
                <a:cs typeface="Century Gothic"/>
                <a:sym typeface="Century Gothic"/>
              </a:rPr>
              <a:t>The debate is loud, but the evidence is scattered.</a:t>
            </a:r>
            <a:endParaRPr b="1">
              <a:latin typeface="Century Gothic"/>
              <a:ea typeface="Century Gothic"/>
              <a:cs typeface="Century Gothic"/>
              <a:sym typeface="Century Gothic"/>
            </a:endParaRPr>
          </a:p>
          <a:p>
            <a:pPr marL="0" lvl="0" indent="0" algn="l" rtl="0">
              <a:lnSpc>
                <a:spcPct val="100000"/>
              </a:lnSpc>
              <a:spcBef>
                <a:spcPts val="0"/>
              </a:spcBef>
              <a:spcAft>
                <a:spcPts val="0"/>
              </a:spcAft>
              <a:buNone/>
            </a:pPr>
            <a:endParaRPr b="1">
              <a:latin typeface="Century Gothic"/>
              <a:ea typeface="Century Gothic"/>
              <a:cs typeface="Century Gothic"/>
              <a:sym typeface="Century Gothic"/>
            </a:endParaRPr>
          </a:p>
          <a:p>
            <a:pPr marL="457200" lvl="0" indent="-406400" algn="l" rtl="0">
              <a:lnSpc>
                <a:spcPct val="100000"/>
              </a:lnSpc>
              <a:spcBef>
                <a:spcPts val="0"/>
              </a:spcBef>
              <a:spcAft>
                <a:spcPts val="0"/>
              </a:spcAft>
              <a:buSzPts val="2800"/>
              <a:buFont typeface="Century Gothic"/>
              <a:buChar char="●"/>
            </a:pPr>
            <a:r>
              <a:rPr lang="de-AT">
                <a:latin typeface="Century Gothic"/>
                <a:ea typeface="Century Gothic"/>
                <a:cs typeface="Century Gothic"/>
                <a:sym typeface="Century Gothic"/>
              </a:rPr>
              <a:t>students already use ChatGPT </a:t>
            </a:r>
            <a:endParaRPr>
              <a:latin typeface="Century Gothic"/>
              <a:ea typeface="Century Gothic"/>
              <a:cs typeface="Century Gothic"/>
              <a:sym typeface="Century Gothic"/>
            </a:endParaRPr>
          </a:p>
          <a:p>
            <a:pPr marL="914400" lvl="1" indent="-406400" algn="l" rtl="0">
              <a:lnSpc>
                <a:spcPct val="100000"/>
              </a:lnSpc>
              <a:spcBef>
                <a:spcPts val="0"/>
              </a:spcBef>
              <a:spcAft>
                <a:spcPts val="0"/>
              </a:spcAft>
              <a:buSzPts val="2800"/>
              <a:buFont typeface="Century Gothic"/>
              <a:buChar char="○"/>
            </a:pPr>
            <a:r>
              <a:rPr lang="de-AT" sz="2800">
                <a:latin typeface="Century Gothic"/>
                <a:ea typeface="Century Gothic"/>
                <a:cs typeface="Century Gothic"/>
                <a:sym typeface="Century Gothic"/>
              </a:rPr>
              <a:t>writing</a:t>
            </a:r>
            <a:endParaRPr sz="2800">
              <a:latin typeface="Century Gothic"/>
              <a:ea typeface="Century Gothic"/>
              <a:cs typeface="Century Gothic"/>
              <a:sym typeface="Century Gothic"/>
            </a:endParaRPr>
          </a:p>
          <a:p>
            <a:pPr marL="914400" lvl="1" indent="-406400" algn="l" rtl="0">
              <a:lnSpc>
                <a:spcPct val="100000"/>
              </a:lnSpc>
              <a:spcBef>
                <a:spcPts val="0"/>
              </a:spcBef>
              <a:spcAft>
                <a:spcPts val="0"/>
              </a:spcAft>
              <a:buSzPts val="2800"/>
              <a:buFont typeface="Century Gothic"/>
              <a:buChar char="○"/>
            </a:pPr>
            <a:r>
              <a:rPr lang="de-AT" sz="2800">
                <a:latin typeface="Century Gothic"/>
                <a:ea typeface="Century Gothic"/>
                <a:cs typeface="Century Gothic"/>
                <a:sym typeface="Century Gothic"/>
              </a:rPr>
              <a:t>explanations</a:t>
            </a:r>
            <a:endParaRPr sz="2800">
              <a:latin typeface="Century Gothic"/>
              <a:ea typeface="Century Gothic"/>
              <a:cs typeface="Century Gothic"/>
              <a:sym typeface="Century Gothic"/>
            </a:endParaRPr>
          </a:p>
          <a:p>
            <a:pPr marL="914400" lvl="1" indent="-406400" algn="l" rtl="0">
              <a:lnSpc>
                <a:spcPct val="100000"/>
              </a:lnSpc>
              <a:spcBef>
                <a:spcPts val="0"/>
              </a:spcBef>
              <a:spcAft>
                <a:spcPts val="0"/>
              </a:spcAft>
              <a:buSzPts val="2800"/>
              <a:buFont typeface="Century Gothic"/>
              <a:buChar char="○"/>
            </a:pPr>
            <a:r>
              <a:rPr lang="de-AT" sz="2800">
                <a:latin typeface="Century Gothic"/>
                <a:ea typeface="Century Gothic"/>
                <a:cs typeface="Century Gothic"/>
                <a:sym typeface="Century Gothic"/>
              </a:rPr>
              <a:t>feedback </a:t>
            </a:r>
            <a:endParaRPr sz="2800">
              <a:latin typeface="Century Gothic"/>
              <a:ea typeface="Century Gothic"/>
              <a:cs typeface="Century Gothic"/>
              <a:sym typeface="Century Gothic"/>
            </a:endParaRPr>
          </a:p>
          <a:p>
            <a:pPr marL="914400" lvl="1" indent="-406400" algn="l" rtl="0">
              <a:lnSpc>
                <a:spcPct val="100000"/>
              </a:lnSpc>
              <a:spcBef>
                <a:spcPts val="0"/>
              </a:spcBef>
              <a:spcAft>
                <a:spcPts val="0"/>
              </a:spcAft>
              <a:buSzPts val="2800"/>
              <a:buFont typeface="Century Gothic"/>
              <a:buChar char="○"/>
            </a:pPr>
            <a:r>
              <a:rPr lang="de-AT" sz="2800">
                <a:latin typeface="Century Gothic"/>
                <a:ea typeface="Century Gothic"/>
                <a:cs typeface="Century Gothic"/>
                <a:sym typeface="Century Gothic"/>
              </a:rPr>
              <a:t>learining support</a:t>
            </a:r>
            <a:endParaRPr sz="2800">
              <a:latin typeface="Century Gothic"/>
              <a:ea typeface="Century Gothic"/>
              <a:cs typeface="Century Gothic"/>
              <a:sym typeface="Century Gothic"/>
            </a:endParaRPr>
          </a:p>
          <a:p>
            <a:pPr marL="457200" lvl="0" indent="-406400" algn="l" rtl="0">
              <a:lnSpc>
                <a:spcPct val="100000"/>
              </a:lnSpc>
              <a:spcBef>
                <a:spcPts val="0"/>
              </a:spcBef>
              <a:spcAft>
                <a:spcPts val="0"/>
              </a:spcAft>
              <a:buSzPts val="2800"/>
              <a:buFont typeface="Century Gothic"/>
              <a:buChar char="●"/>
            </a:pPr>
            <a:r>
              <a:rPr lang="de-AT">
                <a:latin typeface="Century Gothic"/>
                <a:ea typeface="Century Gothic"/>
                <a:cs typeface="Century Gothic"/>
                <a:sym typeface="Century Gothic"/>
              </a:rPr>
              <a:t>teachers have to decide: ban, allow or integrate?</a:t>
            </a:r>
            <a:endParaRPr>
              <a:latin typeface="Century Gothic"/>
              <a:ea typeface="Century Gothic"/>
              <a:cs typeface="Century Gothic"/>
              <a:sym typeface="Century Gothic"/>
            </a:endParaRPr>
          </a:p>
          <a:p>
            <a:pPr marL="457200" lvl="0" indent="-406400" algn="l" rtl="0">
              <a:lnSpc>
                <a:spcPct val="100000"/>
              </a:lnSpc>
              <a:spcBef>
                <a:spcPts val="0"/>
              </a:spcBef>
              <a:spcAft>
                <a:spcPts val="0"/>
              </a:spcAft>
              <a:buSzPts val="2800"/>
              <a:buFont typeface="Century Gothic"/>
              <a:buChar char="●"/>
            </a:pPr>
            <a:r>
              <a:rPr lang="de-AT">
                <a:latin typeface="Century Gothic"/>
                <a:ea typeface="Century Gothic"/>
                <a:cs typeface="Century Gothic"/>
                <a:sym typeface="Century Gothic"/>
              </a:rPr>
              <a:t>single studies are difficult to compare</a:t>
            </a:r>
            <a:endParaRPr>
              <a:latin typeface="Century Gothic"/>
              <a:ea typeface="Century Gothic"/>
              <a:cs typeface="Century Gothic"/>
              <a:sym typeface="Century Gothic"/>
            </a:endParaRPr>
          </a:p>
          <a:p>
            <a:pPr marL="457200" lvl="0" indent="-406400" algn="l" rtl="0">
              <a:lnSpc>
                <a:spcPct val="100000"/>
              </a:lnSpc>
              <a:spcBef>
                <a:spcPts val="0"/>
              </a:spcBef>
              <a:spcAft>
                <a:spcPts val="0"/>
              </a:spcAft>
              <a:buSzPts val="2800"/>
              <a:buFont typeface="Century Gothic"/>
              <a:buChar char="●"/>
            </a:pPr>
            <a:r>
              <a:rPr lang="de-AT">
                <a:latin typeface="Century Gothic"/>
                <a:ea typeface="Century Gothic"/>
                <a:cs typeface="Century Gothic"/>
                <a:sym typeface="Century Gothic"/>
              </a:rPr>
              <a:t>perception studies cannot show whether ChatGPT causes learning gains</a:t>
            </a:r>
            <a:br>
              <a:rPr lang="de-AT">
                <a:latin typeface="Century Gothic"/>
                <a:ea typeface="Century Gothic"/>
                <a:cs typeface="Century Gothic"/>
                <a:sym typeface="Century Gothic"/>
              </a:rPr>
            </a:br>
            <a:endParaRPr>
              <a:latin typeface="Century Gothic"/>
              <a:ea typeface="Century Gothic"/>
              <a:cs typeface="Century Gothic"/>
              <a:sym typeface="Century Gothic"/>
            </a:endParaRPr>
          </a:p>
          <a:p>
            <a:pPr marL="457200" marR="0" lvl="0" indent="-406400" algn="l" rtl="0">
              <a:lnSpc>
                <a:spcPct val="100000"/>
              </a:lnSpc>
              <a:spcBef>
                <a:spcPts val="0"/>
              </a:spcBef>
              <a:spcAft>
                <a:spcPts val="0"/>
              </a:spcAft>
              <a:buSzPts val="2800"/>
              <a:buFont typeface="Century Gothic"/>
              <a:buChar char="●"/>
            </a:pPr>
            <a:r>
              <a:rPr lang="de-AT" b="1">
                <a:latin typeface="Century Gothic"/>
                <a:ea typeface="Century Gothic"/>
                <a:cs typeface="Century Gothic"/>
                <a:sym typeface="Century Gothic"/>
              </a:rPr>
              <a:t>Review Logic: </a:t>
            </a:r>
            <a:r>
              <a:rPr lang="de-AT">
                <a:latin typeface="Century Gothic"/>
                <a:ea typeface="Century Gothic"/>
                <a:cs typeface="Century Gothic"/>
                <a:sym typeface="Century Gothic"/>
              </a:rPr>
              <a:t>experimental and quasi-experimental studies</a:t>
            </a:r>
            <a:endParaRPr>
              <a:latin typeface="Century Gothic"/>
              <a:ea typeface="Century Gothic"/>
              <a:cs typeface="Century Gothic"/>
              <a:sym typeface="Century Gothic"/>
            </a:endParaRPr>
          </a:p>
          <a:p>
            <a:pPr marL="457200" marR="0" lvl="0" indent="-406400" algn="l" rtl="0">
              <a:lnSpc>
                <a:spcPct val="100000"/>
              </a:lnSpc>
              <a:spcBef>
                <a:spcPts val="0"/>
              </a:spcBef>
              <a:spcAft>
                <a:spcPts val="0"/>
              </a:spcAft>
              <a:buSzPts val="2800"/>
              <a:buFont typeface="Century Gothic"/>
              <a:buChar char="●"/>
            </a:pPr>
            <a:r>
              <a:rPr lang="de-AT">
                <a:latin typeface="Century Gothic"/>
                <a:ea typeface="Century Gothic"/>
                <a:cs typeface="Century Gothic"/>
                <a:sym typeface="Century Gothic"/>
              </a:rPr>
              <a:t>What happens when students use ChatGPT compared with a control condition?</a:t>
            </a:r>
            <a:endParaRPr>
              <a:latin typeface="Century Gothic"/>
              <a:ea typeface="Century Gothic"/>
              <a:cs typeface="Century Gothic"/>
              <a:sym typeface="Century Gothic"/>
            </a:endParaRPr>
          </a:p>
          <a:p>
            <a:pPr marL="457200" marR="0" lvl="0" indent="0" algn="l" rtl="0">
              <a:lnSpc>
                <a:spcPct val="100000"/>
              </a:lnSpc>
              <a:spcBef>
                <a:spcPts val="0"/>
              </a:spcBef>
              <a:spcAft>
                <a:spcPts val="0"/>
              </a:spcAft>
              <a:buNone/>
            </a:pPr>
            <a:endParaRPr>
              <a:latin typeface="Century Gothic"/>
              <a:ea typeface="Century Gothic"/>
              <a:cs typeface="Century Gothic"/>
              <a:sym typeface="Century Gothic"/>
            </a:endParaRPr>
          </a:p>
        </p:txBody>
      </p:sp>
      <p:sp>
        <p:nvSpPr>
          <p:cNvPr id="73" name="Google Shape;73;p10"/>
          <p:cNvSpPr/>
          <p:nvPr/>
        </p:nvSpPr>
        <p:spPr>
          <a:xfrm>
            <a:off x="9716800" y="406442"/>
            <a:ext cx="8063700" cy="1725000"/>
          </a:xfrm>
          <a:prstGeom prst="roundRect">
            <a:avLst>
              <a:gd name="adj" fmla="val 16667"/>
            </a:avLst>
          </a:prstGeom>
          <a:solidFill>
            <a:srgbClr val="6D98BA"/>
          </a:solidFill>
          <a:ln w="9525" cap="flat" cmpd="sng">
            <a:solidFill>
              <a:srgbClr val="3465A4"/>
            </a:solidFill>
            <a:prstDash val="solid"/>
            <a:round/>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r>
              <a:rPr lang="de-AT" sz="2400" b="1" strike="noStrike">
                <a:solidFill>
                  <a:schemeClr val="dk1"/>
                </a:solidFill>
                <a:latin typeface="Century Gothic"/>
                <a:ea typeface="Century Gothic"/>
                <a:cs typeface="Century Gothic"/>
                <a:sym typeface="Century Gothic"/>
              </a:rPr>
              <a:t>Core message: </a:t>
            </a:r>
            <a:r>
              <a:rPr lang="de-AT" sz="2400" b="0" strike="noStrike">
                <a:solidFill>
                  <a:schemeClr val="dk1"/>
                </a:solidFill>
                <a:latin typeface="Century Gothic"/>
                <a:ea typeface="Century Gothic"/>
                <a:cs typeface="Century Gothic"/>
                <a:sym typeface="Century Gothic"/>
              </a:rPr>
              <a:t>The paper moves the debate from opinions about ChatGPT to experimental evidence about learning.</a:t>
            </a:r>
            <a:endParaRPr sz="2400" b="0" strike="noStrike">
              <a:solidFill>
                <a:srgbClr val="FFFFFF"/>
              </a:solidFill>
              <a:latin typeface="Arial"/>
              <a:ea typeface="Arial"/>
              <a:cs typeface="Arial"/>
              <a:sym typeface="Arial"/>
            </a:endParaRPr>
          </a:p>
        </p:txBody>
      </p:sp>
      <p:pic>
        <p:nvPicPr>
          <p:cNvPr id="4" name="Grafik 3" descr="Ein Bild, das Entwurf, Zeichnung, Darstellung, Cartoon enthält.&#10;&#10;KI-generierte Inhalte können fehlerhaft sein.">
            <a:extLst>
              <a:ext uri="{FF2B5EF4-FFF2-40B4-BE49-F238E27FC236}">
                <a16:creationId xmlns:a16="http://schemas.microsoft.com/office/drawing/2014/main" id="{192F2132-DCD3-C83C-66E0-0A54F8B71579}"/>
              </a:ext>
            </a:extLst>
          </p:cNvPr>
          <p:cNvPicPr>
            <a:picLocks noChangeAspect="1"/>
          </p:cNvPicPr>
          <p:nvPr/>
        </p:nvPicPr>
        <p:blipFill>
          <a:blip r:embed="rId3"/>
          <a:stretch>
            <a:fillRect/>
          </a:stretch>
        </p:blipFill>
        <p:spPr>
          <a:xfrm>
            <a:off x="11868149" y="2403693"/>
            <a:ext cx="7187330" cy="7671670"/>
          </a:xfrm>
          <a:prstGeom prst="rect">
            <a:avLst/>
          </a:prstGeom>
        </p:spPr>
      </p:pic>
    </p:spTree>
    <p:extLst>
      <p:ext uri="{BB962C8B-B14F-4D97-AF65-F5344CB8AC3E}">
        <p14:creationId xmlns:p14="http://schemas.microsoft.com/office/powerpoint/2010/main" val="134397196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8"/>
        <p:cNvGrpSpPr/>
        <p:nvPr/>
      </p:nvGrpSpPr>
      <p:grpSpPr>
        <a:xfrm>
          <a:off x="0" y="0"/>
          <a:ext cx="0" cy="0"/>
          <a:chOff x="0" y="0"/>
          <a:chExt cx="0" cy="0"/>
        </a:xfrm>
      </p:grpSpPr>
      <p:sp>
        <p:nvSpPr>
          <p:cNvPr id="79" name="Google Shape;79;p11"/>
          <p:cNvSpPr/>
          <p:nvPr/>
        </p:nvSpPr>
        <p:spPr>
          <a:xfrm>
            <a:off x="8077725" y="5964565"/>
            <a:ext cx="8137800" cy="3556839"/>
          </a:xfrm>
          <a:prstGeom prst="roundRect">
            <a:avLst>
              <a:gd name="adj" fmla="val 16667"/>
            </a:avLst>
          </a:prstGeom>
          <a:solidFill>
            <a:srgbClr val="6D98BA"/>
          </a:solidFill>
          <a:ln w="9525" cap="flat" cmpd="sng">
            <a:solidFill>
              <a:srgbClr val="3465A4"/>
            </a:solidFill>
            <a:prstDash val="solid"/>
            <a:round/>
            <a:headEnd type="none" w="sm" len="sm"/>
            <a:tailEnd type="none" w="sm" len="sm"/>
          </a:ln>
        </p:spPr>
        <p:txBody>
          <a:bodyPr spcFirstLastPara="1" wrap="square" lIns="90000" tIns="45000" rIns="90000" bIns="45000" anchor="ctr" anchorCtr="0">
            <a:noAutofit/>
          </a:bodyPr>
          <a:lstStyle/>
          <a:p>
            <a:pPr marL="0" marR="0" lvl="0" indent="0" algn="l" rtl="0">
              <a:lnSpc>
                <a:spcPct val="100000"/>
              </a:lnSpc>
              <a:spcBef>
                <a:spcPts val="0"/>
              </a:spcBef>
              <a:spcAft>
                <a:spcPts val="0"/>
              </a:spcAft>
              <a:buNone/>
            </a:pPr>
            <a:r>
              <a:rPr lang="de-AT" sz="2800" b="1" strike="noStrike" dirty="0">
                <a:solidFill>
                  <a:schemeClr val="dk1"/>
                </a:solidFill>
                <a:latin typeface="Century Gothic"/>
                <a:ea typeface="Century Gothic"/>
                <a:cs typeface="Century Gothic"/>
                <a:sym typeface="Century Gothic"/>
              </a:rPr>
              <a:t>Not: </a:t>
            </a:r>
            <a:r>
              <a:rPr lang="de-AT" sz="2800" b="0" strike="noStrike" dirty="0">
                <a:solidFill>
                  <a:schemeClr val="dk1"/>
                </a:solidFill>
                <a:latin typeface="Century Gothic"/>
                <a:ea typeface="Century Gothic"/>
                <a:cs typeface="Century Gothic"/>
                <a:sym typeface="Century Gothic"/>
              </a:rPr>
              <a:t>“Does ChatGPT </a:t>
            </a:r>
            <a:r>
              <a:rPr lang="de-AT" sz="2800" dirty="0" err="1">
                <a:solidFill>
                  <a:schemeClr val="dk1"/>
                </a:solidFill>
                <a:latin typeface="Century Gothic"/>
                <a:ea typeface="Century Gothic"/>
                <a:cs typeface="Century Gothic"/>
                <a:sym typeface="Century Gothic"/>
              </a:rPr>
              <a:t>is</a:t>
            </a:r>
            <a:r>
              <a:rPr lang="de-AT" sz="2800" dirty="0">
                <a:solidFill>
                  <a:schemeClr val="dk1"/>
                </a:solidFill>
                <a:latin typeface="Century Gothic"/>
                <a:ea typeface="Century Gothic"/>
                <a:cs typeface="Century Gothic"/>
                <a:sym typeface="Century Gothic"/>
              </a:rPr>
              <a:t> </a:t>
            </a:r>
            <a:r>
              <a:rPr lang="de-AT" sz="2800" dirty="0" err="1">
                <a:solidFill>
                  <a:schemeClr val="dk1"/>
                </a:solidFill>
                <a:latin typeface="Century Gothic"/>
                <a:ea typeface="Century Gothic"/>
                <a:cs typeface="Century Gothic"/>
                <a:sym typeface="Century Gothic"/>
              </a:rPr>
              <a:t>useful</a:t>
            </a:r>
            <a:r>
              <a:rPr lang="de-AT" sz="2800" b="0" strike="noStrike" dirty="0">
                <a:solidFill>
                  <a:schemeClr val="dk1"/>
                </a:solidFill>
                <a:latin typeface="Century Gothic"/>
                <a:ea typeface="Century Gothic"/>
                <a:cs typeface="Century Gothic"/>
                <a:sym typeface="Century Gothic"/>
              </a:rPr>
              <a:t>?”</a:t>
            </a:r>
            <a:endParaRPr lang="de-DE" sz="2800" b="0" strike="noStrike" dirty="0">
              <a:solidFill>
                <a:schemeClr val="dk1"/>
              </a:solidFill>
              <a:latin typeface="Arial"/>
              <a:ea typeface="Arial"/>
              <a:cs typeface="Arial"/>
            </a:endParaRPr>
          </a:p>
          <a:p>
            <a:pPr marL="0" marR="0" lvl="0" indent="0" algn="l" rtl="0">
              <a:lnSpc>
                <a:spcPct val="100000"/>
              </a:lnSpc>
              <a:spcBef>
                <a:spcPts val="0"/>
              </a:spcBef>
              <a:spcAft>
                <a:spcPts val="0"/>
              </a:spcAft>
              <a:buNone/>
            </a:pPr>
            <a:endParaRPr sz="2800" b="0" strike="noStrike" dirty="0">
              <a:solidFill>
                <a:srgbClr val="FFFFFF"/>
              </a:solidFill>
              <a:latin typeface="Arial"/>
              <a:ea typeface="Arial"/>
              <a:cs typeface="Arial"/>
            </a:endParaRPr>
          </a:p>
          <a:p>
            <a:pPr marL="0" marR="0" lvl="0" indent="0" algn="r" rtl="0">
              <a:lnSpc>
                <a:spcPct val="100000"/>
              </a:lnSpc>
              <a:spcBef>
                <a:spcPts val="0"/>
              </a:spcBef>
              <a:spcAft>
                <a:spcPts val="0"/>
              </a:spcAft>
              <a:buNone/>
            </a:pPr>
            <a:r>
              <a:rPr lang="de-AT" sz="2800" b="1" strike="noStrike" dirty="0">
                <a:solidFill>
                  <a:schemeClr val="dk1"/>
                </a:solidFill>
                <a:latin typeface="Century Gothic"/>
                <a:ea typeface="Century Gothic"/>
                <a:cs typeface="Century Gothic"/>
                <a:sym typeface="Century Gothic"/>
              </a:rPr>
              <a:t>But:</a:t>
            </a:r>
            <a:r>
              <a:rPr lang="de-AT" sz="2800" dirty="0">
                <a:solidFill>
                  <a:schemeClr val="dk1"/>
                </a:solidFill>
                <a:latin typeface="Century Gothic"/>
                <a:ea typeface="Century Gothic"/>
                <a:cs typeface="Century Gothic"/>
                <a:sym typeface="Century Gothic"/>
              </a:rPr>
              <a:t> “Under </a:t>
            </a:r>
            <a:r>
              <a:rPr lang="de-AT" sz="2800" dirty="0" err="1">
                <a:solidFill>
                  <a:schemeClr val="dk1"/>
                </a:solidFill>
                <a:latin typeface="Century Gothic"/>
                <a:ea typeface="Century Gothic"/>
                <a:cs typeface="Century Gothic"/>
                <a:sym typeface="Century Gothic"/>
              </a:rPr>
              <a:t>which</a:t>
            </a:r>
            <a:r>
              <a:rPr lang="de-AT" sz="2800" dirty="0">
                <a:solidFill>
                  <a:schemeClr val="dk1"/>
                </a:solidFill>
                <a:latin typeface="Century Gothic"/>
                <a:ea typeface="Century Gothic"/>
                <a:cs typeface="Century Gothic"/>
                <a:sym typeface="Century Gothic"/>
              </a:rPr>
              <a:t> </a:t>
            </a:r>
            <a:r>
              <a:rPr lang="de-AT" sz="2800" dirty="0" err="1">
                <a:solidFill>
                  <a:schemeClr val="dk1"/>
                </a:solidFill>
                <a:latin typeface="Century Gothic"/>
                <a:ea typeface="Century Gothic"/>
                <a:cs typeface="Century Gothic"/>
                <a:sym typeface="Century Gothic"/>
              </a:rPr>
              <a:t>conditions</a:t>
            </a:r>
            <a:r>
              <a:rPr lang="de-AT" sz="2800" dirty="0">
                <a:solidFill>
                  <a:schemeClr val="dk1"/>
                </a:solidFill>
                <a:latin typeface="Century Gothic"/>
                <a:ea typeface="Century Gothic"/>
                <a:cs typeface="Century Gothic"/>
                <a:sym typeface="Century Gothic"/>
              </a:rPr>
              <a:t> </a:t>
            </a:r>
            <a:br>
              <a:rPr lang="de-AT" sz="2800" dirty="0">
                <a:latin typeface="Century Gothic"/>
                <a:ea typeface="Century Gothic"/>
                <a:cs typeface="Century Gothic"/>
              </a:rPr>
            </a:br>
            <a:r>
              <a:rPr lang="de-AT" sz="2800" dirty="0" err="1">
                <a:solidFill>
                  <a:schemeClr val="dk1"/>
                </a:solidFill>
                <a:latin typeface="Century Gothic"/>
                <a:ea typeface="Century Gothic"/>
                <a:cs typeface="Century Gothic"/>
                <a:sym typeface="Century Gothic"/>
              </a:rPr>
              <a:t>does</a:t>
            </a:r>
            <a:r>
              <a:rPr lang="de-AT" sz="2800" dirty="0">
                <a:solidFill>
                  <a:schemeClr val="dk1"/>
                </a:solidFill>
                <a:latin typeface="Century Gothic"/>
                <a:ea typeface="Century Gothic"/>
                <a:cs typeface="Century Gothic"/>
                <a:sym typeface="Century Gothic"/>
              </a:rPr>
              <a:t> </a:t>
            </a:r>
            <a:r>
              <a:rPr lang="de-AT" sz="2800" dirty="0" err="1">
                <a:solidFill>
                  <a:schemeClr val="dk1"/>
                </a:solidFill>
                <a:latin typeface="Century Gothic"/>
                <a:ea typeface="Century Gothic"/>
                <a:cs typeface="Century Gothic"/>
                <a:sym typeface="Century Gothic"/>
              </a:rPr>
              <a:t>it</a:t>
            </a:r>
            <a:r>
              <a:rPr lang="de-AT" sz="2800" dirty="0">
                <a:solidFill>
                  <a:schemeClr val="dk1"/>
                </a:solidFill>
                <a:latin typeface="Century Gothic"/>
                <a:ea typeface="Century Gothic"/>
                <a:cs typeface="Century Gothic"/>
                <a:sym typeface="Century Gothic"/>
              </a:rPr>
              <a:t> support </a:t>
            </a:r>
            <a:r>
              <a:rPr lang="de-AT" sz="2800" dirty="0" err="1">
                <a:solidFill>
                  <a:schemeClr val="dk1"/>
                </a:solidFill>
                <a:latin typeface="Century Gothic"/>
                <a:ea typeface="Century Gothic"/>
                <a:cs typeface="Century Gothic"/>
                <a:sym typeface="Century Gothic"/>
              </a:rPr>
              <a:t>learning</a:t>
            </a:r>
            <a:r>
              <a:rPr lang="de-AT" sz="2800" dirty="0">
                <a:solidFill>
                  <a:schemeClr val="dk1"/>
                </a:solidFill>
                <a:latin typeface="Century Gothic"/>
                <a:ea typeface="Century Gothic"/>
                <a:cs typeface="Century Gothic"/>
                <a:sym typeface="Century Gothic"/>
              </a:rPr>
              <a:t>?” </a:t>
            </a:r>
            <a:endParaRPr sz="2800" dirty="0">
              <a:solidFill>
                <a:schemeClr val="dk1"/>
              </a:solidFill>
              <a:latin typeface="Century Gothic"/>
              <a:ea typeface="Century Gothic"/>
              <a:cs typeface="Century Gothic"/>
            </a:endParaRPr>
          </a:p>
          <a:p>
            <a:pPr algn="r"/>
            <a:r>
              <a:rPr lang="de-AT" sz="2800" b="1" dirty="0">
                <a:solidFill>
                  <a:schemeClr val="dk1"/>
                </a:solidFill>
                <a:latin typeface="Century Gothic"/>
                <a:ea typeface="Century Gothic"/>
                <a:cs typeface="Century Gothic"/>
                <a:sym typeface="Century Gothic"/>
              </a:rPr>
              <a:t>And: </a:t>
            </a:r>
            <a:r>
              <a:rPr lang="de-AT" sz="2800" dirty="0">
                <a:solidFill>
                  <a:schemeClr val="dk1"/>
                </a:solidFill>
                <a:latin typeface="Century Gothic"/>
                <a:ea typeface="Century Gothic"/>
                <a:cs typeface="Century Gothic"/>
                <a:sym typeface="Century Gothic"/>
              </a:rPr>
              <a:t>“</a:t>
            </a:r>
            <a:r>
              <a:rPr lang="de-AT" sz="2800" b="0" strike="noStrike" err="1">
                <a:solidFill>
                  <a:schemeClr val="dk1"/>
                </a:solidFill>
                <a:latin typeface="Century Gothic"/>
                <a:ea typeface="Century Gothic"/>
                <a:cs typeface="Century Gothic"/>
                <a:sym typeface="Century Gothic"/>
              </a:rPr>
              <a:t>For</a:t>
            </a:r>
            <a:r>
              <a:rPr lang="de-AT" sz="2800" b="0" strike="noStrike" dirty="0">
                <a:solidFill>
                  <a:schemeClr val="dk1"/>
                </a:solidFill>
                <a:latin typeface="Century Gothic"/>
                <a:ea typeface="Century Gothic"/>
                <a:cs typeface="Century Gothic"/>
                <a:sym typeface="Century Gothic"/>
              </a:rPr>
              <a:t> </a:t>
            </a:r>
            <a:r>
              <a:rPr lang="de-AT" sz="2800" b="0" strike="noStrike" err="1">
                <a:solidFill>
                  <a:schemeClr val="dk1"/>
                </a:solidFill>
                <a:latin typeface="Century Gothic"/>
                <a:ea typeface="Century Gothic"/>
                <a:cs typeface="Century Gothic"/>
                <a:sym typeface="Century Gothic"/>
              </a:rPr>
              <a:t>which</a:t>
            </a:r>
            <a:r>
              <a:rPr lang="de-AT" sz="2800" b="0" strike="noStrike" dirty="0">
                <a:solidFill>
                  <a:schemeClr val="dk1"/>
                </a:solidFill>
                <a:latin typeface="Century Gothic"/>
                <a:ea typeface="Century Gothic"/>
                <a:cs typeface="Century Gothic"/>
                <a:sym typeface="Century Gothic"/>
              </a:rPr>
              <a:t> </a:t>
            </a:r>
            <a:r>
              <a:rPr lang="de-AT" sz="2800" b="0" strike="noStrike" err="1">
                <a:solidFill>
                  <a:schemeClr val="dk1"/>
                </a:solidFill>
                <a:latin typeface="Century Gothic"/>
                <a:ea typeface="Century Gothic"/>
                <a:cs typeface="Century Gothic"/>
                <a:sym typeface="Century Gothic"/>
              </a:rPr>
              <a:t>outcomes</a:t>
            </a:r>
            <a:r>
              <a:rPr lang="de-AT" sz="2800" b="0" strike="noStrike" dirty="0">
                <a:solidFill>
                  <a:schemeClr val="dk1"/>
                </a:solidFill>
                <a:latin typeface="Century Gothic"/>
                <a:ea typeface="Century Gothic"/>
                <a:cs typeface="Century Gothic"/>
                <a:sym typeface="Century Gothic"/>
              </a:rPr>
              <a:t>, </a:t>
            </a:r>
            <a:br>
              <a:rPr lang="de-AT" sz="2800" dirty="0">
                <a:solidFill>
                  <a:schemeClr val="dk1"/>
                </a:solidFill>
                <a:latin typeface="Century Gothic"/>
                <a:ea typeface="Century Gothic"/>
                <a:cs typeface="Century Gothic"/>
                <a:sym typeface="Century Gothic"/>
              </a:rPr>
            </a:br>
            <a:r>
              <a:rPr lang="de-AT" sz="2800" b="0" strike="noStrike" dirty="0">
                <a:solidFill>
                  <a:schemeClr val="dk1"/>
                </a:solidFill>
                <a:latin typeface="Century Gothic"/>
                <a:ea typeface="Century Gothic"/>
                <a:cs typeface="Century Gothic"/>
                <a:sym typeface="Century Gothic"/>
              </a:rPr>
              <a:t>in </a:t>
            </a:r>
            <a:r>
              <a:rPr lang="de-AT" sz="2800" b="0" strike="noStrike" err="1">
                <a:solidFill>
                  <a:schemeClr val="dk1"/>
                </a:solidFill>
                <a:latin typeface="Century Gothic"/>
                <a:ea typeface="Century Gothic"/>
                <a:cs typeface="Century Gothic"/>
                <a:sym typeface="Century Gothic"/>
              </a:rPr>
              <a:t>which</a:t>
            </a:r>
            <a:r>
              <a:rPr lang="de-AT" sz="2800" b="0" strike="noStrike" dirty="0">
                <a:solidFill>
                  <a:schemeClr val="dk1"/>
                </a:solidFill>
                <a:latin typeface="Century Gothic"/>
                <a:ea typeface="Century Gothic"/>
                <a:cs typeface="Century Gothic"/>
                <a:sym typeface="Century Gothic"/>
              </a:rPr>
              <a:t> </a:t>
            </a:r>
            <a:r>
              <a:rPr lang="de-AT" sz="2800" b="0" strike="noStrike" err="1">
                <a:solidFill>
                  <a:schemeClr val="dk1"/>
                </a:solidFill>
                <a:latin typeface="Century Gothic"/>
                <a:ea typeface="Century Gothic"/>
                <a:cs typeface="Century Gothic"/>
                <a:sym typeface="Century Gothic"/>
              </a:rPr>
              <a:t>contexts</a:t>
            </a:r>
            <a:r>
              <a:rPr lang="de-AT" sz="2800" b="0" strike="noStrike" dirty="0">
                <a:solidFill>
                  <a:schemeClr val="dk1"/>
                </a:solidFill>
                <a:latin typeface="Century Gothic"/>
                <a:ea typeface="Century Gothic"/>
                <a:cs typeface="Century Gothic"/>
                <a:sym typeface="Century Gothic"/>
              </a:rPr>
              <a:t>,</a:t>
            </a:r>
            <a:r>
              <a:rPr lang="de-AT" sz="2800" dirty="0">
                <a:solidFill>
                  <a:schemeClr val="dk1"/>
                </a:solidFill>
                <a:latin typeface="Century Gothic"/>
                <a:ea typeface="Century Gothic"/>
                <a:cs typeface="Century Gothic"/>
                <a:sym typeface="Century Gothic"/>
              </a:rPr>
              <a:t> </a:t>
            </a:r>
            <a:r>
              <a:rPr lang="de-AT" sz="2800" b="0" strike="noStrike" dirty="0">
                <a:solidFill>
                  <a:schemeClr val="dk1"/>
                </a:solidFill>
                <a:latin typeface="Century Gothic"/>
                <a:ea typeface="Century Gothic"/>
                <a:cs typeface="Century Gothic"/>
                <a:sym typeface="Century Gothic"/>
              </a:rPr>
              <a:t>and </a:t>
            </a:r>
            <a:br>
              <a:rPr lang="de-AT" sz="2800" dirty="0">
                <a:solidFill>
                  <a:schemeClr val="dk1"/>
                </a:solidFill>
                <a:latin typeface="Century Gothic"/>
                <a:ea typeface="Century Gothic"/>
                <a:cs typeface="Century Gothic"/>
                <a:sym typeface="Century Gothic"/>
              </a:rPr>
            </a:br>
            <a:r>
              <a:rPr lang="de-AT" sz="2800" b="0" strike="noStrike" err="1">
                <a:solidFill>
                  <a:schemeClr val="dk1"/>
                </a:solidFill>
                <a:latin typeface="Century Gothic"/>
                <a:ea typeface="Century Gothic"/>
                <a:cs typeface="Century Gothic"/>
                <a:sym typeface="Century Gothic"/>
              </a:rPr>
              <a:t>with</a:t>
            </a:r>
            <a:r>
              <a:rPr lang="de-AT" sz="2800" b="0" strike="noStrike" dirty="0">
                <a:solidFill>
                  <a:schemeClr val="dk1"/>
                </a:solidFill>
                <a:latin typeface="Century Gothic"/>
                <a:ea typeface="Century Gothic"/>
                <a:cs typeface="Century Gothic"/>
                <a:sym typeface="Century Gothic"/>
              </a:rPr>
              <a:t> </a:t>
            </a:r>
            <a:r>
              <a:rPr lang="de-AT" sz="2800" b="0" strike="noStrike" err="1">
                <a:solidFill>
                  <a:schemeClr val="dk1"/>
                </a:solidFill>
                <a:latin typeface="Century Gothic"/>
                <a:ea typeface="Century Gothic"/>
                <a:cs typeface="Century Gothic"/>
                <a:sym typeface="Century Gothic"/>
              </a:rPr>
              <a:t>what</a:t>
            </a:r>
            <a:r>
              <a:rPr lang="de-AT" sz="2800" b="0" strike="noStrike" dirty="0">
                <a:solidFill>
                  <a:schemeClr val="dk1"/>
                </a:solidFill>
                <a:latin typeface="Century Gothic"/>
                <a:ea typeface="Century Gothic"/>
                <a:cs typeface="Century Gothic"/>
                <a:sym typeface="Century Gothic"/>
              </a:rPr>
              <a:t> </a:t>
            </a:r>
            <a:r>
              <a:rPr lang="de-AT" sz="2800" b="0" strike="noStrike" err="1">
                <a:solidFill>
                  <a:schemeClr val="dk1"/>
                </a:solidFill>
                <a:latin typeface="Century Gothic"/>
                <a:ea typeface="Century Gothic"/>
                <a:cs typeface="Century Gothic"/>
                <a:sym typeface="Century Gothic"/>
              </a:rPr>
              <a:t>methodological</a:t>
            </a:r>
            <a:r>
              <a:rPr lang="de-AT" sz="2800" b="0" strike="noStrike" dirty="0">
                <a:solidFill>
                  <a:schemeClr val="dk1"/>
                </a:solidFill>
                <a:latin typeface="Century Gothic"/>
                <a:ea typeface="Century Gothic"/>
                <a:cs typeface="Century Gothic"/>
                <a:sym typeface="Century Gothic"/>
              </a:rPr>
              <a:t> </a:t>
            </a:r>
            <a:r>
              <a:rPr lang="de-AT" sz="2800" b="0" strike="noStrike" err="1">
                <a:solidFill>
                  <a:schemeClr val="dk1"/>
                </a:solidFill>
                <a:latin typeface="Century Gothic"/>
                <a:ea typeface="Century Gothic"/>
                <a:cs typeface="Century Gothic"/>
                <a:sym typeface="Century Gothic"/>
              </a:rPr>
              <a:t>quality</a:t>
            </a:r>
            <a:r>
              <a:rPr lang="de-AT" sz="2800" b="0" strike="noStrike" dirty="0">
                <a:solidFill>
                  <a:schemeClr val="dk1"/>
                </a:solidFill>
                <a:latin typeface="Century Gothic"/>
                <a:ea typeface="Century Gothic"/>
                <a:cs typeface="Century Gothic"/>
                <a:sym typeface="Century Gothic"/>
              </a:rPr>
              <a:t>?”</a:t>
            </a:r>
            <a:endParaRPr sz="2800" b="0" strike="noStrike" dirty="0">
              <a:solidFill>
                <a:schemeClr val="dk1"/>
              </a:solidFill>
              <a:latin typeface="Arial"/>
              <a:ea typeface="Arial"/>
              <a:cs typeface="Arial"/>
              <a:sym typeface="Arial"/>
            </a:endParaRPr>
          </a:p>
        </p:txBody>
      </p:sp>
      <p:sp>
        <p:nvSpPr>
          <p:cNvPr id="80" name="Google Shape;80;p11"/>
          <p:cNvSpPr/>
          <p:nvPr/>
        </p:nvSpPr>
        <p:spPr>
          <a:xfrm>
            <a:off x="428400" y="1689480"/>
            <a:ext cx="4373280" cy="3773160"/>
          </a:xfrm>
          <a:prstGeom prst="roundRect">
            <a:avLst>
              <a:gd name="adj" fmla="val 16667"/>
            </a:avLst>
          </a:prstGeom>
          <a:solidFill>
            <a:srgbClr val="6D98BA"/>
          </a:solidFill>
          <a:ln w="9525" cap="flat" cmpd="sng">
            <a:solidFill>
              <a:srgbClr val="3465A4"/>
            </a:solidFill>
            <a:prstDash val="solid"/>
            <a:round/>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r>
              <a:rPr lang="de-AT" sz="2800" b="1" strike="noStrike" dirty="0">
                <a:solidFill>
                  <a:schemeClr val="dk1"/>
                </a:solidFill>
                <a:latin typeface="Century Gothic"/>
                <a:ea typeface="Century Gothic"/>
                <a:cs typeface="Century Gothic"/>
                <a:sym typeface="Century Gothic"/>
              </a:rPr>
              <a:t>RQ1: </a:t>
            </a:r>
            <a:r>
              <a:rPr lang="de-AT" sz="2800" b="1" strike="noStrike" dirty="0" err="1">
                <a:solidFill>
                  <a:schemeClr val="dk1"/>
                </a:solidFill>
                <a:latin typeface="Century Gothic"/>
                <a:ea typeface="Century Gothic"/>
                <a:cs typeface="Century Gothic"/>
                <a:sym typeface="Century Gothic"/>
              </a:rPr>
              <a:t>Where</a:t>
            </a:r>
            <a:r>
              <a:rPr lang="de-AT" sz="2800" b="1" strike="noStrike" dirty="0">
                <a:solidFill>
                  <a:schemeClr val="dk1"/>
                </a:solidFill>
                <a:latin typeface="Century Gothic"/>
                <a:ea typeface="Century Gothic"/>
                <a:cs typeface="Century Gothic"/>
                <a:sym typeface="Century Gothic"/>
              </a:rPr>
              <a:t> and </a:t>
            </a:r>
            <a:r>
              <a:rPr lang="de-AT" sz="2800" b="1" strike="noStrike" dirty="0" err="1">
                <a:solidFill>
                  <a:schemeClr val="dk1"/>
                </a:solidFill>
                <a:latin typeface="Century Gothic"/>
                <a:ea typeface="Century Gothic"/>
                <a:cs typeface="Century Gothic"/>
                <a:sym typeface="Century Gothic"/>
              </a:rPr>
              <a:t>how</a:t>
            </a:r>
            <a:r>
              <a:rPr lang="de-AT" sz="2800" b="1" strike="noStrike" dirty="0">
                <a:solidFill>
                  <a:schemeClr val="dk1"/>
                </a:solidFill>
                <a:latin typeface="Century Gothic"/>
                <a:ea typeface="Century Gothic"/>
                <a:cs typeface="Century Gothic"/>
                <a:sym typeface="Century Gothic"/>
              </a:rPr>
              <a:t> </a:t>
            </a:r>
            <a:r>
              <a:rPr lang="de-AT" sz="2800" b="1" strike="noStrike" dirty="0" err="1">
                <a:solidFill>
                  <a:schemeClr val="dk1"/>
                </a:solidFill>
                <a:latin typeface="Century Gothic"/>
                <a:ea typeface="Century Gothic"/>
                <a:cs typeface="Century Gothic"/>
                <a:sym typeface="Century Gothic"/>
              </a:rPr>
              <a:t>is</a:t>
            </a:r>
            <a:r>
              <a:rPr lang="de-AT" sz="2800" b="1" strike="noStrike" dirty="0">
                <a:solidFill>
                  <a:schemeClr val="dk1"/>
                </a:solidFill>
                <a:latin typeface="Century Gothic"/>
                <a:ea typeface="Century Gothic"/>
                <a:cs typeface="Century Gothic"/>
                <a:sym typeface="Century Gothic"/>
              </a:rPr>
              <a:t> ChatGPT </a:t>
            </a:r>
            <a:r>
              <a:rPr lang="de-AT" sz="2800" b="1" strike="noStrike" dirty="0" err="1">
                <a:solidFill>
                  <a:schemeClr val="dk1"/>
                </a:solidFill>
                <a:latin typeface="Century Gothic"/>
                <a:ea typeface="Century Gothic"/>
                <a:cs typeface="Century Gothic"/>
                <a:sym typeface="Century Gothic"/>
              </a:rPr>
              <a:t>used</a:t>
            </a:r>
            <a:r>
              <a:rPr lang="de-AT" sz="2800" b="1" strike="noStrike" dirty="0">
                <a:solidFill>
                  <a:schemeClr val="dk1"/>
                </a:solidFill>
                <a:latin typeface="Century Gothic"/>
                <a:ea typeface="Century Gothic"/>
                <a:cs typeface="Century Gothic"/>
                <a:sym typeface="Century Gothic"/>
              </a:rPr>
              <a:t>?</a:t>
            </a:r>
            <a:endParaRPr lang="de-DE" sz="2800" b="0" strike="noStrike" dirty="0">
              <a:solidFill>
                <a:schemeClr val="dk1"/>
              </a:solidFill>
              <a:latin typeface="Arial"/>
              <a:ea typeface="Arial"/>
              <a:cs typeface="Arial"/>
            </a:endParaRPr>
          </a:p>
          <a:p>
            <a:pPr marL="0" marR="0" lvl="0" indent="0" algn="ctr" rtl="0">
              <a:lnSpc>
                <a:spcPct val="100000"/>
              </a:lnSpc>
              <a:spcBef>
                <a:spcPts val="0"/>
              </a:spcBef>
              <a:spcAft>
                <a:spcPts val="0"/>
              </a:spcAft>
              <a:buNone/>
            </a:pPr>
            <a:endParaRPr sz="2800" b="0" strike="noStrike" dirty="0">
              <a:solidFill>
                <a:srgbClr val="FFFFFF"/>
              </a:solidFill>
              <a:latin typeface="Arial"/>
              <a:ea typeface="Arial"/>
              <a:cs typeface="Arial"/>
            </a:endParaRPr>
          </a:p>
          <a:p>
            <a:pPr marL="457200" marR="0" lvl="0" indent="-355600" algn="l" rtl="0">
              <a:lnSpc>
                <a:spcPct val="100000"/>
              </a:lnSpc>
              <a:spcBef>
                <a:spcPts val="0"/>
              </a:spcBef>
              <a:spcAft>
                <a:spcPts val="0"/>
              </a:spcAft>
              <a:buClr>
                <a:srgbClr val="000000"/>
              </a:buClr>
              <a:buSzPts val="2000"/>
              <a:buFont typeface="Century Gothic"/>
              <a:buChar char="●"/>
            </a:pPr>
            <a:r>
              <a:rPr lang="de-AT" sz="2400" b="0" strike="noStrike" dirty="0" err="1">
                <a:solidFill>
                  <a:schemeClr val="dk1"/>
                </a:solidFill>
                <a:latin typeface="Century Gothic"/>
                <a:ea typeface="Century Gothic"/>
                <a:cs typeface="Century Gothic"/>
                <a:sym typeface="Century Gothic"/>
              </a:rPr>
              <a:t>educational</a:t>
            </a:r>
            <a:r>
              <a:rPr lang="de-AT" sz="2400" b="0" strike="noStrike" dirty="0">
                <a:solidFill>
                  <a:schemeClr val="dk1"/>
                </a:solidFill>
                <a:latin typeface="Century Gothic"/>
                <a:ea typeface="Century Gothic"/>
                <a:cs typeface="Century Gothic"/>
                <a:sym typeface="Century Gothic"/>
              </a:rPr>
              <a:t> </a:t>
            </a:r>
            <a:r>
              <a:rPr lang="de-AT" sz="2400" b="0" strike="noStrike" dirty="0" err="1">
                <a:solidFill>
                  <a:schemeClr val="dk1"/>
                </a:solidFill>
                <a:latin typeface="Century Gothic"/>
                <a:ea typeface="Century Gothic"/>
                <a:cs typeface="Century Gothic"/>
                <a:sym typeface="Century Gothic"/>
              </a:rPr>
              <a:t>stage</a:t>
            </a:r>
            <a:endParaRPr sz="2400" b="0" strike="noStrike" dirty="0" err="1">
              <a:solidFill>
                <a:schemeClr val="dk1"/>
              </a:solidFill>
              <a:latin typeface="Arial"/>
              <a:ea typeface="Arial"/>
              <a:cs typeface="Arial"/>
            </a:endParaRPr>
          </a:p>
          <a:p>
            <a:pPr marL="457200" marR="0" lvl="0" indent="-355600" algn="l" rtl="0">
              <a:lnSpc>
                <a:spcPct val="100000"/>
              </a:lnSpc>
              <a:spcBef>
                <a:spcPts val="0"/>
              </a:spcBef>
              <a:spcAft>
                <a:spcPts val="0"/>
              </a:spcAft>
              <a:buClr>
                <a:srgbClr val="000000"/>
              </a:buClr>
              <a:buSzPts val="2000"/>
              <a:buFont typeface="Century Gothic"/>
              <a:buChar char="●"/>
            </a:pPr>
            <a:r>
              <a:rPr lang="de-AT" sz="2400" b="0" strike="noStrike" dirty="0" err="1">
                <a:solidFill>
                  <a:schemeClr val="dk1"/>
                </a:solidFill>
                <a:latin typeface="Century Gothic"/>
                <a:ea typeface="Century Gothic"/>
                <a:cs typeface="Century Gothic"/>
                <a:sym typeface="Century Gothic"/>
              </a:rPr>
              <a:t>subject</a:t>
            </a:r>
            <a:r>
              <a:rPr lang="de-AT" sz="2400" b="0" strike="noStrike" dirty="0">
                <a:solidFill>
                  <a:schemeClr val="dk1"/>
                </a:solidFill>
                <a:latin typeface="Century Gothic"/>
                <a:ea typeface="Century Gothic"/>
                <a:cs typeface="Century Gothic"/>
                <a:sym typeface="Century Gothic"/>
              </a:rPr>
              <a:t> </a:t>
            </a:r>
            <a:r>
              <a:rPr lang="de-AT" sz="2400" b="0" strike="noStrike" dirty="0" err="1">
                <a:solidFill>
                  <a:schemeClr val="dk1"/>
                </a:solidFill>
                <a:latin typeface="Century Gothic"/>
                <a:ea typeface="Century Gothic"/>
                <a:cs typeface="Century Gothic"/>
                <a:sym typeface="Century Gothic"/>
              </a:rPr>
              <a:t>area</a:t>
            </a:r>
            <a:endParaRPr sz="2400" b="0" strike="noStrike" dirty="0" err="1">
              <a:solidFill>
                <a:schemeClr val="dk1"/>
              </a:solidFill>
              <a:latin typeface="Arial"/>
              <a:ea typeface="Arial"/>
              <a:cs typeface="Arial"/>
            </a:endParaRPr>
          </a:p>
          <a:p>
            <a:pPr marL="457200" marR="0" lvl="0" indent="-355600" algn="l" rtl="0">
              <a:lnSpc>
                <a:spcPct val="100000"/>
              </a:lnSpc>
              <a:spcBef>
                <a:spcPts val="0"/>
              </a:spcBef>
              <a:spcAft>
                <a:spcPts val="0"/>
              </a:spcAft>
              <a:buClr>
                <a:srgbClr val="000000"/>
              </a:buClr>
              <a:buSzPts val="2000"/>
              <a:buFont typeface="Century Gothic"/>
              <a:buChar char="●"/>
            </a:pPr>
            <a:r>
              <a:rPr lang="de-AT" sz="2400" b="0" strike="noStrike" dirty="0" err="1">
                <a:solidFill>
                  <a:schemeClr val="dk1"/>
                </a:solidFill>
                <a:latin typeface="Century Gothic"/>
                <a:ea typeface="Century Gothic"/>
                <a:cs typeface="Century Gothic"/>
                <a:sym typeface="Century Gothic"/>
              </a:rPr>
              <a:t>setting</a:t>
            </a:r>
            <a:endParaRPr sz="2400" b="0" strike="noStrike" dirty="0" err="1">
              <a:solidFill>
                <a:schemeClr val="dk1"/>
              </a:solidFill>
              <a:latin typeface="Arial"/>
              <a:ea typeface="Arial"/>
              <a:cs typeface="Arial"/>
            </a:endParaRPr>
          </a:p>
          <a:p>
            <a:pPr marL="457200" marR="0" lvl="0" indent="-355600" algn="l" rtl="0">
              <a:lnSpc>
                <a:spcPct val="100000"/>
              </a:lnSpc>
              <a:spcBef>
                <a:spcPts val="0"/>
              </a:spcBef>
              <a:spcAft>
                <a:spcPts val="0"/>
              </a:spcAft>
              <a:buClr>
                <a:srgbClr val="000000"/>
              </a:buClr>
              <a:buSzPts val="2000"/>
              <a:buFont typeface="Century Gothic"/>
              <a:buChar char="●"/>
            </a:pPr>
            <a:r>
              <a:rPr lang="de-AT" sz="2400" b="0" strike="noStrike" dirty="0" err="1">
                <a:solidFill>
                  <a:schemeClr val="dk1"/>
                </a:solidFill>
                <a:latin typeface="Century Gothic"/>
                <a:ea typeface="Century Gothic"/>
                <a:cs typeface="Century Gothic"/>
                <a:sym typeface="Century Gothic"/>
              </a:rPr>
              <a:t>duration</a:t>
            </a:r>
            <a:endParaRPr sz="2400" b="0" strike="noStrike" dirty="0" err="1">
              <a:solidFill>
                <a:schemeClr val="dk1"/>
              </a:solidFill>
              <a:latin typeface="Arial"/>
              <a:ea typeface="Arial"/>
              <a:cs typeface="Arial"/>
            </a:endParaRPr>
          </a:p>
          <a:p>
            <a:pPr marL="457200" marR="0" lvl="0" indent="-355600" algn="l" rtl="0">
              <a:lnSpc>
                <a:spcPct val="100000"/>
              </a:lnSpc>
              <a:spcBef>
                <a:spcPts val="0"/>
              </a:spcBef>
              <a:spcAft>
                <a:spcPts val="0"/>
              </a:spcAft>
              <a:buClr>
                <a:srgbClr val="000000"/>
              </a:buClr>
              <a:buSzPts val="2000"/>
              <a:buFont typeface="Century Gothic"/>
              <a:buChar char="●"/>
            </a:pPr>
            <a:r>
              <a:rPr lang="de-AT" sz="2400" b="0" strike="noStrike" dirty="0" err="1">
                <a:solidFill>
                  <a:schemeClr val="dk1"/>
                </a:solidFill>
                <a:latin typeface="Century Gothic"/>
                <a:ea typeface="Century Gothic"/>
                <a:cs typeface="Century Gothic"/>
                <a:sym typeface="Century Gothic"/>
              </a:rPr>
              <a:t>application</a:t>
            </a:r>
            <a:r>
              <a:rPr lang="de-AT" sz="2400" b="0" strike="noStrike" dirty="0">
                <a:solidFill>
                  <a:schemeClr val="dk1"/>
                </a:solidFill>
                <a:latin typeface="Century Gothic"/>
                <a:ea typeface="Century Gothic"/>
                <a:cs typeface="Century Gothic"/>
                <a:sym typeface="Century Gothic"/>
              </a:rPr>
              <a:t> </a:t>
            </a:r>
            <a:r>
              <a:rPr lang="de-AT" sz="2400" b="0" strike="noStrike" dirty="0" err="1">
                <a:solidFill>
                  <a:schemeClr val="dk1"/>
                </a:solidFill>
                <a:latin typeface="Century Gothic"/>
                <a:ea typeface="Century Gothic"/>
                <a:cs typeface="Century Gothic"/>
                <a:sym typeface="Century Gothic"/>
              </a:rPr>
              <a:t>mode</a:t>
            </a:r>
            <a:endParaRPr sz="2400" b="0" strike="noStrike" dirty="0" err="1">
              <a:solidFill>
                <a:schemeClr val="dk1"/>
              </a:solidFill>
              <a:latin typeface="Arial"/>
              <a:ea typeface="Arial"/>
              <a:cs typeface="Arial"/>
            </a:endParaRPr>
          </a:p>
        </p:txBody>
      </p:sp>
      <p:sp>
        <p:nvSpPr>
          <p:cNvPr id="81" name="Google Shape;81;p11"/>
          <p:cNvSpPr/>
          <p:nvPr/>
        </p:nvSpPr>
        <p:spPr>
          <a:xfrm>
            <a:off x="6377760" y="1689480"/>
            <a:ext cx="4373280" cy="3773160"/>
          </a:xfrm>
          <a:prstGeom prst="roundRect">
            <a:avLst>
              <a:gd name="adj" fmla="val 16667"/>
            </a:avLst>
          </a:prstGeom>
          <a:solidFill>
            <a:srgbClr val="6D98BA"/>
          </a:solidFill>
          <a:ln w="9525" cap="flat" cmpd="sng">
            <a:solidFill>
              <a:srgbClr val="3465A4"/>
            </a:solidFill>
            <a:prstDash val="solid"/>
            <a:round/>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r>
              <a:rPr lang="de-AT" sz="2800" b="1" strike="noStrike" dirty="0">
                <a:solidFill>
                  <a:schemeClr val="dk1"/>
                </a:solidFill>
                <a:latin typeface="Century Gothic"/>
                <a:ea typeface="Century Gothic"/>
                <a:cs typeface="Century Gothic"/>
                <a:sym typeface="Century Gothic"/>
              </a:rPr>
              <a:t>RQ2: </a:t>
            </a:r>
            <a:r>
              <a:rPr lang="de-AT" sz="2800" b="1" strike="noStrike" dirty="0" err="1">
                <a:solidFill>
                  <a:schemeClr val="dk1"/>
                </a:solidFill>
                <a:latin typeface="Century Gothic"/>
                <a:ea typeface="Century Gothic"/>
                <a:cs typeface="Century Gothic"/>
                <a:sym typeface="Century Gothic"/>
              </a:rPr>
              <a:t>What</a:t>
            </a:r>
            <a:r>
              <a:rPr lang="de-AT" sz="2800" b="1" strike="noStrike" dirty="0">
                <a:solidFill>
                  <a:schemeClr val="dk1"/>
                </a:solidFill>
                <a:latin typeface="Century Gothic"/>
                <a:ea typeface="Century Gothic"/>
                <a:cs typeface="Century Gothic"/>
                <a:sym typeface="Century Gothic"/>
              </a:rPr>
              <a:t> </a:t>
            </a:r>
            <a:r>
              <a:rPr lang="de-AT" sz="2800" b="1" strike="noStrike" dirty="0" err="1">
                <a:solidFill>
                  <a:schemeClr val="dk1"/>
                </a:solidFill>
                <a:latin typeface="Century Gothic"/>
                <a:ea typeface="Century Gothic"/>
                <a:cs typeface="Century Gothic"/>
                <a:sym typeface="Century Gothic"/>
              </a:rPr>
              <a:t>outcomes</a:t>
            </a:r>
            <a:r>
              <a:rPr lang="de-AT" sz="2800" b="1" strike="noStrike" dirty="0">
                <a:solidFill>
                  <a:schemeClr val="dk1"/>
                </a:solidFill>
                <a:latin typeface="Century Gothic"/>
                <a:ea typeface="Century Gothic"/>
                <a:cs typeface="Century Gothic"/>
                <a:sym typeface="Century Gothic"/>
              </a:rPr>
              <a:t> </a:t>
            </a:r>
            <a:r>
              <a:rPr lang="de-AT" sz="2800" b="1" strike="noStrike" dirty="0" err="1">
                <a:solidFill>
                  <a:schemeClr val="dk1"/>
                </a:solidFill>
                <a:latin typeface="Century Gothic"/>
                <a:ea typeface="Century Gothic"/>
                <a:cs typeface="Century Gothic"/>
                <a:sym typeface="Century Gothic"/>
              </a:rPr>
              <a:t>change</a:t>
            </a:r>
            <a:r>
              <a:rPr lang="de-AT" sz="2800" b="1" strike="noStrike" dirty="0">
                <a:solidFill>
                  <a:schemeClr val="dk1"/>
                </a:solidFill>
                <a:latin typeface="Century Gothic"/>
                <a:ea typeface="Century Gothic"/>
                <a:cs typeface="Century Gothic"/>
                <a:sym typeface="Century Gothic"/>
              </a:rPr>
              <a:t>?</a:t>
            </a:r>
            <a:endParaRPr lang="de-DE" sz="2800" b="0" strike="noStrike" dirty="0">
              <a:solidFill>
                <a:schemeClr val="dk1"/>
              </a:solidFill>
              <a:latin typeface="Arial"/>
              <a:ea typeface="Arial"/>
              <a:cs typeface="Arial"/>
            </a:endParaRPr>
          </a:p>
          <a:p>
            <a:pPr marL="0" marR="0" lvl="0" indent="0" algn="ctr" rtl="0">
              <a:lnSpc>
                <a:spcPct val="100000"/>
              </a:lnSpc>
              <a:spcBef>
                <a:spcPts val="0"/>
              </a:spcBef>
              <a:spcAft>
                <a:spcPts val="0"/>
              </a:spcAft>
              <a:buNone/>
            </a:pPr>
            <a:endParaRPr sz="2800" b="0" strike="noStrike" dirty="0">
              <a:solidFill>
                <a:srgbClr val="FFFFFF"/>
              </a:solidFill>
              <a:latin typeface="Arial"/>
              <a:ea typeface="Arial"/>
              <a:cs typeface="Arial"/>
            </a:endParaRPr>
          </a:p>
          <a:p>
            <a:pPr marL="457200" marR="0" lvl="0" indent="-355600" algn="l" rtl="0">
              <a:lnSpc>
                <a:spcPct val="100000"/>
              </a:lnSpc>
              <a:spcBef>
                <a:spcPts val="0"/>
              </a:spcBef>
              <a:spcAft>
                <a:spcPts val="0"/>
              </a:spcAft>
              <a:buClr>
                <a:srgbClr val="000000"/>
              </a:buClr>
              <a:buSzPts val="2000"/>
              <a:buFont typeface="Century Gothic"/>
              <a:buChar char="●"/>
            </a:pPr>
            <a:r>
              <a:rPr lang="de-AT" sz="2400" b="0" strike="noStrike" dirty="0" err="1">
                <a:solidFill>
                  <a:schemeClr val="dk1"/>
                </a:solidFill>
                <a:latin typeface="Century Gothic"/>
                <a:ea typeface="Century Gothic"/>
                <a:cs typeface="Century Gothic"/>
                <a:sym typeface="Century Gothic"/>
              </a:rPr>
              <a:t>academic</a:t>
            </a:r>
            <a:r>
              <a:rPr lang="de-AT" sz="2400" b="0" strike="noStrike" dirty="0">
                <a:solidFill>
                  <a:schemeClr val="dk1"/>
                </a:solidFill>
                <a:latin typeface="Century Gothic"/>
                <a:ea typeface="Century Gothic"/>
                <a:cs typeface="Century Gothic"/>
                <a:sym typeface="Century Gothic"/>
              </a:rPr>
              <a:t> </a:t>
            </a:r>
            <a:r>
              <a:rPr lang="de-AT" sz="2400" b="0" strike="noStrike" dirty="0" err="1">
                <a:solidFill>
                  <a:schemeClr val="dk1"/>
                </a:solidFill>
                <a:latin typeface="Century Gothic"/>
                <a:ea typeface="Century Gothic"/>
                <a:cs typeface="Century Gothic"/>
                <a:sym typeface="Century Gothic"/>
              </a:rPr>
              <a:t>performance</a:t>
            </a:r>
            <a:endParaRPr sz="2400" b="0" strike="noStrike" dirty="0" err="1">
              <a:solidFill>
                <a:schemeClr val="dk1"/>
              </a:solidFill>
              <a:latin typeface="Arial"/>
              <a:ea typeface="Arial"/>
              <a:cs typeface="Arial"/>
            </a:endParaRPr>
          </a:p>
          <a:p>
            <a:pPr marL="457200" marR="0" lvl="0" indent="-355600" algn="l" rtl="0">
              <a:lnSpc>
                <a:spcPct val="100000"/>
              </a:lnSpc>
              <a:spcBef>
                <a:spcPts val="0"/>
              </a:spcBef>
              <a:spcAft>
                <a:spcPts val="0"/>
              </a:spcAft>
              <a:buClr>
                <a:srgbClr val="000000"/>
              </a:buClr>
              <a:buSzPts val="2000"/>
              <a:buFont typeface="Century Gothic"/>
              <a:buChar char="●"/>
            </a:pPr>
            <a:r>
              <a:rPr lang="de-AT" sz="2400" b="0" strike="noStrike" dirty="0" err="1">
                <a:solidFill>
                  <a:schemeClr val="dk1"/>
                </a:solidFill>
                <a:latin typeface="Century Gothic"/>
                <a:ea typeface="Century Gothic"/>
                <a:cs typeface="Century Gothic"/>
                <a:sym typeface="Century Gothic"/>
              </a:rPr>
              <a:t>motivation</a:t>
            </a:r>
            <a:endParaRPr sz="2400" b="0" strike="noStrike" dirty="0" err="1">
              <a:solidFill>
                <a:schemeClr val="dk1"/>
              </a:solidFill>
              <a:latin typeface="Arial"/>
              <a:ea typeface="Arial"/>
              <a:cs typeface="Arial"/>
            </a:endParaRPr>
          </a:p>
          <a:p>
            <a:pPr marL="457200" marR="0" lvl="0" indent="-355600" algn="l" rtl="0">
              <a:lnSpc>
                <a:spcPct val="100000"/>
              </a:lnSpc>
              <a:spcBef>
                <a:spcPts val="0"/>
              </a:spcBef>
              <a:spcAft>
                <a:spcPts val="0"/>
              </a:spcAft>
              <a:buClr>
                <a:srgbClr val="000000"/>
              </a:buClr>
              <a:buSzPts val="2000"/>
              <a:buFont typeface="Century Gothic"/>
              <a:buChar char="●"/>
            </a:pPr>
            <a:r>
              <a:rPr lang="de-AT" sz="2400" b="0" strike="noStrike" dirty="0" err="1">
                <a:solidFill>
                  <a:schemeClr val="dk1"/>
                </a:solidFill>
                <a:latin typeface="Century Gothic"/>
                <a:ea typeface="Century Gothic"/>
                <a:cs typeface="Century Gothic"/>
                <a:sym typeface="Century Gothic"/>
              </a:rPr>
              <a:t>higher</a:t>
            </a:r>
            <a:r>
              <a:rPr lang="de-AT" sz="2400" b="0" strike="noStrike" dirty="0">
                <a:solidFill>
                  <a:schemeClr val="dk1"/>
                </a:solidFill>
                <a:latin typeface="Century Gothic"/>
                <a:ea typeface="Century Gothic"/>
                <a:cs typeface="Century Gothic"/>
                <a:sym typeface="Century Gothic"/>
              </a:rPr>
              <a:t>-order </a:t>
            </a:r>
            <a:r>
              <a:rPr lang="de-AT" sz="2400" b="0" strike="noStrike" dirty="0" err="1">
                <a:solidFill>
                  <a:schemeClr val="dk1"/>
                </a:solidFill>
                <a:latin typeface="Century Gothic"/>
                <a:ea typeface="Century Gothic"/>
                <a:cs typeface="Century Gothic"/>
                <a:sym typeface="Century Gothic"/>
              </a:rPr>
              <a:t>thinking</a:t>
            </a:r>
            <a:endParaRPr sz="2400" b="0" strike="noStrike" dirty="0" err="1">
              <a:solidFill>
                <a:schemeClr val="dk1"/>
              </a:solidFill>
              <a:latin typeface="Arial"/>
              <a:ea typeface="Arial"/>
              <a:cs typeface="Arial"/>
            </a:endParaRPr>
          </a:p>
          <a:p>
            <a:pPr marL="457200" marR="0" lvl="0" indent="-355600" algn="l" rtl="0">
              <a:lnSpc>
                <a:spcPct val="100000"/>
              </a:lnSpc>
              <a:spcBef>
                <a:spcPts val="0"/>
              </a:spcBef>
              <a:spcAft>
                <a:spcPts val="0"/>
              </a:spcAft>
              <a:buClr>
                <a:srgbClr val="000000"/>
              </a:buClr>
              <a:buSzPts val="2000"/>
              <a:buFont typeface="Century Gothic"/>
              <a:buChar char="●"/>
            </a:pPr>
            <a:r>
              <a:rPr lang="de-AT" sz="2400" b="0" strike="noStrike" dirty="0" err="1">
                <a:solidFill>
                  <a:schemeClr val="dk1"/>
                </a:solidFill>
                <a:latin typeface="Century Gothic"/>
                <a:ea typeface="Century Gothic"/>
                <a:cs typeface="Century Gothic"/>
                <a:sym typeface="Century Gothic"/>
              </a:rPr>
              <a:t>self-efficacy</a:t>
            </a:r>
            <a:r>
              <a:rPr lang="de-AT" sz="2400" b="0" strike="noStrike" dirty="0">
                <a:solidFill>
                  <a:schemeClr val="dk1"/>
                </a:solidFill>
                <a:latin typeface="Century Gothic"/>
                <a:ea typeface="Century Gothic"/>
                <a:cs typeface="Century Gothic"/>
                <a:sym typeface="Century Gothic"/>
              </a:rPr>
              <a:t> </a:t>
            </a:r>
            <a:endParaRPr sz="2400" b="0" strike="noStrike" dirty="0">
              <a:solidFill>
                <a:schemeClr val="dk1"/>
              </a:solidFill>
              <a:latin typeface="Arial"/>
              <a:ea typeface="Arial"/>
              <a:cs typeface="Arial"/>
            </a:endParaRPr>
          </a:p>
          <a:p>
            <a:pPr marL="457200" marR="0" lvl="0" indent="-355600" algn="l" rtl="0">
              <a:lnSpc>
                <a:spcPct val="100000"/>
              </a:lnSpc>
              <a:spcBef>
                <a:spcPts val="0"/>
              </a:spcBef>
              <a:spcAft>
                <a:spcPts val="0"/>
              </a:spcAft>
              <a:buClr>
                <a:srgbClr val="000000"/>
              </a:buClr>
              <a:buSzPts val="2000"/>
              <a:buFont typeface="Century Gothic"/>
              <a:buChar char="●"/>
            </a:pPr>
            <a:r>
              <a:rPr lang="de-AT" sz="2400" b="0" strike="noStrike" dirty="0">
                <a:solidFill>
                  <a:schemeClr val="dk1"/>
                </a:solidFill>
                <a:latin typeface="Century Gothic"/>
                <a:ea typeface="Century Gothic"/>
                <a:cs typeface="Century Gothic"/>
                <a:sym typeface="Century Gothic"/>
              </a:rPr>
              <a:t>mental </a:t>
            </a:r>
            <a:r>
              <a:rPr lang="de-AT" sz="2400" b="0" strike="noStrike" dirty="0" err="1">
                <a:solidFill>
                  <a:schemeClr val="dk1"/>
                </a:solidFill>
                <a:latin typeface="Century Gothic"/>
                <a:ea typeface="Century Gothic"/>
                <a:cs typeface="Century Gothic"/>
                <a:sym typeface="Century Gothic"/>
              </a:rPr>
              <a:t>effort</a:t>
            </a:r>
            <a:endParaRPr sz="2400" b="0" strike="noStrike" dirty="0" err="1">
              <a:solidFill>
                <a:schemeClr val="dk1"/>
              </a:solidFill>
              <a:latin typeface="Arial"/>
              <a:ea typeface="Arial"/>
              <a:cs typeface="Arial"/>
            </a:endParaRPr>
          </a:p>
        </p:txBody>
      </p:sp>
      <p:sp>
        <p:nvSpPr>
          <p:cNvPr id="82" name="Google Shape;82;p11"/>
          <p:cNvSpPr/>
          <p:nvPr/>
        </p:nvSpPr>
        <p:spPr>
          <a:xfrm>
            <a:off x="12327120" y="1689480"/>
            <a:ext cx="4373280" cy="3773160"/>
          </a:xfrm>
          <a:prstGeom prst="roundRect">
            <a:avLst>
              <a:gd name="adj" fmla="val 16667"/>
            </a:avLst>
          </a:prstGeom>
          <a:solidFill>
            <a:srgbClr val="6D98BA"/>
          </a:solidFill>
          <a:ln w="9525" cap="flat" cmpd="sng">
            <a:solidFill>
              <a:srgbClr val="3465A4"/>
            </a:solidFill>
            <a:prstDash val="solid"/>
            <a:round/>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r>
              <a:rPr lang="de-AT" sz="2800" b="1" strike="noStrike" dirty="0">
                <a:solidFill>
                  <a:schemeClr val="dk1"/>
                </a:solidFill>
                <a:latin typeface="Century Gothic"/>
                <a:ea typeface="Century Gothic"/>
                <a:cs typeface="Century Gothic"/>
                <a:sym typeface="Century Gothic"/>
              </a:rPr>
              <a:t>RQ3: How robust </a:t>
            </a:r>
            <a:r>
              <a:rPr lang="de-AT" sz="2800" b="1" strike="noStrike" dirty="0" err="1">
                <a:solidFill>
                  <a:schemeClr val="dk1"/>
                </a:solidFill>
                <a:latin typeface="Century Gothic"/>
                <a:ea typeface="Century Gothic"/>
                <a:cs typeface="Century Gothic"/>
                <a:sym typeface="Century Gothic"/>
              </a:rPr>
              <a:t>are</a:t>
            </a:r>
            <a:r>
              <a:rPr lang="de-AT" sz="2800" b="1" strike="noStrike" dirty="0">
                <a:solidFill>
                  <a:schemeClr val="dk1"/>
                </a:solidFill>
                <a:latin typeface="Century Gothic"/>
                <a:ea typeface="Century Gothic"/>
                <a:cs typeface="Century Gothic"/>
                <a:sym typeface="Century Gothic"/>
              </a:rPr>
              <a:t> </a:t>
            </a:r>
            <a:r>
              <a:rPr lang="de-AT" sz="2800" b="1" strike="noStrike" dirty="0" err="1">
                <a:solidFill>
                  <a:schemeClr val="dk1"/>
                </a:solidFill>
                <a:latin typeface="Century Gothic"/>
                <a:ea typeface="Century Gothic"/>
                <a:cs typeface="Century Gothic"/>
                <a:sym typeface="Century Gothic"/>
              </a:rPr>
              <a:t>the</a:t>
            </a:r>
            <a:r>
              <a:rPr lang="de-AT" sz="2800" b="1" strike="noStrike" dirty="0">
                <a:solidFill>
                  <a:schemeClr val="dk1"/>
                </a:solidFill>
                <a:latin typeface="Century Gothic"/>
                <a:ea typeface="Century Gothic"/>
                <a:cs typeface="Century Gothic"/>
                <a:sym typeface="Century Gothic"/>
              </a:rPr>
              <a:t> </a:t>
            </a:r>
            <a:r>
              <a:rPr lang="de-AT" sz="2800" b="1" strike="noStrike" dirty="0" err="1">
                <a:solidFill>
                  <a:schemeClr val="dk1"/>
                </a:solidFill>
                <a:latin typeface="Century Gothic"/>
                <a:ea typeface="Century Gothic"/>
                <a:cs typeface="Century Gothic"/>
                <a:sym typeface="Century Gothic"/>
              </a:rPr>
              <a:t>studies</a:t>
            </a:r>
            <a:r>
              <a:rPr lang="de-AT" sz="2800" b="1" strike="noStrike" dirty="0">
                <a:solidFill>
                  <a:schemeClr val="dk1"/>
                </a:solidFill>
                <a:latin typeface="Century Gothic"/>
                <a:ea typeface="Century Gothic"/>
                <a:cs typeface="Century Gothic"/>
                <a:sym typeface="Century Gothic"/>
              </a:rPr>
              <a:t>?</a:t>
            </a:r>
            <a:endParaRPr lang="de-DE" sz="2800" b="0" strike="noStrike" dirty="0">
              <a:solidFill>
                <a:schemeClr val="dk1"/>
              </a:solidFill>
              <a:latin typeface="Arial"/>
              <a:ea typeface="Arial"/>
              <a:cs typeface="Arial"/>
            </a:endParaRPr>
          </a:p>
          <a:p>
            <a:pPr marL="0" marR="0" lvl="0" indent="0" algn="ctr" rtl="0">
              <a:lnSpc>
                <a:spcPct val="100000"/>
              </a:lnSpc>
              <a:spcBef>
                <a:spcPts val="0"/>
              </a:spcBef>
              <a:spcAft>
                <a:spcPts val="0"/>
              </a:spcAft>
              <a:buNone/>
            </a:pPr>
            <a:endParaRPr sz="2800" b="0" strike="noStrike" dirty="0">
              <a:solidFill>
                <a:srgbClr val="FFFFFF"/>
              </a:solidFill>
              <a:latin typeface="Arial"/>
              <a:ea typeface="Arial"/>
              <a:cs typeface="Arial"/>
            </a:endParaRPr>
          </a:p>
          <a:p>
            <a:pPr marL="457200" marR="0" lvl="0" indent="-355600" algn="l" rtl="0">
              <a:lnSpc>
                <a:spcPct val="100000"/>
              </a:lnSpc>
              <a:spcBef>
                <a:spcPts val="0"/>
              </a:spcBef>
              <a:spcAft>
                <a:spcPts val="0"/>
              </a:spcAft>
              <a:buClr>
                <a:srgbClr val="000000"/>
              </a:buClr>
              <a:buSzPts val="2000"/>
              <a:buFont typeface="Century Gothic"/>
              <a:buChar char="●"/>
            </a:pPr>
            <a:r>
              <a:rPr lang="de-AT" sz="2400" b="0" strike="noStrike" dirty="0">
                <a:solidFill>
                  <a:schemeClr val="dk1"/>
                </a:solidFill>
                <a:latin typeface="Century Gothic"/>
                <a:ea typeface="Century Gothic"/>
                <a:cs typeface="Century Gothic"/>
                <a:sym typeface="Century Gothic"/>
              </a:rPr>
              <a:t>sample </a:t>
            </a:r>
            <a:r>
              <a:rPr lang="de-AT" sz="2400" b="0" strike="noStrike" dirty="0" err="1">
                <a:solidFill>
                  <a:schemeClr val="dk1"/>
                </a:solidFill>
                <a:latin typeface="Century Gothic"/>
                <a:ea typeface="Century Gothic"/>
                <a:cs typeface="Century Gothic"/>
                <a:sym typeface="Century Gothic"/>
              </a:rPr>
              <a:t>size</a:t>
            </a:r>
            <a:r>
              <a:rPr lang="de-AT" sz="2400" b="0" strike="noStrike" dirty="0">
                <a:solidFill>
                  <a:schemeClr val="dk1"/>
                </a:solidFill>
                <a:latin typeface="Century Gothic"/>
                <a:ea typeface="Century Gothic"/>
                <a:cs typeface="Century Gothic"/>
                <a:sym typeface="Century Gothic"/>
              </a:rPr>
              <a:t> </a:t>
            </a:r>
            <a:r>
              <a:rPr lang="de-AT" sz="2400" b="0" strike="noStrike" dirty="0" err="1">
                <a:solidFill>
                  <a:schemeClr val="dk1"/>
                </a:solidFill>
                <a:latin typeface="Century Gothic"/>
                <a:ea typeface="Century Gothic"/>
                <a:cs typeface="Century Gothic"/>
                <a:sym typeface="Century Gothic"/>
              </a:rPr>
              <a:t>estimation</a:t>
            </a:r>
            <a:endParaRPr sz="2400" b="0" strike="noStrike" dirty="0" err="1">
              <a:solidFill>
                <a:schemeClr val="dk1"/>
              </a:solidFill>
              <a:latin typeface="Arial"/>
              <a:ea typeface="Arial"/>
              <a:cs typeface="Arial"/>
            </a:endParaRPr>
          </a:p>
          <a:p>
            <a:pPr marL="457200" marR="0" lvl="0" indent="-355600" algn="l" rtl="0">
              <a:lnSpc>
                <a:spcPct val="100000"/>
              </a:lnSpc>
              <a:spcBef>
                <a:spcPts val="0"/>
              </a:spcBef>
              <a:spcAft>
                <a:spcPts val="0"/>
              </a:spcAft>
              <a:buClr>
                <a:srgbClr val="000000"/>
              </a:buClr>
              <a:buSzPts val="2000"/>
              <a:buFont typeface="Century Gothic"/>
              <a:buChar char="●"/>
            </a:pPr>
            <a:r>
              <a:rPr lang="de-AT" sz="2400" b="0" strike="noStrike" dirty="0" err="1">
                <a:solidFill>
                  <a:schemeClr val="dk1"/>
                </a:solidFill>
                <a:latin typeface="Century Gothic"/>
                <a:ea typeface="Century Gothic"/>
                <a:cs typeface="Century Gothic"/>
                <a:sym typeface="Century Gothic"/>
              </a:rPr>
              <a:t>baseline-difference</a:t>
            </a:r>
            <a:r>
              <a:rPr lang="de-AT" sz="2400" b="0" strike="noStrike" dirty="0">
                <a:solidFill>
                  <a:schemeClr val="dk1"/>
                </a:solidFill>
                <a:latin typeface="Century Gothic"/>
                <a:ea typeface="Century Gothic"/>
                <a:cs typeface="Century Gothic"/>
                <a:sym typeface="Century Gothic"/>
              </a:rPr>
              <a:t> </a:t>
            </a:r>
            <a:r>
              <a:rPr lang="de-AT" sz="2400" b="0" strike="noStrike" dirty="0" err="1">
                <a:solidFill>
                  <a:schemeClr val="dk1"/>
                </a:solidFill>
                <a:latin typeface="Century Gothic"/>
                <a:ea typeface="Century Gothic"/>
                <a:cs typeface="Century Gothic"/>
                <a:sym typeface="Century Gothic"/>
              </a:rPr>
              <a:t>control</a:t>
            </a:r>
            <a:endParaRPr sz="2400" b="0" strike="noStrike" dirty="0" err="1">
              <a:solidFill>
                <a:schemeClr val="dk1"/>
              </a:solidFill>
              <a:latin typeface="Arial"/>
              <a:ea typeface="Arial"/>
              <a:cs typeface="Arial"/>
            </a:endParaRPr>
          </a:p>
        </p:txBody>
      </p:sp>
      <p:sp>
        <p:nvSpPr>
          <p:cNvPr id="83" name="Google Shape;83;p11"/>
          <p:cNvSpPr/>
          <p:nvPr/>
        </p:nvSpPr>
        <p:spPr>
          <a:xfrm>
            <a:off x="-83520" y="5969520"/>
            <a:ext cx="6157080" cy="4317120"/>
          </a:xfrm>
          <a:custGeom>
            <a:avLst/>
            <a:gdLst/>
            <a:ahLst/>
            <a:cxnLst/>
            <a:rect l="l" t="t" r="r" b="b"/>
            <a:pathLst>
              <a:path w="7463366" h="4851188" extrusionOk="0">
                <a:moveTo>
                  <a:pt x="0" y="0"/>
                </a:moveTo>
                <a:lnTo>
                  <a:pt x="7463366" y="0"/>
                </a:lnTo>
                <a:lnTo>
                  <a:pt x="7463366" y="4851188"/>
                </a:lnTo>
                <a:lnTo>
                  <a:pt x="0" y="4851188"/>
                </a:lnTo>
                <a:lnTo>
                  <a:pt x="0" y="0"/>
                </a:lnTo>
                <a:close/>
              </a:path>
            </a:pathLst>
          </a:custGeom>
          <a:blipFill rotWithShape="1">
            <a:blip r:embed="rId3">
              <a:alphaModFix/>
            </a:blip>
            <a:stretch>
              <a:fillRect/>
            </a:stretch>
          </a:blipFill>
          <a:ln>
            <a:noFill/>
          </a:ln>
        </p:spPr>
        <p:txBody>
          <a:bodyPr spcFirstLastPara="1" wrap="square" lIns="90000" tIns="45000" rIns="90000" bIns="45000" anchor="t" anchorCtr="0">
            <a:noAutofit/>
          </a:bodyPr>
          <a:lstStyle/>
          <a:p>
            <a:pPr marL="0" marR="0" lvl="0" indent="0" algn="l" rtl="0">
              <a:spcBef>
                <a:spcPts val="0"/>
              </a:spcBef>
              <a:spcAft>
                <a:spcPts val="0"/>
              </a:spcAft>
              <a:buNone/>
            </a:pPr>
            <a:endParaRPr sz="1400" b="0" strike="noStrike">
              <a:solidFill>
                <a:srgbClr val="000000"/>
              </a:solidFill>
              <a:latin typeface="Arial"/>
              <a:ea typeface="Arial"/>
              <a:cs typeface="Arial"/>
              <a:sym typeface="Arial"/>
            </a:endParaRPr>
          </a:p>
        </p:txBody>
      </p:sp>
      <p:sp>
        <p:nvSpPr>
          <p:cNvPr id="84" name="Google Shape;84;p11"/>
          <p:cNvSpPr/>
          <p:nvPr/>
        </p:nvSpPr>
        <p:spPr>
          <a:xfrm>
            <a:off x="784800" y="644760"/>
            <a:ext cx="5724000" cy="262944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r>
              <a:rPr lang="de-AT" sz="4400" b="0" strike="noStrike">
                <a:solidFill>
                  <a:schemeClr val="dk1"/>
                </a:solidFill>
                <a:latin typeface="Fredoka"/>
                <a:ea typeface="Fredoka"/>
                <a:cs typeface="Fredoka"/>
                <a:sym typeface="Fredoka"/>
              </a:rPr>
              <a:t>Research Questions</a:t>
            </a:r>
            <a:endParaRPr sz="4400" b="0" strike="noStrike">
              <a:solidFill>
                <a:srgbClr val="000000"/>
              </a:solidFill>
              <a:latin typeface="Arial"/>
              <a:ea typeface="Arial"/>
              <a:cs typeface="Arial"/>
              <a:sym typeface="Arial"/>
            </a:endParaRPr>
          </a:p>
        </p:txBody>
      </p:sp>
    </p:spTree>
    <p:extLst>
      <p:ext uri="{BB962C8B-B14F-4D97-AF65-F5344CB8AC3E}">
        <p14:creationId xmlns:p14="http://schemas.microsoft.com/office/powerpoint/2010/main" val="253903917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5" name="Grafik 4"/>
          <p:cNvPicPr/>
          <p:nvPr/>
        </p:nvPicPr>
        <p:blipFill>
          <a:blip r:embed="rId3"/>
          <a:stretch/>
        </p:blipFill>
        <p:spPr>
          <a:xfrm>
            <a:off x="8229600" y="131400"/>
            <a:ext cx="9753120" cy="10023840"/>
          </a:xfrm>
          <a:prstGeom prst="rect">
            <a:avLst/>
          </a:prstGeom>
          <a:ln w="0">
            <a:solidFill>
              <a:srgbClr val="000000"/>
            </a:solidFill>
          </a:ln>
        </p:spPr>
      </p:pic>
      <p:sp>
        <p:nvSpPr>
          <p:cNvPr id="126" name="Textfeld 6"/>
          <p:cNvSpPr/>
          <p:nvPr/>
        </p:nvSpPr>
        <p:spPr>
          <a:xfrm>
            <a:off x="1152546" y="545354"/>
            <a:ext cx="5844228" cy="156820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de-AT" sz="4800" b="0" strike="noStrike" spc="-1" dirty="0">
                <a:solidFill>
                  <a:schemeClr val="dk1"/>
                </a:solidFill>
                <a:latin typeface="Fredoka"/>
              </a:rPr>
              <a:t>PRISMA-</a:t>
            </a:r>
            <a:r>
              <a:rPr lang="de-AT" sz="4800" b="0" strike="noStrike" spc="-1" dirty="0" err="1">
                <a:solidFill>
                  <a:schemeClr val="dk1"/>
                </a:solidFill>
                <a:latin typeface="Fredoka"/>
              </a:rPr>
              <a:t>guided</a:t>
            </a:r>
            <a:br>
              <a:rPr lang="de-AT" sz="4800" spc="-1" dirty="0">
                <a:solidFill>
                  <a:schemeClr val="dk1"/>
                </a:solidFill>
                <a:latin typeface="Fredoka"/>
              </a:rPr>
            </a:br>
            <a:r>
              <a:rPr lang="de-AT" sz="4800" b="0" strike="noStrike" spc="-1" dirty="0" err="1">
                <a:solidFill>
                  <a:schemeClr val="dk1"/>
                </a:solidFill>
                <a:latin typeface="Fredoka"/>
              </a:rPr>
              <a:t>study</a:t>
            </a:r>
            <a:r>
              <a:rPr lang="de-AT" sz="4800" b="0" strike="noStrike" spc="-1" dirty="0">
                <a:solidFill>
                  <a:schemeClr val="dk1"/>
                </a:solidFill>
                <a:latin typeface="Fredoka"/>
              </a:rPr>
              <a:t> </a:t>
            </a:r>
            <a:r>
              <a:rPr lang="de-AT" sz="4800" b="0" strike="noStrike" spc="-1" dirty="0" err="1">
                <a:solidFill>
                  <a:schemeClr val="dk1"/>
                </a:solidFill>
                <a:latin typeface="Fredoka"/>
              </a:rPr>
              <a:t>selection</a:t>
            </a:r>
            <a:endParaRPr lang="de-AT" sz="4800" b="0" strike="noStrike" spc="-1" dirty="0">
              <a:solidFill>
                <a:srgbClr val="000000"/>
              </a:solidFill>
              <a:latin typeface="Arial"/>
            </a:endParaRPr>
          </a:p>
        </p:txBody>
      </p:sp>
      <p:sp>
        <p:nvSpPr>
          <p:cNvPr id="127" name="Textfeld 7"/>
          <p:cNvSpPr/>
          <p:nvPr/>
        </p:nvSpPr>
        <p:spPr>
          <a:xfrm>
            <a:off x="1501298" y="2545386"/>
            <a:ext cx="5146723" cy="3784198"/>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marL="457200" indent="-457200" algn="just" defTabSz="914400">
              <a:lnSpc>
                <a:spcPct val="100000"/>
              </a:lnSpc>
              <a:buClr>
                <a:srgbClr val="000000"/>
              </a:buClr>
              <a:buFont typeface="Calibri"/>
              <a:buAutoNum type="arabicPeriod"/>
            </a:pPr>
            <a:r>
              <a:rPr lang="de-AT" sz="2400" b="0" strike="noStrike" spc="-1" dirty="0">
                <a:solidFill>
                  <a:schemeClr val="dk1"/>
                </a:solidFill>
                <a:latin typeface="Century Gothic"/>
              </a:rPr>
              <a:t>Search </a:t>
            </a:r>
            <a:r>
              <a:rPr lang="de-AT" sz="2400" b="0" strike="noStrike" spc="-1" dirty="0" err="1">
                <a:solidFill>
                  <a:schemeClr val="dk1"/>
                </a:solidFill>
                <a:latin typeface="Century Gothic"/>
              </a:rPr>
              <a:t>keywords</a:t>
            </a:r>
            <a:r>
              <a:rPr lang="de-AT" sz="2400" b="0" strike="noStrike" spc="-1" dirty="0">
                <a:solidFill>
                  <a:schemeClr val="dk1"/>
                </a:solidFill>
                <a:latin typeface="Century Gothic"/>
              </a:rPr>
              <a:t> (e.g. ChatGPT,…)</a:t>
            </a:r>
            <a:endParaRPr lang="de-AT" sz="2400" b="0" strike="noStrike" spc="-1" dirty="0">
              <a:solidFill>
                <a:srgbClr val="000000"/>
              </a:solidFill>
              <a:latin typeface="Arial"/>
            </a:endParaRPr>
          </a:p>
          <a:p>
            <a:pPr marL="457200" indent="-457200" algn="just" defTabSz="914400">
              <a:lnSpc>
                <a:spcPct val="100000"/>
              </a:lnSpc>
              <a:buClr>
                <a:srgbClr val="000000"/>
              </a:buClr>
              <a:buFont typeface="Calibri"/>
              <a:buAutoNum type="arabicPeriod"/>
            </a:pPr>
            <a:r>
              <a:rPr lang="de-AT" sz="2400" b="0" strike="noStrike" spc="-1" dirty="0" err="1">
                <a:solidFill>
                  <a:schemeClr val="dk1"/>
                </a:solidFill>
                <a:latin typeface="Century Gothic"/>
              </a:rPr>
              <a:t>Inclusion</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criteria</a:t>
            </a:r>
            <a:r>
              <a:rPr lang="de-AT" sz="2400" b="0" strike="noStrike" spc="-1" dirty="0">
                <a:solidFill>
                  <a:schemeClr val="dk1"/>
                </a:solidFill>
                <a:latin typeface="Century Gothic"/>
              </a:rPr>
              <a:t> (e.g. </a:t>
            </a:r>
            <a:r>
              <a:rPr lang="de-AT" sz="2400" b="0" strike="noStrike" spc="-1" dirty="0" err="1">
                <a:solidFill>
                  <a:schemeClr val="dk1"/>
                </a:solidFill>
                <a:latin typeface="Century Gothic"/>
              </a:rPr>
              <a:t>used</a:t>
            </a:r>
            <a:r>
              <a:rPr lang="de-AT" sz="2400" b="0" strike="noStrike" spc="-1" dirty="0">
                <a:solidFill>
                  <a:schemeClr val="dk1"/>
                </a:solidFill>
                <a:latin typeface="Century Gothic"/>
              </a:rPr>
              <a:t> ChatGPT, </a:t>
            </a:r>
            <a:r>
              <a:rPr lang="de-AT" sz="2400" b="0" strike="noStrike" spc="-1" dirty="0" err="1">
                <a:solidFill>
                  <a:schemeClr val="dk1"/>
                </a:solidFill>
                <a:latin typeface="Century Gothic"/>
              </a:rPr>
              <a:t>used</a:t>
            </a:r>
            <a:r>
              <a:rPr lang="de-AT" sz="2400" b="0" strike="noStrike" spc="-1" dirty="0">
                <a:solidFill>
                  <a:schemeClr val="dk1"/>
                </a:solidFill>
                <a:latin typeface="Century Gothic"/>
              </a:rPr>
              <a:t> experimental and quasi-experimental </a:t>
            </a:r>
            <a:r>
              <a:rPr lang="de-AT" sz="2400" b="0" strike="noStrike" spc="-1" dirty="0" err="1">
                <a:solidFill>
                  <a:schemeClr val="dk1"/>
                </a:solidFill>
                <a:latin typeface="Century Gothic"/>
              </a:rPr>
              <a:t>designs</a:t>
            </a:r>
            <a:r>
              <a:rPr lang="de-AT" sz="2400" b="0" strike="noStrike" spc="-1" dirty="0">
                <a:solidFill>
                  <a:schemeClr val="dk1"/>
                </a:solidFill>
                <a:latin typeface="Century Gothic"/>
              </a:rPr>
              <a:t>,…)</a:t>
            </a:r>
            <a:endParaRPr lang="de-AT" sz="2400" b="0" strike="noStrike" spc="-1" dirty="0">
              <a:solidFill>
                <a:srgbClr val="000000"/>
              </a:solidFill>
              <a:latin typeface="Arial"/>
            </a:endParaRPr>
          </a:p>
          <a:p>
            <a:pPr marL="457200" indent="-457200" algn="just" defTabSz="914400">
              <a:lnSpc>
                <a:spcPct val="100000"/>
              </a:lnSpc>
              <a:buClr>
                <a:srgbClr val="000000"/>
              </a:buClr>
              <a:buFont typeface="Calibri"/>
              <a:buAutoNum type="arabicPeriod"/>
            </a:pPr>
            <a:r>
              <a:rPr lang="de-AT" sz="2400" b="0" strike="noStrike" spc="-1" dirty="0" err="1">
                <a:solidFill>
                  <a:schemeClr val="dk1"/>
                </a:solidFill>
                <a:latin typeface="Century Gothic"/>
              </a:rPr>
              <a:t>Exclusion</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criteria</a:t>
            </a:r>
            <a:r>
              <a:rPr lang="de-AT" sz="2400" b="0" strike="noStrike" spc="-1" dirty="0">
                <a:solidFill>
                  <a:schemeClr val="dk1"/>
                </a:solidFill>
                <a:latin typeface="Century Gothic"/>
              </a:rPr>
              <a:t> (e.g. </a:t>
            </a:r>
            <a:r>
              <a:rPr lang="de-AT" sz="2400" b="0" strike="noStrike" spc="-1" dirty="0" err="1">
                <a:solidFill>
                  <a:schemeClr val="dk1"/>
                </a:solidFill>
                <a:latin typeface="Century Gothic"/>
              </a:rPr>
              <a:t>no</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focus</a:t>
            </a:r>
            <a:r>
              <a:rPr lang="de-AT" sz="2400" b="0" strike="noStrike" spc="-1" dirty="0">
                <a:solidFill>
                  <a:schemeClr val="dk1"/>
                </a:solidFill>
                <a:latin typeface="Century Gothic"/>
              </a:rPr>
              <a:t> on </a:t>
            </a:r>
            <a:r>
              <a:rPr lang="de-AT" sz="2400" b="0" strike="noStrike" spc="-1" dirty="0" err="1">
                <a:solidFill>
                  <a:schemeClr val="dk1"/>
                </a:solidFill>
                <a:latin typeface="Century Gothic"/>
              </a:rPr>
              <a:t>rich</a:t>
            </a:r>
            <a:r>
              <a:rPr lang="de-AT" sz="2400" b="0" strike="noStrike" spc="-1" dirty="0">
                <a:solidFill>
                  <a:schemeClr val="dk1"/>
                </a:solidFill>
                <a:latin typeface="Century Gothic"/>
              </a:rPr>
              <a:t> qualitative </a:t>
            </a:r>
            <a:r>
              <a:rPr lang="de-AT" sz="2400" b="0" strike="noStrike" spc="-1" dirty="0" err="1">
                <a:solidFill>
                  <a:schemeClr val="dk1"/>
                </a:solidFill>
                <a:latin typeface="Century Gothic"/>
              </a:rPr>
              <a:t>data</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focus</a:t>
            </a:r>
            <a:r>
              <a:rPr lang="de-AT" sz="2400" b="0" strike="noStrike" spc="-1" dirty="0">
                <a:solidFill>
                  <a:schemeClr val="dk1"/>
                </a:solidFill>
                <a:latin typeface="Century Gothic"/>
              </a:rPr>
              <a:t> on </a:t>
            </a:r>
            <a:r>
              <a:rPr lang="de-AT" sz="2400" b="0" strike="noStrike" spc="-1" dirty="0" err="1">
                <a:solidFill>
                  <a:schemeClr val="dk1"/>
                </a:solidFill>
                <a:latin typeface="Century Gothic"/>
              </a:rPr>
              <a:t>broader</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impact</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of</a:t>
            </a:r>
            <a:r>
              <a:rPr lang="de-AT" sz="2400" b="0" strike="noStrike" spc="-1" dirty="0">
                <a:solidFill>
                  <a:schemeClr val="dk1"/>
                </a:solidFill>
                <a:latin typeface="Century Gothic"/>
              </a:rPr>
              <a:t> non-gen AI,…)</a:t>
            </a:r>
            <a:endParaRPr lang="de-AT" sz="2400" b="0" strike="noStrike" spc="-1" dirty="0">
              <a:solidFill>
                <a:srgbClr val="000000"/>
              </a:solidFill>
              <a:latin typeface="Arial"/>
            </a:endParaRPr>
          </a:p>
        </p:txBody>
      </p:sp>
      <p:sp>
        <p:nvSpPr>
          <p:cNvPr id="128" name="Freeform 2"/>
          <p:cNvSpPr/>
          <p:nvPr/>
        </p:nvSpPr>
        <p:spPr>
          <a:xfrm>
            <a:off x="1501298" y="6467830"/>
            <a:ext cx="5253480" cy="3493080"/>
          </a:xfrm>
          <a:custGeom>
            <a:avLst/>
            <a:gdLst>
              <a:gd name="textAreaLeft" fmla="*/ 0 w 5253480"/>
              <a:gd name="textAreaRight" fmla="*/ 5253840 w 5253480"/>
              <a:gd name="textAreaTop" fmla="*/ 0 h 3493080"/>
              <a:gd name="textAreaBottom" fmla="*/ 3493440 h 3493080"/>
            </a:gdLst>
            <a:ahLst/>
            <a:cxnLst/>
            <a:rect l="textAreaLeft" t="textAreaTop" r="textAreaRight" b="textAreaBottom"/>
            <a:pathLst>
              <a:path w="7709622" h="4770328">
                <a:moveTo>
                  <a:pt x="0" y="0"/>
                </a:moveTo>
                <a:lnTo>
                  <a:pt x="7709621" y="0"/>
                </a:lnTo>
                <a:lnTo>
                  <a:pt x="7709621" y="4770328"/>
                </a:lnTo>
                <a:lnTo>
                  <a:pt x="0" y="477032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9" name="Grafik 2"/>
          <p:cNvPicPr/>
          <p:nvPr/>
        </p:nvPicPr>
        <p:blipFill>
          <a:blip r:embed="rId3"/>
          <a:stretch/>
        </p:blipFill>
        <p:spPr>
          <a:xfrm>
            <a:off x="1789560" y="0"/>
            <a:ext cx="14708520" cy="10231920"/>
          </a:xfrm>
          <a:prstGeom prst="rect">
            <a:avLst/>
          </a:prstGeom>
          <a:ln w="0">
            <a:solidFill>
              <a:srgbClr val="000000"/>
            </a:solidFill>
          </a:ln>
        </p:spPr>
      </p:pic>
      <p:sp>
        <p:nvSpPr>
          <p:cNvPr id="130" name="Rechteck: abgerundete Ecken 3"/>
          <p:cNvSpPr/>
          <p:nvPr/>
        </p:nvSpPr>
        <p:spPr>
          <a:xfrm>
            <a:off x="1238400" y="8344080"/>
            <a:ext cx="15811200" cy="1888200"/>
          </a:xfrm>
          <a:prstGeom prst="roundRect">
            <a:avLst>
              <a:gd name="adj" fmla="val 50000"/>
            </a:avLst>
          </a:prstGeom>
          <a:noFill/>
          <a:ln>
            <a:solidFill>
              <a:schemeClr val="accent1"/>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AT" sz="1800" b="0" strike="noStrike" spc="-1">
              <a:solidFill>
                <a:schemeClr val="lt1"/>
              </a:solidFill>
              <a:latin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 name="Textfeld 6"/>
          <p:cNvSpPr/>
          <p:nvPr/>
        </p:nvSpPr>
        <p:spPr>
          <a:xfrm>
            <a:off x="6477120" y="1083594"/>
            <a:ext cx="103629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5400" b="0" strike="noStrike" spc="-1" dirty="0">
                <a:solidFill>
                  <a:schemeClr val="dk1"/>
                </a:solidFill>
                <a:latin typeface="Fredoka"/>
              </a:rPr>
              <a:t>Quality</a:t>
            </a:r>
            <a:r>
              <a:rPr lang="de-AT" sz="2800" b="0" strike="noStrike" spc="-1" dirty="0">
                <a:solidFill>
                  <a:schemeClr val="dk1"/>
                </a:solidFill>
                <a:latin typeface="Fredoka"/>
              </a:rPr>
              <a:t> </a:t>
            </a:r>
            <a:r>
              <a:rPr lang="de-AT" sz="5400" b="0" strike="noStrike" spc="-1" dirty="0">
                <a:solidFill>
                  <a:schemeClr val="dk1"/>
                </a:solidFill>
                <a:latin typeface="Fredoka"/>
              </a:rPr>
              <a:t>Assessment </a:t>
            </a:r>
            <a:r>
              <a:rPr lang="de-AT" sz="5400" b="0" strike="noStrike" spc="-1" dirty="0" err="1">
                <a:solidFill>
                  <a:schemeClr val="dk1"/>
                </a:solidFill>
                <a:latin typeface="Fredoka"/>
              </a:rPr>
              <a:t>using</a:t>
            </a:r>
            <a:r>
              <a:rPr lang="de-AT" sz="5400" b="0" strike="noStrike" spc="-1" dirty="0">
                <a:solidFill>
                  <a:schemeClr val="dk1"/>
                </a:solidFill>
                <a:latin typeface="Fredoka"/>
              </a:rPr>
              <a:t> MAGIC</a:t>
            </a:r>
            <a:endParaRPr lang="de-AT" sz="5400" b="0" strike="noStrike" spc="-1" dirty="0">
              <a:solidFill>
                <a:srgbClr val="000000"/>
              </a:solidFill>
              <a:latin typeface="Fredoka"/>
            </a:endParaRPr>
          </a:p>
        </p:txBody>
      </p:sp>
      <p:graphicFrame>
        <p:nvGraphicFramePr>
          <p:cNvPr id="132" name="Tabelle 7"/>
          <p:cNvGraphicFramePr/>
          <p:nvPr>
            <p:extLst>
              <p:ext uri="{D42A27DB-BD31-4B8C-83A1-F6EECF244321}">
                <p14:modId xmlns:p14="http://schemas.microsoft.com/office/powerpoint/2010/main" val="270678390"/>
              </p:ext>
            </p:extLst>
          </p:nvPr>
        </p:nvGraphicFramePr>
        <p:xfrm>
          <a:off x="5486400" y="2441880"/>
          <a:ext cx="12344400" cy="7313760"/>
        </p:xfrm>
        <a:graphic>
          <a:graphicData uri="http://schemas.openxmlformats.org/drawingml/2006/table">
            <a:tbl>
              <a:tblPr/>
              <a:tblGrid>
                <a:gridCol w="4114800">
                  <a:extLst>
                    <a:ext uri="{9D8B030D-6E8A-4147-A177-3AD203B41FA5}">
                      <a16:colId xmlns:a16="http://schemas.microsoft.com/office/drawing/2014/main" val="20000"/>
                    </a:ext>
                  </a:extLst>
                </a:gridCol>
                <a:gridCol w="8229600">
                  <a:extLst>
                    <a:ext uri="{9D8B030D-6E8A-4147-A177-3AD203B41FA5}">
                      <a16:colId xmlns:a16="http://schemas.microsoft.com/office/drawing/2014/main" val="20001"/>
                    </a:ext>
                  </a:extLst>
                </a:gridCol>
              </a:tblGrid>
              <a:tr h="705960">
                <a:tc>
                  <a:txBody>
                    <a:bodyPr/>
                    <a:lstStyle/>
                    <a:p>
                      <a:pPr defTabSz="914400">
                        <a:lnSpc>
                          <a:spcPct val="100000"/>
                        </a:lnSpc>
                      </a:pPr>
                      <a:r>
                        <a:rPr lang="de-AT" sz="4000" b="1" strike="noStrike" spc="-1" dirty="0">
                          <a:solidFill>
                            <a:schemeClr val="lt1"/>
                          </a:solidFill>
                          <a:latin typeface="Century Gothic" panose="020B0502020202020204" pitchFamily="34" charset="0"/>
                        </a:rPr>
                        <a:t>Criterion</a:t>
                      </a:r>
                      <a:endParaRPr lang="de-AT" sz="4000" b="1" strike="noStrike" spc="-1" dirty="0">
                        <a:solidFill>
                          <a:srgbClr val="FFFFFF"/>
                        </a:solidFill>
                        <a:latin typeface="Century Gothic" panose="020B0502020202020204" pitchFamily="34" charset="0"/>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tx2">
                        <a:lumMod val="75000"/>
                      </a:schemeClr>
                    </a:solidFill>
                  </a:tcPr>
                </a:tc>
                <a:tc>
                  <a:txBody>
                    <a:bodyPr/>
                    <a:lstStyle/>
                    <a:p>
                      <a:pPr defTabSz="914400">
                        <a:lnSpc>
                          <a:spcPct val="100000"/>
                        </a:lnSpc>
                      </a:pPr>
                      <a:r>
                        <a:rPr lang="de-AT" sz="4000" b="1" strike="noStrike" spc="-1" dirty="0">
                          <a:solidFill>
                            <a:schemeClr val="lt1"/>
                          </a:solidFill>
                          <a:latin typeface="Century Gothic" panose="020B0502020202020204" pitchFamily="34" charset="0"/>
                        </a:rPr>
                        <a:t>Assessment</a:t>
                      </a:r>
                      <a:endParaRPr lang="de-AT" sz="4000" b="1" strike="noStrike" spc="-1" dirty="0">
                        <a:solidFill>
                          <a:srgbClr val="FFFFFF"/>
                        </a:solidFill>
                        <a:latin typeface="Century Gothic" panose="020B0502020202020204" pitchFamily="34" charset="0"/>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tx2">
                        <a:lumMod val="75000"/>
                      </a:schemeClr>
                    </a:solidFill>
                  </a:tcPr>
                </a:tc>
                <a:extLst>
                  <a:ext uri="{0D108BD9-81ED-4DB2-BD59-A6C34878D82A}">
                    <a16:rowId xmlns:a16="http://schemas.microsoft.com/office/drawing/2014/main" val="10000"/>
                  </a:ext>
                </a:extLst>
              </a:tr>
              <a:tr h="1321560">
                <a:tc>
                  <a:txBody>
                    <a:bodyPr/>
                    <a:lstStyle/>
                    <a:p>
                      <a:pPr defTabSz="914400">
                        <a:lnSpc>
                          <a:spcPct val="100000"/>
                        </a:lnSpc>
                      </a:pPr>
                      <a:r>
                        <a:rPr lang="de-AT" sz="3600" b="1" strike="noStrike" spc="-1" dirty="0">
                          <a:solidFill>
                            <a:schemeClr val="dk1"/>
                          </a:solidFill>
                          <a:latin typeface="Century Gothic"/>
                        </a:rPr>
                        <a:t>M</a:t>
                      </a:r>
                      <a:r>
                        <a:rPr lang="de-AT" sz="3600" b="0" strike="noStrike" spc="-1" dirty="0">
                          <a:solidFill>
                            <a:schemeClr val="dk1"/>
                          </a:solidFill>
                          <a:latin typeface="Century Gothic"/>
                        </a:rPr>
                        <a:t>agnitude</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solidFill>
                      <a:srgbClr val="6D98BA"/>
                    </a:solidFill>
                  </a:tcPr>
                </a:tc>
                <a:tc>
                  <a:txBody>
                    <a:bodyPr/>
                    <a:lstStyle/>
                    <a:p>
                      <a:pPr defTabSz="914400">
                        <a:lnSpc>
                          <a:spcPct val="100000"/>
                        </a:lnSpc>
                      </a:pPr>
                      <a:r>
                        <a:rPr lang="de-AT" sz="3600" b="0" strike="noStrike" spc="-1" dirty="0">
                          <a:solidFill>
                            <a:schemeClr val="dk1"/>
                          </a:solidFill>
                          <a:latin typeface="Century Gothic"/>
                        </a:rPr>
                        <a:t>Positive </a:t>
                      </a:r>
                      <a:r>
                        <a:rPr lang="de-AT" sz="3600" b="0" strike="noStrike" spc="-1" dirty="0" err="1">
                          <a:solidFill>
                            <a:schemeClr val="dk1"/>
                          </a:solidFill>
                          <a:latin typeface="Century Gothic"/>
                        </a:rPr>
                        <a:t>overall</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effect</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solidFill>
                      <a:srgbClr val="6D98BA"/>
                    </a:solidFill>
                  </a:tcPr>
                </a:tc>
                <a:extLst>
                  <a:ext uri="{0D108BD9-81ED-4DB2-BD59-A6C34878D82A}">
                    <a16:rowId xmlns:a16="http://schemas.microsoft.com/office/drawing/2014/main" val="10001"/>
                  </a:ext>
                </a:extLst>
              </a:tr>
              <a:tr h="1321560">
                <a:tc>
                  <a:txBody>
                    <a:bodyPr/>
                    <a:lstStyle/>
                    <a:p>
                      <a:pPr defTabSz="914400">
                        <a:lnSpc>
                          <a:spcPct val="100000"/>
                        </a:lnSpc>
                      </a:pPr>
                      <a:r>
                        <a:rPr lang="de-AT" sz="3600" b="1" strike="noStrike" spc="-1" dirty="0" err="1">
                          <a:solidFill>
                            <a:schemeClr val="dk1"/>
                          </a:solidFill>
                          <a:latin typeface="Century Gothic"/>
                        </a:rPr>
                        <a:t>A</a:t>
                      </a:r>
                      <a:r>
                        <a:rPr lang="de-AT" sz="3600" b="0" strike="noStrike" spc="-1" dirty="0" err="1">
                          <a:solidFill>
                            <a:schemeClr val="dk1"/>
                          </a:solidFill>
                          <a:latin typeface="Century Gothic"/>
                        </a:rPr>
                        <a:t>rticulation</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tx2">
                        <a:lumMod val="20000"/>
                        <a:lumOff val="80000"/>
                      </a:schemeClr>
                    </a:solidFill>
                  </a:tcPr>
                </a:tc>
                <a:tc>
                  <a:txBody>
                    <a:bodyPr/>
                    <a:lstStyle/>
                    <a:p>
                      <a:pPr defTabSz="914400">
                        <a:lnSpc>
                          <a:spcPct val="100000"/>
                        </a:lnSpc>
                      </a:pPr>
                      <a:r>
                        <a:rPr lang="de-AT" sz="3600" b="0" strike="noStrike" spc="-1" dirty="0">
                          <a:solidFill>
                            <a:schemeClr val="dk1"/>
                          </a:solidFill>
                          <a:latin typeface="Century Gothic"/>
                        </a:rPr>
                        <a:t>Clear </a:t>
                      </a:r>
                      <a:r>
                        <a:rPr lang="de-AT" sz="3600" b="0" strike="noStrike" spc="-1" dirty="0" err="1">
                          <a:solidFill>
                            <a:schemeClr val="dk1"/>
                          </a:solidFill>
                          <a:latin typeface="Century Gothic"/>
                        </a:rPr>
                        <a:t>research</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question</a:t>
                      </a:r>
                      <a:r>
                        <a:rPr lang="de-AT" sz="3600" b="0" strike="noStrike" spc="-1" dirty="0">
                          <a:solidFill>
                            <a:schemeClr val="dk1"/>
                          </a:solidFill>
                          <a:latin typeface="Century Gothic"/>
                        </a:rPr>
                        <a:t> and </a:t>
                      </a:r>
                      <a:r>
                        <a:rPr lang="de-AT" sz="3600" b="0" strike="noStrike" spc="-1" dirty="0" err="1">
                          <a:solidFill>
                            <a:schemeClr val="dk1"/>
                          </a:solidFill>
                          <a:latin typeface="Century Gothic"/>
                        </a:rPr>
                        <a:t>methods</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tx2">
                        <a:lumMod val="20000"/>
                        <a:lumOff val="80000"/>
                      </a:schemeClr>
                    </a:solidFill>
                  </a:tcPr>
                </a:tc>
                <a:extLst>
                  <a:ext uri="{0D108BD9-81ED-4DB2-BD59-A6C34878D82A}">
                    <a16:rowId xmlns:a16="http://schemas.microsoft.com/office/drawing/2014/main" val="10002"/>
                  </a:ext>
                </a:extLst>
              </a:tr>
              <a:tr h="1321560">
                <a:tc>
                  <a:txBody>
                    <a:bodyPr/>
                    <a:lstStyle/>
                    <a:p>
                      <a:pPr defTabSz="914400">
                        <a:lnSpc>
                          <a:spcPct val="100000"/>
                        </a:lnSpc>
                      </a:pPr>
                      <a:r>
                        <a:rPr lang="de-AT" sz="3600" b="1" strike="noStrike" spc="-1" dirty="0" err="1">
                          <a:solidFill>
                            <a:schemeClr val="dk1"/>
                          </a:solidFill>
                          <a:latin typeface="Century Gothic"/>
                        </a:rPr>
                        <a:t>G</a:t>
                      </a:r>
                      <a:r>
                        <a:rPr lang="de-AT" sz="3600" b="0" strike="noStrike" spc="-1" dirty="0" err="1">
                          <a:solidFill>
                            <a:schemeClr val="dk1"/>
                          </a:solidFill>
                          <a:latin typeface="Century Gothic"/>
                        </a:rPr>
                        <a:t>enerality</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6D98BA"/>
                    </a:solidFill>
                  </a:tcPr>
                </a:tc>
                <a:tc>
                  <a:txBody>
                    <a:bodyPr/>
                    <a:lstStyle/>
                    <a:p>
                      <a:pPr defTabSz="914400">
                        <a:lnSpc>
                          <a:spcPct val="100000"/>
                        </a:lnSpc>
                      </a:pPr>
                      <a:r>
                        <a:rPr lang="de-AT" sz="3600" b="0" strike="noStrike" spc="-1" dirty="0">
                          <a:solidFill>
                            <a:schemeClr val="dk1"/>
                          </a:solidFill>
                          <a:latin typeface="Century Gothic"/>
                        </a:rPr>
                        <a:t>Multiple </a:t>
                      </a:r>
                      <a:r>
                        <a:rPr lang="de-AT" sz="3600" b="0" strike="noStrike" spc="-1" dirty="0" err="1">
                          <a:solidFill>
                            <a:schemeClr val="dk1"/>
                          </a:solidFill>
                          <a:latin typeface="Century Gothic"/>
                        </a:rPr>
                        <a:t>educational</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contexts</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6D98BA"/>
                    </a:solidFill>
                  </a:tcPr>
                </a:tc>
                <a:extLst>
                  <a:ext uri="{0D108BD9-81ED-4DB2-BD59-A6C34878D82A}">
                    <a16:rowId xmlns:a16="http://schemas.microsoft.com/office/drawing/2014/main" val="10003"/>
                  </a:ext>
                </a:extLst>
              </a:tr>
              <a:tr h="1321560">
                <a:tc>
                  <a:txBody>
                    <a:bodyPr/>
                    <a:lstStyle/>
                    <a:p>
                      <a:pPr defTabSz="914400">
                        <a:lnSpc>
                          <a:spcPct val="100000"/>
                        </a:lnSpc>
                      </a:pPr>
                      <a:r>
                        <a:rPr lang="de-AT" sz="3600" b="1" strike="noStrike" spc="-1" dirty="0" err="1">
                          <a:solidFill>
                            <a:schemeClr val="dk1"/>
                          </a:solidFill>
                          <a:latin typeface="Century Gothic"/>
                        </a:rPr>
                        <a:t>I</a:t>
                      </a:r>
                      <a:r>
                        <a:rPr lang="de-AT" sz="3600" b="0" strike="noStrike" spc="-1" dirty="0" err="1">
                          <a:solidFill>
                            <a:schemeClr val="dk1"/>
                          </a:solidFill>
                          <a:latin typeface="Century Gothic"/>
                        </a:rPr>
                        <a:t>nterestingness</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tx2">
                        <a:lumMod val="20000"/>
                        <a:lumOff val="80000"/>
                      </a:schemeClr>
                    </a:solidFill>
                  </a:tcPr>
                </a:tc>
                <a:tc>
                  <a:txBody>
                    <a:bodyPr/>
                    <a:lstStyle/>
                    <a:p>
                      <a:pPr defTabSz="914400">
                        <a:lnSpc>
                          <a:spcPct val="100000"/>
                        </a:lnSpc>
                      </a:pPr>
                      <a:r>
                        <a:rPr lang="de-AT" sz="3600" b="0" strike="noStrike" spc="-1" dirty="0">
                          <a:solidFill>
                            <a:schemeClr val="dk1"/>
                          </a:solidFill>
                          <a:latin typeface="Century Gothic"/>
                        </a:rPr>
                        <a:t>High </a:t>
                      </a:r>
                      <a:r>
                        <a:rPr lang="de-AT" sz="3600" b="0" strike="noStrike" spc="-1" dirty="0" err="1">
                          <a:solidFill>
                            <a:schemeClr val="dk1"/>
                          </a:solidFill>
                          <a:latin typeface="Century Gothic"/>
                        </a:rPr>
                        <a:t>relevance</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for</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education</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tx2">
                        <a:lumMod val="20000"/>
                        <a:lumOff val="80000"/>
                      </a:schemeClr>
                    </a:solidFill>
                  </a:tcPr>
                </a:tc>
                <a:extLst>
                  <a:ext uri="{0D108BD9-81ED-4DB2-BD59-A6C34878D82A}">
                    <a16:rowId xmlns:a16="http://schemas.microsoft.com/office/drawing/2014/main" val="10004"/>
                  </a:ext>
                </a:extLst>
              </a:tr>
              <a:tr h="1321560">
                <a:tc>
                  <a:txBody>
                    <a:bodyPr/>
                    <a:lstStyle/>
                    <a:p>
                      <a:pPr defTabSz="914400">
                        <a:lnSpc>
                          <a:spcPct val="100000"/>
                        </a:lnSpc>
                      </a:pPr>
                      <a:r>
                        <a:rPr lang="de-AT" sz="3600" b="1" strike="noStrike" spc="-1" dirty="0">
                          <a:solidFill>
                            <a:schemeClr val="dk1"/>
                          </a:solidFill>
                          <a:latin typeface="Century Gothic"/>
                        </a:rPr>
                        <a:t>C</a:t>
                      </a:r>
                      <a:r>
                        <a:rPr lang="de-AT" sz="3600" b="0" strike="noStrike" spc="-1" dirty="0">
                          <a:solidFill>
                            <a:schemeClr val="dk1"/>
                          </a:solidFill>
                          <a:latin typeface="Century Gothic"/>
                        </a:rPr>
                        <a:t>redibility</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6D98BA"/>
                    </a:solidFill>
                  </a:tcPr>
                </a:tc>
                <a:tc>
                  <a:txBody>
                    <a:bodyPr/>
                    <a:lstStyle/>
                    <a:p>
                      <a:pPr defTabSz="914400">
                        <a:lnSpc>
                          <a:spcPct val="100000"/>
                        </a:lnSpc>
                      </a:pPr>
                      <a:r>
                        <a:rPr lang="de-AT" sz="3600" b="0" strike="noStrike" spc="-1" dirty="0">
                          <a:solidFill>
                            <a:schemeClr val="dk1"/>
                          </a:solidFill>
                          <a:latin typeface="Century Gothic"/>
                        </a:rPr>
                        <a:t>PRISMA and </a:t>
                      </a:r>
                      <a:r>
                        <a:rPr lang="de-AT" sz="3600" b="0" strike="noStrike" spc="-1" dirty="0" err="1">
                          <a:solidFill>
                            <a:schemeClr val="dk1"/>
                          </a:solidFill>
                          <a:latin typeface="Century Gothic"/>
                        </a:rPr>
                        <a:t>quality</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appraisal</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6D98BA"/>
                    </a:solidFill>
                  </a:tcPr>
                </a:tc>
                <a:extLst>
                  <a:ext uri="{0D108BD9-81ED-4DB2-BD59-A6C34878D82A}">
                    <a16:rowId xmlns:a16="http://schemas.microsoft.com/office/drawing/2014/main" val="10005"/>
                  </a:ext>
                </a:extLst>
              </a:tr>
            </a:tbl>
          </a:graphicData>
        </a:graphic>
      </p:graphicFrame>
      <p:sp>
        <p:nvSpPr>
          <p:cNvPr id="133" name="Freeform 2"/>
          <p:cNvSpPr/>
          <p:nvPr/>
        </p:nvSpPr>
        <p:spPr>
          <a:xfrm>
            <a:off x="442080" y="4381560"/>
            <a:ext cx="4708080" cy="5407200"/>
          </a:xfrm>
          <a:custGeom>
            <a:avLst/>
            <a:gdLst>
              <a:gd name="textAreaLeft" fmla="*/ 0 w 4708080"/>
              <a:gd name="textAreaRight" fmla="*/ 4708440 w 4708080"/>
              <a:gd name="textAreaTop" fmla="*/ 0 h 5407200"/>
              <a:gd name="textAreaBottom" fmla="*/ 5407560 h 5407200"/>
            </a:gdLst>
            <a:ahLst/>
            <a:cxnLst/>
            <a:rect l="textAreaLeft" t="textAreaTop" r="textAreaRight" b="textAreaBottom"/>
            <a:pathLst>
              <a:path w="6871547" h="7290766">
                <a:moveTo>
                  <a:pt x="0" y="0"/>
                </a:moveTo>
                <a:lnTo>
                  <a:pt x="6871547" y="0"/>
                </a:lnTo>
                <a:lnTo>
                  <a:pt x="6871547" y="7290766"/>
                </a:lnTo>
                <a:lnTo>
                  <a:pt x="0" y="7290766"/>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pic>
        <p:nvPicPr>
          <p:cNvPr id="134" name="Grafik 11" descr="Sterne mit einfarbiger Füllung"/>
          <p:cNvPicPr/>
          <p:nvPr/>
        </p:nvPicPr>
        <p:blipFill>
          <a:blip>
            <a:extLst>
              <a:ext uri="{96DAC541-7B7A-43D3-8B79-37D633B846F1}">
                <asvg:svgBlip xmlns:asvg="http://schemas.microsoft.com/office/drawing/2016/SVG/main" r:embed="rId4"/>
              </a:ext>
            </a:extLst>
          </a:blip>
          <a:stretch/>
        </p:blipFill>
        <p:spPr>
          <a:xfrm>
            <a:off x="15473636" y="647184"/>
            <a:ext cx="914040" cy="914040"/>
          </a:xfrm>
          <a:prstGeom prst="rect">
            <a:avLst/>
          </a:prstGeom>
          <a:ln w="0">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5"/>
          <p:cNvSpPr/>
          <p:nvPr/>
        </p:nvSpPr>
        <p:spPr>
          <a:xfrm>
            <a:off x="12707640" y="6745320"/>
            <a:ext cx="5578200" cy="3543840"/>
          </a:xfrm>
          <a:custGeom>
            <a:avLst/>
            <a:gdLst/>
            <a:ahLst/>
            <a:cxnLst/>
            <a:rect l="l" t="t" r="r" b="b"/>
            <a:pathLst>
              <a:path w="7538575" h="4871804" extrusionOk="0">
                <a:moveTo>
                  <a:pt x="0" y="0"/>
                </a:moveTo>
                <a:lnTo>
                  <a:pt x="7538575" y="0"/>
                </a:lnTo>
                <a:lnTo>
                  <a:pt x="7538575" y="4871804"/>
                </a:lnTo>
                <a:lnTo>
                  <a:pt x="0" y="4871804"/>
                </a:lnTo>
                <a:lnTo>
                  <a:pt x="0" y="0"/>
                </a:lnTo>
                <a:close/>
              </a:path>
            </a:pathLst>
          </a:custGeom>
          <a:blipFill rotWithShape="1">
            <a:blip r:embed="rId3">
              <a:alphaModFix/>
            </a:blip>
            <a:stretch>
              <a:fillRect/>
            </a:stretch>
          </a:blipFill>
          <a:ln>
            <a:noFill/>
          </a:ln>
        </p:spPr>
        <p:txBody>
          <a:bodyPr spcFirstLastPara="1" wrap="square" lIns="90000" tIns="45000" rIns="90000" bIns="45000" anchor="t" anchorCtr="0">
            <a:noAutofit/>
          </a:bodyPr>
          <a:lstStyle/>
          <a:p>
            <a:pPr marL="0" marR="0" lvl="0" indent="0" algn="l" rtl="0">
              <a:spcBef>
                <a:spcPts val="0"/>
              </a:spcBef>
              <a:spcAft>
                <a:spcPts val="0"/>
              </a:spcAft>
              <a:buNone/>
            </a:pPr>
            <a:endParaRPr sz="1400" b="0" strike="noStrike">
              <a:solidFill>
                <a:srgbClr val="000000"/>
              </a:solidFill>
              <a:latin typeface="Arial"/>
              <a:ea typeface="Arial"/>
              <a:cs typeface="Arial"/>
              <a:sym typeface="Arial"/>
            </a:endParaRPr>
          </a:p>
        </p:txBody>
      </p:sp>
      <p:sp>
        <p:nvSpPr>
          <p:cNvPr id="115" name="Google Shape;115;p15"/>
          <p:cNvSpPr/>
          <p:nvPr/>
        </p:nvSpPr>
        <p:spPr>
          <a:xfrm>
            <a:off x="2238840" y="7654680"/>
            <a:ext cx="8063640" cy="1725120"/>
          </a:xfrm>
          <a:prstGeom prst="roundRect">
            <a:avLst>
              <a:gd name="adj" fmla="val 16667"/>
            </a:avLst>
          </a:prstGeom>
          <a:solidFill>
            <a:srgbClr val="6D98BA"/>
          </a:solidFill>
          <a:ln w="9525" cap="flat" cmpd="sng">
            <a:solidFill>
              <a:srgbClr val="3465A4"/>
            </a:solidFill>
            <a:prstDash val="solid"/>
            <a:round/>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r>
              <a:rPr lang="de-AT" sz="2400" b="1" strike="noStrike">
                <a:solidFill>
                  <a:schemeClr val="dk1"/>
                </a:solidFill>
                <a:latin typeface="Century Gothic"/>
                <a:ea typeface="Century Gothic"/>
                <a:cs typeface="Century Gothic"/>
                <a:sym typeface="Century Gothic"/>
              </a:rPr>
              <a:t>Interpretation: </a:t>
            </a:r>
            <a:r>
              <a:rPr lang="de-AT" sz="2400" b="0" strike="noStrike">
                <a:solidFill>
                  <a:schemeClr val="dk1"/>
                </a:solidFill>
                <a:latin typeface="Century Gothic"/>
                <a:ea typeface="Century Gothic"/>
                <a:cs typeface="Century Gothic"/>
                <a:sym typeface="Century Gothic"/>
              </a:rPr>
              <a:t>the evidence is broad, but strongly shaped by university-level classroom studies.</a:t>
            </a:r>
            <a:endParaRPr sz="2400" b="0" strike="noStrike">
              <a:solidFill>
                <a:srgbClr val="FFFFFF"/>
              </a:solidFill>
              <a:latin typeface="Arial"/>
              <a:ea typeface="Arial"/>
              <a:cs typeface="Arial"/>
              <a:sym typeface="Arial"/>
            </a:endParaRPr>
          </a:p>
        </p:txBody>
      </p:sp>
      <p:sp>
        <p:nvSpPr>
          <p:cNvPr id="116" name="Google Shape;116;p15"/>
          <p:cNvSpPr/>
          <p:nvPr/>
        </p:nvSpPr>
        <p:spPr>
          <a:xfrm>
            <a:off x="3553200" y="1636200"/>
            <a:ext cx="2608920" cy="1725120"/>
          </a:xfrm>
          <a:prstGeom prst="roundRect">
            <a:avLst>
              <a:gd name="adj" fmla="val 16667"/>
            </a:avLst>
          </a:prstGeom>
          <a:solidFill>
            <a:srgbClr val="6D98BA"/>
          </a:solidFill>
          <a:ln w="9525" cap="flat" cmpd="sng">
            <a:solidFill>
              <a:srgbClr val="3465A4"/>
            </a:solidFill>
            <a:prstDash val="solid"/>
            <a:round/>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r>
              <a:rPr lang="de-AT" sz="2400" b="1" strike="noStrike">
                <a:solidFill>
                  <a:schemeClr val="dk1"/>
                </a:solidFill>
                <a:latin typeface="Century Gothic"/>
                <a:ea typeface="Century Gothic"/>
                <a:cs typeface="Century Gothic"/>
                <a:sym typeface="Century Gothic"/>
              </a:rPr>
              <a:t>69</a:t>
            </a:r>
            <a:endParaRPr sz="2400" b="0" strike="noStrike">
              <a:solidFill>
                <a:srgbClr val="FFFFFF"/>
              </a:solidFill>
              <a:latin typeface="Arial"/>
              <a:ea typeface="Arial"/>
              <a:cs typeface="Arial"/>
              <a:sym typeface="Arial"/>
            </a:endParaRPr>
          </a:p>
          <a:p>
            <a:pPr marL="0" marR="0" lvl="0" indent="0" algn="ctr" rtl="0">
              <a:lnSpc>
                <a:spcPct val="100000"/>
              </a:lnSpc>
              <a:spcBef>
                <a:spcPts val="0"/>
              </a:spcBef>
              <a:spcAft>
                <a:spcPts val="0"/>
              </a:spcAft>
              <a:buNone/>
            </a:pPr>
            <a:r>
              <a:rPr lang="de-AT" sz="2000" b="0" strike="noStrike">
                <a:solidFill>
                  <a:schemeClr val="dk1"/>
                </a:solidFill>
                <a:latin typeface="Century Gothic"/>
                <a:ea typeface="Century Gothic"/>
                <a:cs typeface="Century Gothic"/>
                <a:sym typeface="Century Gothic"/>
              </a:rPr>
              <a:t>studies in the systematic review</a:t>
            </a:r>
            <a:endParaRPr sz="2000" b="0" strike="noStrike">
              <a:solidFill>
                <a:srgbClr val="FFFFFF"/>
              </a:solidFill>
              <a:latin typeface="Arial"/>
              <a:ea typeface="Arial"/>
              <a:cs typeface="Arial"/>
              <a:sym typeface="Arial"/>
            </a:endParaRPr>
          </a:p>
        </p:txBody>
      </p:sp>
      <p:sp>
        <p:nvSpPr>
          <p:cNvPr id="117" name="Google Shape;117;p15"/>
          <p:cNvSpPr/>
          <p:nvPr/>
        </p:nvSpPr>
        <p:spPr>
          <a:xfrm>
            <a:off x="6559560" y="1636200"/>
            <a:ext cx="2608920" cy="1725120"/>
          </a:xfrm>
          <a:prstGeom prst="roundRect">
            <a:avLst>
              <a:gd name="adj" fmla="val 16667"/>
            </a:avLst>
          </a:prstGeom>
          <a:solidFill>
            <a:srgbClr val="6D98BA"/>
          </a:solidFill>
          <a:ln w="9525" cap="flat" cmpd="sng">
            <a:solidFill>
              <a:srgbClr val="3465A4"/>
            </a:solidFill>
            <a:prstDash val="solid"/>
            <a:round/>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r>
              <a:rPr lang="de-AT" sz="2400" b="1" strike="noStrike">
                <a:solidFill>
                  <a:schemeClr val="dk1"/>
                </a:solidFill>
                <a:latin typeface="Century Gothic"/>
                <a:ea typeface="Century Gothic"/>
                <a:cs typeface="Century Gothic"/>
                <a:sym typeface="Century Gothic"/>
              </a:rPr>
              <a:t>62</a:t>
            </a:r>
            <a:endParaRPr sz="2400" b="0" strike="noStrike">
              <a:solidFill>
                <a:srgbClr val="FFFFFF"/>
              </a:solidFill>
              <a:latin typeface="Arial"/>
              <a:ea typeface="Arial"/>
              <a:cs typeface="Arial"/>
              <a:sym typeface="Arial"/>
            </a:endParaRPr>
          </a:p>
          <a:p>
            <a:pPr marL="0" marR="0" lvl="0" indent="0" algn="ctr" rtl="0">
              <a:lnSpc>
                <a:spcPct val="100000"/>
              </a:lnSpc>
              <a:spcBef>
                <a:spcPts val="0"/>
              </a:spcBef>
              <a:spcAft>
                <a:spcPts val="0"/>
              </a:spcAft>
              <a:buNone/>
            </a:pPr>
            <a:r>
              <a:rPr lang="de-AT" sz="2000" b="0" strike="noStrike">
                <a:solidFill>
                  <a:schemeClr val="dk1"/>
                </a:solidFill>
                <a:latin typeface="Century Gothic"/>
                <a:ea typeface="Century Gothic"/>
                <a:cs typeface="Century Gothic"/>
                <a:sym typeface="Century Gothic"/>
              </a:rPr>
              <a:t>studies in the meta-analysis</a:t>
            </a:r>
            <a:endParaRPr sz="2000" b="0" strike="noStrike">
              <a:solidFill>
                <a:srgbClr val="FFFFFF"/>
              </a:solidFill>
              <a:latin typeface="Arial"/>
              <a:ea typeface="Arial"/>
              <a:cs typeface="Arial"/>
              <a:sym typeface="Arial"/>
            </a:endParaRPr>
          </a:p>
        </p:txBody>
      </p:sp>
      <p:sp>
        <p:nvSpPr>
          <p:cNvPr id="118" name="Google Shape;118;p15"/>
          <p:cNvSpPr/>
          <p:nvPr/>
        </p:nvSpPr>
        <p:spPr>
          <a:xfrm>
            <a:off x="9565920" y="1636200"/>
            <a:ext cx="2608920" cy="1725120"/>
          </a:xfrm>
          <a:prstGeom prst="roundRect">
            <a:avLst>
              <a:gd name="adj" fmla="val 16667"/>
            </a:avLst>
          </a:prstGeom>
          <a:solidFill>
            <a:srgbClr val="6D98BA"/>
          </a:solidFill>
          <a:ln w="9525" cap="flat" cmpd="sng">
            <a:solidFill>
              <a:srgbClr val="3465A4"/>
            </a:solidFill>
            <a:prstDash val="solid"/>
            <a:round/>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r>
              <a:rPr lang="de-AT" sz="2400" b="1" strike="noStrike">
                <a:solidFill>
                  <a:schemeClr val="dk1"/>
                </a:solidFill>
                <a:latin typeface="Century Gothic"/>
                <a:ea typeface="Century Gothic"/>
                <a:cs typeface="Century Gothic"/>
                <a:sym typeface="Century Gothic"/>
              </a:rPr>
              <a:t>84%</a:t>
            </a:r>
            <a:endParaRPr sz="2400" b="0" strike="noStrike">
              <a:solidFill>
                <a:srgbClr val="FFFFFF"/>
              </a:solidFill>
              <a:latin typeface="Arial"/>
              <a:ea typeface="Arial"/>
              <a:cs typeface="Arial"/>
              <a:sym typeface="Arial"/>
            </a:endParaRPr>
          </a:p>
          <a:p>
            <a:pPr marL="0" marR="0" lvl="0" indent="0" algn="ctr" rtl="0">
              <a:lnSpc>
                <a:spcPct val="100000"/>
              </a:lnSpc>
              <a:spcBef>
                <a:spcPts val="0"/>
              </a:spcBef>
              <a:spcAft>
                <a:spcPts val="0"/>
              </a:spcAft>
              <a:buNone/>
            </a:pPr>
            <a:r>
              <a:rPr lang="de-AT" sz="2000" b="0" strike="noStrike">
                <a:solidFill>
                  <a:schemeClr val="dk1"/>
                </a:solidFill>
                <a:latin typeface="Century Gothic"/>
                <a:ea typeface="Century Gothic"/>
                <a:cs typeface="Century Gothic"/>
                <a:sym typeface="Century Gothic"/>
              </a:rPr>
              <a:t>conducted at university level</a:t>
            </a:r>
            <a:endParaRPr sz="2000" b="0" strike="noStrike">
              <a:solidFill>
                <a:srgbClr val="FFFFFF"/>
              </a:solidFill>
              <a:latin typeface="Arial"/>
              <a:ea typeface="Arial"/>
              <a:cs typeface="Arial"/>
              <a:sym typeface="Arial"/>
            </a:endParaRPr>
          </a:p>
        </p:txBody>
      </p:sp>
      <p:sp>
        <p:nvSpPr>
          <p:cNvPr id="119" name="Google Shape;119;p15"/>
          <p:cNvSpPr/>
          <p:nvPr/>
        </p:nvSpPr>
        <p:spPr>
          <a:xfrm>
            <a:off x="12572280" y="1636200"/>
            <a:ext cx="2608920" cy="1725120"/>
          </a:xfrm>
          <a:prstGeom prst="roundRect">
            <a:avLst>
              <a:gd name="adj" fmla="val 16667"/>
            </a:avLst>
          </a:prstGeom>
          <a:solidFill>
            <a:srgbClr val="6D98BA"/>
          </a:solidFill>
          <a:ln w="9525" cap="flat" cmpd="sng">
            <a:solidFill>
              <a:srgbClr val="3465A4"/>
            </a:solidFill>
            <a:prstDash val="solid"/>
            <a:round/>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r>
              <a:rPr lang="de-AT" sz="2400" b="1" strike="noStrike">
                <a:solidFill>
                  <a:schemeClr val="dk1"/>
                </a:solidFill>
                <a:latin typeface="Century Gothic"/>
                <a:ea typeface="Century Gothic"/>
                <a:cs typeface="Century Gothic"/>
                <a:sym typeface="Century Gothic"/>
              </a:rPr>
              <a:t>80%</a:t>
            </a:r>
            <a:endParaRPr sz="2400" b="0" strike="noStrike">
              <a:solidFill>
                <a:srgbClr val="FFFFFF"/>
              </a:solidFill>
              <a:latin typeface="Arial"/>
              <a:ea typeface="Arial"/>
              <a:cs typeface="Arial"/>
              <a:sym typeface="Arial"/>
            </a:endParaRPr>
          </a:p>
          <a:p>
            <a:pPr marL="0" marR="0" lvl="0" indent="0" algn="ctr" rtl="0">
              <a:lnSpc>
                <a:spcPct val="100000"/>
              </a:lnSpc>
              <a:spcBef>
                <a:spcPts val="0"/>
              </a:spcBef>
              <a:spcAft>
                <a:spcPts val="0"/>
              </a:spcAft>
              <a:buNone/>
            </a:pPr>
            <a:r>
              <a:rPr lang="de-AT" sz="2000" b="0" strike="noStrike">
                <a:solidFill>
                  <a:schemeClr val="dk1"/>
                </a:solidFill>
                <a:latin typeface="Century Gothic"/>
                <a:ea typeface="Century Gothic"/>
                <a:cs typeface="Century Gothic"/>
                <a:sym typeface="Century Gothic"/>
              </a:rPr>
              <a:t>used ChatGPT as a direct learning tool</a:t>
            </a:r>
            <a:endParaRPr sz="2000" b="0" strike="noStrike">
              <a:solidFill>
                <a:srgbClr val="FFFFFF"/>
              </a:solidFill>
              <a:latin typeface="Arial"/>
              <a:ea typeface="Arial"/>
              <a:cs typeface="Arial"/>
              <a:sym typeface="Arial"/>
            </a:endParaRPr>
          </a:p>
        </p:txBody>
      </p:sp>
      <p:sp>
        <p:nvSpPr>
          <p:cNvPr id="120" name="Google Shape;120;p15"/>
          <p:cNvSpPr/>
          <p:nvPr/>
        </p:nvSpPr>
        <p:spPr>
          <a:xfrm>
            <a:off x="1230480" y="3895200"/>
            <a:ext cx="4803120" cy="2850120"/>
          </a:xfrm>
          <a:prstGeom prst="roundRect">
            <a:avLst>
              <a:gd name="adj" fmla="val 16667"/>
            </a:avLst>
          </a:prstGeom>
          <a:solidFill>
            <a:srgbClr val="6D98BA"/>
          </a:solidFill>
          <a:ln w="9525" cap="flat" cmpd="sng">
            <a:solidFill>
              <a:srgbClr val="3465A4"/>
            </a:solidFill>
            <a:prstDash val="solid"/>
            <a:round/>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r>
              <a:rPr lang="de-AT" sz="2400" b="1" strike="noStrike">
                <a:solidFill>
                  <a:schemeClr val="dk1"/>
                </a:solidFill>
                <a:latin typeface="Century Gothic"/>
                <a:ea typeface="Century Gothic"/>
                <a:cs typeface="Century Gothic"/>
                <a:sym typeface="Century Gothic"/>
              </a:rPr>
              <a:t>Subjects / Context</a:t>
            </a:r>
            <a:endParaRPr sz="2400" b="0" strike="noStrike">
              <a:solidFill>
                <a:srgbClr val="FFFFFF"/>
              </a:solidFill>
              <a:latin typeface="Arial"/>
              <a:ea typeface="Arial"/>
              <a:cs typeface="Arial"/>
              <a:sym typeface="Arial"/>
            </a:endParaRPr>
          </a:p>
          <a:p>
            <a:pPr marL="0" marR="0" lvl="0" indent="0" algn="ctr" rtl="0">
              <a:lnSpc>
                <a:spcPct val="100000"/>
              </a:lnSpc>
              <a:spcBef>
                <a:spcPts val="0"/>
              </a:spcBef>
              <a:spcAft>
                <a:spcPts val="0"/>
              </a:spcAft>
              <a:buNone/>
            </a:pPr>
            <a:endParaRPr sz="2400" b="0" strike="noStrike">
              <a:solidFill>
                <a:srgbClr val="FFFFFF"/>
              </a:solidFill>
              <a:latin typeface="Arial"/>
              <a:ea typeface="Arial"/>
              <a:cs typeface="Arial"/>
              <a:sym typeface="Arial"/>
            </a:endParaRPr>
          </a:p>
          <a:p>
            <a:pPr marL="457200" marR="0" lvl="0" indent="-355680" algn="l" rtl="0">
              <a:lnSpc>
                <a:spcPct val="100000"/>
              </a:lnSpc>
              <a:spcBef>
                <a:spcPts val="0"/>
              </a:spcBef>
              <a:spcAft>
                <a:spcPts val="0"/>
              </a:spcAft>
              <a:buClr>
                <a:srgbClr val="000000"/>
              </a:buClr>
              <a:buSzPts val="2000"/>
              <a:buFont typeface="Century Gothic"/>
              <a:buChar char="●"/>
            </a:pPr>
            <a:r>
              <a:rPr lang="de-AT" sz="2000" b="0" strike="noStrike">
                <a:solidFill>
                  <a:schemeClr val="dk1"/>
                </a:solidFill>
                <a:latin typeface="Century Gothic"/>
                <a:ea typeface="Century Gothic"/>
                <a:cs typeface="Century Gothic"/>
                <a:sym typeface="Century Gothic"/>
              </a:rPr>
              <a:t>Mainly:	language education, computing and health</a:t>
            </a:r>
            <a:endParaRPr sz="2000" b="0" strike="noStrike">
              <a:solidFill>
                <a:srgbClr val="FFFFFF"/>
              </a:solidFill>
              <a:latin typeface="Arial"/>
              <a:ea typeface="Arial"/>
              <a:cs typeface="Arial"/>
              <a:sym typeface="Arial"/>
            </a:endParaRPr>
          </a:p>
          <a:p>
            <a:pPr marL="457200" marR="0" lvl="0" indent="0" algn="l" rtl="0">
              <a:lnSpc>
                <a:spcPct val="100000"/>
              </a:lnSpc>
              <a:spcBef>
                <a:spcPts val="0"/>
              </a:spcBef>
              <a:spcAft>
                <a:spcPts val="0"/>
              </a:spcAft>
              <a:buNone/>
            </a:pPr>
            <a:endParaRPr sz="2000" b="0" strike="noStrike">
              <a:solidFill>
                <a:srgbClr val="FFFFFF"/>
              </a:solidFill>
              <a:latin typeface="Arial"/>
              <a:ea typeface="Arial"/>
              <a:cs typeface="Arial"/>
              <a:sym typeface="Arial"/>
            </a:endParaRPr>
          </a:p>
          <a:p>
            <a:pPr marL="457200" marR="0" lvl="0" indent="-355680" algn="l" rtl="0">
              <a:lnSpc>
                <a:spcPct val="100000"/>
              </a:lnSpc>
              <a:spcBef>
                <a:spcPts val="0"/>
              </a:spcBef>
              <a:spcAft>
                <a:spcPts val="0"/>
              </a:spcAft>
              <a:buClr>
                <a:srgbClr val="000000"/>
              </a:buClr>
              <a:buSzPts val="2000"/>
              <a:buFont typeface="Century Gothic"/>
              <a:buChar char="●"/>
            </a:pPr>
            <a:r>
              <a:rPr lang="de-AT" sz="2000" b="0" strike="noStrike">
                <a:solidFill>
                  <a:schemeClr val="dk1"/>
                </a:solidFill>
                <a:latin typeface="Century Gothic"/>
                <a:ea typeface="Century Gothic"/>
                <a:cs typeface="Century Gothic"/>
                <a:sym typeface="Century Gothic"/>
              </a:rPr>
              <a:t>Fewer: physics and education</a:t>
            </a:r>
            <a:endParaRPr sz="2000" b="0" strike="noStrike">
              <a:solidFill>
                <a:srgbClr val="FFFFFF"/>
              </a:solidFill>
              <a:latin typeface="Arial"/>
              <a:ea typeface="Arial"/>
              <a:cs typeface="Arial"/>
              <a:sym typeface="Arial"/>
            </a:endParaRPr>
          </a:p>
        </p:txBody>
      </p:sp>
      <p:sp>
        <p:nvSpPr>
          <p:cNvPr id="121" name="Google Shape;121;p15"/>
          <p:cNvSpPr/>
          <p:nvPr/>
        </p:nvSpPr>
        <p:spPr>
          <a:xfrm>
            <a:off x="6865200" y="3895200"/>
            <a:ext cx="4803120" cy="2850120"/>
          </a:xfrm>
          <a:prstGeom prst="roundRect">
            <a:avLst>
              <a:gd name="adj" fmla="val 16667"/>
            </a:avLst>
          </a:prstGeom>
          <a:solidFill>
            <a:srgbClr val="6D98BA"/>
          </a:solidFill>
          <a:ln w="9525" cap="flat" cmpd="sng">
            <a:solidFill>
              <a:srgbClr val="6D98BA"/>
            </a:solidFill>
            <a:prstDash val="solid"/>
            <a:round/>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r>
              <a:rPr lang="de-AT" sz="2400" b="1" strike="noStrike">
                <a:solidFill>
                  <a:schemeClr val="dk1"/>
                </a:solidFill>
                <a:latin typeface="Century Gothic"/>
                <a:ea typeface="Century Gothic"/>
                <a:cs typeface="Century Gothic"/>
                <a:sym typeface="Century Gothic"/>
              </a:rPr>
              <a:t>Settings</a:t>
            </a:r>
            <a:endParaRPr sz="2400" b="0" strike="noStrike">
              <a:solidFill>
                <a:srgbClr val="FFFFFF"/>
              </a:solidFill>
              <a:latin typeface="Arial"/>
              <a:ea typeface="Arial"/>
              <a:cs typeface="Arial"/>
              <a:sym typeface="Arial"/>
            </a:endParaRPr>
          </a:p>
          <a:p>
            <a:pPr marL="0" marR="0" lvl="0" indent="0" algn="ctr" rtl="0">
              <a:lnSpc>
                <a:spcPct val="100000"/>
              </a:lnSpc>
              <a:spcBef>
                <a:spcPts val="0"/>
              </a:spcBef>
              <a:spcAft>
                <a:spcPts val="0"/>
              </a:spcAft>
              <a:buNone/>
            </a:pPr>
            <a:endParaRPr sz="2400" b="0" strike="noStrike">
              <a:solidFill>
                <a:srgbClr val="FFFFFF"/>
              </a:solidFill>
              <a:latin typeface="Arial"/>
              <a:ea typeface="Arial"/>
              <a:cs typeface="Arial"/>
              <a:sym typeface="Arial"/>
            </a:endParaRPr>
          </a:p>
          <a:p>
            <a:pPr marL="457200" marR="0" lvl="0" indent="-355680" algn="l" rtl="0">
              <a:lnSpc>
                <a:spcPct val="100000"/>
              </a:lnSpc>
              <a:spcBef>
                <a:spcPts val="0"/>
              </a:spcBef>
              <a:spcAft>
                <a:spcPts val="0"/>
              </a:spcAft>
              <a:buClr>
                <a:srgbClr val="000000"/>
              </a:buClr>
              <a:buSzPts val="2000"/>
              <a:buFont typeface="Century Gothic"/>
              <a:buChar char="●"/>
            </a:pPr>
            <a:r>
              <a:rPr lang="de-AT" sz="2000" b="0" strike="noStrike">
                <a:solidFill>
                  <a:schemeClr val="dk1"/>
                </a:solidFill>
                <a:latin typeface="Century Gothic"/>
                <a:ea typeface="Century Gothic"/>
                <a:cs typeface="Century Gothic"/>
                <a:sym typeface="Century Gothic"/>
              </a:rPr>
              <a:t>Mainly:	classroom environments</a:t>
            </a:r>
            <a:endParaRPr sz="2000" b="0" strike="noStrike">
              <a:solidFill>
                <a:srgbClr val="FFFFFF"/>
              </a:solidFill>
              <a:latin typeface="Arial"/>
              <a:ea typeface="Arial"/>
              <a:cs typeface="Arial"/>
              <a:sym typeface="Arial"/>
            </a:endParaRPr>
          </a:p>
          <a:p>
            <a:pPr marL="457200" marR="0" lvl="0" indent="0" algn="l" rtl="0">
              <a:lnSpc>
                <a:spcPct val="100000"/>
              </a:lnSpc>
              <a:spcBef>
                <a:spcPts val="0"/>
              </a:spcBef>
              <a:spcAft>
                <a:spcPts val="0"/>
              </a:spcAft>
              <a:buNone/>
            </a:pPr>
            <a:endParaRPr sz="2000" b="0" strike="noStrike">
              <a:solidFill>
                <a:srgbClr val="FFFFFF"/>
              </a:solidFill>
              <a:latin typeface="Arial"/>
              <a:ea typeface="Arial"/>
              <a:cs typeface="Arial"/>
              <a:sym typeface="Arial"/>
            </a:endParaRPr>
          </a:p>
          <a:p>
            <a:pPr marL="457200" marR="0" lvl="0" indent="-355680" algn="l" rtl="0">
              <a:lnSpc>
                <a:spcPct val="100000"/>
              </a:lnSpc>
              <a:spcBef>
                <a:spcPts val="0"/>
              </a:spcBef>
              <a:spcAft>
                <a:spcPts val="0"/>
              </a:spcAft>
              <a:buClr>
                <a:srgbClr val="000000"/>
              </a:buClr>
              <a:buSzPts val="2000"/>
              <a:buFont typeface="Century Gothic"/>
              <a:buChar char="●"/>
            </a:pPr>
            <a:r>
              <a:rPr lang="de-AT" sz="2000" b="0" strike="noStrike">
                <a:solidFill>
                  <a:schemeClr val="dk1"/>
                </a:solidFill>
                <a:latin typeface="Century Gothic"/>
                <a:ea typeface="Century Gothic"/>
                <a:cs typeface="Century Gothic"/>
                <a:sym typeface="Century Gothic"/>
              </a:rPr>
              <a:t>Fewer: short isolated lab task</a:t>
            </a:r>
            <a:endParaRPr sz="2000" b="0" strike="noStrike">
              <a:solidFill>
                <a:srgbClr val="FFFFFF"/>
              </a:solidFill>
              <a:latin typeface="Arial"/>
              <a:ea typeface="Arial"/>
              <a:cs typeface="Arial"/>
              <a:sym typeface="Arial"/>
            </a:endParaRPr>
          </a:p>
        </p:txBody>
      </p:sp>
      <p:sp>
        <p:nvSpPr>
          <p:cNvPr id="122" name="Google Shape;122;p15"/>
          <p:cNvSpPr/>
          <p:nvPr/>
        </p:nvSpPr>
        <p:spPr>
          <a:xfrm>
            <a:off x="12499560" y="3895200"/>
            <a:ext cx="4803120" cy="2850120"/>
          </a:xfrm>
          <a:prstGeom prst="roundRect">
            <a:avLst>
              <a:gd name="adj" fmla="val 16667"/>
            </a:avLst>
          </a:prstGeom>
          <a:solidFill>
            <a:srgbClr val="6D98BA"/>
          </a:solidFill>
          <a:ln w="9525" cap="flat" cmpd="sng">
            <a:solidFill>
              <a:srgbClr val="3465A4"/>
            </a:solidFill>
            <a:prstDash val="solid"/>
            <a:round/>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r>
              <a:rPr lang="de-AT" sz="2400" b="1" strike="noStrike">
                <a:solidFill>
                  <a:schemeClr val="dk1"/>
                </a:solidFill>
                <a:latin typeface="Century Gothic"/>
                <a:ea typeface="Century Gothic"/>
                <a:cs typeface="Century Gothic"/>
                <a:sym typeface="Century Gothic"/>
              </a:rPr>
              <a:t>Duration</a:t>
            </a:r>
            <a:endParaRPr sz="2400" b="0" strike="noStrike">
              <a:solidFill>
                <a:srgbClr val="FFFFFF"/>
              </a:solidFill>
              <a:latin typeface="Arial"/>
              <a:ea typeface="Arial"/>
              <a:cs typeface="Arial"/>
              <a:sym typeface="Arial"/>
            </a:endParaRPr>
          </a:p>
          <a:p>
            <a:pPr marL="0" marR="0" lvl="0" indent="0" algn="ctr" rtl="0">
              <a:lnSpc>
                <a:spcPct val="100000"/>
              </a:lnSpc>
              <a:spcBef>
                <a:spcPts val="0"/>
              </a:spcBef>
              <a:spcAft>
                <a:spcPts val="0"/>
              </a:spcAft>
              <a:buNone/>
            </a:pPr>
            <a:endParaRPr sz="2400" b="0" strike="noStrike">
              <a:solidFill>
                <a:srgbClr val="FFFFFF"/>
              </a:solidFill>
              <a:latin typeface="Arial"/>
              <a:ea typeface="Arial"/>
              <a:cs typeface="Arial"/>
              <a:sym typeface="Arial"/>
            </a:endParaRPr>
          </a:p>
          <a:p>
            <a:pPr marL="457200" marR="0" lvl="0" indent="-355680" algn="l" rtl="0">
              <a:lnSpc>
                <a:spcPct val="100000"/>
              </a:lnSpc>
              <a:spcBef>
                <a:spcPts val="0"/>
              </a:spcBef>
              <a:spcAft>
                <a:spcPts val="0"/>
              </a:spcAft>
              <a:buClr>
                <a:srgbClr val="000000"/>
              </a:buClr>
              <a:buSzPts val="2000"/>
              <a:buFont typeface="Century Gothic"/>
              <a:buChar char="●"/>
            </a:pPr>
            <a:r>
              <a:rPr lang="de-AT" sz="2000" b="0" strike="noStrike">
                <a:solidFill>
                  <a:schemeClr val="dk1"/>
                </a:solidFill>
                <a:latin typeface="Century Gothic"/>
                <a:ea typeface="Century Gothic"/>
                <a:cs typeface="Century Gothic"/>
                <a:sym typeface="Century Gothic"/>
              </a:rPr>
              <a:t>Many interventions lasted several weeks</a:t>
            </a:r>
            <a:endParaRPr sz="2000" b="0" strike="noStrike">
              <a:solidFill>
                <a:srgbClr val="FFFFFF"/>
              </a:solidFill>
              <a:latin typeface="Arial"/>
              <a:ea typeface="Arial"/>
              <a:cs typeface="Arial"/>
              <a:sym typeface="Arial"/>
            </a:endParaRPr>
          </a:p>
          <a:p>
            <a:pPr marL="457200" marR="0" lvl="0" indent="-355680" algn="l" rtl="0">
              <a:lnSpc>
                <a:spcPct val="100000"/>
              </a:lnSpc>
              <a:spcBef>
                <a:spcPts val="0"/>
              </a:spcBef>
              <a:spcAft>
                <a:spcPts val="0"/>
              </a:spcAft>
              <a:buClr>
                <a:srgbClr val="000000"/>
              </a:buClr>
              <a:buSzPts val="2000"/>
              <a:buFont typeface="Century Gothic"/>
              <a:buChar char="●"/>
            </a:pPr>
            <a:r>
              <a:rPr lang="de-AT" sz="2000" b="0" strike="noStrike">
                <a:solidFill>
                  <a:schemeClr val="dk1"/>
                </a:solidFill>
                <a:latin typeface="Century Gothic"/>
                <a:ea typeface="Century Gothic"/>
                <a:cs typeface="Century Gothic"/>
                <a:sym typeface="Century Gothic"/>
              </a:rPr>
              <a:t>very short interventions behaved differently in the moderator analyses</a:t>
            </a:r>
            <a:endParaRPr sz="2000" b="0" strike="noStrike">
              <a:solidFill>
                <a:srgbClr val="FFFFFF"/>
              </a:solidFill>
              <a:latin typeface="Arial"/>
              <a:ea typeface="Arial"/>
              <a:cs typeface="Arial"/>
              <a:sym typeface="Arial"/>
            </a:endParaRPr>
          </a:p>
        </p:txBody>
      </p:sp>
      <p:sp>
        <p:nvSpPr>
          <p:cNvPr id="123" name="Google Shape;123;p15"/>
          <p:cNvSpPr/>
          <p:nvPr/>
        </p:nvSpPr>
        <p:spPr>
          <a:xfrm>
            <a:off x="571320" y="694800"/>
            <a:ext cx="16999920" cy="94104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r>
              <a:rPr lang="de-AT" sz="4400" b="0" strike="noStrike">
                <a:solidFill>
                  <a:schemeClr val="dk1"/>
                </a:solidFill>
                <a:latin typeface="Fredoka"/>
                <a:ea typeface="Fredoka"/>
                <a:cs typeface="Fredoka"/>
                <a:sym typeface="Fredoka"/>
              </a:rPr>
              <a:t>What does the evidence base look like? </a:t>
            </a:r>
            <a:endParaRPr sz="4400" b="0" strike="noStrike">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endParaRPr sz="4400" b="0" strike="noStrike">
              <a:solidFill>
                <a:srgbClr val="000000"/>
              </a:solidFill>
              <a:latin typeface="Arial"/>
              <a:ea typeface="Arial"/>
              <a:cs typeface="Arial"/>
              <a:sym typeface="Arial"/>
            </a:endParaRPr>
          </a:p>
        </p:txBody>
      </p:sp>
    </p:spTree>
    <p:extLst>
      <p:ext uri="{BB962C8B-B14F-4D97-AF65-F5344CB8AC3E}">
        <p14:creationId xmlns:p14="http://schemas.microsoft.com/office/powerpoint/2010/main" val="26444253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16"/>
          <p:cNvSpPr/>
          <p:nvPr/>
        </p:nvSpPr>
        <p:spPr>
          <a:xfrm>
            <a:off x="571320" y="694800"/>
            <a:ext cx="16999920" cy="94104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r>
              <a:rPr lang="de-AT" sz="4400" b="0" strike="noStrike">
                <a:solidFill>
                  <a:schemeClr val="dk1"/>
                </a:solidFill>
                <a:latin typeface="Fredoka"/>
                <a:ea typeface="Fredoka"/>
                <a:cs typeface="Fredoka"/>
                <a:sym typeface="Fredoka"/>
              </a:rPr>
              <a:t>Main results: promising, but outcome-specific</a:t>
            </a:r>
            <a:endParaRPr sz="4400" b="0" strike="noStrike">
              <a:solidFill>
                <a:srgbClr val="000000"/>
              </a:solidFill>
              <a:latin typeface="Arial"/>
              <a:ea typeface="Arial"/>
              <a:cs typeface="Arial"/>
              <a:sym typeface="Arial"/>
            </a:endParaRPr>
          </a:p>
        </p:txBody>
      </p:sp>
      <p:pic>
        <p:nvPicPr>
          <p:cNvPr id="130" name="Google Shape;130;p16"/>
          <p:cNvPicPr preferRelativeResize="0"/>
          <p:nvPr/>
        </p:nvPicPr>
        <p:blipFill rotWithShape="1">
          <a:blip r:embed="rId3">
            <a:alphaModFix/>
          </a:blip>
          <a:srcRect/>
          <a:stretch/>
        </p:blipFill>
        <p:spPr>
          <a:xfrm>
            <a:off x="571320" y="1636200"/>
            <a:ext cx="11709360" cy="6349320"/>
          </a:xfrm>
          <a:prstGeom prst="rect">
            <a:avLst/>
          </a:prstGeom>
          <a:noFill/>
          <a:ln>
            <a:noFill/>
          </a:ln>
        </p:spPr>
      </p:pic>
      <p:sp>
        <p:nvSpPr>
          <p:cNvPr id="131" name="Google Shape;131;p16"/>
          <p:cNvSpPr/>
          <p:nvPr/>
        </p:nvSpPr>
        <p:spPr>
          <a:xfrm>
            <a:off x="11422440" y="5329080"/>
            <a:ext cx="6865920" cy="4962600"/>
          </a:xfrm>
          <a:custGeom>
            <a:avLst/>
            <a:gdLst/>
            <a:ahLst/>
            <a:cxnLst/>
            <a:rect l="l" t="t" r="r" b="b"/>
            <a:pathLst>
              <a:path w="7914843" h="6262620" extrusionOk="0">
                <a:moveTo>
                  <a:pt x="0" y="0"/>
                </a:moveTo>
                <a:lnTo>
                  <a:pt x="7914844" y="0"/>
                </a:lnTo>
                <a:lnTo>
                  <a:pt x="7914844" y="6262620"/>
                </a:lnTo>
                <a:lnTo>
                  <a:pt x="0" y="6262620"/>
                </a:lnTo>
                <a:lnTo>
                  <a:pt x="0" y="0"/>
                </a:lnTo>
                <a:close/>
              </a:path>
            </a:pathLst>
          </a:custGeom>
          <a:blipFill rotWithShape="1">
            <a:blip r:embed="rId4">
              <a:alphaModFix/>
            </a:blip>
            <a:stretch>
              <a:fillRect/>
            </a:stretch>
          </a:blipFill>
          <a:ln>
            <a:noFill/>
          </a:ln>
        </p:spPr>
        <p:txBody>
          <a:bodyPr spcFirstLastPara="1" wrap="square" lIns="90000" tIns="45000" rIns="90000" bIns="45000" anchor="t" anchorCtr="0">
            <a:noAutofit/>
          </a:bodyPr>
          <a:lstStyle/>
          <a:p>
            <a:pPr marL="0" marR="0" lvl="0" indent="0" algn="l" rtl="0">
              <a:spcBef>
                <a:spcPts val="0"/>
              </a:spcBef>
              <a:spcAft>
                <a:spcPts val="0"/>
              </a:spcAft>
              <a:buNone/>
            </a:pPr>
            <a:endParaRPr sz="1400" b="0" strike="noStrike">
              <a:solidFill>
                <a:srgbClr val="000000"/>
              </a:solidFill>
              <a:latin typeface="Arial"/>
              <a:ea typeface="Arial"/>
              <a:cs typeface="Arial"/>
              <a:sym typeface="Arial"/>
            </a:endParaRPr>
          </a:p>
        </p:txBody>
      </p:sp>
      <p:sp>
        <p:nvSpPr>
          <p:cNvPr id="132" name="Google Shape;132;p16"/>
          <p:cNvSpPr/>
          <p:nvPr/>
        </p:nvSpPr>
        <p:spPr>
          <a:xfrm>
            <a:off x="952200" y="7804080"/>
            <a:ext cx="8063640" cy="1725120"/>
          </a:xfrm>
          <a:prstGeom prst="roundRect">
            <a:avLst>
              <a:gd name="adj" fmla="val 16667"/>
            </a:avLst>
          </a:prstGeom>
          <a:solidFill>
            <a:srgbClr val="6D98BA"/>
          </a:solidFill>
          <a:ln w="9525" cap="flat" cmpd="sng">
            <a:solidFill>
              <a:srgbClr val="3465A4"/>
            </a:solidFill>
            <a:prstDash val="solid"/>
            <a:round/>
            <a:headEnd type="none" w="sm" len="sm"/>
            <a:tailEnd type="none" w="sm" len="sm"/>
          </a:ln>
        </p:spPr>
        <p:txBody>
          <a:bodyPr spcFirstLastPara="1" wrap="square" lIns="90000" tIns="45000" rIns="90000" bIns="45000" anchor="ctr" anchorCtr="0">
            <a:noAutofit/>
          </a:bodyPr>
          <a:lstStyle/>
          <a:p>
            <a:pPr marL="0" marR="0" lvl="0" indent="0" algn="ctr" rtl="0">
              <a:lnSpc>
                <a:spcPct val="100000"/>
              </a:lnSpc>
              <a:spcBef>
                <a:spcPts val="0"/>
              </a:spcBef>
              <a:spcAft>
                <a:spcPts val="0"/>
              </a:spcAft>
              <a:buNone/>
            </a:pPr>
            <a:r>
              <a:rPr lang="de-AT" sz="2400" b="1" strike="noStrike">
                <a:solidFill>
                  <a:schemeClr val="dk1"/>
                </a:solidFill>
                <a:latin typeface="Century Gothic"/>
                <a:ea typeface="Century Gothic"/>
                <a:cs typeface="Century Gothic"/>
                <a:sym typeface="Century Gothic"/>
              </a:rPr>
              <a:t>Takeaway: </a:t>
            </a:r>
            <a:r>
              <a:rPr lang="de-AT" sz="2400" b="0" strike="noStrike">
                <a:solidFill>
                  <a:schemeClr val="dk1"/>
                </a:solidFill>
                <a:latin typeface="Century Gothic"/>
                <a:ea typeface="Century Gothic"/>
                <a:cs typeface="Century Gothic"/>
                <a:sym typeface="Century Gothic"/>
              </a:rPr>
              <a:t>ChatGPT interventions show positive effects for several learning outcomes, but the pattern depends on what is measured.</a:t>
            </a:r>
            <a:endParaRPr sz="2400" b="0" strike="noStrike">
              <a:solidFill>
                <a:srgbClr val="FFFFFF"/>
              </a:solidFill>
              <a:latin typeface="Arial"/>
              <a:ea typeface="Arial"/>
              <a:cs typeface="Arial"/>
              <a:sym typeface="Arial"/>
            </a:endParaRPr>
          </a:p>
        </p:txBody>
      </p:sp>
    </p:spTree>
    <p:extLst>
      <p:ext uri="{BB962C8B-B14F-4D97-AF65-F5344CB8AC3E}">
        <p14:creationId xmlns:p14="http://schemas.microsoft.com/office/powerpoint/2010/main" val="80230263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pic>
        <p:nvPicPr>
          <p:cNvPr id="138" name="Google Shape;138;p17"/>
          <p:cNvPicPr preferRelativeResize="0"/>
          <p:nvPr/>
        </p:nvPicPr>
        <p:blipFill rotWithShape="1">
          <a:blip r:embed="rId3">
            <a:alphaModFix/>
          </a:blip>
          <a:srcRect/>
          <a:stretch/>
        </p:blipFill>
        <p:spPr>
          <a:xfrm>
            <a:off x="6445800" y="133200"/>
            <a:ext cx="11842200" cy="10020600"/>
          </a:xfrm>
          <a:prstGeom prst="rect">
            <a:avLst/>
          </a:prstGeom>
          <a:noFill/>
          <a:ln>
            <a:noFill/>
          </a:ln>
        </p:spPr>
      </p:pic>
      <p:sp>
        <p:nvSpPr>
          <p:cNvPr id="139" name="Google Shape;139;p17"/>
          <p:cNvSpPr/>
          <p:nvPr/>
        </p:nvSpPr>
        <p:spPr>
          <a:xfrm>
            <a:off x="400680" y="527760"/>
            <a:ext cx="6274440" cy="2629440"/>
          </a:xfrm>
          <a:prstGeom prst="rect">
            <a:avLst/>
          </a:prstGeom>
          <a:noFill/>
          <a:ln>
            <a:noFill/>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r>
              <a:rPr lang="de-AT" sz="4400" b="0" strike="noStrike">
                <a:solidFill>
                  <a:schemeClr val="dk1"/>
                </a:solidFill>
                <a:latin typeface="Fredoka"/>
                <a:ea typeface="Fredoka"/>
                <a:cs typeface="Fredoka"/>
                <a:sym typeface="Fredoka"/>
              </a:rPr>
              <a:t>Key Findings Summary</a:t>
            </a:r>
            <a:endParaRPr sz="4400" b="0" strike="noStrike">
              <a:solidFill>
                <a:srgbClr val="000000"/>
              </a:solidFill>
              <a:latin typeface="Arial"/>
              <a:ea typeface="Arial"/>
              <a:cs typeface="Arial"/>
              <a:sym typeface="Arial"/>
            </a:endParaRPr>
          </a:p>
        </p:txBody>
      </p:sp>
      <p:sp>
        <p:nvSpPr>
          <p:cNvPr id="140" name="Google Shape;140;p17"/>
          <p:cNvSpPr/>
          <p:nvPr/>
        </p:nvSpPr>
        <p:spPr>
          <a:xfrm>
            <a:off x="400680" y="2354400"/>
            <a:ext cx="5837040" cy="7426800"/>
          </a:xfrm>
          <a:custGeom>
            <a:avLst/>
            <a:gdLst/>
            <a:ahLst/>
            <a:cxnLst/>
            <a:rect l="l" t="t" r="r" b="b"/>
            <a:pathLst>
              <a:path w="6652240" h="8051123" extrusionOk="0">
                <a:moveTo>
                  <a:pt x="0" y="0"/>
                </a:moveTo>
                <a:lnTo>
                  <a:pt x="6652240" y="0"/>
                </a:lnTo>
                <a:lnTo>
                  <a:pt x="6652240" y="8051123"/>
                </a:lnTo>
                <a:lnTo>
                  <a:pt x="0" y="8051123"/>
                </a:lnTo>
                <a:lnTo>
                  <a:pt x="0" y="0"/>
                </a:lnTo>
                <a:close/>
              </a:path>
            </a:pathLst>
          </a:custGeom>
          <a:blipFill rotWithShape="1">
            <a:blip r:embed="rId4">
              <a:alphaModFix/>
            </a:blip>
            <a:stretch>
              <a:fillRect/>
            </a:stretch>
          </a:blipFill>
          <a:ln>
            <a:noFill/>
          </a:ln>
        </p:spPr>
        <p:txBody>
          <a:bodyPr spcFirstLastPara="1" wrap="square" lIns="90000" tIns="45000" rIns="90000" bIns="45000" anchor="t" anchorCtr="0">
            <a:noAutofit/>
          </a:bodyPr>
          <a:lstStyle/>
          <a:p>
            <a:pPr marL="0" marR="0" lvl="0" indent="0" algn="l" rtl="0">
              <a:spcBef>
                <a:spcPts val="0"/>
              </a:spcBef>
              <a:spcAft>
                <a:spcPts val="0"/>
              </a:spcAft>
              <a:buNone/>
            </a:pPr>
            <a:endParaRPr sz="1400" b="0" strike="noStrike">
              <a:solidFill>
                <a:srgbClr val="000000"/>
              </a:solidFill>
              <a:latin typeface="Arial"/>
              <a:ea typeface="Arial"/>
              <a:cs typeface="Arial"/>
              <a:sym typeface="Arial"/>
            </a:endParaRPr>
          </a:p>
        </p:txBody>
      </p:sp>
    </p:spTree>
    <p:extLst>
      <p:ext uri="{BB962C8B-B14F-4D97-AF65-F5344CB8AC3E}">
        <p14:creationId xmlns:p14="http://schemas.microsoft.com/office/powerpoint/2010/main" val="243678281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Textfeld 4"/>
          <p:cNvSpPr/>
          <p:nvPr/>
        </p:nvSpPr>
        <p:spPr>
          <a:xfrm>
            <a:off x="1295280" y="874080"/>
            <a:ext cx="1234404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5400" b="0" strike="noStrike" spc="-1" dirty="0" err="1">
                <a:solidFill>
                  <a:schemeClr val="dk1"/>
                </a:solidFill>
                <a:latin typeface="Fredoka"/>
              </a:rPr>
              <a:t>Limitations</a:t>
            </a:r>
            <a:r>
              <a:rPr lang="de-AT" sz="5400" b="0" strike="noStrike" spc="-1" dirty="0">
                <a:solidFill>
                  <a:schemeClr val="dk1"/>
                </a:solidFill>
                <a:latin typeface="Calibri"/>
              </a:rPr>
              <a:t> </a:t>
            </a:r>
            <a:r>
              <a:rPr lang="de-AT" sz="5400" b="0" strike="noStrike" spc="-1" dirty="0">
                <a:solidFill>
                  <a:schemeClr val="dk1"/>
                </a:solidFill>
                <a:latin typeface="Fredoka"/>
              </a:rPr>
              <a:t>and Potential </a:t>
            </a:r>
            <a:r>
              <a:rPr lang="de-AT" sz="5400" b="0" strike="noStrike" spc="-1" dirty="0" err="1">
                <a:solidFill>
                  <a:schemeClr val="dk1"/>
                </a:solidFill>
                <a:latin typeface="Fredoka"/>
              </a:rPr>
              <a:t>Biases</a:t>
            </a:r>
            <a:endParaRPr lang="de-AT" sz="5400" b="0" strike="noStrike" spc="-1" dirty="0">
              <a:solidFill>
                <a:srgbClr val="000000"/>
              </a:solidFill>
              <a:latin typeface="Arial"/>
            </a:endParaRPr>
          </a:p>
        </p:txBody>
      </p:sp>
      <p:sp>
        <p:nvSpPr>
          <p:cNvPr id="136" name="Textfeld 6"/>
          <p:cNvSpPr/>
          <p:nvPr/>
        </p:nvSpPr>
        <p:spPr>
          <a:xfrm>
            <a:off x="1597622" y="2727371"/>
            <a:ext cx="16992360" cy="35379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2" spcCol="0" anchor="t">
            <a:spAutoFit/>
          </a:bodyPr>
          <a:lstStyle/>
          <a:p>
            <a:pPr defTabSz="914400">
              <a:lnSpc>
                <a:spcPct val="100000"/>
              </a:lnSpc>
            </a:pPr>
            <a:r>
              <a:rPr lang="de-AT" sz="4400" b="1" strike="noStrike" spc="-1" dirty="0" err="1">
                <a:solidFill>
                  <a:schemeClr val="dk1"/>
                </a:solidFill>
                <a:latin typeface="Century Gothic" panose="020B0502020202020204" pitchFamily="34" charset="0"/>
              </a:rPr>
              <a:t>Limitations</a:t>
            </a:r>
            <a:endParaRPr lang="de-AT" sz="4400" b="0" strike="noStrike" spc="-1" dirty="0">
              <a:solidFill>
                <a:srgbClr val="000000"/>
              </a:solidFill>
              <a:latin typeface="Century Gothic" panose="020B0502020202020204" pitchFamily="34" charset="0"/>
            </a:endParaRPr>
          </a:p>
          <a:p>
            <a:pPr defTabSz="914400">
              <a:lnSpc>
                <a:spcPct val="100000"/>
              </a:lnSpc>
            </a:pPr>
            <a:endParaRPr lang="de-AT" sz="3600" b="0" strike="noStrike" spc="-1" dirty="0">
              <a:solidFill>
                <a:srgbClr val="000000"/>
              </a:solidFill>
              <a:latin typeface="Century Gothic" panose="020B0502020202020204" pitchFamily="34" charset="0"/>
            </a:endParaRPr>
          </a:p>
          <a:p>
            <a:pPr marL="457200" indent="-457200" defTabSz="914400">
              <a:lnSpc>
                <a:spcPct val="100000"/>
              </a:lnSpc>
              <a:buClr>
                <a:srgbClr val="000000"/>
              </a:buClr>
              <a:buFont typeface="Arial"/>
              <a:buChar char="•"/>
            </a:pPr>
            <a:r>
              <a:rPr lang="de-AT" sz="3600" b="0" strike="noStrike" spc="-1" dirty="0" err="1">
                <a:solidFill>
                  <a:schemeClr val="dk1"/>
                </a:solidFill>
                <a:latin typeface="Century Gothic" panose="020B0502020202020204" pitchFamily="34" charset="0"/>
              </a:rPr>
              <a:t>Rapidly</a:t>
            </a:r>
            <a:r>
              <a:rPr lang="de-AT" sz="3600" b="0" strike="noStrike" spc="-1" dirty="0">
                <a:solidFill>
                  <a:schemeClr val="dk1"/>
                </a:solidFill>
                <a:latin typeface="Century Gothic" panose="020B0502020202020204" pitchFamily="34" charset="0"/>
              </a:rPr>
              <a:t> </a:t>
            </a:r>
            <a:r>
              <a:rPr lang="de-AT" sz="3600" b="0" strike="noStrike" spc="-1" dirty="0" err="1">
                <a:solidFill>
                  <a:schemeClr val="dk1"/>
                </a:solidFill>
                <a:latin typeface="Century Gothic" panose="020B0502020202020204" pitchFamily="34" charset="0"/>
              </a:rPr>
              <a:t>evolving</a:t>
            </a:r>
            <a:r>
              <a:rPr lang="de-AT" sz="3600" b="0" strike="noStrike" spc="-1" dirty="0">
                <a:solidFill>
                  <a:schemeClr val="dk1"/>
                </a:solidFill>
                <a:latin typeface="Century Gothic" panose="020B0502020202020204" pitchFamily="34" charset="0"/>
              </a:rPr>
              <a:t> </a:t>
            </a:r>
            <a:r>
              <a:rPr lang="de-AT" sz="3600" b="0" strike="noStrike" spc="-1" dirty="0" err="1">
                <a:solidFill>
                  <a:schemeClr val="dk1"/>
                </a:solidFill>
                <a:latin typeface="Century Gothic" panose="020B0502020202020204" pitchFamily="34" charset="0"/>
              </a:rPr>
              <a:t>technology</a:t>
            </a:r>
            <a:r>
              <a:rPr lang="de-AT" sz="3600" b="0" strike="noStrike" spc="-1" dirty="0">
                <a:solidFill>
                  <a:schemeClr val="dk1"/>
                </a:solidFill>
                <a:latin typeface="Century Gothic" panose="020B0502020202020204" pitchFamily="34" charset="0"/>
              </a:rPr>
              <a:t> </a:t>
            </a:r>
            <a:endParaRPr lang="de-AT" sz="3600" b="0" strike="noStrike" spc="-1" dirty="0">
              <a:solidFill>
                <a:srgbClr val="000000"/>
              </a:solidFill>
              <a:latin typeface="Century Gothic" panose="020B0502020202020204" pitchFamily="34" charset="0"/>
            </a:endParaRPr>
          </a:p>
          <a:p>
            <a:pPr marL="457200" indent="-457200" defTabSz="914400">
              <a:lnSpc>
                <a:spcPct val="100000"/>
              </a:lnSpc>
              <a:buClr>
                <a:srgbClr val="000000"/>
              </a:buClr>
              <a:buFont typeface="Arial"/>
              <a:buChar char="•"/>
            </a:pPr>
            <a:r>
              <a:rPr lang="de-AT" sz="3600" b="0" strike="noStrike" spc="-1" dirty="0">
                <a:solidFill>
                  <a:schemeClr val="dk1"/>
                </a:solidFill>
                <a:latin typeface="Century Gothic" panose="020B0502020202020204" pitchFamily="34" charset="0"/>
              </a:rPr>
              <a:t>Short-term </a:t>
            </a:r>
            <a:r>
              <a:rPr lang="de-AT" sz="3600" b="0" strike="noStrike" spc="-1" dirty="0" err="1">
                <a:solidFill>
                  <a:schemeClr val="dk1"/>
                </a:solidFill>
                <a:latin typeface="Century Gothic" panose="020B0502020202020204" pitchFamily="34" charset="0"/>
              </a:rPr>
              <a:t>interventions</a:t>
            </a:r>
            <a:endParaRPr lang="de-AT" sz="3600" spc="-1" dirty="0">
              <a:solidFill>
                <a:schemeClr val="dk1"/>
              </a:solidFill>
              <a:latin typeface="Century Gothic" panose="020B0502020202020204" pitchFamily="34" charset="0"/>
            </a:endParaRPr>
          </a:p>
          <a:p>
            <a:pPr marL="457200" indent="-457200">
              <a:buClr>
                <a:srgbClr val="000000"/>
              </a:buClr>
              <a:buFont typeface="Arial"/>
              <a:buChar char="•"/>
            </a:pPr>
            <a:r>
              <a:rPr lang="de-AT" sz="3600" spc="-1" dirty="0">
                <a:solidFill>
                  <a:schemeClr val="dk1"/>
                </a:solidFill>
                <a:latin typeface="Century Gothic" panose="020B0502020202020204" pitchFamily="34" charset="0"/>
              </a:rPr>
              <a:t>Limited </a:t>
            </a:r>
            <a:r>
              <a:rPr lang="de-AT" sz="3600" spc="-1" dirty="0" err="1">
                <a:solidFill>
                  <a:schemeClr val="dk1"/>
                </a:solidFill>
                <a:latin typeface="Century Gothic" panose="020B0502020202020204" pitchFamily="34" charset="0"/>
              </a:rPr>
              <a:t>long</a:t>
            </a:r>
            <a:r>
              <a:rPr lang="de-AT" sz="3600" spc="-1" dirty="0">
                <a:solidFill>
                  <a:schemeClr val="dk1"/>
                </a:solidFill>
                <a:latin typeface="Century Gothic" panose="020B0502020202020204" pitchFamily="34" charset="0"/>
              </a:rPr>
              <a:t>-term </a:t>
            </a:r>
            <a:r>
              <a:rPr lang="de-AT" sz="3600" spc="-1" dirty="0" err="1">
                <a:solidFill>
                  <a:schemeClr val="dk1"/>
                </a:solidFill>
                <a:latin typeface="Century Gothic" panose="020B0502020202020204" pitchFamily="34" charset="0"/>
              </a:rPr>
              <a:t>evidence</a:t>
            </a:r>
            <a:r>
              <a:rPr lang="de-AT" sz="3600" spc="-1" dirty="0">
                <a:solidFill>
                  <a:schemeClr val="dk1"/>
                </a:solidFill>
                <a:latin typeface="Century Gothic" panose="020B0502020202020204" pitchFamily="34" charset="0"/>
              </a:rPr>
              <a:t> </a:t>
            </a:r>
            <a:endParaRPr lang="de-AT" sz="3600" b="0" strike="noStrike" spc="-1" dirty="0">
              <a:solidFill>
                <a:srgbClr val="000000"/>
              </a:solidFill>
              <a:latin typeface="Century Gothic" panose="020B0502020202020204" pitchFamily="34" charset="0"/>
            </a:endParaRPr>
          </a:p>
          <a:p>
            <a:pPr marL="457200" indent="-457200" defTabSz="914400">
              <a:lnSpc>
                <a:spcPct val="100000"/>
              </a:lnSpc>
              <a:buClr>
                <a:srgbClr val="000000"/>
              </a:buClr>
              <a:buFont typeface="Arial"/>
              <a:buChar char="•"/>
            </a:pPr>
            <a:r>
              <a:rPr lang="de-AT" sz="3600" b="0" strike="noStrike" spc="-1" dirty="0" err="1">
                <a:solidFill>
                  <a:schemeClr val="dk1"/>
                </a:solidFill>
                <a:latin typeface="Century Gothic" panose="020B0502020202020204" pitchFamily="34" charset="0"/>
              </a:rPr>
              <a:t>Heterogeneity</a:t>
            </a:r>
            <a:r>
              <a:rPr lang="de-AT" sz="3600" b="0" strike="noStrike" spc="-1" dirty="0">
                <a:solidFill>
                  <a:schemeClr val="dk1"/>
                </a:solidFill>
                <a:latin typeface="Century Gothic" panose="020B0502020202020204" pitchFamily="34" charset="0"/>
              </a:rPr>
              <a:t> </a:t>
            </a:r>
            <a:r>
              <a:rPr lang="de-AT" sz="3600" b="0" strike="noStrike" spc="-1" dirty="0" err="1">
                <a:solidFill>
                  <a:schemeClr val="dk1"/>
                </a:solidFill>
                <a:latin typeface="Century Gothic" panose="020B0502020202020204" pitchFamily="34" charset="0"/>
              </a:rPr>
              <a:t>across</a:t>
            </a:r>
            <a:r>
              <a:rPr lang="de-AT" sz="3600" b="0" strike="noStrike" spc="-1" dirty="0">
                <a:solidFill>
                  <a:schemeClr val="dk1"/>
                </a:solidFill>
                <a:latin typeface="Century Gothic" panose="020B0502020202020204" pitchFamily="34" charset="0"/>
              </a:rPr>
              <a:t> </a:t>
            </a:r>
            <a:r>
              <a:rPr lang="de-AT" sz="3600" b="0" strike="noStrike" spc="-1" dirty="0" err="1">
                <a:solidFill>
                  <a:schemeClr val="dk1"/>
                </a:solidFill>
                <a:latin typeface="Century Gothic" panose="020B0502020202020204" pitchFamily="34" charset="0"/>
              </a:rPr>
              <a:t>studies</a:t>
            </a:r>
            <a:r>
              <a:rPr lang="de-AT" sz="3600" b="0" strike="noStrike" spc="-1" dirty="0">
                <a:solidFill>
                  <a:schemeClr val="dk1"/>
                </a:solidFill>
                <a:latin typeface="Century Gothic" panose="020B0502020202020204" pitchFamily="34" charset="0"/>
              </a:rPr>
              <a:t> </a:t>
            </a:r>
            <a:endParaRPr lang="de-AT" sz="3600" b="0" strike="noStrike" spc="-1" dirty="0">
              <a:solidFill>
                <a:srgbClr val="000000"/>
              </a:solidFill>
              <a:latin typeface="Century Gothic" panose="020B0502020202020204" pitchFamily="34" charset="0"/>
            </a:endParaRPr>
          </a:p>
          <a:p>
            <a:pPr defTabSz="914400">
              <a:lnSpc>
                <a:spcPct val="100000"/>
              </a:lnSpc>
            </a:pPr>
            <a:r>
              <a:rPr lang="de-AT" sz="4400" b="1" strike="noStrike" spc="-1" dirty="0">
                <a:solidFill>
                  <a:schemeClr val="dk1"/>
                </a:solidFill>
                <a:latin typeface="Century Gothic" panose="020B0502020202020204" pitchFamily="34" charset="0"/>
              </a:rPr>
              <a:t>Potential </a:t>
            </a:r>
            <a:r>
              <a:rPr lang="de-AT" sz="4400" b="1" strike="noStrike" spc="-1" dirty="0" err="1">
                <a:solidFill>
                  <a:schemeClr val="dk1"/>
                </a:solidFill>
                <a:latin typeface="Century Gothic" panose="020B0502020202020204" pitchFamily="34" charset="0"/>
              </a:rPr>
              <a:t>Biases</a:t>
            </a:r>
            <a:endParaRPr lang="de-AT" sz="4400" b="0" strike="noStrike" spc="-1" dirty="0">
              <a:solidFill>
                <a:srgbClr val="000000"/>
              </a:solidFill>
              <a:latin typeface="Century Gothic" panose="020B0502020202020204" pitchFamily="34" charset="0"/>
            </a:endParaRPr>
          </a:p>
          <a:p>
            <a:pPr defTabSz="914400">
              <a:lnSpc>
                <a:spcPct val="100000"/>
              </a:lnSpc>
            </a:pPr>
            <a:endParaRPr lang="de-AT" sz="3600" b="0" strike="noStrike" spc="-1" dirty="0">
              <a:solidFill>
                <a:srgbClr val="000000"/>
              </a:solidFill>
              <a:latin typeface="Arial"/>
            </a:endParaRPr>
          </a:p>
          <a:p>
            <a:pPr marL="457200" indent="-457200" defTabSz="914400">
              <a:lnSpc>
                <a:spcPct val="100000"/>
              </a:lnSpc>
              <a:buClr>
                <a:srgbClr val="000000"/>
              </a:buClr>
              <a:buFont typeface="Arial"/>
              <a:buChar char="•"/>
            </a:pPr>
            <a:r>
              <a:rPr lang="de-AT" sz="3600" b="0" strike="noStrike" spc="-1" dirty="0" err="1">
                <a:solidFill>
                  <a:schemeClr val="dk1"/>
                </a:solidFill>
                <a:latin typeface="Century Gothic"/>
              </a:rPr>
              <a:t>Publication</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bias</a:t>
            </a:r>
            <a:r>
              <a:rPr lang="de-AT" sz="3600" b="0" strike="noStrike" spc="-1" dirty="0">
                <a:solidFill>
                  <a:schemeClr val="dk1"/>
                </a:solidFill>
                <a:latin typeface="Century Gothic"/>
              </a:rPr>
              <a:t> </a:t>
            </a:r>
            <a:endParaRPr lang="de-AT" sz="3600" b="0" strike="noStrike" spc="-1" dirty="0">
              <a:solidFill>
                <a:srgbClr val="000000"/>
              </a:solidFill>
              <a:latin typeface="Arial"/>
            </a:endParaRPr>
          </a:p>
          <a:p>
            <a:pPr marL="457200" indent="-457200" defTabSz="914400">
              <a:lnSpc>
                <a:spcPct val="100000"/>
              </a:lnSpc>
              <a:buClr>
                <a:srgbClr val="000000"/>
              </a:buClr>
              <a:buFont typeface="Arial"/>
              <a:buChar char="•"/>
            </a:pPr>
            <a:r>
              <a:rPr lang="de-AT" sz="3600" b="0" strike="noStrike" spc="-1" dirty="0">
                <a:solidFill>
                  <a:schemeClr val="dk1"/>
                </a:solidFill>
                <a:latin typeface="Century Gothic"/>
              </a:rPr>
              <a:t>Small </a:t>
            </a:r>
            <a:r>
              <a:rPr lang="de-AT" sz="3600" b="0" strike="noStrike" spc="-1" dirty="0" err="1">
                <a:solidFill>
                  <a:schemeClr val="dk1"/>
                </a:solidFill>
                <a:latin typeface="Century Gothic"/>
              </a:rPr>
              <a:t>study</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effects</a:t>
            </a:r>
            <a:r>
              <a:rPr lang="de-AT" sz="3600" b="0" strike="noStrike" spc="-1" dirty="0">
                <a:solidFill>
                  <a:schemeClr val="dk1"/>
                </a:solidFill>
                <a:latin typeface="Century Gothic"/>
              </a:rPr>
              <a:t> </a:t>
            </a:r>
            <a:endParaRPr lang="de-AT" sz="3600" b="0" strike="noStrike" spc="-1" dirty="0">
              <a:solidFill>
                <a:srgbClr val="000000"/>
              </a:solidFill>
              <a:latin typeface="Arial"/>
            </a:endParaRPr>
          </a:p>
          <a:p>
            <a:pPr marL="457200" indent="-457200" defTabSz="914400">
              <a:lnSpc>
                <a:spcPct val="100000"/>
              </a:lnSpc>
              <a:buClr>
                <a:srgbClr val="000000"/>
              </a:buClr>
              <a:buFont typeface="Arial"/>
              <a:buChar char="•"/>
            </a:pPr>
            <a:r>
              <a:rPr lang="de-AT" sz="3600" b="0" strike="noStrike" spc="-1" dirty="0" err="1">
                <a:solidFill>
                  <a:schemeClr val="dk1"/>
                </a:solidFill>
                <a:latin typeface="Century Gothic"/>
              </a:rPr>
              <a:t>Novelty</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effect</a:t>
            </a:r>
            <a:r>
              <a:rPr lang="de-AT" sz="3600" b="0" strike="noStrike" spc="-1" dirty="0">
                <a:solidFill>
                  <a:schemeClr val="dk1"/>
                </a:solidFill>
                <a:latin typeface="Century Gothic"/>
              </a:rPr>
              <a:t> </a:t>
            </a:r>
            <a:endParaRPr lang="de-AT" sz="3600" b="0" strike="noStrike" spc="-1" dirty="0">
              <a:solidFill>
                <a:srgbClr val="000000"/>
              </a:solidFill>
              <a:latin typeface="Arial"/>
            </a:endParaRPr>
          </a:p>
          <a:p>
            <a:pPr marL="457200" indent="-457200" defTabSz="914400">
              <a:lnSpc>
                <a:spcPct val="100000"/>
              </a:lnSpc>
              <a:buClr>
                <a:srgbClr val="000000"/>
              </a:buClr>
              <a:buFont typeface="Arial"/>
              <a:buChar char="•"/>
            </a:pPr>
            <a:r>
              <a:rPr lang="de-AT" sz="3600" b="0" strike="noStrike" spc="-1" dirty="0">
                <a:solidFill>
                  <a:schemeClr val="dk1"/>
                </a:solidFill>
                <a:latin typeface="Century Gothic"/>
              </a:rPr>
              <a:t>Different ChatGPT </a:t>
            </a:r>
            <a:r>
              <a:rPr lang="de-AT" sz="3600" b="0" strike="noStrike" spc="-1" dirty="0" err="1">
                <a:solidFill>
                  <a:schemeClr val="dk1"/>
                </a:solidFill>
                <a:latin typeface="Century Gothic"/>
              </a:rPr>
              <a:t>versions</a:t>
            </a:r>
            <a:endParaRPr lang="de-AT" sz="3600" b="0" strike="noStrike" spc="-1" dirty="0">
              <a:solidFill>
                <a:srgbClr val="000000"/>
              </a:solidFill>
              <a:latin typeface="Arial"/>
            </a:endParaRPr>
          </a:p>
        </p:txBody>
      </p:sp>
      <p:sp>
        <p:nvSpPr>
          <p:cNvPr id="137" name="Textfeld 8"/>
          <p:cNvSpPr/>
          <p:nvPr/>
        </p:nvSpPr>
        <p:spPr>
          <a:xfrm>
            <a:off x="2400300" y="9412920"/>
            <a:ext cx="13487040" cy="577440"/>
          </a:xfrm>
          <a:prstGeom prst="rect">
            <a:avLst/>
          </a:prstGeom>
          <a:solidFill>
            <a:srgbClr val="97A2DD"/>
          </a:solidFill>
          <a:ln w="0">
            <a:solidFill>
              <a:schemeClr val="tx1"/>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de-AT" sz="3200" b="0" strike="noStrike" spc="-1" dirty="0">
                <a:solidFill>
                  <a:schemeClr val="dk1"/>
                </a:solidFill>
                <a:latin typeface="Fredoka"/>
              </a:rPr>
              <a:t>Key Message: </a:t>
            </a:r>
            <a:r>
              <a:rPr lang="de-AT" sz="3200" b="0" strike="noStrike" spc="-1" dirty="0" err="1">
                <a:solidFill>
                  <a:schemeClr val="dk1"/>
                </a:solidFill>
                <a:latin typeface="Candara"/>
              </a:rPr>
              <a:t>Results</a:t>
            </a:r>
            <a:r>
              <a:rPr lang="de-AT" sz="3200" b="0" strike="noStrike" spc="-1" dirty="0">
                <a:solidFill>
                  <a:schemeClr val="dk1"/>
                </a:solidFill>
                <a:latin typeface="Candara"/>
              </a:rPr>
              <a:t> </a:t>
            </a:r>
            <a:r>
              <a:rPr lang="de-AT" sz="3200" b="0" strike="noStrike" spc="-1" dirty="0" err="1">
                <a:solidFill>
                  <a:schemeClr val="dk1"/>
                </a:solidFill>
                <a:latin typeface="Candara"/>
              </a:rPr>
              <a:t>are</a:t>
            </a:r>
            <a:r>
              <a:rPr lang="de-AT" sz="3200" b="0" strike="noStrike" spc="-1" dirty="0">
                <a:solidFill>
                  <a:schemeClr val="dk1"/>
                </a:solidFill>
                <a:latin typeface="Candara"/>
              </a:rPr>
              <a:t> promising, but </a:t>
            </a:r>
            <a:r>
              <a:rPr lang="de-AT" sz="3200" b="0" strike="noStrike" spc="-1" dirty="0" err="1">
                <a:solidFill>
                  <a:schemeClr val="dk1"/>
                </a:solidFill>
                <a:latin typeface="Candara"/>
              </a:rPr>
              <a:t>should</a:t>
            </a:r>
            <a:r>
              <a:rPr lang="de-AT" sz="3200" b="0" strike="noStrike" spc="-1" dirty="0">
                <a:solidFill>
                  <a:schemeClr val="dk1"/>
                </a:solidFill>
                <a:latin typeface="Candara"/>
              </a:rPr>
              <a:t> </a:t>
            </a:r>
            <a:r>
              <a:rPr lang="de-AT" sz="3200" b="0" strike="noStrike" spc="-1" dirty="0" err="1">
                <a:solidFill>
                  <a:schemeClr val="dk1"/>
                </a:solidFill>
                <a:latin typeface="Candara"/>
              </a:rPr>
              <a:t>be</a:t>
            </a:r>
            <a:r>
              <a:rPr lang="de-AT" sz="3200" b="0" strike="noStrike" spc="-1" dirty="0">
                <a:solidFill>
                  <a:schemeClr val="dk1"/>
                </a:solidFill>
                <a:latin typeface="Candara"/>
              </a:rPr>
              <a:t> </a:t>
            </a:r>
            <a:r>
              <a:rPr lang="de-AT" sz="3200" b="0" strike="noStrike" spc="-1" dirty="0" err="1">
                <a:solidFill>
                  <a:schemeClr val="dk1"/>
                </a:solidFill>
                <a:latin typeface="Candara"/>
              </a:rPr>
              <a:t>interpreted</a:t>
            </a:r>
            <a:r>
              <a:rPr lang="de-AT" sz="3200" b="0" strike="noStrike" spc="-1" dirty="0">
                <a:solidFill>
                  <a:schemeClr val="dk1"/>
                </a:solidFill>
                <a:latin typeface="Candara"/>
              </a:rPr>
              <a:t> </a:t>
            </a:r>
            <a:r>
              <a:rPr lang="de-AT" sz="3200" b="0" strike="noStrike" spc="-1" dirty="0" err="1">
                <a:solidFill>
                  <a:schemeClr val="dk1"/>
                </a:solidFill>
                <a:latin typeface="Candara"/>
              </a:rPr>
              <a:t>cautiously</a:t>
            </a:r>
            <a:r>
              <a:rPr lang="de-AT" sz="3200" b="0" strike="noStrike" spc="-1" dirty="0">
                <a:solidFill>
                  <a:schemeClr val="dk1"/>
                </a:solidFill>
                <a:latin typeface="Candara"/>
              </a:rPr>
              <a:t>.</a:t>
            </a:r>
            <a:endParaRPr lang="de-AT" sz="3200" b="0" strike="noStrike" spc="-1" dirty="0">
              <a:solidFill>
                <a:srgbClr val="FFFFFF"/>
              </a:solidFill>
              <a:latin typeface="Arial"/>
            </a:endParaRPr>
          </a:p>
        </p:txBody>
      </p:sp>
      <p:sp>
        <p:nvSpPr>
          <p:cNvPr id="138" name="Freeform 2"/>
          <p:cNvSpPr/>
          <p:nvPr/>
        </p:nvSpPr>
        <p:spPr>
          <a:xfrm>
            <a:off x="6661800" y="6515280"/>
            <a:ext cx="4964040" cy="3011400"/>
          </a:xfrm>
          <a:custGeom>
            <a:avLst/>
            <a:gdLst>
              <a:gd name="textAreaLeft" fmla="*/ 0 w 4964040"/>
              <a:gd name="textAreaRight" fmla="*/ 4964400 w 4964040"/>
              <a:gd name="textAreaTop" fmla="*/ 0 h 3011400"/>
              <a:gd name="textAreaBottom" fmla="*/ 3011760 h 3011400"/>
            </a:gdLst>
            <a:ahLst/>
            <a:cxnLst/>
            <a:rect l="textAreaLeft" t="textAreaTop" r="textAreaRight" b="textAreaBottom"/>
            <a:pathLst>
              <a:path w="7846135" h="4668450">
                <a:moveTo>
                  <a:pt x="0" y="0"/>
                </a:moveTo>
                <a:lnTo>
                  <a:pt x="7846135" y="0"/>
                </a:lnTo>
                <a:lnTo>
                  <a:pt x="7846135" y="4668450"/>
                </a:lnTo>
                <a:lnTo>
                  <a:pt x="0" y="4668450"/>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37"/>
                                        </p:tgtEl>
                                        <p:attrNameLst>
                                          <p:attrName>style.visibility</p:attrName>
                                        </p:attrNameLst>
                                      </p:cBhvr>
                                      <p:to>
                                        <p:strVal val="visible"/>
                                      </p:to>
                                    </p:set>
                                    <p:animEffect transition="in" filter="fade">
                                      <p:cBhvr additive="repl">
                                        <p:cTn id="7" dur="500"/>
                                        <p:tgtEl>
                                          <p:spTgt spid="1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Freeform 2"/>
          <p:cNvSpPr/>
          <p:nvPr/>
        </p:nvSpPr>
        <p:spPr>
          <a:xfrm>
            <a:off x="363240" y="8014320"/>
            <a:ext cx="3072240" cy="2273040"/>
          </a:xfrm>
          <a:custGeom>
            <a:avLst/>
            <a:gdLst>
              <a:gd name="textAreaLeft" fmla="*/ 0 w 3072240"/>
              <a:gd name="textAreaRight" fmla="*/ 3072600 w 3072240"/>
              <a:gd name="textAreaTop" fmla="*/ 0 h 2273040"/>
              <a:gd name="textAreaBottom" fmla="*/ 2273400 h 2273040"/>
            </a:gdLst>
            <a:ahLst/>
            <a:cxnLst/>
            <a:rect l="textAreaLeft" t="textAreaTop" r="textAreaRight" b="textAreaBottom"/>
            <a:pathLst>
              <a:path w="7709622" h="4770328">
                <a:moveTo>
                  <a:pt x="0" y="0"/>
                </a:moveTo>
                <a:lnTo>
                  <a:pt x="7709621" y="0"/>
                </a:lnTo>
                <a:lnTo>
                  <a:pt x="7709621" y="4770328"/>
                </a:lnTo>
                <a:lnTo>
                  <a:pt x="0" y="4770328"/>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140" name="Textfeld 6"/>
          <p:cNvSpPr/>
          <p:nvPr/>
        </p:nvSpPr>
        <p:spPr>
          <a:xfrm>
            <a:off x="363240" y="730260"/>
            <a:ext cx="6788880" cy="100548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algn="ctr" defTabSz="914400">
              <a:lnSpc>
                <a:spcPct val="100000"/>
              </a:lnSpc>
            </a:pPr>
            <a:r>
              <a:rPr lang="de-AT" sz="6000" b="0" strike="noStrike" spc="-1" dirty="0">
                <a:solidFill>
                  <a:schemeClr val="dk1"/>
                </a:solidFill>
                <a:latin typeface="Fredoka"/>
              </a:rPr>
              <a:t>Stakeholders</a:t>
            </a:r>
            <a:endParaRPr lang="de-AT" sz="6000" b="0" strike="noStrike" spc="-1" dirty="0">
              <a:solidFill>
                <a:srgbClr val="000000"/>
              </a:solidFill>
              <a:latin typeface="Arial"/>
            </a:endParaRPr>
          </a:p>
        </p:txBody>
      </p:sp>
      <p:sp>
        <p:nvSpPr>
          <p:cNvPr id="141" name="CaixaDeTexto 6"/>
          <p:cNvSpPr/>
          <p:nvPr/>
        </p:nvSpPr>
        <p:spPr>
          <a:xfrm>
            <a:off x="-2384223" y="2123820"/>
            <a:ext cx="9143640" cy="830997"/>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algn="ctr" defTabSz="914400">
              <a:lnSpc>
                <a:spcPct val="100000"/>
              </a:lnSpc>
            </a:pPr>
            <a:br>
              <a:rPr sz="2000" dirty="0">
                <a:latin typeface="Century Gothic" panose="020B0502020202020204" pitchFamily="34" charset="0"/>
              </a:rPr>
            </a:br>
            <a:r>
              <a:rPr lang="de-AT" sz="2800" b="0" strike="noStrike" spc="-1" dirty="0" err="1">
                <a:solidFill>
                  <a:srgbClr val="000000"/>
                </a:solidFill>
                <a:latin typeface="Century Gothic" panose="020B0502020202020204" pitchFamily="34" charset="0"/>
                <a:ea typeface="Segoe UI"/>
              </a:rPr>
              <a:t>Students</a:t>
            </a:r>
            <a:endParaRPr lang="de-AT" sz="2800" b="0" strike="noStrike" spc="-1" dirty="0">
              <a:solidFill>
                <a:srgbClr val="000000"/>
              </a:solidFill>
              <a:latin typeface="Century Gothic" panose="020B0502020202020204" pitchFamily="34" charset="0"/>
            </a:endParaRPr>
          </a:p>
        </p:txBody>
      </p:sp>
      <p:sp>
        <p:nvSpPr>
          <p:cNvPr id="142" name="CaixaDeTexto 7"/>
          <p:cNvSpPr/>
          <p:nvPr/>
        </p:nvSpPr>
        <p:spPr>
          <a:xfrm>
            <a:off x="5885280" y="2306160"/>
            <a:ext cx="1076508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Cultivate AI literacy, foster their prompt skills together and critical evaluate the AI generated content, ensuring more accuracy of the explanations.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43" name="CaixaDeTexto 9"/>
          <p:cNvSpPr/>
          <p:nvPr/>
        </p:nvSpPr>
        <p:spPr>
          <a:xfrm>
            <a:off x="1313280" y="3587040"/>
            <a:ext cx="9143640" cy="76944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800" b="0" strike="noStrike" spc="-1">
                <a:solidFill>
                  <a:schemeClr val="dk1"/>
                </a:solidFill>
                <a:latin typeface="Century Gothic" panose="020B0502020202020204" pitchFamily="34" charset="0"/>
              </a:rPr>
              <a:t>Teachers</a:t>
            </a:r>
            <a:endParaRPr lang="de-AT" sz="28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44" name="CaixaDeTexto 10"/>
          <p:cNvSpPr/>
          <p:nvPr/>
        </p:nvSpPr>
        <p:spPr>
          <a:xfrm>
            <a:off x="5885280" y="3587040"/>
            <a:ext cx="1077300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Focus more on developing critical thinking and problem-solving skills, shifting to project-based assessments.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45" name="CaixaDeTexto 11"/>
          <p:cNvSpPr/>
          <p:nvPr/>
        </p:nvSpPr>
        <p:spPr>
          <a:xfrm>
            <a:off x="1313280" y="4819320"/>
            <a:ext cx="9143640" cy="1015663"/>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800" b="0" strike="noStrike" spc="-1" dirty="0">
                <a:solidFill>
                  <a:schemeClr val="dk1"/>
                </a:solidFill>
                <a:latin typeface="Century Gothic" panose="020B0502020202020204" pitchFamily="34" charset="0"/>
              </a:rPr>
              <a:t>Universities</a:t>
            </a:r>
            <a:endParaRPr lang="de-AT" sz="2800" b="0" strike="noStrike" spc="-1" dirty="0">
              <a:solidFill>
                <a:srgbClr val="000000"/>
              </a:solidFill>
              <a:latin typeface="Century Gothic" panose="020B0502020202020204" pitchFamily="34" charset="0"/>
            </a:endParaRPr>
          </a:p>
          <a:p>
            <a:pPr defTabSz="914400">
              <a:lnSpc>
                <a:spcPct val="100000"/>
              </a:lnSpc>
            </a:pPr>
            <a:endParaRPr lang="de-AT" sz="16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
        <p:nvSpPr>
          <p:cNvPr id="146" name="CaixaDeTexto 12"/>
          <p:cNvSpPr/>
          <p:nvPr/>
        </p:nvSpPr>
        <p:spPr>
          <a:xfrm>
            <a:off x="5885280" y="4819320"/>
            <a:ext cx="1075680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Need to incorporate authenticity and quality metrics and tasks that involves unique contexts and personal experiences, together with more quality evaluations.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
        <p:nvSpPr>
          <p:cNvPr id="147" name="CaixaDeTexto 13"/>
          <p:cNvSpPr/>
          <p:nvPr/>
        </p:nvSpPr>
        <p:spPr>
          <a:xfrm>
            <a:off x="1313280" y="6059520"/>
            <a:ext cx="9143640" cy="76944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800" b="0" strike="noStrike" spc="-1">
                <a:solidFill>
                  <a:schemeClr val="dk1"/>
                </a:solidFill>
                <a:latin typeface="Century Gothic" panose="020B0502020202020204" pitchFamily="34" charset="0"/>
              </a:rPr>
              <a:t>Researchers</a:t>
            </a:r>
            <a:endParaRPr lang="de-AT" sz="28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48" name="CaixaDeTexto 14"/>
          <p:cNvSpPr/>
          <p:nvPr/>
        </p:nvSpPr>
        <p:spPr>
          <a:xfrm>
            <a:off x="5885280" y="6059520"/>
            <a:ext cx="1100808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Must develop experimental designs, conduct power analyses to ensure sufficient sample sizes and evaluate long-term impacts.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
        <p:nvSpPr>
          <p:cNvPr id="149" name="CaixaDeTexto 15"/>
          <p:cNvSpPr/>
          <p:nvPr/>
        </p:nvSpPr>
        <p:spPr>
          <a:xfrm>
            <a:off x="1313280" y="7113240"/>
            <a:ext cx="9143640" cy="76944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800" b="0" strike="noStrike" spc="-1">
                <a:solidFill>
                  <a:schemeClr val="dk1"/>
                </a:solidFill>
                <a:latin typeface="Century Gothic" panose="020B0502020202020204" pitchFamily="34" charset="0"/>
              </a:rPr>
              <a:t>Policy makers</a:t>
            </a:r>
            <a:endParaRPr lang="de-AT" sz="28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50" name="CaixaDeTexto 16"/>
          <p:cNvSpPr/>
          <p:nvPr/>
        </p:nvSpPr>
        <p:spPr>
          <a:xfrm>
            <a:off x="5885280" y="7170120"/>
            <a:ext cx="1062720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Prioritize evidence based on AI integration to a more responsible implementation grounded in a comprehension of its impacts on learning outcomes.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cxnSp>
        <p:nvCxnSpPr>
          <p:cNvPr id="151" name="Conector de Seta Reta 17"/>
          <p:cNvCxnSpPr/>
          <p:nvPr/>
        </p:nvCxnSpPr>
        <p:spPr>
          <a:xfrm flipV="1">
            <a:off x="4391280" y="2629440"/>
            <a:ext cx="1128240" cy="3240"/>
          </a:xfrm>
          <a:prstGeom prst="straightConnector1">
            <a:avLst/>
          </a:prstGeom>
          <a:ln>
            <a:solidFill>
              <a:srgbClr val="000000"/>
            </a:solidFill>
            <a:round/>
            <a:tailEnd type="triangle" w="med" len="med"/>
          </a:ln>
        </p:spPr>
      </p:cxnSp>
      <p:cxnSp>
        <p:nvCxnSpPr>
          <p:cNvPr id="152" name="Conector de Seta Reta 18"/>
          <p:cNvCxnSpPr/>
          <p:nvPr/>
        </p:nvCxnSpPr>
        <p:spPr>
          <a:xfrm flipV="1">
            <a:off x="4391280" y="3966840"/>
            <a:ext cx="1128240" cy="3240"/>
          </a:xfrm>
          <a:prstGeom prst="straightConnector1">
            <a:avLst/>
          </a:prstGeom>
          <a:ln>
            <a:solidFill>
              <a:srgbClr val="000000"/>
            </a:solidFill>
            <a:round/>
            <a:tailEnd type="triangle" w="med" len="med"/>
          </a:ln>
        </p:spPr>
      </p:cxnSp>
      <p:cxnSp>
        <p:nvCxnSpPr>
          <p:cNvPr id="153" name="Conector de Seta Reta 19"/>
          <p:cNvCxnSpPr/>
          <p:nvPr/>
        </p:nvCxnSpPr>
        <p:spPr>
          <a:xfrm flipV="1">
            <a:off x="4391280" y="5142240"/>
            <a:ext cx="1128240" cy="3240"/>
          </a:xfrm>
          <a:prstGeom prst="straightConnector1">
            <a:avLst/>
          </a:prstGeom>
          <a:ln>
            <a:solidFill>
              <a:srgbClr val="000000"/>
            </a:solidFill>
            <a:round/>
            <a:tailEnd type="triangle" w="med" len="med"/>
          </a:ln>
        </p:spPr>
      </p:cxnSp>
      <p:cxnSp>
        <p:nvCxnSpPr>
          <p:cNvPr id="154" name="Conector de Seta Reta 20"/>
          <p:cNvCxnSpPr/>
          <p:nvPr/>
        </p:nvCxnSpPr>
        <p:spPr>
          <a:xfrm flipV="1">
            <a:off x="4391280" y="6439320"/>
            <a:ext cx="1128240" cy="3240"/>
          </a:xfrm>
          <a:prstGeom prst="straightConnector1">
            <a:avLst/>
          </a:prstGeom>
          <a:ln>
            <a:solidFill>
              <a:srgbClr val="000000"/>
            </a:solidFill>
            <a:round/>
            <a:tailEnd type="triangle" w="med" len="med"/>
          </a:ln>
        </p:spPr>
      </p:cxnSp>
      <p:cxnSp>
        <p:nvCxnSpPr>
          <p:cNvPr id="155" name="Conector de Seta Reta 21"/>
          <p:cNvCxnSpPr/>
          <p:nvPr/>
        </p:nvCxnSpPr>
        <p:spPr>
          <a:xfrm flipV="1">
            <a:off x="4391280" y="7501320"/>
            <a:ext cx="1128240" cy="3240"/>
          </a:xfrm>
          <a:prstGeom prst="straightConnector1">
            <a:avLst/>
          </a:prstGeom>
          <a:ln>
            <a:solidFill>
              <a:srgbClr val="000000"/>
            </a:solidFill>
            <a:round/>
            <a:tailEnd type="triangle" w="med" len="med"/>
          </a:ln>
        </p:spPr>
      </p:cxn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Elipse 7"/>
          <p:cNvSpPr/>
          <p:nvPr/>
        </p:nvSpPr>
        <p:spPr>
          <a:xfrm>
            <a:off x="1788840" y="2075040"/>
            <a:ext cx="4379040" cy="2479320"/>
          </a:xfrm>
          <a:prstGeom prst="ellipse">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lIns="90000" tIns="45000" rIns="90000" bIns="45000" anchor="ctr">
            <a:noAutofit/>
          </a:bodyPr>
          <a:lstStyle/>
          <a:p>
            <a:pPr algn="ctr" defTabSz="914400">
              <a:lnSpc>
                <a:spcPct val="100000"/>
              </a:lnSpc>
            </a:pPr>
            <a:endParaRPr lang="pt-BR" sz="1600" b="0" strike="noStrike" spc="-1">
              <a:solidFill>
                <a:schemeClr val="dk1"/>
              </a:solidFill>
              <a:latin typeface="Century Gothic" panose="020B0502020202020204" pitchFamily="34" charset="0"/>
            </a:endParaRPr>
          </a:p>
        </p:txBody>
      </p:sp>
      <p:sp>
        <p:nvSpPr>
          <p:cNvPr id="157" name="Freeform 2"/>
          <p:cNvSpPr/>
          <p:nvPr/>
        </p:nvSpPr>
        <p:spPr>
          <a:xfrm>
            <a:off x="14915160" y="7463880"/>
            <a:ext cx="2821680" cy="2823480"/>
          </a:xfrm>
          <a:custGeom>
            <a:avLst/>
            <a:gdLst>
              <a:gd name="textAreaLeft" fmla="*/ 0 w 2821680"/>
              <a:gd name="textAreaRight" fmla="*/ 2822040 w 2821680"/>
              <a:gd name="textAreaTop" fmla="*/ 0 h 2823480"/>
              <a:gd name="textAreaBottom" fmla="*/ 2823840 h 2823480"/>
            </a:gdLst>
            <a:ahLst/>
            <a:cxnLst/>
            <a:rect l="textAreaLeft" t="textAreaTop" r="textAreaRight" b="textAreaBottom"/>
            <a:pathLst>
              <a:path w="7886250" h="7334212">
                <a:moveTo>
                  <a:pt x="0" y="0"/>
                </a:moveTo>
                <a:lnTo>
                  <a:pt x="7886249" y="0"/>
                </a:lnTo>
                <a:lnTo>
                  <a:pt x="7886249" y="7334212"/>
                </a:lnTo>
                <a:lnTo>
                  <a:pt x="0" y="7334212"/>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158" name="Textfeld 6"/>
          <p:cNvSpPr/>
          <p:nvPr/>
        </p:nvSpPr>
        <p:spPr>
          <a:xfrm>
            <a:off x="990720" y="419040"/>
            <a:ext cx="6788880" cy="100548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algn="ctr" defTabSz="914400">
              <a:lnSpc>
                <a:spcPct val="100000"/>
              </a:lnSpc>
            </a:pPr>
            <a:r>
              <a:rPr lang="de-AT" sz="6000" b="0" strike="noStrike" spc="-1">
                <a:solidFill>
                  <a:schemeClr val="dk1"/>
                </a:solidFill>
                <a:latin typeface="Fredoka"/>
              </a:rPr>
              <a:t>Conclusion</a:t>
            </a:r>
            <a:endParaRPr lang="de-AT" sz="6000" b="0" strike="noStrike" spc="-1">
              <a:solidFill>
                <a:srgbClr val="000000"/>
              </a:solidFill>
              <a:latin typeface="Arial"/>
            </a:endParaRPr>
          </a:p>
        </p:txBody>
      </p:sp>
      <p:sp>
        <p:nvSpPr>
          <p:cNvPr id="159" name="CaixaDeTexto 6"/>
          <p:cNvSpPr/>
          <p:nvPr/>
        </p:nvSpPr>
        <p:spPr>
          <a:xfrm>
            <a:off x="2180520" y="2576160"/>
            <a:ext cx="358704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algn="ctr" defTabSz="914400">
              <a:lnSpc>
                <a:spcPct val="100000"/>
              </a:lnSpc>
            </a:pPr>
            <a:r>
              <a:rPr lang="en-US" sz="2000" b="0" strike="noStrike" spc="-1">
                <a:solidFill>
                  <a:srgbClr val="303030"/>
                </a:solidFill>
                <a:latin typeface="Century Gothic" panose="020B0502020202020204" pitchFamily="34" charset="0"/>
              </a:rPr>
              <a:t>Early research focus on perceptions and attitudes of students and instructors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cxnSp>
        <p:nvCxnSpPr>
          <p:cNvPr id="160" name="Conector de Seta Reta 9"/>
          <p:cNvCxnSpPr/>
          <p:nvPr/>
        </p:nvCxnSpPr>
        <p:spPr>
          <a:xfrm flipV="1">
            <a:off x="6642000" y="3183480"/>
            <a:ext cx="1128600" cy="2880"/>
          </a:xfrm>
          <a:prstGeom prst="straightConnector1">
            <a:avLst/>
          </a:prstGeom>
          <a:ln>
            <a:solidFill>
              <a:srgbClr val="000000"/>
            </a:solidFill>
            <a:round/>
            <a:tailEnd type="triangle" w="med" len="med"/>
          </a:ln>
        </p:spPr>
      </p:cxnSp>
      <p:sp>
        <p:nvSpPr>
          <p:cNvPr id="161" name="CaixaDeTexto 10"/>
          <p:cNvSpPr/>
          <p:nvPr/>
        </p:nvSpPr>
        <p:spPr>
          <a:xfrm>
            <a:off x="8168040" y="2759040"/>
            <a:ext cx="995256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Do not provide concrete evidence of the actual impact.</a:t>
            </a:r>
            <a:endParaRPr lang="de-AT" sz="2000" b="0" strike="noStrike" spc="-1">
              <a:solidFill>
                <a:srgbClr val="000000"/>
              </a:solidFill>
              <a:latin typeface="Century Gothic" panose="020B0502020202020204" pitchFamily="34" charset="0"/>
            </a:endParaRPr>
          </a:p>
          <a:p>
            <a:pPr defTabSz="914400">
              <a:lnSpc>
                <a:spcPct val="100000"/>
              </a:lnSpc>
            </a:pPr>
            <a:r>
              <a:rPr lang="en-US" sz="2000" b="0" strike="noStrike" spc="-1">
                <a:solidFill>
                  <a:srgbClr val="303030"/>
                </a:solidFill>
                <a:latin typeface="Century Gothic" panose="020B0502020202020204" pitchFamily="34" charset="0"/>
                <a:ea typeface="Calibri"/>
              </a:rPr>
              <a:t>Effort to manage determining sufficient sample sizes.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62" name="Elipse 11"/>
          <p:cNvSpPr/>
          <p:nvPr/>
        </p:nvSpPr>
        <p:spPr>
          <a:xfrm>
            <a:off x="1769760" y="5486400"/>
            <a:ext cx="4379040" cy="2479320"/>
          </a:xfrm>
          <a:prstGeom prst="ellipse">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anchor="ctr">
            <a:noAutofit/>
          </a:bodyPr>
          <a:lstStyle/>
          <a:p>
            <a:pPr algn="ctr" defTabSz="914400">
              <a:lnSpc>
                <a:spcPct val="100000"/>
              </a:lnSpc>
            </a:pPr>
            <a:r>
              <a:rPr lang="en-US" sz="2000" b="0" strike="noStrike" spc="-1">
                <a:solidFill>
                  <a:srgbClr val="303030"/>
                </a:solidFill>
                <a:latin typeface="Century Gothic" panose="020B0502020202020204" pitchFamily="34" charset="0"/>
              </a:rPr>
              <a:t>Cross-sectional research</a:t>
            </a:r>
            <a:endParaRPr lang="de-AT" sz="2000" b="0" strike="noStrike" spc="-1">
              <a:solidFill>
                <a:srgbClr val="000000"/>
              </a:solidFill>
              <a:latin typeface="Century Gothic" panose="020B0502020202020204" pitchFamily="34" charset="0"/>
            </a:endParaRPr>
          </a:p>
        </p:txBody>
      </p:sp>
      <p:cxnSp>
        <p:nvCxnSpPr>
          <p:cNvPr id="163" name="Conector de Seta Reta 12"/>
          <p:cNvCxnSpPr/>
          <p:nvPr/>
        </p:nvCxnSpPr>
        <p:spPr>
          <a:xfrm flipV="1">
            <a:off x="6642000" y="6726600"/>
            <a:ext cx="1128600" cy="3240"/>
          </a:xfrm>
          <a:prstGeom prst="straightConnector1">
            <a:avLst/>
          </a:prstGeom>
          <a:ln>
            <a:solidFill>
              <a:srgbClr val="000000"/>
            </a:solidFill>
            <a:round/>
            <a:tailEnd type="triangle" w="med" len="med"/>
          </a:ln>
        </p:spPr>
      </p:cxnSp>
      <p:sp>
        <p:nvSpPr>
          <p:cNvPr id="164" name="CaixaDeTexto 13"/>
          <p:cNvSpPr/>
          <p:nvPr/>
        </p:nvSpPr>
        <p:spPr>
          <a:xfrm>
            <a:off x="8168040" y="6356880"/>
            <a:ext cx="914364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Do not determine if it can lead to an improvement or diminishment of performance or vice-versa.</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Textfeld 6"/>
          <p:cNvSpPr/>
          <p:nvPr/>
        </p:nvSpPr>
        <p:spPr>
          <a:xfrm>
            <a:off x="990720" y="419040"/>
            <a:ext cx="6788880" cy="100548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algn="ctr" defTabSz="914400">
              <a:lnSpc>
                <a:spcPct val="100000"/>
              </a:lnSpc>
            </a:pPr>
            <a:r>
              <a:rPr lang="de-AT" sz="6000" b="0" strike="noStrike" spc="-1">
                <a:solidFill>
                  <a:schemeClr val="dk1"/>
                </a:solidFill>
                <a:latin typeface="Fredoka"/>
              </a:rPr>
              <a:t>Conclusion</a:t>
            </a:r>
            <a:endParaRPr lang="de-AT" sz="6000" b="0" strike="noStrike" spc="-1">
              <a:solidFill>
                <a:srgbClr val="000000"/>
              </a:solidFill>
              <a:latin typeface="Arial"/>
            </a:endParaRPr>
          </a:p>
        </p:txBody>
      </p:sp>
      <p:sp>
        <p:nvSpPr>
          <p:cNvPr id="166" name="Freeform 2"/>
          <p:cNvSpPr/>
          <p:nvPr/>
        </p:nvSpPr>
        <p:spPr>
          <a:xfrm>
            <a:off x="141120" y="7028280"/>
            <a:ext cx="5219640" cy="3258360"/>
          </a:xfrm>
          <a:custGeom>
            <a:avLst/>
            <a:gdLst>
              <a:gd name="textAreaLeft" fmla="*/ 0 w 5219640"/>
              <a:gd name="textAreaRight" fmla="*/ 5220000 w 5219640"/>
              <a:gd name="textAreaTop" fmla="*/ 0 h 3258360"/>
              <a:gd name="textAreaBottom" fmla="*/ 3258720 h 3258360"/>
            </a:gdLst>
            <a:ahLst/>
            <a:cxnLst/>
            <a:rect l="textAreaLeft" t="textAreaTop" r="textAreaRight" b="textAreaBottom"/>
            <a:pathLst>
              <a:path w="7538575" h="4871804">
                <a:moveTo>
                  <a:pt x="0" y="0"/>
                </a:moveTo>
                <a:lnTo>
                  <a:pt x="7538575" y="0"/>
                </a:lnTo>
                <a:lnTo>
                  <a:pt x="7538575" y="4871804"/>
                </a:lnTo>
                <a:lnTo>
                  <a:pt x="0" y="4871804"/>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167" name="CaixaDeTexto 5"/>
          <p:cNvSpPr/>
          <p:nvPr/>
        </p:nvSpPr>
        <p:spPr>
          <a:xfrm>
            <a:off x="1977840" y="1836000"/>
            <a:ext cx="482292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algn="ctr" defTabSz="914400">
              <a:lnSpc>
                <a:spcPct val="100000"/>
              </a:lnSpc>
            </a:pPr>
            <a:r>
              <a:rPr lang="en-US" sz="2000" b="0" strike="noStrike" spc="-1">
                <a:solidFill>
                  <a:srgbClr val="303030"/>
                </a:solidFill>
                <a:latin typeface="Century Gothic" panose="020B0502020202020204" pitchFamily="34" charset="0"/>
              </a:rPr>
              <a:t>Systematic review and meta – analysis to sinthesize the research findings.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68" name="CaixaDeTexto 8"/>
          <p:cNvSpPr/>
          <p:nvPr/>
        </p:nvSpPr>
        <p:spPr>
          <a:xfrm>
            <a:off x="9678960" y="1836000"/>
            <a:ext cx="367200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algn="ctr" defTabSz="914400">
              <a:lnSpc>
                <a:spcPct val="100000"/>
              </a:lnSpc>
            </a:pPr>
            <a:r>
              <a:rPr lang="en-US" sz="2000" b="0" strike="noStrike" spc="-1">
                <a:solidFill>
                  <a:srgbClr val="303030"/>
                </a:solidFill>
                <a:latin typeface="Century Gothic" panose="020B0502020202020204" pitchFamily="34" charset="0"/>
              </a:rPr>
              <a:t>Contributions to the field of technology – enhanced learning.</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cxnSp>
        <p:nvCxnSpPr>
          <p:cNvPr id="169" name="Conector de Seta Reta 15"/>
          <p:cNvCxnSpPr/>
          <p:nvPr/>
        </p:nvCxnSpPr>
        <p:spPr>
          <a:xfrm flipV="1">
            <a:off x="7460640" y="2170080"/>
            <a:ext cx="1128600" cy="2880"/>
          </a:xfrm>
          <a:prstGeom prst="straightConnector1">
            <a:avLst/>
          </a:prstGeom>
          <a:ln>
            <a:solidFill>
              <a:srgbClr val="000000"/>
            </a:solidFill>
            <a:round/>
            <a:tailEnd type="triangle" w="med" len="med"/>
          </a:ln>
        </p:spPr>
      </p:cxnSp>
      <p:sp>
        <p:nvSpPr>
          <p:cNvPr id="170" name="Retângulo: Cantos Arredondados 16"/>
          <p:cNvSpPr/>
          <p:nvPr/>
        </p:nvSpPr>
        <p:spPr>
          <a:xfrm>
            <a:off x="2248200" y="3872520"/>
            <a:ext cx="3987000" cy="1824840"/>
          </a:xfrm>
          <a:prstGeom prst="roundRect">
            <a:avLst>
              <a:gd name="adj" fmla="val 16667"/>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lIns="90000" tIns="45000" rIns="90000" bIns="45000" anchor="ctr">
            <a:noAutofit/>
          </a:bodyPr>
          <a:lstStyle/>
          <a:p>
            <a:pPr algn="ctr" defTabSz="914400">
              <a:lnSpc>
                <a:spcPct val="100000"/>
              </a:lnSpc>
            </a:pPr>
            <a:r>
              <a:rPr lang="pt-BR" sz="2000" b="0" strike="noStrike" spc="-1">
                <a:solidFill>
                  <a:schemeClr val="dk1"/>
                </a:solidFill>
                <a:latin typeface="Century Gothic" panose="020B0502020202020204" pitchFamily="34" charset="0"/>
                <a:ea typeface="Calibri"/>
              </a:rPr>
              <a:t>ChatGPT interventions</a:t>
            </a:r>
            <a:endParaRPr lang="de-AT" sz="2000" b="0" strike="noStrike" spc="-1">
              <a:solidFill>
                <a:srgbClr val="000000"/>
              </a:solidFill>
              <a:latin typeface="Century Gothic" panose="020B0502020202020204" pitchFamily="34" charset="0"/>
            </a:endParaRPr>
          </a:p>
        </p:txBody>
      </p:sp>
      <p:cxnSp>
        <p:nvCxnSpPr>
          <p:cNvPr id="171" name="Conector de Seta Reta 17"/>
          <p:cNvCxnSpPr/>
          <p:nvPr/>
        </p:nvCxnSpPr>
        <p:spPr>
          <a:xfrm flipV="1">
            <a:off x="6455520" y="4010040"/>
            <a:ext cx="1128600" cy="3240"/>
          </a:xfrm>
          <a:prstGeom prst="straightConnector1">
            <a:avLst/>
          </a:prstGeom>
          <a:ln>
            <a:solidFill>
              <a:srgbClr val="000000"/>
            </a:solidFill>
            <a:round/>
            <a:tailEnd type="triangle" w="med" len="med"/>
          </a:ln>
        </p:spPr>
      </p:cxnSp>
      <p:sp>
        <p:nvSpPr>
          <p:cNvPr id="172" name="CaixaDeTexto 20"/>
          <p:cNvSpPr/>
          <p:nvPr/>
        </p:nvSpPr>
        <p:spPr>
          <a:xfrm>
            <a:off x="7782120" y="3870720"/>
            <a:ext cx="59090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University level</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cxnSp>
        <p:nvCxnSpPr>
          <p:cNvPr id="173" name="Conector de Seta Reta 21"/>
          <p:cNvCxnSpPr/>
          <p:nvPr/>
        </p:nvCxnSpPr>
        <p:spPr>
          <a:xfrm flipV="1">
            <a:off x="6455520" y="4601880"/>
            <a:ext cx="1128600" cy="3240"/>
          </a:xfrm>
          <a:prstGeom prst="straightConnector1">
            <a:avLst/>
          </a:prstGeom>
          <a:ln>
            <a:solidFill>
              <a:srgbClr val="000000"/>
            </a:solidFill>
            <a:round/>
            <a:tailEnd type="triangle" w="med" len="med"/>
          </a:ln>
        </p:spPr>
      </p:cxnSp>
      <p:sp>
        <p:nvSpPr>
          <p:cNvPr id="174" name="CaixaDeTexto 22"/>
          <p:cNvSpPr/>
          <p:nvPr/>
        </p:nvSpPr>
        <p:spPr>
          <a:xfrm>
            <a:off x="7782120" y="441396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Authentic classroom environments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cxnSp>
        <p:nvCxnSpPr>
          <p:cNvPr id="175" name="Conector de Seta Reta 23"/>
          <p:cNvCxnSpPr/>
          <p:nvPr/>
        </p:nvCxnSpPr>
        <p:spPr>
          <a:xfrm flipV="1">
            <a:off x="6455520" y="5136840"/>
            <a:ext cx="1128600" cy="3240"/>
          </a:xfrm>
          <a:prstGeom prst="straightConnector1">
            <a:avLst/>
          </a:prstGeom>
          <a:ln>
            <a:solidFill>
              <a:srgbClr val="000000"/>
            </a:solidFill>
            <a:round/>
            <a:tailEnd type="triangle" w="med" len="med"/>
          </a:ln>
        </p:spPr>
      </p:cxnSp>
      <p:sp>
        <p:nvSpPr>
          <p:cNvPr id="176" name="CaixaDeTexto 24"/>
          <p:cNvSpPr/>
          <p:nvPr/>
        </p:nvSpPr>
        <p:spPr>
          <a:xfrm>
            <a:off x="7782120" y="494892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Emphasis on language education</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cxnSp>
        <p:nvCxnSpPr>
          <p:cNvPr id="177" name="Conector de Seta Reta 25"/>
          <p:cNvCxnSpPr/>
          <p:nvPr/>
        </p:nvCxnSpPr>
        <p:spPr>
          <a:xfrm flipV="1">
            <a:off x="6455520" y="5680080"/>
            <a:ext cx="1128600" cy="3240"/>
          </a:xfrm>
          <a:prstGeom prst="straightConnector1">
            <a:avLst/>
          </a:prstGeom>
          <a:ln>
            <a:solidFill>
              <a:srgbClr val="000000"/>
            </a:solidFill>
            <a:round/>
            <a:tailEnd type="triangle" w="med" len="med"/>
          </a:ln>
        </p:spPr>
      </p:cxnSp>
      <p:sp>
        <p:nvSpPr>
          <p:cNvPr id="178" name="CaixaDeTexto 26"/>
          <p:cNvSpPr/>
          <p:nvPr/>
        </p:nvSpPr>
        <p:spPr>
          <a:xfrm>
            <a:off x="7782120" y="553248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Direct learning tools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79" name="CaixaDeTexto 1"/>
          <p:cNvSpPr/>
          <p:nvPr/>
        </p:nvSpPr>
        <p:spPr>
          <a:xfrm>
            <a:off x="7020000" y="7688880"/>
            <a:ext cx="914364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1" strike="noStrike" spc="-1">
                <a:solidFill>
                  <a:srgbClr val="303030"/>
                </a:solidFill>
                <a:latin typeface="Century Gothic" panose="020B0502020202020204" pitchFamily="34" charset="0"/>
              </a:rPr>
              <a:t>ChatGPT can potentially improve academic performance, but there is a need of caution interpreting the results.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 name="Textfeld 6"/>
          <p:cNvSpPr/>
          <p:nvPr/>
        </p:nvSpPr>
        <p:spPr>
          <a:xfrm>
            <a:off x="990720" y="419040"/>
            <a:ext cx="6788880" cy="100548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algn="ctr" defTabSz="914400">
              <a:lnSpc>
                <a:spcPct val="100000"/>
              </a:lnSpc>
            </a:pPr>
            <a:r>
              <a:rPr lang="de-AT" sz="6000" b="0" strike="noStrike" spc="-1">
                <a:solidFill>
                  <a:schemeClr val="dk1"/>
                </a:solidFill>
                <a:latin typeface="Fredoka"/>
              </a:rPr>
              <a:t>Conclusion</a:t>
            </a:r>
            <a:endParaRPr lang="de-AT" sz="6000" b="0" strike="noStrike" spc="-1">
              <a:solidFill>
                <a:srgbClr val="000000"/>
              </a:solidFill>
              <a:latin typeface="Arial"/>
            </a:endParaRPr>
          </a:p>
        </p:txBody>
      </p:sp>
      <p:sp>
        <p:nvSpPr>
          <p:cNvPr id="181" name="CaixaDeTexto 5"/>
          <p:cNvSpPr/>
          <p:nvPr/>
        </p:nvSpPr>
        <p:spPr>
          <a:xfrm>
            <a:off x="1977840" y="1836000"/>
            <a:ext cx="482292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Can potentially improve academic performance.</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
        <p:nvSpPr>
          <p:cNvPr id="182" name="Freeform 2"/>
          <p:cNvSpPr/>
          <p:nvPr/>
        </p:nvSpPr>
        <p:spPr>
          <a:xfrm>
            <a:off x="13371840" y="7462440"/>
            <a:ext cx="4919400" cy="2949480"/>
          </a:xfrm>
          <a:custGeom>
            <a:avLst/>
            <a:gdLst>
              <a:gd name="textAreaLeft" fmla="*/ 0 w 4919400"/>
              <a:gd name="textAreaRight" fmla="*/ 4919760 w 4919400"/>
              <a:gd name="textAreaTop" fmla="*/ 0 h 2949480"/>
              <a:gd name="textAreaBottom" fmla="*/ 2949840 h 2949480"/>
            </a:gdLst>
            <a:ahLst/>
            <a:cxnLst/>
            <a:rect l="textAreaLeft" t="textAreaTop" r="textAreaRight" b="textAreaBottom"/>
            <a:pathLst>
              <a:path w="7846135" h="4668450">
                <a:moveTo>
                  <a:pt x="0" y="0"/>
                </a:moveTo>
                <a:lnTo>
                  <a:pt x="7846135" y="0"/>
                </a:lnTo>
                <a:lnTo>
                  <a:pt x="7846135" y="4668450"/>
                </a:lnTo>
                <a:lnTo>
                  <a:pt x="0" y="4668450"/>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183" name="CaixaDeTexto 6"/>
          <p:cNvSpPr/>
          <p:nvPr/>
        </p:nvSpPr>
        <p:spPr>
          <a:xfrm>
            <a:off x="1977840" y="293040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Caution when interpreting the results.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84" name="CaixaDeTexto 7"/>
          <p:cNvSpPr/>
          <p:nvPr/>
        </p:nvSpPr>
        <p:spPr>
          <a:xfrm>
            <a:off x="1977840" y="3660120"/>
            <a:ext cx="914364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Interventions enhance affective motivational states and higher order thinking propensities, reducing mental effort.</a:t>
            </a:r>
            <a:endParaRPr lang="de-AT" sz="2000" b="0" strike="noStrike" spc="-1">
              <a:solidFill>
                <a:srgbClr val="000000"/>
              </a:solidFill>
              <a:latin typeface="Century Gothic" panose="020B0502020202020204" pitchFamily="34" charset="0"/>
            </a:endParaRPr>
          </a:p>
          <a:p>
            <a:pPr defTabSz="914400">
              <a:lnSpc>
                <a:spcPct val="100000"/>
              </a:lnSpc>
            </a:pP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85" name="CaixaDeTexto 9"/>
          <p:cNvSpPr/>
          <p:nvPr/>
        </p:nvSpPr>
        <p:spPr>
          <a:xfrm>
            <a:off x="4572000" y="514368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Lack of experimental research</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86" name="CaixaDeTexto 10"/>
          <p:cNvSpPr/>
          <p:nvPr/>
        </p:nvSpPr>
        <p:spPr>
          <a:xfrm>
            <a:off x="4572000" y="6043320"/>
            <a:ext cx="914364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Future research: explore long term impact, disentangle the quality from the intervention effects and assess if the students' improvements are related to the skills.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
            <a:extLst>
              <a:ext uri="{FF2B5EF4-FFF2-40B4-BE49-F238E27FC236}">
                <a16:creationId xmlns:a16="http://schemas.microsoft.com/office/drawing/2014/main" id="{42D6FD6D-9A10-632D-BF3C-34F4841F1A6A}"/>
              </a:ext>
            </a:extLst>
          </p:cNvPr>
          <p:cNvGrpSpPr/>
          <p:nvPr/>
        </p:nvGrpSpPr>
        <p:grpSpPr>
          <a:xfrm flipH="1">
            <a:off x="-100080" y="-79200"/>
            <a:ext cx="9295920" cy="10445040"/>
            <a:chOff x="8991720" y="-135360"/>
            <a:chExt cx="9295920" cy="10445040"/>
          </a:xfrm>
        </p:grpSpPr>
        <p:sp>
          <p:nvSpPr>
            <p:cNvPr id="3" name="Freeform 4">
              <a:extLst>
                <a:ext uri="{FF2B5EF4-FFF2-40B4-BE49-F238E27FC236}">
                  <a16:creationId xmlns:a16="http://schemas.microsoft.com/office/drawing/2014/main" id="{3027A94C-06CD-135E-B6E1-DFC4DE567F22}"/>
                </a:ext>
              </a:extLst>
            </p:cNvPr>
            <p:cNvSpPr/>
            <p:nvPr/>
          </p:nvSpPr>
          <p:spPr>
            <a:xfrm>
              <a:off x="8991720" y="0"/>
              <a:ext cx="9295920" cy="10309680"/>
            </a:xfrm>
            <a:custGeom>
              <a:avLst/>
              <a:gdLst>
                <a:gd name="textAreaLeft" fmla="*/ 0 w 9295920"/>
                <a:gd name="textAreaRight" fmla="*/ 9296280 w 9295920"/>
                <a:gd name="textAreaTop" fmla="*/ 0 h 10309680"/>
                <a:gd name="textAreaBottom" fmla="*/ 10310040 h 10309680"/>
              </a:gdLst>
              <a:ahLst/>
              <a:cxnLst/>
              <a:rect l="textAreaLeft" t="textAreaTop" r="textAreaRight" b="textAreaBottom"/>
              <a:pathLst>
                <a:path w="2570205" h="2899719">
                  <a:moveTo>
                    <a:pt x="0" y="0"/>
                  </a:moveTo>
                  <a:lnTo>
                    <a:pt x="2570205" y="0"/>
                  </a:lnTo>
                  <a:lnTo>
                    <a:pt x="2570205" y="2899719"/>
                  </a:lnTo>
                  <a:lnTo>
                    <a:pt x="0" y="2899719"/>
                  </a:lnTo>
                  <a:close/>
                </a:path>
              </a:pathLst>
            </a:custGeom>
            <a:solidFill>
              <a:srgbClr val="6D98BA"/>
            </a:solidFill>
            <a:ln w="28575" cap="sq">
              <a:solidFill>
                <a:srgbClr val="000000"/>
              </a:solidFill>
              <a:miter/>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4" name="TextBox 5">
              <a:extLst>
                <a:ext uri="{FF2B5EF4-FFF2-40B4-BE49-F238E27FC236}">
                  <a16:creationId xmlns:a16="http://schemas.microsoft.com/office/drawing/2014/main" id="{67A7DF8D-B50A-3E41-076D-780979C94C54}"/>
                </a:ext>
              </a:extLst>
            </p:cNvPr>
            <p:cNvSpPr/>
            <p:nvPr/>
          </p:nvSpPr>
          <p:spPr>
            <a:xfrm>
              <a:off x="8991720" y="-135360"/>
              <a:ext cx="9295920" cy="10445040"/>
            </a:xfrm>
            <a:prstGeom prst="rect">
              <a:avLst/>
            </a:prstGeom>
            <a:solidFill>
              <a:srgbClr val="6D98BA"/>
            </a:solidFill>
            <a:ln w="0">
              <a:solidFill>
                <a:srgbClr val="000000"/>
              </a:solidFill>
            </a:ln>
          </p:spPr>
          <p:style>
            <a:lnRef idx="0">
              <a:scrgbClr r="0" g="0" b="0"/>
            </a:lnRef>
            <a:fillRef idx="0">
              <a:scrgbClr r="0" g="0" b="0"/>
            </a:fillRef>
            <a:effectRef idx="0">
              <a:scrgbClr r="0" g="0" b="0"/>
            </a:effectRef>
            <a:fontRef idx="minor"/>
          </p:style>
          <p:txBody>
            <a:bodyPr lIns="50760" tIns="50760" rIns="50760" bIns="50760" anchor="ctr">
              <a:noAutofit/>
            </a:bodyPr>
            <a:lstStyle/>
            <a:p>
              <a:pPr algn="ctr" defTabSz="914400">
                <a:lnSpc>
                  <a:spcPts val="2659"/>
                </a:lnSpc>
              </a:pPr>
              <a:endParaRPr lang="en-US" sz="1800" b="0" strike="noStrike" spc="-1">
                <a:solidFill>
                  <a:schemeClr val="dk1"/>
                </a:solidFill>
                <a:latin typeface="Calibri"/>
              </a:endParaRPr>
            </a:p>
          </p:txBody>
        </p:sp>
      </p:grpSp>
      <p:sp>
        <p:nvSpPr>
          <p:cNvPr id="190" name="TextBox 6"/>
          <p:cNvSpPr/>
          <p:nvPr/>
        </p:nvSpPr>
        <p:spPr>
          <a:xfrm>
            <a:off x="744480" y="2197800"/>
            <a:ext cx="7616520" cy="387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5270"/>
              </a:lnSpc>
            </a:pPr>
            <a:r>
              <a:rPr lang="en-US" sz="10910" b="0" strike="noStrike" spc="-1" dirty="0">
                <a:solidFill>
                  <a:srgbClr val="000000"/>
                </a:solidFill>
                <a:latin typeface="Fredoka"/>
                <a:ea typeface="Fredoka"/>
              </a:rPr>
              <a:t>THANK</a:t>
            </a:r>
            <a:endParaRPr lang="de-AT" sz="10910" b="0" strike="noStrike" spc="-1" dirty="0">
              <a:solidFill>
                <a:srgbClr val="000000"/>
              </a:solidFill>
              <a:latin typeface="Arial"/>
            </a:endParaRPr>
          </a:p>
          <a:p>
            <a:pPr algn="ctr" defTabSz="914400">
              <a:lnSpc>
                <a:spcPts val="15270"/>
              </a:lnSpc>
            </a:pPr>
            <a:r>
              <a:rPr lang="en-US" sz="10910" b="0" strike="noStrike" spc="-1" dirty="0">
                <a:solidFill>
                  <a:srgbClr val="000000"/>
                </a:solidFill>
                <a:latin typeface="Fredoka"/>
                <a:ea typeface="Fredoka"/>
              </a:rPr>
              <a:t>YOU!</a:t>
            </a:r>
            <a:endParaRPr lang="de-AT" sz="10910" b="0" strike="noStrike" spc="-1" dirty="0">
              <a:solidFill>
                <a:srgbClr val="000000"/>
              </a:solidFill>
              <a:latin typeface="Arial"/>
            </a:endParaRPr>
          </a:p>
        </p:txBody>
      </p:sp>
      <p:sp>
        <p:nvSpPr>
          <p:cNvPr id="191" name="TextBox 7"/>
          <p:cNvSpPr/>
          <p:nvPr/>
        </p:nvSpPr>
        <p:spPr>
          <a:xfrm>
            <a:off x="899640" y="6069600"/>
            <a:ext cx="7281360" cy="103874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8104"/>
              </a:lnSpc>
            </a:pPr>
            <a:r>
              <a:rPr lang="en-US" sz="7369" b="0" strike="noStrike" spc="-1" dirty="0">
                <a:solidFill>
                  <a:srgbClr val="000000"/>
                </a:solidFill>
                <a:latin typeface="Century Gothic" panose="020B0502020202020204" pitchFamily="34" charset="0"/>
                <a:ea typeface="KG Primary Penmanship"/>
              </a:rPr>
              <a:t>Discussion time!</a:t>
            </a:r>
            <a:endParaRPr lang="de-AT" sz="7369" b="0" strike="noStrike" spc="-1" dirty="0">
              <a:solidFill>
                <a:srgbClr val="000000"/>
              </a:solidFill>
              <a:latin typeface="Century Gothic" panose="020B0502020202020204" pitchFamily="34" charset="0"/>
            </a:endParaRPr>
          </a:p>
        </p:txBody>
      </p:sp>
      <p:pic>
        <p:nvPicPr>
          <p:cNvPr id="192" name="Grafik 14"/>
          <p:cNvPicPr/>
          <p:nvPr/>
        </p:nvPicPr>
        <p:blipFill>
          <a:blip r:embed="rId3"/>
          <a:stretch/>
        </p:blipFill>
        <p:spPr>
          <a:xfrm>
            <a:off x="10210680" y="1514520"/>
            <a:ext cx="7344720" cy="7257600"/>
          </a:xfrm>
          <a:prstGeom prst="rect">
            <a:avLst/>
          </a:prstGeom>
          <a:ln w="0">
            <a:noFill/>
          </a:ln>
        </p:spPr>
      </p:pic>
      <p:sp>
        <p:nvSpPr>
          <p:cNvPr id="193" name="Textfeld 15"/>
          <p:cNvSpPr/>
          <p:nvPr/>
        </p:nvSpPr>
        <p:spPr>
          <a:xfrm>
            <a:off x="10210680" y="8783640"/>
            <a:ext cx="27428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Calibri"/>
              </a:rPr>
              <a:t>Source: imgflip.com</a:t>
            </a:r>
            <a:endParaRPr lang="de-AT" sz="1800" b="0" strike="noStrike" spc="-1">
              <a:solidFill>
                <a:srgbClr val="000000"/>
              </a:solidFill>
              <a:latin typeface="Arial"/>
            </a:endParaRPr>
          </a:p>
        </p:txBody>
      </p:sp>
      <p:sp>
        <p:nvSpPr>
          <p:cNvPr id="5" name="Textfeld 5">
            <a:hlinkClick r:id="rId4"/>
            <a:extLst>
              <a:ext uri="{FF2B5EF4-FFF2-40B4-BE49-F238E27FC236}">
                <a16:creationId xmlns:a16="http://schemas.microsoft.com/office/drawing/2014/main" id="{95853635-0A3D-6454-58EF-5E931F1533EB}"/>
              </a:ext>
            </a:extLst>
          </p:cNvPr>
          <p:cNvSpPr txBox="1"/>
          <p:nvPr/>
        </p:nvSpPr>
        <p:spPr>
          <a:xfrm>
            <a:off x="-240630" y="7210109"/>
            <a:ext cx="9384630" cy="369332"/>
          </a:xfrm>
          <a:prstGeom prst="rect">
            <a:avLst/>
          </a:prstGeom>
          <a:noFill/>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AT"/>
              <a:t>Website</a:t>
            </a:r>
            <a:endParaRPr lang="de-AT"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3713</Words>
  <Application>Microsoft Office PowerPoint</Application>
  <PresentationFormat>Benutzerdefiniert</PresentationFormat>
  <Paragraphs>291</Paragraphs>
  <Slides>15</Slides>
  <Notes>12</Notes>
  <HiddenSlides>0</HiddenSlides>
  <MMClips>0</MMClips>
  <ScaleCrop>false</ScaleCrop>
  <HeadingPairs>
    <vt:vector size="4" baseType="variant">
      <vt:variant>
        <vt:lpstr>Design</vt:lpstr>
      </vt:variant>
      <vt:variant>
        <vt:i4>4</vt:i4>
      </vt:variant>
      <vt:variant>
        <vt:lpstr>Folientitel</vt:lpstr>
      </vt:variant>
      <vt:variant>
        <vt:i4>15</vt:i4>
      </vt:variant>
    </vt:vector>
  </HeadingPairs>
  <TitlesOfParts>
    <vt:vector size="19" baseType="lpstr">
      <vt:lpstr>Office Theme</vt:lpstr>
      <vt:lpstr>Office Theme</vt:lpstr>
      <vt:lpstr>Office Theme</vt:lpstr>
      <vt:lpstr>Office Theme</vt:lpstr>
      <vt:lpstr>PowerPoint-Präsentation</vt:lpstr>
      <vt:lpstr>Why this meta-analysis?</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Knes, Christina Sophie</cp:lastModifiedBy>
  <cp:revision>27</cp:revision>
  <dcterms:created xsi:type="dcterms:W3CDTF">2006-08-16T00:00:00Z</dcterms:created>
  <dcterms:modified xsi:type="dcterms:W3CDTF">2026-06-23T01:48:24Z</dcterms:modified>
  <dc:identifier>DAHMD6YqX8Q</dc:identifier>
  <dc:language>de-AT</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8</vt:i4>
  </property>
  <property fmtid="{D5CDD505-2E9C-101B-9397-08002B2CF9AE}" pid="3" name="PresentationFormat">
    <vt:lpwstr>Benutzerdefiniert</vt:lpwstr>
  </property>
  <property fmtid="{D5CDD505-2E9C-101B-9397-08002B2CF9AE}" pid="4" name="Slides">
    <vt:i4>22</vt:i4>
  </property>
</Properties>
</file>