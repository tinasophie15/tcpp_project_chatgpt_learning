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4"/>
  </p:notesMasterIdLst>
  <p:sldIdLst>
    <p:sldId id="267" r:id="rId2"/>
    <p:sldId id="257" r:id="rId3"/>
    <p:sldId id="271" r:id="rId4"/>
    <p:sldId id="274" r:id="rId5"/>
    <p:sldId id="269" r:id="rId6"/>
    <p:sldId id="273" r:id="rId7"/>
    <p:sldId id="275" r:id="rId8"/>
    <p:sldId id="276" r:id="rId9"/>
    <p:sldId id="277" r:id="rId10"/>
    <p:sldId id="278" r:id="rId11"/>
    <p:sldId id="270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8" r:id="rId22"/>
    <p:sldId id="272" r:id="rId23"/>
  </p:sldIdLst>
  <p:sldSz cx="18288000" cy="10287000"/>
  <p:notesSz cx="6858000" cy="9144000"/>
  <p:embeddedFontLst>
    <p:embeddedFont>
      <p:font typeface="Candara" panose="020E0502030303020204" pitchFamily="34" charset="0"/>
      <p:regular r:id="rId25"/>
      <p:bold r:id="rId26"/>
      <p:italic r:id="rId27"/>
      <p:boldItalic r:id="rId28"/>
    </p:embeddedFont>
    <p:embeddedFont>
      <p:font typeface="Century Gothic" panose="020B0502020202020204" pitchFamily="34" charset="0"/>
      <p:regular r:id="rId29"/>
      <p:bold r:id="rId30"/>
      <p:italic r:id="rId31"/>
      <p:boldItalic r:id="rId32"/>
    </p:embeddedFont>
    <p:embeddedFont>
      <p:font typeface="Fredoka" panose="020B0604020202020204" charset="0"/>
      <p:regular r:id="rId33"/>
    </p:embeddedFont>
    <p:embeddedFont>
      <p:font typeface="KG Primary Penmanship" panose="020B0604020202020204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949B3650-02F7-4E04-9F25-F1A55820F397}">
          <p14:sldIdLst>
            <p14:sldId id="267"/>
            <p14:sldId id="257"/>
            <p14:sldId id="271"/>
            <p14:sldId id="274"/>
            <p14:sldId id="269"/>
            <p14:sldId id="273"/>
            <p14:sldId id="275"/>
            <p14:sldId id="276"/>
            <p14:sldId id="277"/>
            <p14:sldId id="278"/>
            <p14:sldId id="270"/>
          </p14:sldIdLst>
        </p14:section>
        <p14:section name="Pictures we can use" id="{F3923ABB-DC79-49BF-8F12-F017564C7A8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8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98B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725B31-4962-41AA-844B-8672FCF03F15}" v="55" dt="2026-06-18T15:28:06.1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5033" autoAdjust="0"/>
  </p:normalViewPr>
  <p:slideViewPr>
    <p:cSldViewPr>
      <p:cViewPr varScale="1">
        <p:scale>
          <a:sx n="55" d="100"/>
          <a:sy n="55" d="100"/>
        </p:scale>
        <p:origin x="65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undo custSel addSld delSld modSld sldOrd modMainMaster addSection modSection">
      <pc:chgData name="Christina Knes" userId="7e9737a164333dbd" providerId="LiveId" clId="{72053980-4108-4AED-A5B7-3290F7F82C69}" dt="2026-06-18T15:29:25.841" v="1761"/>
      <pc:docMkLst>
        <pc:docMk/>
      </pc:docMkLst>
      <pc:sldChg chg="addSp delSp modSp mod ord modTransition">
        <pc:chgData name="Christina Knes" userId="7e9737a164333dbd" providerId="LiveId" clId="{72053980-4108-4AED-A5B7-3290F7F82C69}" dt="2026-06-18T15:28:06.193" v="1753"/>
        <pc:sldMkLst>
          <pc:docMk/>
          <pc:sldMk cId="0" sldId="257"/>
        </pc:sldMkLst>
        <pc:spChg chg="add mod">
          <ac:chgData name="Christina Knes" userId="7e9737a164333dbd" providerId="LiveId" clId="{72053980-4108-4AED-A5B7-3290F7F82C69}" dt="2026-06-09T07:59:16.993" v="176" actId="20577"/>
          <ac:spMkLst>
            <pc:docMk/>
            <pc:sldMk cId="0" sldId="257"/>
            <ac:spMk id="3" creationId="{8DCB6488-6E08-1E6C-43C7-BBE1D91E7DEC}"/>
          </ac:spMkLst>
        </pc:spChg>
      </pc:sldChg>
      <pc:sldChg chg="addSp delSp modSp mod modTransition">
        <pc:chgData name="Christina Knes" userId="7e9737a164333dbd" providerId="LiveId" clId="{72053980-4108-4AED-A5B7-3290F7F82C69}" dt="2026-06-18T15:28:06.193" v="1753"/>
        <pc:sldMkLst>
          <pc:docMk/>
          <pc:sldMk cId="0" sldId="258"/>
        </pc:sldMkLst>
        <pc:spChg chg="add mod">
          <ac:chgData name="Christina Knes" userId="7e9737a164333dbd" providerId="LiveId" clId="{72053980-4108-4AED-A5B7-3290F7F82C69}" dt="2026-06-09T09:09:30.130" v="480"/>
          <ac:spMkLst>
            <pc:docMk/>
            <pc:sldMk cId="0" sldId="258"/>
            <ac:spMk id="3" creationId="{73FDB8E4-7690-34A1-B34D-84F95D11197D}"/>
          </ac:spMkLst>
        </pc:spChg>
      </pc:sldChg>
      <pc:sldChg chg="addSp delSp modSp mod modTransition">
        <pc:chgData name="Christina Knes" userId="7e9737a164333dbd" providerId="LiveId" clId="{72053980-4108-4AED-A5B7-3290F7F82C69}" dt="2026-06-18T15:28:06.193" v="1753"/>
        <pc:sldMkLst>
          <pc:docMk/>
          <pc:sldMk cId="0" sldId="259"/>
        </pc:sldMkLst>
        <pc:spChg chg="add">
          <ac:chgData name="Christina Knes" userId="7e9737a164333dbd" providerId="LiveId" clId="{72053980-4108-4AED-A5B7-3290F7F82C69}" dt="2026-06-15T16:47:08.351" v="1715" actId="22"/>
          <ac:spMkLst>
            <pc:docMk/>
            <pc:sldMk cId="0" sldId="259"/>
            <ac:spMk id="4" creationId="{6C25D820-7D4D-5548-FFC8-6B6F8E655206}"/>
          </ac:spMkLst>
        </pc:spChg>
        <pc:spChg chg="add mod">
          <ac:chgData name="Christina Knes" userId="7e9737a164333dbd" providerId="LiveId" clId="{72053980-4108-4AED-A5B7-3290F7F82C69}" dt="2026-06-15T16:47:14.464" v="1718" actId="1076"/>
          <ac:spMkLst>
            <pc:docMk/>
            <pc:sldMk cId="0" sldId="259"/>
            <ac:spMk id="6" creationId="{17AE14C7-EA74-424A-D067-0BB0A925AB5F}"/>
          </ac:spMkLst>
        </pc:spChg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0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1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2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3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4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5"/>
        </pc:sldMkLst>
      </pc:sldChg>
      <pc:sldChg chg="delSp mod modTransition">
        <pc:chgData name="Christina Knes" userId="7e9737a164333dbd" providerId="LiveId" clId="{72053980-4108-4AED-A5B7-3290F7F82C69}" dt="2026-06-18T15:28:06.193" v="1753"/>
        <pc:sldMkLst>
          <pc:docMk/>
          <pc:sldMk cId="0" sldId="266"/>
        </pc:sldMkLst>
      </pc:sldChg>
      <pc:sldChg chg="addSp delSp modSp mod ord modTransition">
        <pc:chgData name="Christina Knes" userId="7e9737a164333dbd" providerId="LiveId" clId="{72053980-4108-4AED-A5B7-3290F7F82C69}" dt="2026-06-18T15:28:06.193" v="1753"/>
        <pc:sldMkLst>
          <pc:docMk/>
          <pc:sldMk cId="0" sldId="267"/>
        </pc:sldMkLst>
        <pc:spChg chg="add mod">
          <ac:chgData name="Christina Knes" userId="7e9737a164333dbd" providerId="LiveId" clId="{72053980-4108-4AED-A5B7-3290F7F82C69}" dt="2026-06-15T16:48:53.150" v="1740" actId="1076"/>
          <ac:spMkLst>
            <pc:docMk/>
            <pc:sldMk cId="0" sldId="267"/>
            <ac:spMk id="3" creationId="{544E612F-67B2-D86D-EC5E-180C32037383}"/>
          </ac:spMkLst>
        </pc:spChg>
        <pc:spChg chg="add mod">
          <ac:chgData name="Christina Knes" userId="7e9737a164333dbd" providerId="LiveId" clId="{72053980-4108-4AED-A5B7-3290F7F82C69}" dt="2026-06-15T16:48:47.803" v="1739" actId="1076"/>
          <ac:spMkLst>
            <pc:docMk/>
            <pc:sldMk cId="0" sldId="267"/>
            <ac:spMk id="4" creationId="{EE14A9CE-6968-670A-5915-39B744948801}"/>
          </ac:spMkLst>
        </pc:spChg>
        <pc:spChg chg="add mod">
          <ac:chgData name="Christina Knes" userId="7e9737a164333dbd" providerId="LiveId" clId="{72053980-4108-4AED-A5B7-3290F7F82C69}" dt="2026-06-15T16:48:20.114" v="1736" actId="1076"/>
          <ac:spMkLst>
            <pc:docMk/>
            <pc:sldMk cId="0" sldId="267"/>
            <ac:spMk id="6" creationId="{8336465B-C739-E720-C6C3-9572C15F98F5}"/>
          </ac:spMkLst>
        </pc:spChg>
        <pc:spChg chg="mod">
          <ac:chgData name="Christina Knes" userId="7e9737a164333dbd" providerId="LiveId" clId="{72053980-4108-4AED-A5B7-3290F7F82C69}" dt="2026-06-15T16:45:46.659" v="1693" actId="208"/>
          <ac:spMkLst>
            <pc:docMk/>
            <pc:sldMk cId="0" sldId="267"/>
            <ac:spMk id="7" creationId="{D6F447FD-0BEE-0006-4259-B057955FD20C}"/>
          </ac:spMkLst>
        </pc:spChg>
        <pc:spChg chg="mod">
          <ac:chgData name="Christina Knes" userId="7e9737a164333dbd" providerId="LiveId" clId="{72053980-4108-4AED-A5B7-3290F7F82C69}" dt="2026-06-15T16:45:46.659" v="1693" actId="208"/>
          <ac:spMkLst>
            <pc:docMk/>
            <pc:sldMk cId="0" sldId="267"/>
            <ac:spMk id="8" creationId="{3DAB61ED-D63C-519A-FD70-A18434C2C360}"/>
          </ac:spMkLst>
        </pc:spChg>
        <pc:grpChg chg="add mod ord">
          <ac:chgData name="Christina Knes" userId="7e9737a164333dbd" providerId="LiveId" clId="{72053980-4108-4AED-A5B7-3290F7F82C69}" dt="2026-06-15T16:48:32.604" v="1738" actId="14100"/>
          <ac:grpSpMkLst>
            <pc:docMk/>
            <pc:sldMk cId="0" sldId="267"/>
            <ac:grpSpMk id="5" creationId="{E634DF09-77AE-8CFA-49F4-2E7E3CEF3BA6}"/>
          </ac:grpSpMkLst>
        </pc:grpChg>
        <pc:picChg chg="add mod">
          <ac:chgData name="Christina Knes" userId="7e9737a164333dbd" providerId="LiveId" clId="{72053980-4108-4AED-A5B7-3290F7F82C69}" dt="2026-06-09T09:08:12.663" v="476" actId="1076"/>
          <ac:picMkLst>
            <pc:docMk/>
            <pc:sldMk cId="0" sldId="267"/>
            <ac:picMk id="2050" creationId="{FE1E4CFA-B9D9-4015-CE71-F5D42DE47BC0}"/>
          </ac:picMkLst>
        </pc:picChg>
      </pc:sldChg>
      <pc:sldChg chg="delSp mod ord modTransition">
        <pc:chgData name="Christina Knes" userId="7e9737a164333dbd" providerId="LiveId" clId="{72053980-4108-4AED-A5B7-3290F7F82C69}" dt="2026-06-18T15:28:06.193" v="1753"/>
        <pc:sldMkLst>
          <pc:docMk/>
          <pc:sldMk cId="0" sldId="268"/>
        </pc:sldMkLst>
      </pc:sldChg>
      <pc:sldChg chg="addSp delSp modSp mod ord modTransition modAnim modNotesTx">
        <pc:chgData name="Christina Knes" userId="7e9737a164333dbd" providerId="LiveId" clId="{72053980-4108-4AED-A5B7-3290F7F82C69}" dt="2026-06-18T15:28:06.193" v="1753"/>
        <pc:sldMkLst>
          <pc:docMk/>
          <pc:sldMk cId="0" sldId="269"/>
        </pc:sldMkLst>
        <pc:spChg chg="add mod">
          <ac:chgData name="Christina Knes" userId="7e9737a164333dbd" providerId="LiveId" clId="{72053980-4108-4AED-A5B7-3290F7F82C69}" dt="2026-06-15T16:51:40.451" v="1748" actId="1076"/>
          <ac:spMkLst>
            <pc:docMk/>
            <pc:sldMk cId="0" sldId="269"/>
            <ac:spMk id="7" creationId="{0EDD8E0F-E14B-BD80-4157-60EF7989AD67}"/>
          </ac:spMkLst>
        </pc:spChg>
        <pc:spChg chg="add mod">
          <ac:chgData name="Christina Knes" userId="7e9737a164333dbd" providerId="LiveId" clId="{72053980-4108-4AED-A5B7-3290F7F82C69}" dt="2026-06-15T16:51:29.495" v="1746" actId="1076"/>
          <ac:spMkLst>
            <pc:docMk/>
            <pc:sldMk cId="0" sldId="269"/>
            <ac:spMk id="10" creationId="{2C74592C-1E29-BA63-FED4-45CBDDE5039A}"/>
          </ac:spMkLst>
        </pc:spChg>
        <pc:graphicFrameChg chg="add mod modGraphic">
          <ac:chgData name="Christina Knes" userId="7e9737a164333dbd" providerId="LiveId" clId="{72053980-4108-4AED-A5B7-3290F7F82C69}" dt="2026-06-15T16:51:33.521" v="1747" actId="1076"/>
          <ac:graphicFrameMkLst>
            <pc:docMk/>
            <pc:sldMk cId="0" sldId="269"/>
            <ac:graphicFrameMk id="8" creationId="{5AFFE19B-B6D0-EF0D-8AF4-A1C0036D1EAE}"/>
          </ac:graphicFrameMkLst>
        </pc:graphicFrameChg>
        <pc:picChg chg="add mod">
          <ac:chgData name="Christina Knes" userId="7e9737a164333dbd" providerId="LiveId" clId="{72053980-4108-4AED-A5B7-3290F7F82C69}" dt="2026-06-15T16:51:44.847" v="1749" actId="1076"/>
          <ac:picMkLst>
            <pc:docMk/>
            <pc:sldMk cId="0" sldId="269"/>
            <ac:picMk id="12" creationId="{5C30494B-8E02-FA47-5C2D-66E96CC5A88B}"/>
          </ac:picMkLst>
        </pc:picChg>
      </pc:sldChg>
      <pc:sldChg chg="addSp delSp modSp mod ord modTransition">
        <pc:chgData name="Christina Knes" userId="7e9737a164333dbd" providerId="LiveId" clId="{72053980-4108-4AED-A5B7-3290F7F82C69}" dt="2026-06-18T15:29:25.841" v="1761"/>
        <pc:sldMkLst>
          <pc:docMk/>
          <pc:sldMk cId="0" sldId="270"/>
        </pc:sldMkLst>
        <pc:spChg chg="mod">
          <ac:chgData name="Christina Knes" userId="7e9737a164333dbd" providerId="LiveId" clId="{72053980-4108-4AED-A5B7-3290F7F82C69}" dt="2026-06-15T16:44:58.213" v="1685" actId="1076"/>
          <ac:spMkLst>
            <pc:docMk/>
            <pc:sldMk cId="0" sldId="270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15T16:44:56.414" v="1684" actId="1076"/>
          <ac:spMkLst>
            <pc:docMk/>
            <pc:sldMk cId="0" sldId="270"/>
            <ac:spMk id="7" creationId="{00000000-0000-0000-0000-000000000000}"/>
          </ac:spMkLst>
        </pc:spChg>
        <pc:spChg chg="add mod">
          <ac:chgData name="Christina Knes" userId="7e9737a164333dbd" providerId="LiveId" clId="{72053980-4108-4AED-A5B7-3290F7F82C69}" dt="2026-06-09T09:05:53.350" v="468" actId="1076"/>
          <ac:spMkLst>
            <pc:docMk/>
            <pc:sldMk cId="0" sldId="270"/>
            <ac:spMk id="16" creationId="{0396B072-1AA0-6997-A261-3D2BBCA71521}"/>
          </ac:spMkLst>
        </pc:spChg>
        <pc:grpChg chg="mod">
          <ac:chgData name="Christina Knes" userId="7e9737a164333dbd" providerId="LiveId" clId="{72053980-4108-4AED-A5B7-3290F7F82C69}" dt="2026-06-15T16:45:15.348" v="1687" actId="14100"/>
          <ac:grpSpMkLst>
            <pc:docMk/>
            <pc:sldMk cId="0" sldId="270"/>
            <ac:grpSpMk id="3" creationId="{00000000-0000-0000-0000-000000000000}"/>
          </ac:grpSpMkLst>
        </pc:grpChg>
        <pc:picChg chg="add mod">
          <ac:chgData name="Christina Knes" userId="7e9737a164333dbd" providerId="LiveId" clId="{72053980-4108-4AED-A5B7-3290F7F82C69}" dt="2026-06-09T09:05:00.213" v="444" actId="1076"/>
          <ac:picMkLst>
            <pc:docMk/>
            <pc:sldMk cId="0" sldId="270"/>
            <ac:picMk id="15" creationId="{70694901-97D3-73F7-3D3B-E6DBFD91B8A2}"/>
          </ac:picMkLst>
        </pc:picChg>
      </pc:sldChg>
      <pc:sldChg chg="addSp delSp modSp add mod modTransition modNotesTx">
        <pc:chgData name="Christina Knes" userId="7e9737a164333dbd" providerId="LiveId" clId="{72053980-4108-4AED-A5B7-3290F7F82C69}" dt="2026-06-18T15:28:06.193" v="1753"/>
        <pc:sldMkLst>
          <pc:docMk/>
          <pc:sldMk cId="3676627759" sldId="271"/>
        </pc:sldMkLst>
        <pc:spChg chg="add mod">
          <ac:chgData name="Christina Knes" userId="7e9737a164333dbd" providerId="LiveId" clId="{72053980-4108-4AED-A5B7-3290F7F82C69}" dt="2026-06-15T16:47:54.327" v="1731" actId="1076"/>
          <ac:spMkLst>
            <pc:docMk/>
            <pc:sldMk cId="3676627759" sldId="271"/>
            <ac:spMk id="3" creationId="{FEA4FB85-2386-1D72-B539-EE82701E767A}"/>
          </ac:spMkLst>
        </pc:spChg>
        <pc:spChg chg="add mod">
          <ac:chgData name="Christina Knes" userId="7e9737a164333dbd" providerId="LiveId" clId="{72053980-4108-4AED-A5B7-3290F7F82C69}" dt="2026-06-15T16:47:48.312" v="1728" actId="1076"/>
          <ac:spMkLst>
            <pc:docMk/>
            <pc:sldMk cId="3676627759" sldId="271"/>
            <ac:spMk id="7" creationId="{40FE6B35-91C6-D113-ACDE-04E07AA4783A}"/>
          </ac:spMkLst>
        </pc:spChg>
        <pc:spChg chg="add mod">
          <ac:chgData name="Christina Knes" userId="7e9737a164333dbd" providerId="LiveId" clId="{72053980-4108-4AED-A5B7-3290F7F82C69}" dt="2026-06-15T16:47:50.240" v="1729" actId="1076"/>
          <ac:spMkLst>
            <pc:docMk/>
            <pc:sldMk cId="3676627759" sldId="271"/>
            <ac:spMk id="8" creationId="{83C2C069-AA71-5C06-E494-E4B061CC408E}"/>
          </ac:spMkLst>
        </pc:spChg>
        <pc:picChg chg="add mod">
          <ac:chgData name="Christina Knes" userId="7e9737a164333dbd" providerId="LiveId" clId="{72053980-4108-4AED-A5B7-3290F7F82C69}" dt="2026-06-15T16:09:18.859" v="979" actId="208"/>
          <ac:picMkLst>
            <pc:docMk/>
            <pc:sldMk cId="3676627759" sldId="271"/>
            <ac:picMk id="5" creationId="{77A5E288-C61E-B3FC-2136-360FDFA4C6A3}"/>
          </ac:picMkLst>
        </pc:picChg>
      </pc:sldChg>
      <pc:sldChg chg="add modTransition">
        <pc:chgData name="Christina Knes" userId="7e9737a164333dbd" providerId="LiveId" clId="{72053980-4108-4AED-A5B7-3290F7F82C69}" dt="2026-06-18T15:28:06.193" v="1753"/>
        <pc:sldMkLst>
          <pc:docMk/>
          <pc:sldMk cId="348425690" sldId="272"/>
        </pc:sldMkLst>
      </pc:sldChg>
      <pc:sldChg chg="addSp delSp modSp add mod ord modTransition modAnim modNotesTx">
        <pc:chgData name="Christina Knes" userId="7e9737a164333dbd" providerId="LiveId" clId="{72053980-4108-4AED-A5B7-3290F7F82C69}" dt="2026-06-18T15:28:06.193" v="1753"/>
        <pc:sldMkLst>
          <pc:docMk/>
          <pc:sldMk cId="1652076068" sldId="273"/>
        </pc:sldMkLst>
        <pc:spChg chg="mod ord">
          <ac:chgData name="Christina Knes" userId="7e9737a164333dbd" providerId="LiveId" clId="{72053980-4108-4AED-A5B7-3290F7F82C69}" dt="2026-06-15T16:27:24.626" v="1414" actId="1076"/>
          <ac:spMkLst>
            <pc:docMk/>
            <pc:sldMk cId="1652076068" sldId="273"/>
            <ac:spMk id="2" creationId="{EC05AF14-A1AD-A0A0-844A-D1CBEF5CD868}"/>
          </ac:spMkLst>
        </pc:spChg>
        <pc:spChg chg="add mod">
          <ac:chgData name="Christina Knes" userId="7e9737a164333dbd" providerId="LiveId" clId="{72053980-4108-4AED-A5B7-3290F7F82C69}" dt="2026-06-15T16:20:15.701" v="1338" actId="1076"/>
          <ac:spMkLst>
            <pc:docMk/>
            <pc:sldMk cId="1652076068" sldId="273"/>
            <ac:spMk id="5" creationId="{012C0003-8150-404A-4AA7-303C81DF5D40}"/>
          </ac:spMkLst>
        </pc:spChg>
        <pc:spChg chg="add mod">
          <ac:chgData name="Christina Knes" userId="7e9737a164333dbd" providerId="LiveId" clId="{72053980-4108-4AED-A5B7-3290F7F82C69}" dt="2026-06-15T16:41:12.544" v="1653" actId="1076"/>
          <ac:spMkLst>
            <pc:docMk/>
            <pc:sldMk cId="1652076068" sldId="273"/>
            <ac:spMk id="7" creationId="{FF7CA737-0D55-BDDA-2670-9E4F2D5EA68F}"/>
          </ac:spMkLst>
        </pc:spChg>
        <pc:spChg chg="add mod">
          <ac:chgData name="Christina Knes" userId="7e9737a164333dbd" providerId="LiveId" clId="{72053980-4108-4AED-A5B7-3290F7F82C69}" dt="2026-06-15T16:50:53.149" v="1741" actId="207"/>
          <ac:spMkLst>
            <pc:docMk/>
            <pc:sldMk cId="1652076068" sldId="273"/>
            <ac:spMk id="9" creationId="{551F6912-BE5D-98B0-97B4-469B5971EA84}"/>
          </ac:spMkLst>
        </pc:spChg>
      </pc:sldChg>
      <pc:sldChg chg="addSp modSp new mod modTransition modNotesTx">
        <pc:chgData name="Christina Knes" userId="7e9737a164333dbd" providerId="LiveId" clId="{72053980-4108-4AED-A5B7-3290F7F82C69}" dt="2026-06-18T15:28:06.193" v="1753"/>
        <pc:sldMkLst>
          <pc:docMk/>
          <pc:sldMk cId="3893026578" sldId="274"/>
        </pc:sldMkLst>
        <pc:spChg chg="add mod">
          <ac:chgData name="Christina Knes" userId="7e9737a164333dbd" providerId="LiveId" clId="{72053980-4108-4AED-A5B7-3290F7F82C69}" dt="2026-06-15T16:42:07.644" v="1664" actId="1076"/>
          <ac:spMkLst>
            <pc:docMk/>
            <pc:sldMk cId="3893026578" sldId="274"/>
            <ac:spMk id="4" creationId="{83AC48D8-10F6-F342-E8AF-815A9D9BDAD2}"/>
          </ac:spMkLst>
        </pc:spChg>
        <pc:picChg chg="add mod">
          <ac:chgData name="Christina Knes" userId="7e9737a164333dbd" providerId="LiveId" clId="{72053980-4108-4AED-A5B7-3290F7F82C69}" dt="2026-06-15T16:42:01.543" v="1663" actId="1076"/>
          <ac:picMkLst>
            <pc:docMk/>
            <pc:sldMk cId="3893026578" sldId="274"/>
            <ac:picMk id="3" creationId="{0364B6F1-A225-E9E3-7146-DD4F9C82D7AA}"/>
          </ac:picMkLst>
        </pc:picChg>
      </pc:sldChg>
      <pc:sldChg chg="add modTransition">
        <pc:chgData name="Christina Knes" userId="7e9737a164333dbd" providerId="LiveId" clId="{72053980-4108-4AED-A5B7-3290F7F82C69}" dt="2026-06-18T15:28:06.193" v="1753"/>
        <pc:sldMkLst>
          <pc:docMk/>
          <pc:sldMk cId="0" sldId="275"/>
        </pc:sldMkLst>
      </pc:sldChg>
      <pc:sldChg chg="add modTransition">
        <pc:chgData name="Christina Knes" userId="7e9737a164333dbd" providerId="LiveId" clId="{72053980-4108-4AED-A5B7-3290F7F82C69}" dt="2026-06-18T15:28:06.193" v="1753"/>
        <pc:sldMkLst>
          <pc:docMk/>
          <pc:sldMk cId="0" sldId="276"/>
        </pc:sldMkLst>
      </pc:sldChg>
      <pc:sldChg chg="add modTransition">
        <pc:chgData name="Christina Knes" userId="7e9737a164333dbd" providerId="LiveId" clId="{72053980-4108-4AED-A5B7-3290F7F82C69}" dt="2026-06-18T15:28:06.193" v="1753"/>
        <pc:sldMkLst>
          <pc:docMk/>
          <pc:sldMk cId="547755732" sldId="277"/>
        </pc:sldMkLst>
      </pc:sldChg>
      <pc:sldChg chg="add modTransition">
        <pc:chgData name="Christina Knes" userId="7e9737a164333dbd" providerId="LiveId" clId="{72053980-4108-4AED-A5B7-3290F7F82C69}" dt="2026-06-18T15:28:06.193" v="1753"/>
        <pc:sldMkLst>
          <pc:docMk/>
          <pc:sldMk cId="1809212235" sldId="278"/>
        </pc:sldMkLst>
      </pc:sldChg>
      <pc:sldMasterChg chg="modTransition modSldLayout">
        <pc:chgData name="Christina Knes" userId="7e9737a164333dbd" providerId="LiveId" clId="{72053980-4108-4AED-A5B7-3290F7F82C69}" dt="2026-06-18T15:28:06.193" v="1753"/>
        <pc:sldMasterMkLst>
          <pc:docMk/>
          <pc:sldMasterMk cId="0" sldId="2147483648"/>
        </pc:sldMasterMkLst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49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0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1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2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3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4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5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6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7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8"/>
          </pc:sldLayoutMkLst>
        </pc:sldLayoutChg>
        <pc:sldLayoutChg chg="modTransition">
          <pc:chgData name="Christina Knes" userId="7e9737a164333dbd" providerId="LiveId" clId="{72053980-4108-4AED-A5B7-3290F7F82C69}" dt="2026-06-18T15:28:06.193" v="1753"/>
          <pc:sldLayoutMkLst>
            <pc:docMk/>
            <pc:sldMasterMk cId="0" sldId="2147483648"/>
            <pc:sldLayoutMk cId="0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AB475-9A83-44C3-86D1-19D1A355B5E8}" type="datetimeFigureOut">
              <a:rPr lang="de-AT" smtClean="0"/>
              <a:t>18.06.2026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25E8D-1920-4741-80B4-A268E6871E94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9348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617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63782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evaluating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selected</a:t>
            </a:r>
            <a:r>
              <a:rPr lang="de-AT" dirty="0"/>
              <a:t>. The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 meta-analysis </a:t>
            </a:r>
            <a:r>
              <a:rPr lang="de-AT" dirty="0" err="1"/>
              <a:t>depends</a:t>
            </a:r>
            <a:r>
              <a:rPr lang="de-AT" dirty="0"/>
              <a:t> </a:t>
            </a:r>
            <a:r>
              <a:rPr lang="de-AT" dirty="0" err="1"/>
              <a:t>heavily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and </a:t>
            </a:r>
            <a:r>
              <a:rPr lang="de-AT" dirty="0" err="1"/>
              <a:t>relevance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. This </a:t>
            </a:r>
            <a:r>
              <a:rPr lang="de-AT" dirty="0" err="1"/>
              <a:t>idea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often</a:t>
            </a:r>
            <a:r>
              <a:rPr lang="de-AT" dirty="0"/>
              <a:t> </a:t>
            </a:r>
            <a:r>
              <a:rPr lang="de-AT" dirty="0" err="1"/>
              <a:t>summarized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phrase</a:t>
            </a:r>
            <a:r>
              <a:rPr lang="de-AT" dirty="0"/>
              <a:t> “</a:t>
            </a:r>
            <a:r>
              <a:rPr lang="de-AT" dirty="0" err="1"/>
              <a:t>garbage</a:t>
            </a:r>
            <a:r>
              <a:rPr lang="de-AT" dirty="0"/>
              <a:t> in, </a:t>
            </a:r>
            <a:r>
              <a:rPr lang="de-AT" dirty="0" err="1"/>
              <a:t>garbage</a:t>
            </a:r>
            <a:r>
              <a:rPr lang="de-AT" dirty="0"/>
              <a:t> out.”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unsuitable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, </a:t>
            </a:r>
            <a:r>
              <a:rPr lang="de-AT" dirty="0" err="1"/>
              <a:t>even</a:t>
            </a:r>
            <a:r>
              <a:rPr lang="de-AT" dirty="0"/>
              <a:t> sophisticated </a:t>
            </a:r>
            <a:r>
              <a:rPr lang="de-AT" dirty="0" err="1"/>
              <a:t>statistical</a:t>
            </a:r>
            <a:r>
              <a:rPr lang="de-AT" dirty="0"/>
              <a:t> </a:t>
            </a:r>
            <a:r>
              <a:rPr lang="de-AT" dirty="0" err="1"/>
              <a:t>analyses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misleading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As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ensure</a:t>
            </a:r>
            <a:r>
              <a:rPr lang="de-AT" dirty="0"/>
              <a:t> a transparent and </a:t>
            </a:r>
            <a:r>
              <a:rPr lang="de-AT" dirty="0" err="1"/>
              <a:t>systematic</a:t>
            </a:r>
            <a:r>
              <a:rPr lang="de-AT" dirty="0"/>
              <a:t> </a:t>
            </a:r>
            <a:r>
              <a:rPr lang="de-AT" dirty="0" err="1"/>
              <a:t>selection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followed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PRISMA </a:t>
            </a:r>
            <a:r>
              <a:rPr lang="de-AT" dirty="0" err="1"/>
              <a:t>framework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literature</a:t>
            </a:r>
            <a:r>
              <a:rPr lang="de-AT" dirty="0"/>
              <a:t> </a:t>
            </a:r>
            <a:r>
              <a:rPr lang="de-AT" dirty="0" err="1"/>
              <a:t>search</a:t>
            </a:r>
            <a:r>
              <a:rPr lang="de-AT" dirty="0"/>
              <a:t> was </a:t>
            </a:r>
            <a:r>
              <a:rPr lang="de-AT" dirty="0" err="1"/>
              <a:t>conducted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five</a:t>
            </a:r>
            <a:r>
              <a:rPr lang="de-AT" dirty="0"/>
              <a:t> </a:t>
            </a:r>
            <a:r>
              <a:rPr lang="de-AT" dirty="0" err="1"/>
              <a:t>major</a:t>
            </a:r>
            <a:r>
              <a:rPr lang="de-AT" dirty="0"/>
              <a:t> </a:t>
            </a:r>
            <a:r>
              <a:rPr lang="de-AT" dirty="0" err="1"/>
              <a:t>scientific</a:t>
            </a:r>
            <a:r>
              <a:rPr lang="de-AT" dirty="0"/>
              <a:t> </a:t>
            </a:r>
            <a:r>
              <a:rPr lang="de-AT" dirty="0" err="1"/>
              <a:t>databases</a:t>
            </a:r>
            <a:r>
              <a:rPr lang="de-AT" dirty="0"/>
              <a:t>: Web </a:t>
            </a:r>
            <a:r>
              <a:rPr lang="de-AT" dirty="0" err="1"/>
              <a:t>of</a:t>
            </a:r>
            <a:r>
              <a:rPr lang="de-AT" dirty="0"/>
              <a:t> Science, </a:t>
            </a:r>
            <a:r>
              <a:rPr lang="de-AT" dirty="0" err="1"/>
              <a:t>EBSCOhost</a:t>
            </a:r>
            <a:r>
              <a:rPr lang="de-AT" dirty="0"/>
              <a:t>, Scopus, </a:t>
            </a:r>
            <a:r>
              <a:rPr lang="de-AT" dirty="0" err="1"/>
              <a:t>PsycINFO</a:t>
            </a:r>
            <a:r>
              <a:rPr lang="de-AT" dirty="0"/>
              <a:t>, and IEEE </a:t>
            </a:r>
            <a:r>
              <a:rPr lang="de-AT" dirty="0" err="1"/>
              <a:t>Xplore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search</a:t>
            </a:r>
            <a:r>
              <a:rPr lang="de-AT" dirty="0"/>
              <a:t> </a:t>
            </a:r>
            <a:r>
              <a:rPr lang="de-AT" dirty="0" err="1"/>
              <a:t>terms</a:t>
            </a:r>
            <a:r>
              <a:rPr lang="de-AT" dirty="0"/>
              <a:t> </a:t>
            </a:r>
            <a:r>
              <a:rPr lang="de-AT" dirty="0" err="1"/>
              <a:t>related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ChatGPT and </a:t>
            </a:r>
            <a:r>
              <a:rPr lang="de-AT" dirty="0" err="1"/>
              <a:t>education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initially</a:t>
            </a:r>
            <a:r>
              <a:rPr lang="de-AT" dirty="0"/>
              <a:t> </a:t>
            </a:r>
            <a:r>
              <a:rPr lang="de-AT" dirty="0" err="1"/>
              <a:t>identified</a:t>
            </a:r>
            <a:r>
              <a:rPr lang="de-AT" dirty="0"/>
              <a:t> 1,683 </a:t>
            </a:r>
            <a:r>
              <a:rPr lang="de-AT" dirty="0" err="1"/>
              <a:t>records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After </a:t>
            </a:r>
            <a:r>
              <a:rPr lang="de-AT" dirty="0" err="1"/>
              <a:t>removing</a:t>
            </a:r>
            <a:r>
              <a:rPr lang="de-AT" dirty="0"/>
              <a:t> 656 </a:t>
            </a:r>
            <a:r>
              <a:rPr lang="de-AT" dirty="0" err="1"/>
              <a:t>duplicate</a:t>
            </a:r>
            <a:r>
              <a:rPr lang="de-AT" dirty="0"/>
              <a:t> </a:t>
            </a:r>
            <a:r>
              <a:rPr lang="de-AT" dirty="0" err="1"/>
              <a:t>records</a:t>
            </a:r>
            <a:r>
              <a:rPr lang="de-AT" dirty="0"/>
              <a:t>, 1,027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remained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screening</a:t>
            </a:r>
            <a:r>
              <a:rPr lang="de-AT" dirty="0"/>
              <a:t>. During </a:t>
            </a:r>
            <a:r>
              <a:rPr lang="de-AT" dirty="0" err="1"/>
              <a:t>the</a:t>
            </a:r>
            <a:r>
              <a:rPr lang="de-AT" dirty="0"/>
              <a:t> title and </a:t>
            </a:r>
            <a:r>
              <a:rPr lang="de-AT" dirty="0" err="1"/>
              <a:t>abstract</a:t>
            </a:r>
            <a:r>
              <a:rPr lang="de-AT" dirty="0"/>
              <a:t> </a:t>
            </a:r>
            <a:r>
              <a:rPr lang="de-AT" dirty="0" err="1"/>
              <a:t>screening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,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assessed</a:t>
            </a:r>
            <a:r>
              <a:rPr lang="de-AT" dirty="0"/>
              <a:t> </a:t>
            </a:r>
            <a:r>
              <a:rPr lang="de-AT" dirty="0" err="1"/>
              <a:t>against</a:t>
            </a:r>
            <a:r>
              <a:rPr lang="de-AT" dirty="0"/>
              <a:t> </a:t>
            </a:r>
            <a:r>
              <a:rPr lang="de-AT" dirty="0" err="1"/>
              <a:t>predefined</a:t>
            </a:r>
            <a:r>
              <a:rPr lang="de-AT" dirty="0"/>
              <a:t>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.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,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investigate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in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 and </a:t>
            </a:r>
            <a:r>
              <a:rPr lang="de-AT" dirty="0" err="1"/>
              <a:t>employ</a:t>
            </a:r>
            <a:r>
              <a:rPr lang="de-AT" dirty="0"/>
              <a:t> experimental </a:t>
            </a:r>
            <a:r>
              <a:rPr lang="de-AT" dirty="0" err="1"/>
              <a:t>or</a:t>
            </a:r>
            <a:r>
              <a:rPr lang="de-AT" dirty="0"/>
              <a:t> quasi-experimental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designs</a:t>
            </a:r>
            <a:r>
              <a:rPr lang="de-AT" dirty="0"/>
              <a:t>. Studies </a:t>
            </a:r>
            <a:r>
              <a:rPr lang="de-AT" dirty="0" err="1"/>
              <a:t>focusing</a:t>
            </a:r>
            <a:r>
              <a:rPr lang="de-AT" dirty="0"/>
              <a:t> </a:t>
            </a:r>
            <a:r>
              <a:rPr lang="de-AT" dirty="0" err="1"/>
              <a:t>primarily</a:t>
            </a:r>
            <a:r>
              <a:rPr lang="de-AT" dirty="0"/>
              <a:t> on qualitative </a:t>
            </a:r>
            <a:r>
              <a:rPr lang="de-AT" dirty="0" err="1"/>
              <a:t>evidence</a:t>
            </a:r>
            <a:r>
              <a:rPr lang="de-AT" dirty="0"/>
              <a:t>, </a:t>
            </a:r>
            <a:r>
              <a:rPr lang="de-AT" dirty="0" err="1"/>
              <a:t>opinion</a:t>
            </a:r>
            <a:r>
              <a:rPr lang="de-AT" dirty="0"/>
              <a:t> </a:t>
            </a:r>
            <a:r>
              <a:rPr lang="de-AT" dirty="0" err="1"/>
              <a:t>pieces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broader</a:t>
            </a:r>
            <a:r>
              <a:rPr lang="de-AT" dirty="0"/>
              <a:t> </a:t>
            </a:r>
            <a:r>
              <a:rPr lang="de-AT" dirty="0" err="1"/>
              <a:t>impact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artificial</a:t>
            </a:r>
            <a:r>
              <a:rPr lang="de-AT" dirty="0"/>
              <a:t> </a:t>
            </a:r>
            <a:r>
              <a:rPr lang="de-AT" dirty="0" err="1"/>
              <a:t>intelligence</a:t>
            </a:r>
            <a:r>
              <a:rPr lang="de-AT" dirty="0"/>
              <a:t>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specifically</a:t>
            </a:r>
            <a:r>
              <a:rPr lang="de-AT" dirty="0"/>
              <a:t> </a:t>
            </a:r>
            <a:r>
              <a:rPr lang="de-AT" dirty="0" err="1"/>
              <a:t>examining</a:t>
            </a:r>
            <a:r>
              <a:rPr lang="de-AT" dirty="0"/>
              <a:t> ChatGPT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As a </a:t>
            </a:r>
            <a:r>
              <a:rPr lang="de-AT" dirty="0" err="1"/>
              <a:t>result</a:t>
            </a:r>
            <a:r>
              <a:rPr lang="de-AT" dirty="0"/>
              <a:t>, 899 </a:t>
            </a:r>
            <a:r>
              <a:rPr lang="de-AT" dirty="0" err="1"/>
              <a:t>records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removed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initial </a:t>
            </a:r>
            <a:r>
              <a:rPr lang="de-AT" dirty="0" err="1"/>
              <a:t>screening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. The </a:t>
            </a:r>
            <a:r>
              <a:rPr lang="de-AT" dirty="0" err="1"/>
              <a:t>remaining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examined</a:t>
            </a:r>
            <a:r>
              <a:rPr lang="de-AT" dirty="0"/>
              <a:t> in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detail</a:t>
            </a:r>
            <a:r>
              <a:rPr lang="de-AT" dirty="0"/>
              <a:t>. After </a:t>
            </a:r>
            <a:r>
              <a:rPr lang="de-AT" dirty="0" err="1"/>
              <a:t>attempting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retrieve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, 123 </a:t>
            </a:r>
            <a:r>
              <a:rPr lang="de-AT" dirty="0" err="1"/>
              <a:t>full</a:t>
            </a:r>
            <a:r>
              <a:rPr lang="de-AT" dirty="0"/>
              <a:t>-text </a:t>
            </a:r>
            <a:r>
              <a:rPr lang="de-AT" dirty="0" err="1"/>
              <a:t>reports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assessed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eligibility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At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. Studies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non-experimental </a:t>
            </a:r>
            <a:r>
              <a:rPr lang="de-AT" dirty="0" err="1"/>
              <a:t>designs</a:t>
            </a:r>
            <a:r>
              <a:rPr lang="de-AT" dirty="0"/>
              <a:t>, </a:t>
            </a:r>
            <a:r>
              <a:rPr lang="de-AT" dirty="0" err="1"/>
              <a:t>focused</a:t>
            </a:r>
            <a:r>
              <a:rPr lang="de-AT" dirty="0"/>
              <a:t> on irrelevant </a:t>
            </a:r>
            <a:r>
              <a:rPr lang="de-AT" dirty="0" err="1"/>
              <a:t>topics</a:t>
            </a:r>
            <a:r>
              <a:rPr lang="de-AT" dirty="0"/>
              <a:t>, </a:t>
            </a:r>
            <a:r>
              <a:rPr lang="de-AT" dirty="0" err="1"/>
              <a:t>lacked</a:t>
            </a:r>
            <a:r>
              <a:rPr lang="de-AT" dirty="0"/>
              <a:t> </a:t>
            </a:r>
            <a:r>
              <a:rPr lang="de-AT" dirty="0" err="1"/>
              <a:t>student-centered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outcomes</a:t>
            </a:r>
            <a:r>
              <a:rPr lang="de-AT" dirty="0"/>
              <a:t>,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include</a:t>
            </a:r>
            <a:r>
              <a:rPr lang="de-AT" dirty="0"/>
              <a:t> an </a:t>
            </a:r>
            <a:r>
              <a:rPr lang="de-AT" dirty="0" err="1"/>
              <a:t>appropriate</a:t>
            </a:r>
            <a:r>
              <a:rPr lang="de-AT" dirty="0"/>
              <a:t> </a:t>
            </a:r>
            <a:r>
              <a:rPr lang="de-AT" dirty="0" err="1"/>
              <a:t>control</a:t>
            </a:r>
            <a:r>
              <a:rPr lang="de-AT" dirty="0"/>
              <a:t> </a:t>
            </a:r>
            <a:r>
              <a:rPr lang="de-AT" dirty="0" err="1"/>
              <a:t>group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failed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provide</a:t>
            </a:r>
            <a:r>
              <a:rPr lang="de-AT" dirty="0"/>
              <a:t> </a:t>
            </a:r>
            <a:r>
              <a:rPr lang="de-AT" dirty="0" err="1"/>
              <a:t>sufficient</a:t>
            </a:r>
            <a:r>
              <a:rPr lang="de-AT" dirty="0"/>
              <a:t> quantitative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. Additional </a:t>
            </a:r>
            <a:r>
              <a:rPr lang="de-AT" dirty="0" err="1"/>
              <a:t>exclusions</a:t>
            </a:r>
            <a:r>
              <a:rPr lang="de-AT" dirty="0"/>
              <a:t> </a:t>
            </a:r>
            <a:r>
              <a:rPr lang="de-AT" dirty="0" err="1"/>
              <a:t>occurred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intervention</a:t>
            </a:r>
            <a:r>
              <a:rPr lang="de-AT" dirty="0"/>
              <a:t> </a:t>
            </a:r>
            <a:r>
              <a:rPr lang="de-AT" dirty="0" err="1"/>
              <a:t>extended</a:t>
            </a:r>
            <a:r>
              <a:rPr lang="de-AT" dirty="0"/>
              <a:t> </a:t>
            </a:r>
            <a:r>
              <a:rPr lang="de-AT" dirty="0" err="1"/>
              <a:t>beyond</a:t>
            </a:r>
            <a:r>
              <a:rPr lang="de-AT" dirty="0"/>
              <a:t> ChatGPT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design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allow</a:t>
            </a:r>
            <a:r>
              <a:rPr lang="de-AT" dirty="0"/>
              <a:t> </a:t>
            </a:r>
            <a:r>
              <a:rPr lang="de-AT" dirty="0" err="1"/>
              <a:t>meaningful</a:t>
            </a:r>
            <a:r>
              <a:rPr lang="de-AT" dirty="0"/>
              <a:t> </a:t>
            </a:r>
            <a:r>
              <a:rPr lang="de-AT" dirty="0" err="1"/>
              <a:t>comparison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groups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detailed</a:t>
            </a:r>
            <a:r>
              <a:rPr lang="de-AT" dirty="0"/>
              <a:t> </a:t>
            </a:r>
            <a:r>
              <a:rPr lang="de-AT" dirty="0" err="1"/>
              <a:t>assessment</a:t>
            </a:r>
            <a:r>
              <a:rPr lang="de-AT" dirty="0"/>
              <a:t>, </a:t>
            </a:r>
            <a:r>
              <a:rPr lang="de-AT" dirty="0" err="1"/>
              <a:t>three</a:t>
            </a:r>
            <a:r>
              <a:rPr lang="de-AT" dirty="0"/>
              <a:t> </a:t>
            </a:r>
            <a:r>
              <a:rPr lang="de-AT" dirty="0" err="1"/>
              <a:t>further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removed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appraisal</a:t>
            </a:r>
            <a:r>
              <a:rPr lang="de-AT" dirty="0"/>
              <a:t> </a:t>
            </a:r>
            <a:r>
              <a:rPr lang="de-AT" dirty="0" err="1"/>
              <a:t>stage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Ultimately</a:t>
            </a:r>
            <a:r>
              <a:rPr lang="de-AT" dirty="0"/>
              <a:t>, 69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met</a:t>
            </a:r>
            <a:r>
              <a:rPr lang="de-AT" dirty="0"/>
              <a:t> all </a:t>
            </a:r>
            <a:r>
              <a:rPr lang="de-AT" dirty="0" err="1"/>
              <a:t>criteria</a:t>
            </a:r>
            <a:r>
              <a:rPr lang="de-AT" dirty="0"/>
              <a:t> and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systematic</a:t>
            </a:r>
            <a:r>
              <a:rPr lang="de-AT" dirty="0"/>
              <a:t> review, </a:t>
            </a:r>
            <a:r>
              <a:rPr lang="de-AT" dirty="0" err="1"/>
              <a:t>while</a:t>
            </a:r>
            <a:r>
              <a:rPr lang="de-AT" dirty="0"/>
              <a:t> 62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provided</a:t>
            </a:r>
            <a:r>
              <a:rPr lang="de-AT" dirty="0"/>
              <a:t> </a:t>
            </a:r>
            <a:r>
              <a:rPr lang="de-AT" dirty="0" err="1"/>
              <a:t>sufficient</a:t>
            </a:r>
            <a:r>
              <a:rPr lang="de-AT" dirty="0"/>
              <a:t> quantitative </a:t>
            </a:r>
            <a:r>
              <a:rPr lang="de-AT" dirty="0" err="1"/>
              <a:t>information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final meta-analysis.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this</a:t>
            </a:r>
            <a:r>
              <a:rPr lang="de-AT" dirty="0"/>
              <a:t> PRISMA-</a:t>
            </a:r>
            <a:r>
              <a:rPr lang="de-AT" dirty="0" err="1"/>
              <a:t>guided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</a:t>
            </a:r>
            <a:r>
              <a:rPr lang="de-AT" dirty="0" err="1"/>
              <a:t>represents</a:t>
            </a:r>
            <a:r>
              <a:rPr lang="de-AT" dirty="0"/>
              <a:t> a </a:t>
            </a:r>
            <a:r>
              <a:rPr lang="de-AT" dirty="0" err="1"/>
              <a:t>major</a:t>
            </a:r>
            <a:r>
              <a:rPr lang="de-AT" dirty="0"/>
              <a:t> </a:t>
            </a:r>
            <a:r>
              <a:rPr lang="de-AT" dirty="0" err="1"/>
              <a:t>strength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demonstrates</a:t>
            </a:r>
            <a:r>
              <a:rPr lang="de-AT" dirty="0"/>
              <a:t> a transparent, </a:t>
            </a:r>
            <a:r>
              <a:rPr lang="de-AT" dirty="0" err="1"/>
              <a:t>systematic</a:t>
            </a:r>
            <a:r>
              <a:rPr lang="de-AT" dirty="0"/>
              <a:t>, and </a:t>
            </a:r>
            <a:r>
              <a:rPr lang="de-AT" dirty="0" err="1"/>
              <a:t>reproducible</a:t>
            </a:r>
            <a:r>
              <a:rPr lang="de-AT" dirty="0"/>
              <a:t> </a:t>
            </a:r>
            <a:r>
              <a:rPr lang="de-AT" dirty="0" err="1"/>
              <a:t>approach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selecting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. This </a:t>
            </a:r>
            <a:r>
              <a:rPr lang="de-AT" dirty="0" err="1"/>
              <a:t>increases</a:t>
            </a:r>
            <a:r>
              <a:rPr lang="de-AT" dirty="0"/>
              <a:t> </a:t>
            </a:r>
            <a:r>
              <a:rPr lang="de-AT" dirty="0" err="1"/>
              <a:t>confidence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relevant and </a:t>
            </a:r>
            <a:r>
              <a:rPr lang="de-AT" dirty="0" err="1"/>
              <a:t>methodologically</a:t>
            </a:r>
            <a:r>
              <a:rPr lang="de-AT" dirty="0"/>
              <a:t> </a:t>
            </a:r>
            <a:r>
              <a:rPr lang="de-AT" dirty="0" err="1"/>
              <a:t>appropriate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on </a:t>
            </a:r>
            <a:r>
              <a:rPr lang="de-AT" dirty="0" err="1"/>
              <a:t>selectively</a:t>
            </a:r>
            <a:r>
              <a:rPr lang="de-AT" dirty="0"/>
              <a:t> </a:t>
            </a:r>
            <a:r>
              <a:rPr lang="de-AT" dirty="0" err="1"/>
              <a:t>chosen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55410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After </a:t>
            </a:r>
            <a:r>
              <a:rPr lang="de-AT" dirty="0" err="1"/>
              <a:t>the</a:t>
            </a:r>
            <a:r>
              <a:rPr lang="de-AT" dirty="0"/>
              <a:t> PRISMA </a:t>
            </a:r>
            <a:r>
              <a:rPr lang="de-AT" dirty="0" err="1"/>
              <a:t>process</a:t>
            </a:r>
            <a:r>
              <a:rPr lang="de-AT" dirty="0"/>
              <a:t>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useful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look</a:t>
            </a:r>
            <a:r>
              <a:rPr lang="de-AT" dirty="0"/>
              <a:t> at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characteristics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69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(not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meta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 but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systematic</a:t>
            </a:r>
            <a:r>
              <a:rPr lang="de-AT" dirty="0"/>
              <a:t> review)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place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table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base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recent</a:t>
            </a:r>
            <a:r>
              <a:rPr lang="de-AT" dirty="0"/>
              <a:t>: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80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published</a:t>
            </a:r>
            <a:r>
              <a:rPr lang="de-AT" dirty="0"/>
              <a:t> in 2024,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reflects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quickly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on ChatGPT in </a:t>
            </a:r>
            <a:r>
              <a:rPr lang="de-AT" dirty="0" err="1"/>
              <a:t>education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developed</a:t>
            </a:r>
            <a:r>
              <a:rPr lang="de-AT" dirty="0"/>
              <a:t> and </a:t>
            </a:r>
            <a:r>
              <a:rPr lang="de-AT" dirty="0" err="1"/>
              <a:t>is</a:t>
            </a:r>
            <a:r>
              <a:rPr lang="de-AT" dirty="0"/>
              <a:t> still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further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Most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journal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, </a:t>
            </a:r>
            <a:r>
              <a:rPr lang="de-AT" dirty="0" err="1"/>
              <a:t>about</a:t>
            </a:r>
            <a:r>
              <a:rPr lang="de-AT" dirty="0"/>
              <a:t> 84 </a:t>
            </a:r>
            <a:r>
              <a:rPr lang="de-AT" dirty="0" err="1"/>
              <a:t>percent</a:t>
            </a:r>
            <a:r>
              <a:rPr lang="de-AT" dirty="0"/>
              <a:t>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16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conference</a:t>
            </a:r>
            <a:r>
              <a:rPr lang="de-AT" dirty="0"/>
              <a:t> </a:t>
            </a:r>
            <a:r>
              <a:rPr lang="de-AT" dirty="0" err="1"/>
              <a:t>papers</a:t>
            </a:r>
            <a:r>
              <a:rPr lang="de-AT" dirty="0"/>
              <a:t>. This </a:t>
            </a:r>
            <a:r>
              <a:rPr lang="de-AT" dirty="0" err="1"/>
              <a:t>strengthens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credibility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review, </a:t>
            </a:r>
            <a:r>
              <a:rPr lang="de-AT" dirty="0" err="1"/>
              <a:t>since</a:t>
            </a:r>
            <a:r>
              <a:rPr lang="de-AT" dirty="0"/>
              <a:t> </a:t>
            </a:r>
            <a:r>
              <a:rPr lang="de-AT" dirty="0" err="1"/>
              <a:t>journal</a:t>
            </a:r>
            <a:r>
              <a:rPr lang="de-AT" dirty="0"/>
              <a:t> </a:t>
            </a:r>
            <a:r>
              <a:rPr lang="de-AT" dirty="0" err="1"/>
              <a:t>articles</a:t>
            </a:r>
            <a:r>
              <a:rPr lang="de-AT" dirty="0"/>
              <a:t> </a:t>
            </a:r>
            <a:r>
              <a:rPr lang="de-AT" dirty="0" err="1"/>
              <a:t>usually</a:t>
            </a:r>
            <a:r>
              <a:rPr lang="de-AT" dirty="0"/>
              <a:t> </a:t>
            </a:r>
            <a:r>
              <a:rPr lang="de-AT" dirty="0" err="1"/>
              <a:t>undergo</a:t>
            </a:r>
            <a:r>
              <a:rPr lang="de-AT" dirty="0"/>
              <a:t> a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rigorous</a:t>
            </a:r>
            <a:r>
              <a:rPr lang="de-AT" dirty="0"/>
              <a:t> peer-review </a:t>
            </a:r>
            <a:r>
              <a:rPr lang="de-AT" dirty="0" err="1"/>
              <a:t>process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geographical</a:t>
            </a:r>
            <a:r>
              <a:rPr lang="de-AT" dirty="0"/>
              <a:t> </a:t>
            </a:r>
            <a:r>
              <a:rPr lang="de-AT" dirty="0" err="1"/>
              <a:t>distribution</a:t>
            </a:r>
            <a:r>
              <a:rPr lang="de-AT" dirty="0"/>
              <a:t>. More </a:t>
            </a:r>
            <a:r>
              <a:rPr lang="de-AT" dirty="0" err="1"/>
              <a:t>than</a:t>
            </a:r>
            <a:r>
              <a:rPr lang="de-AT" dirty="0"/>
              <a:t> 70 </a:t>
            </a:r>
            <a:r>
              <a:rPr lang="de-AT" dirty="0" err="1"/>
              <a:t>percent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Asia, and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half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also </a:t>
            </a:r>
            <a:r>
              <a:rPr lang="de-AT" dirty="0" err="1"/>
              <a:t>conducted</a:t>
            </a:r>
            <a:r>
              <a:rPr lang="de-AT" dirty="0"/>
              <a:t> in Asian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This </a:t>
            </a:r>
            <a:r>
              <a:rPr lang="de-AT" dirty="0" err="1"/>
              <a:t>shows</a:t>
            </a:r>
            <a:r>
              <a:rPr lang="de-AT" dirty="0"/>
              <a:t> strong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activity</a:t>
            </a:r>
            <a:r>
              <a:rPr lang="de-AT" dirty="0"/>
              <a:t> in Asia, but </a:t>
            </a:r>
            <a:r>
              <a:rPr lang="de-AT" dirty="0" err="1"/>
              <a:t>it</a:t>
            </a:r>
            <a:r>
              <a:rPr lang="de-AT" dirty="0"/>
              <a:t> also </a:t>
            </a:r>
            <a:r>
              <a:rPr lang="de-AT" dirty="0" err="1"/>
              <a:t>limits</a:t>
            </a:r>
            <a:r>
              <a:rPr lang="de-AT" dirty="0"/>
              <a:t> </a:t>
            </a:r>
            <a:r>
              <a:rPr lang="de-AT" dirty="0" err="1"/>
              <a:t>generalizability</a:t>
            </a:r>
            <a:r>
              <a:rPr lang="de-AT" dirty="0"/>
              <a:t>. Educational </a:t>
            </a:r>
            <a:r>
              <a:rPr lang="de-AT" dirty="0" err="1"/>
              <a:t>systems</a:t>
            </a:r>
            <a:r>
              <a:rPr lang="de-AT" dirty="0"/>
              <a:t> and </a:t>
            </a:r>
            <a:r>
              <a:rPr lang="de-AT" dirty="0" err="1"/>
              <a:t>technology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differ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regions</a:t>
            </a:r>
            <a:r>
              <a:rPr lang="de-AT" dirty="0"/>
              <a:t>, so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carefully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base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recent</a:t>
            </a:r>
            <a:r>
              <a:rPr lang="de-AT" dirty="0"/>
              <a:t> and </a:t>
            </a:r>
            <a:r>
              <a:rPr lang="de-AT" dirty="0" err="1"/>
              <a:t>mostly</a:t>
            </a:r>
            <a:r>
              <a:rPr lang="de-AT" dirty="0"/>
              <a:t> peer-</a:t>
            </a:r>
            <a:r>
              <a:rPr lang="de-AT" dirty="0" err="1"/>
              <a:t>reviewed</a:t>
            </a:r>
            <a:r>
              <a:rPr lang="de-AT" dirty="0"/>
              <a:t>, but </a:t>
            </a:r>
            <a:r>
              <a:rPr lang="de-AT" dirty="0" err="1"/>
              <a:t>geographically</a:t>
            </a:r>
            <a:r>
              <a:rPr lang="de-AT" dirty="0"/>
              <a:t> </a:t>
            </a:r>
            <a:r>
              <a:rPr lang="de-AT" dirty="0" err="1"/>
              <a:t>concentrated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Having </a:t>
            </a:r>
            <a:r>
              <a:rPr lang="de-AT" dirty="0" err="1"/>
              <a:t>looked</a:t>
            </a:r>
            <a:r>
              <a:rPr lang="de-AT" dirty="0"/>
              <a:t> at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</a:t>
            </a:r>
            <a:r>
              <a:rPr lang="de-AT" dirty="0" err="1"/>
              <a:t>selection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characteristics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, I will </a:t>
            </a:r>
            <a:r>
              <a:rPr lang="de-AT" dirty="0" err="1"/>
              <a:t>now</a:t>
            </a:r>
            <a:r>
              <a:rPr lang="de-AT" dirty="0"/>
              <a:t>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framework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16357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quality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meta-analysis, I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criteria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course</a:t>
            </a:r>
            <a:r>
              <a:rPr lang="de-AT" dirty="0"/>
              <a:t>: Magnitude, </a:t>
            </a:r>
            <a:r>
              <a:rPr lang="de-AT" dirty="0" err="1"/>
              <a:t>Articulation</a:t>
            </a:r>
            <a:r>
              <a:rPr lang="de-AT" dirty="0"/>
              <a:t>, </a:t>
            </a:r>
            <a:r>
              <a:rPr lang="de-AT" dirty="0" err="1"/>
              <a:t>Generality</a:t>
            </a:r>
            <a:r>
              <a:rPr lang="de-AT" dirty="0"/>
              <a:t>, </a:t>
            </a:r>
            <a:r>
              <a:rPr lang="de-AT" dirty="0" err="1"/>
              <a:t>Interestingness</a:t>
            </a:r>
            <a:r>
              <a:rPr lang="de-AT" dirty="0"/>
              <a:t>, and Credibility.</a:t>
            </a:r>
          </a:p>
          <a:p>
            <a:endParaRPr lang="de-AT" dirty="0"/>
          </a:p>
          <a:p>
            <a:r>
              <a:rPr lang="de-AT" dirty="0" err="1"/>
              <a:t>Starting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b="1" dirty="0"/>
              <a:t>Magnitude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reports</a:t>
            </a:r>
            <a:r>
              <a:rPr lang="de-AT" dirty="0"/>
              <a:t> an </a:t>
            </a:r>
            <a:r>
              <a:rPr lang="de-AT" dirty="0" err="1"/>
              <a:t>overall</a:t>
            </a:r>
            <a:r>
              <a:rPr lang="de-AT" dirty="0"/>
              <a:t> positive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on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. This </a:t>
            </a:r>
            <a:r>
              <a:rPr lang="de-AT" dirty="0" err="1"/>
              <a:t>suggests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,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experimental </a:t>
            </a:r>
            <a:r>
              <a:rPr lang="de-AT" dirty="0" err="1"/>
              <a:t>studies</a:t>
            </a:r>
            <a:r>
              <a:rPr lang="de-AT" dirty="0"/>
              <a:t>,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tended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benefit</a:t>
            </a:r>
            <a:r>
              <a:rPr lang="de-AT" dirty="0"/>
              <a:t> </a:t>
            </a:r>
            <a:r>
              <a:rPr lang="de-AT" dirty="0" err="1"/>
              <a:t>compared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control</a:t>
            </a:r>
            <a:r>
              <a:rPr lang="de-AT" dirty="0"/>
              <a:t> </a:t>
            </a:r>
            <a:r>
              <a:rPr lang="de-AT" dirty="0" err="1"/>
              <a:t>groups</a:t>
            </a:r>
            <a:r>
              <a:rPr lang="de-AT" dirty="0"/>
              <a:t>. </a:t>
            </a:r>
            <a:r>
              <a:rPr lang="de-AT" dirty="0" err="1"/>
              <a:t>However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proof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improves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. Rather,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indicates</a:t>
            </a:r>
            <a:r>
              <a:rPr lang="de-AT" dirty="0"/>
              <a:t> a </a:t>
            </a:r>
            <a:r>
              <a:rPr lang="de-AT" dirty="0" err="1"/>
              <a:t>general</a:t>
            </a:r>
            <a:r>
              <a:rPr lang="de-AT" dirty="0"/>
              <a:t> positive </a:t>
            </a:r>
            <a:r>
              <a:rPr lang="de-AT" dirty="0" err="1"/>
              <a:t>tendency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different </a:t>
            </a:r>
            <a:r>
              <a:rPr lang="de-AT" dirty="0" err="1"/>
              <a:t>studies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second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Articulation</a:t>
            </a:r>
            <a:r>
              <a:rPr lang="de-AT" dirty="0"/>
              <a:t>. Here, I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say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performs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formulated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investigate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ChatGPT </a:t>
            </a:r>
            <a:r>
              <a:rPr lang="de-AT" dirty="0" err="1"/>
              <a:t>enhances</a:t>
            </a:r>
            <a:r>
              <a:rPr lang="de-AT" dirty="0"/>
              <a:t>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experimental </a:t>
            </a:r>
            <a:r>
              <a:rPr lang="de-AT" dirty="0" err="1"/>
              <a:t>evidence</a:t>
            </a:r>
            <a:r>
              <a:rPr lang="de-AT" dirty="0"/>
              <a:t>. The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also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explained</a:t>
            </a:r>
            <a:r>
              <a:rPr lang="de-AT" dirty="0"/>
              <a:t>. This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allows</a:t>
            </a:r>
            <a:r>
              <a:rPr lang="de-AT" dirty="0"/>
              <a:t> </a:t>
            </a:r>
            <a:r>
              <a:rPr lang="de-AT" dirty="0" err="1"/>
              <a:t>readers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exactly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types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and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others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excluded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third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Generality</a:t>
            </a:r>
            <a:r>
              <a:rPr lang="de-AT" dirty="0"/>
              <a:t>. The review </a:t>
            </a:r>
            <a:r>
              <a:rPr lang="de-AT" dirty="0" err="1"/>
              <a:t>includes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different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, different </a:t>
            </a:r>
            <a:r>
              <a:rPr lang="de-AT" dirty="0" err="1"/>
              <a:t>subjects</a:t>
            </a:r>
            <a:r>
              <a:rPr lang="de-AT" dirty="0"/>
              <a:t>, and different </a:t>
            </a:r>
            <a:r>
              <a:rPr lang="de-AT" dirty="0" err="1"/>
              <a:t>student</a:t>
            </a:r>
            <a:r>
              <a:rPr lang="de-AT" dirty="0"/>
              <a:t> </a:t>
            </a:r>
            <a:r>
              <a:rPr lang="de-AT" dirty="0" err="1"/>
              <a:t>populations</a:t>
            </a:r>
            <a:r>
              <a:rPr lang="de-AT" dirty="0"/>
              <a:t>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broadly</a:t>
            </a:r>
            <a:r>
              <a:rPr lang="de-AT" dirty="0"/>
              <a:t> relevant </a:t>
            </a:r>
            <a:r>
              <a:rPr lang="de-AT" dirty="0" err="1"/>
              <a:t>than</a:t>
            </a:r>
            <a:r>
              <a:rPr lang="de-AT" dirty="0"/>
              <a:t> a </a:t>
            </a:r>
            <a:r>
              <a:rPr lang="de-AT" dirty="0" err="1"/>
              <a:t>single</a:t>
            </a:r>
            <a:r>
              <a:rPr lang="de-AT" dirty="0"/>
              <a:t> </a:t>
            </a:r>
            <a:r>
              <a:rPr lang="de-AT" dirty="0" err="1"/>
              <a:t>experiment</a:t>
            </a:r>
            <a:r>
              <a:rPr lang="de-AT" dirty="0"/>
              <a:t>. At </a:t>
            </a:r>
            <a:r>
              <a:rPr lang="de-AT" dirty="0" err="1"/>
              <a:t>the</a:t>
            </a:r>
            <a:r>
              <a:rPr lang="de-AT" dirty="0"/>
              <a:t> same time, </a:t>
            </a:r>
            <a:r>
              <a:rPr lang="de-AT" dirty="0" err="1"/>
              <a:t>this</a:t>
            </a:r>
            <a:r>
              <a:rPr lang="de-AT" dirty="0"/>
              <a:t> also </a:t>
            </a:r>
            <a:r>
              <a:rPr lang="de-AT" dirty="0" err="1"/>
              <a:t>creates</a:t>
            </a:r>
            <a:r>
              <a:rPr lang="de-AT" dirty="0"/>
              <a:t> a </a:t>
            </a:r>
            <a:r>
              <a:rPr lang="de-AT" dirty="0" err="1"/>
              <a:t>challenge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quite</a:t>
            </a:r>
            <a:r>
              <a:rPr lang="de-AT" dirty="0"/>
              <a:t> </a:t>
            </a:r>
            <a:r>
              <a:rPr lang="de-AT" dirty="0" err="1"/>
              <a:t>heterogeneous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, </a:t>
            </a:r>
            <a:r>
              <a:rPr lang="de-AT" dirty="0" err="1"/>
              <a:t>using</a:t>
            </a:r>
            <a:r>
              <a:rPr lang="de-AT" dirty="0"/>
              <a:t> ChatGPT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language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the</a:t>
            </a:r>
            <a:r>
              <a:rPr lang="de-AT" dirty="0"/>
              <a:t> same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programming</a:t>
            </a:r>
            <a:r>
              <a:rPr lang="de-AT" dirty="0"/>
              <a:t>, </a:t>
            </a:r>
            <a:r>
              <a:rPr lang="de-AT" dirty="0" err="1"/>
              <a:t>medicine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general</a:t>
            </a:r>
            <a:r>
              <a:rPr lang="de-AT" dirty="0"/>
              <a:t> </a:t>
            </a:r>
            <a:r>
              <a:rPr lang="de-AT" dirty="0" err="1"/>
              <a:t>study</a:t>
            </a:r>
            <a:r>
              <a:rPr lang="de-AT" dirty="0"/>
              <a:t> support. So,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broadly</a:t>
            </a:r>
            <a:r>
              <a:rPr lang="de-AT" dirty="0"/>
              <a:t> relevant,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still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applied</a:t>
            </a:r>
            <a:r>
              <a:rPr lang="de-AT" dirty="0"/>
              <a:t> </a:t>
            </a:r>
            <a:r>
              <a:rPr lang="de-AT" dirty="0" err="1"/>
              <a:t>carefully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contexts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fourth</a:t>
            </a:r>
            <a:r>
              <a:rPr lang="de-AT" dirty="0"/>
              <a:t>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Interestingness</a:t>
            </a:r>
            <a:r>
              <a:rPr lang="de-AT" dirty="0"/>
              <a:t>. This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strongest</a:t>
            </a:r>
            <a:r>
              <a:rPr lang="de-AT" dirty="0"/>
              <a:t> </a:t>
            </a:r>
            <a:r>
              <a:rPr lang="de-AT" dirty="0" err="1"/>
              <a:t>aspects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paper</a:t>
            </a:r>
            <a:r>
              <a:rPr lang="de-AT" dirty="0"/>
              <a:t>. ChatGPT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currently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discussed</a:t>
            </a:r>
            <a:r>
              <a:rPr lang="de-AT" dirty="0"/>
              <a:t> </a:t>
            </a:r>
            <a:r>
              <a:rPr lang="de-AT" dirty="0" err="1"/>
              <a:t>technologies</a:t>
            </a:r>
            <a:r>
              <a:rPr lang="de-AT" dirty="0"/>
              <a:t> in </a:t>
            </a:r>
            <a:r>
              <a:rPr lang="de-AT" dirty="0" err="1"/>
              <a:t>education</a:t>
            </a:r>
            <a:r>
              <a:rPr lang="de-AT" dirty="0"/>
              <a:t>.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debate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supports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, </a:t>
            </a:r>
            <a:r>
              <a:rPr lang="de-AT" dirty="0" err="1"/>
              <a:t>threatens</a:t>
            </a:r>
            <a:r>
              <a:rPr lang="de-AT" dirty="0"/>
              <a:t> </a:t>
            </a:r>
            <a:r>
              <a:rPr lang="de-AT" dirty="0" err="1"/>
              <a:t>academic</a:t>
            </a:r>
            <a:r>
              <a:rPr lang="de-AT" dirty="0"/>
              <a:t> </a:t>
            </a:r>
            <a:r>
              <a:rPr lang="de-AT" dirty="0" err="1"/>
              <a:t>integrity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changes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role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teachers</a:t>
            </a:r>
            <a:r>
              <a:rPr lang="de-AT" dirty="0"/>
              <a:t> and </a:t>
            </a:r>
            <a:r>
              <a:rPr lang="de-AT" dirty="0" err="1"/>
              <a:t>students</a:t>
            </a:r>
            <a:r>
              <a:rPr lang="de-AT" dirty="0"/>
              <a:t>.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question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highly</a:t>
            </a:r>
            <a:r>
              <a:rPr lang="de-AT" dirty="0"/>
              <a:t> relevant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universities</a:t>
            </a:r>
            <a:r>
              <a:rPr lang="de-AT" dirty="0"/>
              <a:t>, </a:t>
            </a:r>
            <a:r>
              <a:rPr lang="de-AT" dirty="0" err="1"/>
              <a:t>teachers</a:t>
            </a:r>
            <a:r>
              <a:rPr lang="de-AT" dirty="0"/>
              <a:t>, </a:t>
            </a:r>
            <a:r>
              <a:rPr lang="de-AT" dirty="0" err="1"/>
              <a:t>students</a:t>
            </a:r>
            <a:r>
              <a:rPr lang="de-AT" dirty="0"/>
              <a:t>, and </a:t>
            </a:r>
            <a:r>
              <a:rPr lang="de-AT" dirty="0" err="1"/>
              <a:t>policymakers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final </a:t>
            </a:r>
            <a:r>
              <a:rPr lang="de-AT" dirty="0" err="1"/>
              <a:t>criterion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/>
              <a:t>Credibility</a:t>
            </a:r>
            <a:r>
              <a:rPr lang="de-AT" dirty="0"/>
              <a:t>. The </a:t>
            </a:r>
            <a:r>
              <a:rPr lang="de-AT" dirty="0" err="1"/>
              <a:t>credibility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strengthened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methodological</a:t>
            </a:r>
            <a:r>
              <a:rPr lang="de-AT" dirty="0"/>
              <a:t> </a:t>
            </a:r>
            <a:r>
              <a:rPr lang="de-AT" dirty="0" err="1"/>
              <a:t>choices</a:t>
            </a:r>
            <a:r>
              <a:rPr lang="de-AT" dirty="0"/>
              <a:t>. The </a:t>
            </a:r>
            <a:r>
              <a:rPr lang="de-AT" dirty="0" err="1"/>
              <a:t>authors</a:t>
            </a:r>
            <a:r>
              <a:rPr lang="de-AT" dirty="0"/>
              <a:t> </a:t>
            </a:r>
            <a:r>
              <a:rPr lang="de-AT" dirty="0" err="1"/>
              <a:t>followed</a:t>
            </a:r>
            <a:r>
              <a:rPr lang="de-AT" dirty="0"/>
              <a:t> PRISMA,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predefined</a:t>
            </a:r>
            <a:r>
              <a:rPr lang="de-AT" dirty="0"/>
              <a:t> </a:t>
            </a:r>
            <a:r>
              <a:rPr lang="de-AT" dirty="0" err="1"/>
              <a:t>inclusion</a:t>
            </a:r>
            <a:r>
              <a:rPr lang="de-AT" dirty="0"/>
              <a:t> and </a:t>
            </a:r>
            <a:r>
              <a:rPr lang="de-AT" dirty="0" err="1"/>
              <a:t>exclusion</a:t>
            </a:r>
            <a:r>
              <a:rPr lang="de-AT" dirty="0"/>
              <a:t> </a:t>
            </a:r>
            <a:r>
              <a:rPr lang="de-AT" dirty="0" err="1"/>
              <a:t>criteria</a:t>
            </a:r>
            <a:r>
              <a:rPr lang="de-AT" dirty="0"/>
              <a:t>, and </a:t>
            </a:r>
            <a:r>
              <a:rPr lang="de-AT" dirty="0" err="1"/>
              <a:t>focused</a:t>
            </a:r>
            <a:r>
              <a:rPr lang="de-AT" dirty="0"/>
              <a:t> on experimental and quasi-experimental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cross-sectional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opinion-based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. This </a:t>
            </a:r>
            <a:r>
              <a:rPr lang="de-AT" dirty="0" err="1"/>
              <a:t>allows</a:t>
            </a:r>
            <a:r>
              <a:rPr lang="de-AT" dirty="0"/>
              <a:t> </a:t>
            </a:r>
            <a:r>
              <a:rPr lang="de-AT" dirty="0" err="1"/>
              <a:t>stronger</a:t>
            </a:r>
            <a:r>
              <a:rPr lang="de-AT" dirty="0"/>
              <a:t> </a:t>
            </a:r>
            <a:r>
              <a:rPr lang="de-AT" dirty="0" err="1"/>
              <a:t>conclusions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potential </a:t>
            </a:r>
            <a:r>
              <a:rPr lang="de-AT" dirty="0" err="1"/>
              <a:t>effects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Overall, </a:t>
            </a:r>
            <a:r>
              <a:rPr lang="de-AT" dirty="0" err="1"/>
              <a:t>based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MAGIC </a:t>
            </a:r>
            <a:r>
              <a:rPr lang="de-AT" dirty="0" err="1"/>
              <a:t>criteria</a:t>
            </a:r>
            <a:r>
              <a:rPr lang="de-AT" dirty="0"/>
              <a:t>,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describe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as</a:t>
            </a:r>
            <a:r>
              <a:rPr lang="de-AT" dirty="0"/>
              <a:t> relevant, </a:t>
            </a:r>
            <a:r>
              <a:rPr lang="de-AT" dirty="0" err="1"/>
              <a:t>clearly</a:t>
            </a:r>
            <a:r>
              <a:rPr lang="de-AT" dirty="0"/>
              <a:t> </a:t>
            </a:r>
            <a:r>
              <a:rPr lang="de-AT" dirty="0" err="1"/>
              <a:t>articulated</a:t>
            </a:r>
            <a:r>
              <a:rPr lang="de-AT" dirty="0"/>
              <a:t>, and </a:t>
            </a:r>
            <a:r>
              <a:rPr lang="de-AT" dirty="0" err="1"/>
              <a:t>methodologically</a:t>
            </a:r>
            <a:r>
              <a:rPr lang="de-AT" dirty="0"/>
              <a:t> </a:t>
            </a:r>
            <a:r>
              <a:rPr lang="de-AT" dirty="0" err="1"/>
              <a:t>credible</a:t>
            </a:r>
            <a:r>
              <a:rPr lang="de-AT" dirty="0"/>
              <a:t>. </a:t>
            </a:r>
            <a:r>
              <a:rPr lang="de-AT" dirty="0" err="1"/>
              <a:t>However</a:t>
            </a:r>
            <a:r>
              <a:rPr lang="de-AT" dirty="0"/>
              <a:t>,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generality</a:t>
            </a:r>
            <a:r>
              <a:rPr lang="de-AT" dirty="0"/>
              <a:t> and </a:t>
            </a:r>
            <a:r>
              <a:rPr lang="de-AT" dirty="0" err="1"/>
              <a:t>magnitude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caution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differ</a:t>
            </a:r>
            <a:r>
              <a:rPr lang="de-AT" dirty="0"/>
              <a:t> </a:t>
            </a:r>
            <a:r>
              <a:rPr lang="de-AT" dirty="0" err="1"/>
              <a:t>considerably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1146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Although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methodologically</a:t>
            </a:r>
            <a:r>
              <a:rPr lang="de-AT" dirty="0"/>
              <a:t> strong,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still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limitations</a:t>
            </a:r>
            <a:r>
              <a:rPr lang="de-AT" dirty="0"/>
              <a:t> and possible </a:t>
            </a:r>
            <a:r>
              <a:rPr lang="de-AT" dirty="0" err="1"/>
              <a:t>sources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bias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interpreting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limitation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rapid </a:t>
            </a:r>
            <a:r>
              <a:rPr lang="de-AT" dirty="0" err="1"/>
              <a:t>development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 </a:t>
            </a:r>
            <a:r>
              <a:rPr lang="de-AT" dirty="0" err="1"/>
              <a:t>itself</a:t>
            </a:r>
            <a:r>
              <a:rPr lang="de-AT" dirty="0"/>
              <a:t>. Many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conducted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versions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ChatGPT, </a:t>
            </a:r>
            <a:r>
              <a:rPr lang="de-AT" dirty="0" err="1"/>
              <a:t>especially</a:t>
            </a:r>
            <a:r>
              <a:rPr lang="de-AT" dirty="0"/>
              <a:t> GPT-3.5. Since AI </a:t>
            </a:r>
            <a:r>
              <a:rPr lang="de-AT" dirty="0" err="1"/>
              <a:t>models</a:t>
            </a:r>
            <a:r>
              <a:rPr lang="de-AT" dirty="0"/>
              <a:t> </a:t>
            </a:r>
            <a:r>
              <a:rPr lang="de-AT" dirty="0" err="1"/>
              <a:t>develop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quickly</a:t>
            </a:r>
            <a:r>
              <a:rPr lang="de-AT" dirty="0"/>
              <a:t>,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versions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not fully </a:t>
            </a:r>
            <a:r>
              <a:rPr lang="de-AT" dirty="0" err="1"/>
              <a:t>represent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tools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today</a:t>
            </a:r>
            <a:r>
              <a:rPr lang="de-AT" dirty="0"/>
              <a:t>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 </a:t>
            </a:r>
            <a:r>
              <a:rPr lang="de-AT" dirty="0" err="1"/>
              <a:t>somewhat</a:t>
            </a:r>
            <a:r>
              <a:rPr lang="de-AT" dirty="0"/>
              <a:t> time-sensitive.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second</a:t>
            </a:r>
            <a:r>
              <a:rPr lang="de-AT" dirty="0"/>
              <a:t> </a:t>
            </a:r>
            <a:r>
              <a:rPr lang="de-AT" dirty="0" err="1"/>
              <a:t>limitation</a:t>
            </a:r>
            <a:r>
              <a:rPr lang="de-AT" dirty="0"/>
              <a:t> </a:t>
            </a:r>
            <a:r>
              <a:rPr lang="de-AT" dirty="0" err="1"/>
              <a:t>concerns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duration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interventions</a:t>
            </a:r>
            <a:r>
              <a:rPr lang="de-AT" dirty="0"/>
              <a:t>. </a:t>
            </a:r>
            <a:r>
              <a:rPr lang="de-AT" dirty="0" err="1"/>
              <a:t>Several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measured</a:t>
            </a:r>
            <a:r>
              <a:rPr lang="de-AT" dirty="0"/>
              <a:t> </a:t>
            </a:r>
            <a:r>
              <a:rPr lang="de-AT" dirty="0" err="1"/>
              <a:t>short</a:t>
            </a:r>
            <a:r>
              <a:rPr lang="de-AT" dirty="0"/>
              <a:t>-term </a:t>
            </a:r>
            <a:r>
              <a:rPr lang="de-AT" dirty="0" err="1"/>
              <a:t>effects</a:t>
            </a:r>
            <a:r>
              <a:rPr lang="de-AT" dirty="0"/>
              <a:t>,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 </a:t>
            </a:r>
            <a:r>
              <a:rPr lang="de-AT" dirty="0" err="1"/>
              <a:t>directly</a:t>
            </a:r>
            <a:r>
              <a:rPr lang="de-AT" dirty="0"/>
              <a:t> after a </a:t>
            </a:r>
            <a:r>
              <a:rPr lang="de-AT" dirty="0" err="1"/>
              <a:t>learning</a:t>
            </a:r>
            <a:r>
              <a:rPr lang="de-AT" dirty="0"/>
              <a:t> </a:t>
            </a:r>
            <a:r>
              <a:rPr lang="de-AT" dirty="0" err="1"/>
              <a:t>activity</a:t>
            </a:r>
            <a:r>
              <a:rPr lang="de-AT" dirty="0"/>
              <a:t>. This </a:t>
            </a:r>
            <a:r>
              <a:rPr lang="de-AT" dirty="0" err="1"/>
              <a:t>tells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something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immediate </a:t>
            </a:r>
            <a:r>
              <a:rPr lang="de-AT" dirty="0" err="1"/>
              <a:t>performance</a:t>
            </a:r>
            <a:r>
              <a:rPr lang="de-AT" dirty="0"/>
              <a:t>, but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</a:t>
            </a:r>
            <a:r>
              <a:rPr lang="de-AT" dirty="0" err="1"/>
              <a:t>long</a:t>
            </a:r>
            <a:r>
              <a:rPr lang="de-AT" dirty="0"/>
              <a:t>-term </a:t>
            </a:r>
            <a:r>
              <a:rPr lang="de-AT" dirty="0" err="1"/>
              <a:t>learning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education</a:t>
            </a:r>
            <a:r>
              <a:rPr lang="de-AT" dirty="0"/>
              <a:t>, </a:t>
            </a:r>
            <a:r>
              <a:rPr lang="de-AT" dirty="0" err="1"/>
              <a:t>long</a:t>
            </a:r>
            <a:r>
              <a:rPr lang="de-AT" dirty="0"/>
              <a:t>-term </a:t>
            </a:r>
            <a:r>
              <a:rPr lang="de-AT" dirty="0" err="1"/>
              <a:t>outcomes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important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do not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perform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immediately</a:t>
            </a:r>
            <a:r>
              <a:rPr lang="de-AT" dirty="0"/>
              <a:t> after </a:t>
            </a:r>
            <a:r>
              <a:rPr lang="de-AT" dirty="0" err="1"/>
              <a:t>using</a:t>
            </a:r>
            <a:r>
              <a:rPr lang="de-AT" dirty="0"/>
              <a:t> ChatGPT; </a:t>
            </a:r>
            <a:r>
              <a:rPr lang="de-AT" dirty="0" err="1"/>
              <a:t>we</a:t>
            </a:r>
            <a:r>
              <a:rPr lang="de-AT" dirty="0"/>
              <a:t> also </a:t>
            </a:r>
            <a:r>
              <a:rPr lang="de-AT" dirty="0" err="1"/>
              <a:t>want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retain</a:t>
            </a:r>
            <a:r>
              <a:rPr lang="de-AT" dirty="0"/>
              <a:t> </a:t>
            </a:r>
            <a:r>
              <a:rPr lang="de-AT" dirty="0" err="1"/>
              <a:t>knowledge</a:t>
            </a:r>
            <a:r>
              <a:rPr lang="de-AT" dirty="0"/>
              <a:t>, </a:t>
            </a:r>
            <a:r>
              <a:rPr lang="de-AT" dirty="0" err="1"/>
              <a:t>develop</a:t>
            </a:r>
            <a:r>
              <a:rPr lang="de-AT" dirty="0"/>
              <a:t> </a:t>
            </a:r>
            <a:r>
              <a:rPr lang="de-AT" dirty="0" err="1"/>
              <a:t>deeper</a:t>
            </a:r>
            <a:r>
              <a:rPr lang="de-AT" dirty="0"/>
              <a:t> </a:t>
            </a:r>
            <a:r>
              <a:rPr lang="de-AT" dirty="0" err="1"/>
              <a:t>understanding</a:t>
            </a:r>
            <a:r>
              <a:rPr lang="de-AT" dirty="0"/>
              <a:t>, and </a:t>
            </a:r>
            <a:r>
              <a:rPr lang="de-AT" dirty="0" err="1"/>
              <a:t>improve</a:t>
            </a:r>
            <a:r>
              <a:rPr lang="de-AT" dirty="0"/>
              <a:t> </a:t>
            </a:r>
            <a:r>
              <a:rPr lang="de-AT" dirty="0" err="1"/>
              <a:t>critical</a:t>
            </a:r>
            <a:r>
              <a:rPr lang="de-AT" dirty="0"/>
              <a:t> </a:t>
            </a:r>
            <a:r>
              <a:rPr lang="de-AT" dirty="0" err="1"/>
              <a:t>thinking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time.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third</a:t>
            </a:r>
            <a:r>
              <a:rPr lang="de-AT" dirty="0"/>
              <a:t> </a:t>
            </a:r>
            <a:r>
              <a:rPr lang="de-AT" dirty="0" err="1"/>
              <a:t>issue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heterogeneity</a:t>
            </a:r>
            <a:r>
              <a:rPr lang="de-AT" dirty="0"/>
              <a:t>. The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differed</a:t>
            </a:r>
            <a:r>
              <a:rPr lang="de-AT" dirty="0"/>
              <a:t> in </a:t>
            </a:r>
            <a:r>
              <a:rPr lang="de-AT" dirty="0" err="1"/>
              <a:t>many</a:t>
            </a:r>
            <a:r>
              <a:rPr lang="de-AT" dirty="0"/>
              <a:t> </a:t>
            </a:r>
            <a:r>
              <a:rPr lang="de-AT" dirty="0" err="1"/>
              <a:t>ways</a:t>
            </a:r>
            <a:r>
              <a:rPr lang="de-AT" dirty="0"/>
              <a:t>: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level</a:t>
            </a:r>
            <a:r>
              <a:rPr lang="de-AT" dirty="0"/>
              <a:t>, </a:t>
            </a:r>
            <a:r>
              <a:rPr lang="de-AT" dirty="0" err="1"/>
              <a:t>subject</a:t>
            </a:r>
            <a:r>
              <a:rPr lang="de-AT" dirty="0"/>
              <a:t> </a:t>
            </a:r>
            <a:r>
              <a:rPr lang="de-AT" dirty="0" err="1"/>
              <a:t>area</a:t>
            </a:r>
            <a:r>
              <a:rPr lang="de-AT" dirty="0"/>
              <a:t>, </a:t>
            </a:r>
            <a:r>
              <a:rPr lang="de-AT" dirty="0" err="1"/>
              <a:t>intervention</a:t>
            </a:r>
            <a:r>
              <a:rPr lang="de-AT" dirty="0"/>
              <a:t> design, </a:t>
            </a:r>
            <a:r>
              <a:rPr lang="de-AT" dirty="0" err="1"/>
              <a:t>outcome</a:t>
            </a:r>
            <a:r>
              <a:rPr lang="de-AT" dirty="0"/>
              <a:t> </a:t>
            </a:r>
            <a:r>
              <a:rPr lang="de-AT" dirty="0" err="1"/>
              <a:t>measures</a:t>
            </a:r>
            <a:r>
              <a:rPr lang="de-AT" dirty="0"/>
              <a:t>, and </a:t>
            </a:r>
            <a:r>
              <a:rPr lang="de-AT" dirty="0" err="1"/>
              <a:t>how</a:t>
            </a:r>
            <a:r>
              <a:rPr lang="de-AT" dirty="0"/>
              <a:t> ChatGPT was </a:t>
            </a:r>
            <a:r>
              <a:rPr lang="de-AT" dirty="0" err="1"/>
              <a:t>used</a:t>
            </a:r>
            <a:r>
              <a:rPr lang="de-AT" dirty="0"/>
              <a:t>. This </a:t>
            </a:r>
            <a:r>
              <a:rPr lang="de-AT" dirty="0" err="1"/>
              <a:t>diversity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useful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gives</a:t>
            </a:r>
            <a:r>
              <a:rPr lang="de-AT" dirty="0"/>
              <a:t> a </a:t>
            </a:r>
            <a:r>
              <a:rPr lang="de-AT" dirty="0" err="1"/>
              <a:t>broad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field</a:t>
            </a:r>
            <a:r>
              <a:rPr lang="de-AT" dirty="0"/>
              <a:t>, but </a:t>
            </a:r>
            <a:r>
              <a:rPr lang="de-AT" dirty="0" err="1"/>
              <a:t>it</a:t>
            </a:r>
            <a:r>
              <a:rPr lang="de-AT" dirty="0"/>
              <a:t> also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harder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interpret</a:t>
            </a:r>
            <a:r>
              <a:rPr lang="de-AT" dirty="0"/>
              <a:t>. A positive </a:t>
            </a:r>
            <a:r>
              <a:rPr lang="de-AT" dirty="0" err="1"/>
              <a:t>average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</a:t>
            </a:r>
            <a:r>
              <a:rPr lang="de-AT" dirty="0" err="1"/>
              <a:t>does</a:t>
            </a:r>
            <a:r>
              <a:rPr lang="de-AT" dirty="0"/>
              <a:t> not </a:t>
            </a:r>
            <a:r>
              <a:rPr lang="de-AT" dirty="0" err="1"/>
              <a:t>mean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ChatGPT </a:t>
            </a:r>
            <a:r>
              <a:rPr lang="de-AT" dirty="0" err="1"/>
              <a:t>works</a:t>
            </a:r>
            <a:r>
              <a:rPr lang="de-AT" dirty="0"/>
              <a:t> </a:t>
            </a:r>
            <a:r>
              <a:rPr lang="de-AT" dirty="0" err="1"/>
              <a:t>equally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in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also </a:t>
            </a:r>
            <a:r>
              <a:rPr lang="de-AT" dirty="0" err="1"/>
              <a:t>several</a:t>
            </a:r>
            <a:r>
              <a:rPr lang="de-AT" dirty="0"/>
              <a:t> possible </a:t>
            </a:r>
            <a:r>
              <a:rPr lang="de-AT" dirty="0" err="1"/>
              <a:t>biases</a:t>
            </a:r>
            <a:r>
              <a:rPr lang="de-AT" dirty="0"/>
              <a:t>.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b="1" dirty="0" err="1"/>
              <a:t>publication</a:t>
            </a:r>
            <a:r>
              <a:rPr lang="de-AT" b="1" dirty="0"/>
              <a:t> </a:t>
            </a:r>
            <a:r>
              <a:rPr lang="de-AT" b="1" dirty="0" err="1"/>
              <a:t>bias</a:t>
            </a:r>
            <a:r>
              <a:rPr lang="de-AT" dirty="0"/>
              <a:t>. Studies </a:t>
            </a:r>
            <a:r>
              <a:rPr lang="de-AT" dirty="0" err="1"/>
              <a:t>with</a:t>
            </a:r>
            <a:r>
              <a:rPr lang="de-AT" dirty="0"/>
              <a:t> positive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often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likely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published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null </a:t>
            </a:r>
            <a:r>
              <a:rPr lang="de-AT" dirty="0" err="1"/>
              <a:t>or</a:t>
            </a:r>
            <a:r>
              <a:rPr lang="de-AT" dirty="0"/>
              <a:t> negative </a:t>
            </a:r>
            <a:r>
              <a:rPr lang="de-AT" dirty="0" err="1"/>
              <a:t>findings</a:t>
            </a:r>
            <a:r>
              <a:rPr lang="de-AT" dirty="0"/>
              <a:t>.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happens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average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meta-analysis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overestimated</a:t>
            </a:r>
            <a:r>
              <a:rPr lang="de-AT" dirty="0"/>
              <a:t>.</a:t>
            </a:r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issue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small</a:t>
            </a:r>
            <a:r>
              <a:rPr lang="de-AT" dirty="0"/>
              <a:t> sample </a:t>
            </a:r>
            <a:r>
              <a:rPr lang="de-AT" dirty="0" err="1"/>
              <a:t>size</a:t>
            </a:r>
            <a:r>
              <a:rPr lang="de-AT" dirty="0"/>
              <a:t>. Some </a:t>
            </a:r>
            <a:r>
              <a:rPr lang="de-AT" dirty="0" err="1"/>
              <a:t>included</a:t>
            </a:r>
            <a:r>
              <a:rPr lang="de-AT" dirty="0"/>
              <a:t>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relatively</a:t>
            </a:r>
            <a:r>
              <a:rPr lang="de-AT" dirty="0"/>
              <a:t> </a:t>
            </a:r>
            <a:r>
              <a:rPr lang="de-AT" dirty="0" err="1"/>
              <a:t>small</a:t>
            </a:r>
            <a:r>
              <a:rPr lang="de-AT" dirty="0"/>
              <a:t> </a:t>
            </a:r>
            <a:r>
              <a:rPr lang="de-AT" dirty="0" err="1"/>
              <a:t>samples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make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stable</a:t>
            </a:r>
            <a:r>
              <a:rPr lang="de-AT" dirty="0"/>
              <a:t>. Small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produce</a:t>
            </a:r>
            <a:r>
              <a:rPr lang="de-AT" dirty="0"/>
              <a:t> </a:t>
            </a:r>
            <a:r>
              <a:rPr lang="de-AT" dirty="0" err="1"/>
              <a:t>exaggerated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, </a:t>
            </a:r>
            <a:r>
              <a:rPr lang="de-AT" dirty="0" err="1"/>
              <a:t>especially</a:t>
            </a:r>
            <a:r>
              <a:rPr lang="de-AT" dirty="0"/>
              <a:t> in a </a:t>
            </a:r>
            <a:r>
              <a:rPr lang="de-AT" dirty="0" err="1"/>
              <a:t>new</a:t>
            </a:r>
            <a:r>
              <a:rPr lang="de-AT" dirty="0"/>
              <a:t> and </a:t>
            </a:r>
            <a:r>
              <a:rPr lang="de-AT" dirty="0" err="1"/>
              <a:t>rapidly</a:t>
            </a:r>
            <a:r>
              <a:rPr lang="de-AT" dirty="0"/>
              <a:t>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research</a:t>
            </a:r>
            <a:r>
              <a:rPr lang="de-AT" dirty="0"/>
              <a:t> </a:t>
            </a:r>
            <a:r>
              <a:rPr lang="de-AT" dirty="0" err="1"/>
              <a:t>area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A </a:t>
            </a:r>
            <a:r>
              <a:rPr lang="de-AT" dirty="0" err="1"/>
              <a:t>further</a:t>
            </a:r>
            <a:r>
              <a:rPr lang="de-AT" dirty="0"/>
              <a:t> possible </a:t>
            </a:r>
            <a:r>
              <a:rPr lang="de-AT" dirty="0" err="1"/>
              <a:t>bias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novelty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.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may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motivated</a:t>
            </a:r>
            <a:r>
              <a:rPr lang="de-AT" dirty="0"/>
              <a:t> </a:t>
            </a:r>
            <a:r>
              <a:rPr lang="de-AT" dirty="0" err="1"/>
              <a:t>simply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ChatGPT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new</a:t>
            </a:r>
            <a:r>
              <a:rPr lang="de-AT" dirty="0"/>
              <a:t> and </a:t>
            </a:r>
            <a:r>
              <a:rPr lang="de-AT" dirty="0" err="1"/>
              <a:t>interesting</a:t>
            </a:r>
            <a:r>
              <a:rPr lang="de-AT" dirty="0"/>
              <a:t>. In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case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positive </a:t>
            </a:r>
            <a:r>
              <a:rPr lang="de-AT" dirty="0" err="1"/>
              <a:t>effects</a:t>
            </a:r>
            <a:r>
              <a:rPr lang="de-AT" dirty="0"/>
              <a:t> </a:t>
            </a:r>
            <a:r>
              <a:rPr lang="de-AT" dirty="0" err="1"/>
              <a:t>might</a:t>
            </a:r>
            <a:r>
              <a:rPr lang="de-AT" dirty="0"/>
              <a:t> </a:t>
            </a:r>
            <a:r>
              <a:rPr lang="de-AT" dirty="0" err="1"/>
              <a:t>reflect</a:t>
            </a:r>
            <a:r>
              <a:rPr lang="de-AT" dirty="0"/>
              <a:t> </a:t>
            </a:r>
            <a:r>
              <a:rPr lang="de-AT" dirty="0" err="1"/>
              <a:t>curiosity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excitement</a:t>
            </a:r>
            <a:r>
              <a:rPr lang="de-AT" dirty="0"/>
              <a:t> </a:t>
            </a:r>
            <a:r>
              <a:rPr lang="de-AT" dirty="0" err="1"/>
              <a:t>rather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a </a:t>
            </a:r>
            <a:r>
              <a:rPr lang="de-AT" dirty="0" err="1"/>
              <a:t>stable</a:t>
            </a:r>
            <a:r>
              <a:rPr lang="de-AT" dirty="0"/>
              <a:t> </a:t>
            </a:r>
            <a:r>
              <a:rPr lang="de-AT" dirty="0" err="1"/>
              <a:t>educational</a:t>
            </a:r>
            <a:r>
              <a:rPr lang="de-AT" dirty="0"/>
              <a:t> </a:t>
            </a:r>
            <a:r>
              <a:rPr lang="de-AT" dirty="0" err="1"/>
              <a:t>benefit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Finally</a:t>
            </a:r>
            <a:r>
              <a:rPr lang="de-AT" dirty="0"/>
              <a:t>, different </a:t>
            </a:r>
            <a:r>
              <a:rPr lang="de-AT" dirty="0" err="1"/>
              <a:t>studies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different </a:t>
            </a:r>
            <a:r>
              <a:rPr lang="de-AT" dirty="0" err="1"/>
              <a:t>versions</a:t>
            </a:r>
            <a:r>
              <a:rPr lang="de-AT" dirty="0"/>
              <a:t> and </a:t>
            </a:r>
            <a:r>
              <a:rPr lang="de-AT" dirty="0" err="1"/>
              <a:t>implementations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ChatGPT. Some </a:t>
            </a:r>
            <a:r>
              <a:rPr lang="de-AT" dirty="0" err="1"/>
              <a:t>students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ChatGPT </a:t>
            </a:r>
            <a:r>
              <a:rPr lang="de-AT" dirty="0" err="1"/>
              <a:t>directly</a:t>
            </a:r>
            <a:r>
              <a:rPr lang="de-AT" dirty="0"/>
              <a:t>,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others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tools</a:t>
            </a:r>
            <a:r>
              <a:rPr lang="de-AT" dirty="0"/>
              <a:t> </a:t>
            </a:r>
            <a:r>
              <a:rPr lang="de-AT" dirty="0" err="1"/>
              <a:t>based</a:t>
            </a:r>
            <a:r>
              <a:rPr lang="de-AT" dirty="0"/>
              <a:t> on ChatGPT. This </a:t>
            </a:r>
            <a:r>
              <a:rPr lang="de-AT" dirty="0" err="1"/>
              <a:t>makes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difficult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know</a:t>
            </a:r>
            <a:r>
              <a:rPr lang="de-AT" dirty="0"/>
              <a:t> </a:t>
            </a:r>
            <a:r>
              <a:rPr lang="de-AT" dirty="0" err="1"/>
              <a:t>whether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observed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ChatGPT </a:t>
            </a:r>
            <a:r>
              <a:rPr lang="de-AT" dirty="0" err="1"/>
              <a:t>itself</a:t>
            </a:r>
            <a:r>
              <a:rPr lang="de-AT" dirty="0"/>
              <a:t>,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instructional</a:t>
            </a:r>
            <a:r>
              <a:rPr lang="de-AT" dirty="0"/>
              <a:t> design,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novelty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technology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/>
              <a:t>So,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critical</a:t>
            </a:r>
            <a:r>
              <a:rPr lang="de-AT" dirty="0"/>
              <a:t> </a:t>
            </a:r>
            <a:r>
              <a:rPr lang="de-AT" dirty="0" err="1"/>
              <a:t>evaluation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: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findings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promising, but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should</a:t>
            </a:r>
            <a:r>
              <a:rPr lang="de-AT" dirty="0"/>
              <a:t> not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interpreted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final </a:t>
            </a:r>
            <a:r>
              <a:rPr lang="de-AT" dirty="0" err="1"/>
              <a:t>proof</a:t>
            </a:r>
            <a:r>
              <a:rPr lang="de-AT" dirty="0"/>
              <a:t>. The meta-analysis </a:t>
            </a:r>
            <a:r>
              <a:rPr lang="de-AT" dirty="0" err="1"/>
              <a:t>provides</a:t>
            </a:r>
            <a:r>
              <a:rPr lang="de-AT" dirty="0"/>
              <a:t> </a:t>
            </a:r>
            <a:r>
              <a:rPr lang="de-AT" dirty="0" err="1"/>
              <a:t>valuable</a:t>
            </a:r>
            <a:r>
              <a:rPr lang="de-AT" dirty="0"/>
              <a:t> </a:t>
            </a:r>
            <a:r>
              <a:rPr lang="de-AT" dirty="0" err="1"/>
              <a:t>evidence</a:t>
            </a:r>
            <a:r>
              <a:rPr lang="de-AT" dirty="0"/>
              <a:t>, but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field</a:t>
            </a:r>
            <a:r>
              <a:rPr lang="de-AT" dirty="0"/>
              <a:t> still </a:t>
            </a:r>
            <a:r>
              <a:rPr lang="de-AT" dirty="0" err="1"/>
              <a:t>needs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long</a:t>
            </a:r>
            <a:r>
              <a:rPr lang="de-AT" dirty="0"/>
              <a:t>-term, high-quality and </a:t>
            </a:r>
            <a:r>
              <a:rPr lang="de-AT" dirty="0" err="1"/>
              <a:t>context</a:t>
            </a:r>
            <a:r>
              <a:rPr lang="de-AT" dirty="0"/>
              <a:t>-sensitive experimental </a:t>
            </a:r>
            <a:r>
              <a:rPr lang="de-AT" dirty="0" err="1"/>
              <a:t>research</a:t>
            </a:r>
            <a:r>
              <a:rPr lang="de-AT" dirty="0"/>
              <a:t>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87561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23699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25E8D-1920-4741-80B4-A268E6871E94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9073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3">
            <a:extLst>
              <a:ext uri="{FF2B5EF4-FFF2-40B4-BE49-F238E27FC236}">
                <a16:creationId xmlns:a16="http://schemas.microsoft.com/office/drawing/2014/main" id="{E634DF09-77AE-8CFA-49F4-2E7E3CEF3BA6}"/>
              </a:ext>
            </a:extLst>
          </p:cNvPr>
          <p:cNvGrpSpPr/>
          <p:nvPr/>
        </p:nvGrpSpPr>
        <p:grpSpPr>
          <a:xfrm>
            <a:off x="8991600" y="0"/>
            <a:ext cx="9296400" cy="10309861"/>
            <a:chOff x="0" y="0"/>
            <a:chExt cx="2570205" cy="2899719"/>
          </a:xfrm>
          <a:solidFill>
            <a:srgbClr val="6D98BA"/>
          </a:solidFill>
        </p:grpSpPr>
        <p:sp>
          <p:nvSpPr>
            <p:cNvPr id="7" name="Freeform 4">
              <a:extLst>
                <a:ext uri="{FF2B5EF4-FFF2-40B4-BE49-F238E27FC236}">
                  <a16:creationId xmlns:a16="http://schemas.microsoft.com/office/drawing/2014/main" id="{D6F447FD-0BEE-0006-4259-B057955FD20C}"/>
                </a:ext>
              </a:extLst>
            </p:cNvPr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grpFill/>
            <a:ln w="28575" cap="sq">
              <a:solidFill>
                <a:schemeClr val="tx1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3DAB61ED-D63C-519A-FD70-A18434C2C360}"/>
                </a:ext>
              </a:extLst>
            </p:cNvPr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Freeform 2"/>
          <p:cNvSpPr/>
          <p:nvPr/>
        </p:nvSpPr>
        <p:spPr>
          <a:xfrm>
            <a:off x="632461" y="3969270"/>
            <a:ext cx="7729481" cy="5893729"/>
          </a:xfrm>
          <a:custGeom>
            <a:avLst/>
            <a:gdLst/>
            <a:ahLst/>
            <a:cxnLst/>
            <a:rect l="l" t="t" r="r" b="b"/>
            <a:pathLst>
              <a:path w="7729481" h="5893729">
                <a:moveTo>
                  <a:pt x="0" y="0"/>
                </a:moveTo>
                <a:lnTo>
                  <a:pt x="7729481" y="0"/>
                </a:lnTo>
                <a:lnTo>
                  <a:pt x="7729481" y="5893729"/>
                </a:lnTo>
                <a:lnTo>
                  <a:pt x="0" y="58937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44E612F-67B2-D86D-EC5E-180C32037383}"/>
              </a:ext>
            </a:extLst>
          </p:cNvPr>
          <p:cNvSpPr txBox="1"/>
          <p:nvPr/>
        </p:nvSpPr>
        <p:spPr>
          <a:xfrm>
            <a:off x="1325876" y="1103174"/>
            <a:ext cx="1563624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Does ChatGPT enhance student learning? </a:t>
            </a:r>
            <a:br>
              <a:rPr lang="en-US" sz="6000" dirty="0">
                <a:latin typeface="Fredoka"/>
                <a:ea typeface="Fredoka"/>
                <a:cs typeface="Fredoka"/>
                <a:sym typeface="Fredoka"/>
              </a:rPr>
            </a:br>
            <a:r>
              <a:rPr lang="en-US" sz="6000" dirty="0">
                <a:latin typeface="Fredoka"/>
                <a:ea typeface="Fredoka"/>
                <a:cs typeface="Fredoka"/>
                <a:sym typeface="Fredoka"/>
              </a:rPr>
              <a:t>A systematic review and meta-analysis of experimental studies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E14A9CE-6968-670A-5915-39B744948801}"/>
              </a:ext>
            </a:extLst>
          </p:cNvPr>
          <p:cNvSpPr txBox="1"/>
          <p:nvPr/>
        </p:nvSpPr>
        <p:spPr>
          <a:xfrm>
            <a:off x="5279256" y="3998999"/>
            <a:ext cx="77294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3200" dirty="0">
                <a:latin typeface="Fredoka"/>
              </a:rPr>
              <a:t>Deng et al. (2024)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36465B-C739-E720-C6C3-9572C15F98F5}"/>
              </a:ext>
            </a:extLst>
          </p:cNvPr>
          <p:cNvSpPr txBox="1"/>
          <p:nvPr/>
        </p:nvSpPr>
        <p:spPr>
          <a:xfrm>
            <a:off x="10091681" y="7429500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Maria Clara Escanuela dos Santos</a:t>
            </a:r>
          </a:p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Marina Tatjana Hofer</a:t>
            </a:r>
          </a:p>
          <a:p>
            <a:r>
              <a:rPr lang="de-AT" sz="3600" dirty="0">
                <a:latin typeface="Century Gothic" panose="020B0502020202020204" pitchFamily="34" charset="0"/>
                <a:cs typeface="IrisUPC" panose="020B0502040204020203" pitchFamily="34" charset="-34"/>
              </a:rPr>
              <a:t>Christina Sophie Knes</a:t>
            </a:r>
          </a:p>
        </p:txBody>
      </p:sp>
      <p:pic>
        <p:nvPicPr>
          <p:cNvPr id="2050" name="Picture 2" descr="Chatgpt logo Icon">
            <a:extLst>
              <a:ext uri="{FF2B5EF4-FFF2-40B4-BE49-F238E27FC236}">
                <a16:creationId xmlns:a16="http://schemas.microsoft.com/office/drawing/2014/main" id="{FE1E4CFA-B9D9-4015-CE71-F5D42DE47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6591300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5243" y="1476394"/>
            <a:ext cx="7886250" cy="7334212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CB6488-6E08-1E6C-43C7-BBE1D91E7DEC}"/>
              </a:ext>
            </a:extLst>
          </p:cNvPr>
          <p:cNvSpPr txBox="1"/>
          <p:nvPr/>
        </p:nvSpPr>
        <p:spPr>
          <a:xfrm>
            <a:off x="10591800" y="723900"/>
            <a:ext cx="7050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Review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Study: Marina</a:t>
            </a:r>
          </a:p>
          <a:p>
            <a:r>
              <a:rPr lang="de-AT" dirty="0"/>
              <a:t>Main </a:t>
            </a:r>
            <a:r>
              <a:rPr lang="de-AT" dirty="0" err="1"/>
              <a:t>Results</a:t>
            </a:r>
            <a:r>
              <a:rPr lang="de-AT" dirty="0"/>
              <a:t>: Marina</a:t>
            </a:r>
          </a:p>
          <a:p>
            <a:r>
              <a:rPr lang="de-AT" dirty="0"/>
              <a:t>Quality and Prisma </a:t>
            </a:r>
            <a:r>
              <a:rPr lang="de-AT" dirty="0" err="1"/>
              <a:t>What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concluded</a:t>
            </a:r>
            <a:r>
              <a:rPr lang="de-AT" dirty="0"/>
              <a:t>: Christina</a:t>
            </a:r>
          </a:p>
          <a:p>
            <a:r>
              <a:rPr lang="de-AT" dirty="0" err="1"/>
              <a:t>Conclusion</a:t>
            </a:r>
            <a:r>
              <a:rPr lang="de-AT" dirty="0"/>
              <a:t> and Stakeholders: Maria Clara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B39EE-9387-7C49-BA99-4F6352710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A5E288-C61E-B3FC-2136-360FDFA4C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131397"/>
            <a:ext cx="9753600" cy="10024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FE6B35-91C6-D113-ACDE-04E07AA4783A}"/>
              </a:ext>
            </a:extLst>
          </p:cNvPr>
          <p:cNvSpPr txBox="1"/>
          <p:nvPr/>
        </p:nvSpPr>
        <p:spPr>
          <a:xfrm>
            <a:off x="571498" y="694669"/>
            <a:ext cx="7086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4400" dirty="0">
                <a:latin typeface="Fredoka" panose="020B0604020202020204" charset="0"/>
              </a:rPr>
              <a:t>PRISMA-</a:t>
            </a:r>
            <a:r>
              <a:rPr lang="de-AT" sz="4400" dirty="0" err="1">
                <a:latin typeface="Fredoka" panose="020B0604020202020204" charset="0"/>
              </a:rPr>
              <a:t>guided</a:t>
            </a:r>
            <a:r>
              <a:rPr lang="de-AT" sz="4400" dirty="0">
                <a:latin typeface="Fredoka" panose="020B0604020202020204" charset="0"/>
              </a:rPr>
              <a:t> </a:t>
            </a:r>
            <a:r>
              <a:rPr lang="de-AT" sz="4400" dirty="0" err="1">
                <a:latin typeface="Fredoka" panose="020B0604020202020204" charset="0"/>
              </a:rPr>
              <a:t>study</a:t>
            </a:r>
            <a:r>
              <a:rPr lang="de-AT" sz="4400" dirty="0">
                <a:latin typeface="Fredoka" panose="020B0604020202020204" charset="0"/>
              </a:rPr>
              <a:t> </a:t>
            </a:r>
            <a:r>
              <a:rPr lang="de-AT" sz="4400" dirty="0" err="1">
                <a:latin typeface="Fredoka" panose="020B0604020202020204" charset="0"/>
              </a:rPr>
              <a:t>selection</a:t>
            </a:r>
            <a:endParaRPr lang="de-AT" sz="4400" dirty="0">
              <a:latin typeface="Fredoka" panose="020B060402020202020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3C2C069-AA71-5C06-E494-E4B061CC408E}"/>
              </a:ext>
            </a:extLst>
          </p:cNvPr>
          <p:cNvSpPr txBox="1"/>
          <p:nvPr/>
        </p:nvSpPr>
        <p:spPr>
          <a:xfrm>
            <a:off x="1047747" y="2781300"/>
            <a:ext cx="613410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de-AT" sz="2400" dirty="0">
                <a:latin typeface="Century Gothic" panose="020B0502020202020204" pitchFamily="34" charset="0"/>
              </a:rPr>
              <a:t>Search </a:t>
            </a:r>
            <a:r>
              <a:rPr lang="de-AT" sz="2400" dirty="0" err="1">
                <a:latin typeface="Century Gothic" panose="020B0502020202020204" pitchFamily="34" charset="0"/>
              </a:rPr>
              <a:t>keywords</a:t>
            </a:r>
            <a:r>
              <a:rPr lang="de-AT" sz="2400" dirty="0">
                <a:latin typeface="Century Gothic" panose="020B0502020202020204" pitchFamily="34" charset="0"/>
              </a:rPr>
              <a:t> (e.g. ChatGPT,…)</a:t>
            </a:r>
          </a:p>
          <a:p>
            <a:pPr marL="457200" indent="-457200" algn="just">
              <a:buAutoNum type="arabicPeriod"/>
            </a:pPr>
            <a:r>
              <a:rPr lang="de-AT" sz="2400" dirty="0" err="1">
                <a:latin typeface="Century Gothic" panose="020B0502020202020204" pitchFamily="34" charset="0"/>
              </a:rPr>
              <a:t>Inclusion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criteria</a:t>
            </a:r>
            <a:r>
              <a:rPr lang="de-AT" sz="2400" dirty="0">
                <a:latin typeface="Century Gothic" panose="020B0502020202020204" pitchFamily="34" charset="0"/>
              </a:rPr>
              <a:t> (e.g. </a:t>
            </a:r>
            <a:r>
              <a:rPr lang="de-AT" sz="2400" dirty="0" err="1">
                <a:latin typeface="Century Gothic" panose="020B0502020202020204" pitchFamily="34" charset="0"/>
              </a:rPr>
              <a:t>used</a:t>
            </a:r>
            <a:r>
              <a:rPr lang="de-AT" sz="2400" dirty="0">
                <a:latin typeface="Century Gothic" panose="020B0502020202020204" pitchFamily="34" charset="0"/>
              </a:rPr>
              <a:t> ChatGPT, </a:t>
            </a:r>
            <a:r>
              <a:rPr lang="de-AT" sz="2400" dirty="0" err="1">
                <a:latin typeface="Century Gothic" panose="020B0502020202020204" pitchFamily="34" charset="0"/>
              </a:rPr>
              <a:t>used</a:t>
            </a:r>
            <a:r>
              <a:rPr lang="de-AT" sz="2400" dirty="0">
                <a:latin typeface="Century Gothic" panose="020B0502020202020204" pitchFamily="34" charset="0"/>
              </a:rPr>
              <a:t> experimental and quasi-experimental </a:t>
            </a:r>
            <a:r>
              <a:rPr lang="de-AT" sz="2400" dirty="0" err="1">
                <a:latin typeface="Century Gothic" panose="020B0502020202020204" pitchFamily="34" charset="0"/>
              </a:rPr>
              <a:t>designs</a:t>
            </a:r>
            <a:r>
              <a:rPr lang="de-AT" sz="2400" dirty="0">
                <a:latin typeface="Century Gothic" panose="020B0502020202020204" pitchFamily="34" charset="0"/>
              </a:rPr>
              <a:t>,…)</a:t>
            </a:r>
          </a:p>
          <a:p>
            <a:pPr marL="457200" indent="-457200" algn="just">
              <a:buAutoNum type="arabicPeriod"/>
            </a:pPr>
            <a:r>
              <a:rPr lang="de-AT" sz="2400" dirty="0" err="1">
                <a:latin typeface="Century Gothic" panose="020B0502020202020204" pitchFamily="34" charset="0"/>
              </a:rPr>
              <a:t>Exclusion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criteria</a:t>
            </a:r>
            <a:r>
              <a:rPr lang="de-AT" sz="2400" dirty="0">
                <a:latin typeface="Century Gothic" panose="020B0502020202020204" pitchFamily="34" charset="0"/>
              </a:rPr>
              <a:t> (e.g. </a:t>
            </a:r>
            <a:r>
              <a:rPr lang="de-AT" sz="2400" dirty="0" err="1">
                <a:latin typeface="Century Gothic" panose="020B0502020202020204" pitchFamily="34" charset="0"/>
              </a:rPr>
              <a:t>no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focus</a:t>
            </a:r>
            <a:r>
              <a:rPr lang="de-AT" sz="2400" dirty="0">
                <a:latin typeface="Century Gothic" panose="020B0502020202020204" pitchFamily="34" charset="0"/>
              </a:rPr>
              <a:t> on </a:t>
            </a:r>
            <a:r>
              <a:rPr lang="de-AT" sz="2400" dirty="0" err="1">
                <a:latin typeface="Century Gothic" panose="020B0502020202020204" pitchFamily="34" charset="0"/>
              </a:rPr>
              <a:t>rich</a:t>
            </a:r>
            <a:r>
              <a:rPr lang="de-AT" sz="2400" dirty="0">
                <a:latin typeface="Century Gothic" panose="020B0502020202020204" pitchFamily="34" charset="0"/>
              </a:rPr>
              <a:t> qualitative </a:t>
            </a:r>
            <a:r>
              <a:rPr lang="de-AT" sz="2400" dirty="0" err="1">
                <a:latin typeface="Century Gothic" panose="020B0502020202020204" pitchFamily="34" charset="0"/>
              </a:rPr>
              <a:t>data</a:t>
            </a:r>
            <a:r>
              <a:rPr lang="de-AT" sz="2400" dirty="0">
                <a:latin typeface="Century Gothic" panose="020B0502020202020204" pitchFamily="34" charset="0"/>
              </a:rPr>
              <a:t>, </a:t>
            </a:r>
            <a:r>
              <a:rPr lang="de-AT" sz="2400" dirty="0" err="1">
                <a:latin typeface="Century Gothic" panose="020B0502020202020204" pitchFamily="34" charset="0"/>
              </a:rPr>
              <a:t>focus</a:t>
            </a:r>
            <a:r>
              <a:rPr lang="de-AT" sz="2400" dirty="0">
                <a:latin typeface="Century Gothic" panose="020B0502020202020204" pitchFamily="34" charset="0"/>
              </a:rPr>
              <a:t> on </a:t>
            </a:r>
            <a:r>
              <a:rPr lang="de-AT" sz="2400" dirty="0" err="1">
                <a:latin typeface="Century Gothic" panose="020B0502020202020204" pitchFamily="34" charset="0"/>
              </a:rPr>
              <a:t>broader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impact</a:t>
            </a:r>
            <a:r>
              <a:rPr lang="de-AT" sz="2400" dirty="0">
                <a:latin typeface="Century Gothic" panose="020B0502020202020204" pitchFamily="34" charset="0"/>
              </a:rPr>
              <a:t> </a:t>
            </a:r>
            <a:r>
              <a:rPr lang="de-AT" sz="2400" dirty="0" err="1">
                <a:latin typeface="Century Gothic" panose="020B0502020202020204" pitchFamily="34" charset="0"/>
              </a:rPr>
              <a:t>of</a:t>
            </a:r>
            <a:r>
              <a:rPr lang="de-AT" sz="2400" dirty="0">
                <a:latin typeface="Century Gothic" panose="020B0502020202020204" pitchFamily="34" charset="0"/>
              </a:rPr>
              <a:t> non-gen AI,…)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FEA4FB85-2386-1D72-B539-EE82701E767A}"/>
              </a:ext>
            </a:extLst>
          </p:cNvPr>
          <p:cNvSpPr/>
          <p:nvPr/>
        </p:nvSpPr>
        <p:spPr>
          <a:xfrm>
            <a:off x="1447800" y="6099037"/>
            <a:ext cx="5253728" cy="3493294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66277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364B6F1-A225-E9E3-7146-DD4F9C82D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509" y="0"/>
            <a:ext cx="14708981" cy="102323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3AC48D8-10F6-F342-E8AF-815A9D9BDAD2}"/>
              </a:ext>
            </a:extLst>
          </p:cNvPr>
          <p:cNvSpPr/>
          <p:nvPr/>
        </p:nvSpPr>
        <p:spPr>
          <a:xfrm>
            <a:off x="1238249" y="8343900"/>
            <a:ext cx="15811500" cy="1888434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3026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0EDD8E0F-E14B-BD80-4157-60EF7989AD67}"/>
              </a:ext>
            </a:extLst>
          </p:cNvPr>
          <p:cNvSpPr txBox="1"/>
          <p:nvPr/>
        </p:nvSpPr>
        <p:spPr>
          <a:xfrm>
            <a:off x="6477000" y="1112101"/>
            <a:ext cx="10363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4800" dirty="0">
                <a:latin typeface="Fredoka" panose="020B0604020202020204" charset="0"/>
              </a:rPr>
              <a:t>Quality</a:t>
            </a:r>
            <a:r>
              <a:rPr lang="de-AT" sz="2400" dirty="0"/>
              <a:t> </a:t>
            </a:r>
            <a:r>
              <a:rPr lang="de-AT" sz="4800" dirty="0">
                <a:latin typeface="Fredoka" panose="020B0604020202020204" charset="0"/>
              </a:rPr>
              <a:t>Assessment </a:t>
            </a:r>
            <a:r>
              <a:rPr lang="de-AT" sz="4800" dirty="0" err="1">
                <a:latin typeface="Fredoka" panose="020B0604020202020204" charset="0"/>
              </a:rPr>
              <a:t>using</a:t>
            </a:r>
            <a:r>
              <a:rPr lang="de-AT" sz="4800" dirty="0">
                <a:latin typeface="Fredoka" panose="020B0604020202020204" charset="0"/>
              </a:rPr>
              <a:t> MAGIC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5AFFE19B-B6D0-EF0D-8AF4-A1C0036D1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244170"/>
              </p:ext>
            </p:extLst>
          </p:nvPr>
        </p:nvGraphicFramePr>
        <p:xfrm>
          <a:off x="5486400" y="2441999"/>
          <a:ext cx="12344400" cy="731520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59577852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1188454792"/>
                    </a:ext>
                  </a:extLst>
                </a:gridCol>
              </a:tblGrid>
              <a:tr h="706107">
                <a:tc>
                  <a:txBody>
                    <a:bodyPr/>
                    <a:lstStyle/>
                    <a:p>
                      <a:r>
                        <a:rPr lang="de-AT" sz="4000" dirty="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4000" dirty="0"/>
                        <a:t>Assessment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9484184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>
                          <a:latin typeface="Century Gothic" panose="020B0502020202020204" pitchFamily="34" charset="0"/>
                        </a:rPr>
                        <a:t>M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agnitude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Positive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overall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effect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769846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A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rticulation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Clear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research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question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and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methods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1055271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G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enerality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Multiple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educational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contexts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81196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 err="1">
                          <a:latin typeface="Century Gothic" panose="020B0502020202020204" pitchFamily="34" charset="0"/>
                        </a:rPr>
                        <a:t>I</a:t>
                      </a:r>
                      <a:r>
                        <a:rPr lang="de-AT" sz="3600" b="0" dirty="0" err="1">
                          <a:latin typeface="Century Gothic" panose="020B0502020202020204" pitchFamily="34" charset="0"/>
                        </a:rPr>
                        <a:t>n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terestingness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High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relevance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for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education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343700"/>
                  </a:ext>
                </a:extLst>
              </a:tr>
              <a:tr h="1321819">
                <a:tc>
                  <a:txBody>
                    <a:bodyPr/>
                    <a:lstStyle/>
                    <a:p>
                      <a:r>
                        <a:rPr lang="de-AT" sz="3600" b="1" dirty="0">
                          <a:latin typeface="Century Gothic" panose="020B0502020202020204" pitchFamily="34" charset="0"/>
                        </a:rPr>
                        <a:t>C</a:t>
                      </a:r>
                      <a:r>
                        <a:rPr lang="de-AT" sz="3600" b="0" dirty="0">
                          <a:latin typeface="Century Gothic" panose="020B0502020202020204" pitchFamily="34" charset="0"/>
                        </a:rPr>
                        <a:t>r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edibility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sz="3600" dirty="0">
                          <a:latin typeface="Century Gothic" panose="020B0502020202020204" pitchFamily="34" charset="0"/>
                        </a:rPr>
                        <a:t>PRISMA and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quality</a:t>
                      </a:r>
                      <a:r>
                        <a:rPr lang="de-AT" sz="3600" dirty="0"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de-AT" sz="3600" dirty="0" err="1">
                          <a:latin typeface="Century Gothic" panose="020B0502020202020204" pitchFamily="34" charset="0"/>
                        </a:rPr>
                        <a:t>appraisal</a:t>
                      </a:r>
                      <a:endParaRPr lang="de-AT" sz="3600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310704"/>
                  </a:ext>
                </a:extLst>
              </a:tr>
            </a:tbl>
          </a:graphicData>
        </a:graphic>
      </p:graphicFrame>
      <p:sp>
        <p:nvSpPr>
          <p:cNvPr id="10" name="Freeform 2">
            <a:extLst>
              <a:ext uri="{FF2B5EF4-FFF2-40B4-BE49-F238E27FC236}">
                <a16:creationId xmlns:a16="http://schemas.microsoft.com/office/drawing/2014/main" id="{2C74592C-1E29-BA63-FED4-45CBDDE5039A}"/>
              </a:ext>
            </a:extLst>
          </p:cNvPr>
          <p:cNvSpPr/>
          <p:nvPr/>
        </p:nvSpPr>
        <p:spPr>
          <a:xfrm>
            <a:off x="441960" y="4381500"/>
            <a:ext cx="4708358" cy="5407477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pic>
        <p:nvPicPr>
          <p:cNvPr id="12" name="Grafik 11" descr="Sterne mit einfarbiger Füllung">
            <a:extLst>
              <a:ext uri="{FF2B5EF4-FFF2-40B4-BE49-F238E27FC236}">
                <a16:creationId xmlns:a16="http://schemas.microsoft.com/office/drawing/2014/main" id="{5C30494B-8E02-FA47-5C2D-66E96CC5A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78200" y="654901"/>
            <a:ext cx="9144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8CAA0-04E3-413B-3618-25730712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012C0003-8150-404A-4AA7-303C81DF5D40}"/>
              </a:ext>
            </a:extLst>
          </p:cNvPr>
          <p:cNvSpPr txBox="1"/>
          <p:nvPr/>
        </p:nvSpPr>
        <p:spPr>
          <a:xfrm>
            <a:off x="1295400" y="874067"/>
            <a:ext cx="12344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6000" dirty="0" err="1">
                <a:latin typeface="Fredoka"/>
              </a:rPr>
              <a:t>Limitations</a:t>
            </a:r>
            <a:r>
              <a:rPr lang="de-AT" dirty="0"/>
              <a:t> </a:t>
            </a:r>
            <a:r>
              <a:rPr lang="de-AT" sz="6000" dirty="0">
                <a:latin typeface="Fredoka"/>
              </a:rPr>
              <a:t>and Potential </a:t>
            </a:r>
            <a:r>
              <a:rPr lang="de-AT" sz="6000" dirty="0" err="1">
                <a:latin typeface="Fredoka"/>
              </a:rPr>
              <a:t>Biases</a:t>
            </a:r>
            <a:endParaRPr lang="de-AT" sz="6000" dirty="0">
              <a:latin typeface="Fredoka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F7CA737-0D55-BDDA-2670-9E4F2D5EA68F}"/>
              </a:ext>
            </a:extLst>
          </p:cNvPr>
          <p:cNvSpPr txBox="1"/>
          <p:nvPr/>
        </p:nvSpPr>
        <p:spPr>
          <a:xfrm>
            <a:off x="1981200" y="2677130"/>
            <a:ext cx="16992600" cy="353943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>
              <a:buNone/>
            </a:pPr>
            <a:r>
              <a:rPr lang="de-AT" sz="4400" b="1" dirty="0" err="1">
                <a:latin typeface="Fredoka" panose="020B0604020202020204" charset="0"/>
              </a:rPr>
              <a:t>Limitations</a:t>
            </a:r>
            <a:endParaRPr lang="de-AT" sz="4400" b="1" dirty="0">
              <a:latin typeface="Fredoka" panose="020B0604020202020204" charset="0"/>
            </a:endParaRPr>
          </a:p>
          <a:p>
            <a:pPr>
              <a:buNone/>
            </a:pPr>
            <a:endParaRPr lang="de-AT" sz="3600" b="1" dirty="0">
              <a:latin typeface="Fredoka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Rapidly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evolving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technology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Short-term </a:t>
            </a:r>
            <a:r>
              <a:rPr lang="de-AT" sz="3600" dirty="0" err="1">
                <a:latin typeface="Century Gothic" panose="020B0502020202020204" pitchFamily="34" charset="0"/>
              </a:rPr>
              <a:t>interventions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Heterogeneity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across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studies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Limited </a:t>
            </a:r>
            <a:r>
              <a:rPr lang="de-AT" sz="3600" dirty="0" err="1">
                <a:latin typeface="Century Gothic" panose="020B0502020202020204" pitchFamily="34" charset="0"/>
              </a:rPr>
              <a:t>long</a:t>
            </a:r>
            <a:r>
              <a:rPr lang="de-AT" sz="3600" dirty="0">
                <a:latin typeface="Century Gothic" panose="020B0502020202020204" pitchFamily="34" charset="0"/>
              </a:rPr>
              <a:t>-term </a:t>
            </a:r>
            <a:r>
              <a:rPr lang="de-AT" sz="3600" dirty="0" err="1">
                <a:latin typeface="Century Gothic" panose="020B0502020202020204" pitchFamily="34" charset="0"/>
              </a:rPr>
              <a:t>evidence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>
              <a:buNone/>
            </a:pPr>
            <a:r>
              <a:rPr lang="de-AT" sz="4400" b="1" dirty="0">
                <a:latin typeface="Fredoka" panose="020B0604020202020204" charset="0"/>
              </a:rPr>
              <a:t>Potential </a:t>
            </a:r>
            <a:r>
              <a:rPr lang="de-AT" sz="4400" b="1" dirty="0" err="1">
                <a:latin typeface="Fredoka" panose="020B0604020202020204" charset="0"/>
              </a:rPr>
              <a:t>Biases</a:t>
            </a:r>
            <a:endParaRPr lang="de-AT" sz="4400" b="1" dirty="0">
              <a:latin typeface="Fredoka" panose="020B0604020202020204" charset="0"/>
            </a:endParaRPr>
          </a:p>
          <a:p>
            <a:pPr>
              <a:buNone/>
            </a:pPr>
            <a:endParaRPr lang="de-AT" sz="3600" b="1" dirty="0">
              <a:latin typeface="Fredoka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Publication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bias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Small </a:t>
            </a:r>
            <a:r>
              <a:rPr lang="de-AT" sz="3600" dirty="0" err="1">
                <a:latin typeface="Century Gothic" panose="020B0502020202020204" pitchFamily="34" charset="0"/>
              </a:rPr>
              <a:t>study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effects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 err="1">
                <a:latin typeface="Century Gothic" panose="020B0502020202020204" pitchFamily="34" charset="0"/>
              </a:rPr>
              <a:t>Novelty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  <a:r>
              <a:rPr lang="de-AT" sz="3600" dirty="0" err="1">
                <a:latin typeface="Century Gothic" panose="020B0502020202020204" pitchFamily="34" charset="0"/>
              </a:rPr>
              <a:t>effect</a:t>
            </a:r>
            <a:r>
              <a:rPr lang="de-AT" sz="3600" dirty="0">
                <a:latin typeface="Century Gothic" panose="020B0502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AT" sz="3600" dirty="0">
                <a:latin typeface="Century Gothic" panose="020B0502020202020204" pitchFamily="34" charset="0"/>
              </a:rPr>
              <a:t>Different ChatGPT </a:t>
            </a:r>
            <a:r>
              <a:rPr lang="de-AT" sz="3600" dirty="0" err="1">
                <a:latin typeface="Century Gothic" panose="020B0502020202020204" pitchFamily="34" charset="0"/>
              </a:rPr>
              <a:t>versions</a:t>
            </a:r>
            <a:endParaRPr lang="de-AT" sz="3600" dirty="0">
              <a:latin typeface="Century Gothic" panose="020B0502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1F6912-BE5D-98B0-97B4-469B5971EA84}"/>
              </a:ext>
            </a:extLst>
          </p:cNvPr>
          <p:cNvSpPr txBox="1"/>
          <p:nvPr/>
        </p:nvSpPr>
        <p:spPr>
          <a:xfrm>
            <a:off x="2400299" y="9426970"/>
            <a:ext cx="13487400" cy="584775"/>
          </a:xfrm>
          <a:prstGeom prst="rect">
            <a:avLst/>
          </a:prstGeom>
          <a:solidFill>
            <a:schemeClr val="accent6">
              <a:lumMod val="75000"/>
              <a:alpha val="43137"/>
            </a:schemeClr>
          </a:solidFill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de-AT" sz="3200" dirty="0">
                <a:latin typeface="Fredoka" panose="020B0604020202020204" charset="0"/>
              </a:rPr>
              <a:t>Key Message: </a:t>
            </a:r>
            <a:r>
              <a:rPr lang="de-AT" sz="3200" dirty="0" err="1">
                <a:latin typeface="Candara" panose="020E0502030303020204" pitchFamily="34" charset="0"/>
              </a:rPr>
              <a:t>Results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are</a:t>
            </a:r>
            <a:r>
              <a:rPr lang="de-AT" sz="3200" dirty="0">
                <a:latin typeface="Candara" panose="020E0502030303020204" pitchFamily="34" charset="0"/>
              </a:rPr>
              <a:t> promising, but </a:t>
            </a:r>
            <a:r>
              <a:rPr lang="de-AT" sz="3200" dirty="0" err="1">
                <a:latin typeface="Candara" panose="020E0502030303020204" pitchFamily="34" charset="0"/>
              </a:rPr>
              <a:t>should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be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interpreted</a:t>
            </a:r>
            <a:r>
              <a:rPr lang="de-AT" sz="3200" dirty="0">
                <a:latin typeface="Candara" panose="020E0502030303020204" pitchFamily="34" charset="0"/>
              </a:rPr>
              <a:t> </a:t>
            </a:r>
            <a:r>
              <a:rPr lang="de-AT" sz="3200" dirty="0" err="1">
                <a:latin typeface="Candara" panose="020E0502030303020204" pitchFamily="34" charset="0"/>
              </a:rPr>
              <a:t>cautiously</a:t>
            </a:r>
            <a:r>
              <a:rPr lang="de-AT" sz="3200" dirty="0"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2" name="Freeform 2">
            <a:extLst>
              <a:ext uri="{FF2B5EF4-FFF2-40B4-BE49-F238E27FC236}">
                <a16:creationId xmlns:a16="http://schemas.microsoft.com/office/drawing/2014/main" id="{EC05AF14-A1AD-A0A0-844A-D1CBEF5CD868}"/>
              </a:ext>
            </a:extLst>
          </p:cNvPr>
          <p:cNvSpPr/>
          <p:nvPr/>
        </p:nvSpPr>
        <p:spPr>
          <a:xfrm>
            <a:off x="6661746" y="6515100"/>
            <a:ext cx="4964505" cy="3011928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520760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63205" y="8014249"/>
            <a:ext cx="3072771" cy="2273564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Textfeld 6">
            <a:extLst>
              <a:ext uri="{FF2B5EF4-FFF2-40B4-BE49-F238E27FC236}">
                <a16:creationId xmlns:a16="http://schemas.microsoft.com/office/drawing/2014/main" id="{DDC4B823-B08E-393D-BB33-59E1B92A6383}"/>
              </a:ext>
            </a:extLst>
          </p:cNvPr>
          <p:cNvSpPr txBox="1"/>
          <p:nvPr/>
        </p:nvSpPr>
        <p:spPr>
          <a:xfrm>
            <a:off x="990600" y="419100"/>
            <a:ext cx="678926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AT" sz="6000" dirty="0" err="1">
                <a:latin typeface="Fredoka"/>
              </a:rPr>
              <a:t>Stakeholde</a:t>
            </a:r>
            <a:r>
              <a:rPr lang="de-AT" sz="6000" dirty="0">
                <a:latin typeface="Fredoka"/>
              </a:rPr>
              <a:t>rs</a:t>
            </a:r>
            <a:endParaRPr lang="de-AT" sz="6000" dirty="0">
              <a:latin typeface="Fredoka" panose="020B060402020202020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17FC7-9CF2-9577-EAF4-03BF75C059C4}"/>
              </a:ext>
            </a:extLst>
          </p:cNvPr>
          <p:cNvSpPr txBox="1"/>
          <p:nvPr/>
        </p:nvSpPr>
        <p:spPr>
          <a:xfrm>
            <a:off x="-2310319" y="2014436"/>
            <a:ext cx="914400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de-AT" sz="2400" b="0" i="0" u="none" strike="noStrike" dirty="0">
                <a:latin typeface="Fredoka"/>
                <a:ea typeface="Segoe UI"/>
                <a:cs typeface="Segoe UI"/>
              </a:rPr>
            </a:br>
            <a:r>
              <a:rPr lang="de-AT" sz="2400" b="0" i="0" u="none" strike="noStrike" dirty="0">
                <a:solidFill>
                  <a:srgbClr val="000000"/>
                </a:solidFill>
                <a:latin typeface="Fredoka"/>
                <a:ea typeface="Segoe UI"/>
                <a:cs typeface="Segoe UI"/>
              </a:rPr>
              <a:t>​</a:t>
            </a:r>
            <a:r>
              <a:rPr lang="de-AT" sz="3200" dirty="0" err="1">
                <a:solidFill>
                  <a:srgbClr val="000000"/>
                </a:solidFill>
                <a:latin typeface="Fredoka"/>
                <a:ea typeface="Segoe UI"/>
                <a:cs typeface="Segoe UI"/>
              </a:rPr>
              <a:t>Students</a:t>
            </a:r>
            <a:endParaRPr lang="de-AT" sz="3200" b="0" i="0" u="none" strike="noStrike" dirty="0">
              <a:solidFill>
                <a:srgbClr val="000000"/>
              </a:solidFill>
              <a:latin typeface="Fredoka"/>
              <a:ea typeface="Segoe UI"/>
              <a:cs typeface="Segoe UI"/>
            </a:endParaRPr>
          </a:p>
          <a:p>
            <a:pPr lvl="0" algn="ctr" rtl="0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C8B423-411C-9005-D2EA-25AB057B1977}"/>
              </a:ext>
            </a:extLst>
          </p:cNvPr>
          <p:cNvSpPr txBox="1"/>
          <p:nvPr/>
        </p:nvSpPr>
        <p:spPr>
          <a:xfrm>
            <a:off x="5885235" y="2306266"/>
            <a:ext cx="10765276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Cultivate AI literacy, foster their 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prompt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skills together and critical evaluate the AI generated content, ensuring more accuracy of the explanations.</a:t>
            </a:r>
          </a:p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1DD82B6-4912-565D-6C81-81032FF909A6}"/>
              </a:ext>
            </a:extLst>
          </p:cNvPr>
          <p:cNvSpPr txBox="1"/>
          <p:nvPr/>
        </p:nvSpPr>
        <p:spPr>
          <a:xfrm>
            <a:off x="1313235" y="3587075"/>
            <a:ext cx="9144000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>
                <a:latin typeface="Fredoka"/>
              </a:rPr>
              <a:t>Teachers</a:t>
            </a:r>
            <a:endParaRPr lang="en-US" sz="3200" dirty="0">
              <a:latin typeface="Fredoka"/>
            </a:endParaRPr>
          </a:p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FE9CCB2-FF13-3FFB-C3BC-3C6823B2C8EE}"/>
              </a:ext>
            </a:extLst>
          </p:cNvPr>
          <p:cNvSpPr txBox="1"/>
          <p:nvPr/>
        </p:nvSpPr>
        <p:spPr>
          <a:xfrm>
            <a:off x="5885233" y="3587075"/>
            <a:ext cx="10773383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Focus more on developing critical thinking and problem-solving skills, shifting to 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project-based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assessments.</a:t>
            </a:r>
            <a:endParaRPr lang="en-US" sz="240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A626C72-2AE4-AFBB-6F6A-02E9A2237B5F}"/>
              </a:ext>
            </a:extLst>
          </p:cNvPr>
          <p:cNvSpPr txBox="1"/>
          <p:nvPr/>
        </p:nvSpPr>
        <p:spPr>
          <a:xfrm>
            <a:off x="1313235" y="4819245"/>
            <a:ext cx="9144000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>
                <a:latin typeface="Fredoka"/>
              </a:rPr>
              <a:t>Universities</a:t>
            </a:r>
            <a:endParaRPr lang="pt-BR" sz="3200"/>
          </a:p>
          <a:p>
            <a:endParaRPr lang="pt-BR"/>
          </a:p>
          <a:p>
            <a:pPr algn="ctr"/>
            <a:endParaRPr lang="pt-BR">
              <a:ea typeface="Calibri"/>
              <a:cs typeface="Calibri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ECE02A1-5368-9BBF-DE35-224153F2EEE9}"/>
              </a:ext>
            </a:extLst>
          </p:cNvPr>
          <p:cNvSpPr txBox="1"/>
          <p:nvPr/>
        </p:nvSpPr>
        <p:spPr>
          <a:xfrm>
            <a:off x="5885235" y="4819244"/>
            <a:ext cx="10757170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Need to incorporate authenticity and quality metrics and tasks that involves unique contexts and personal experiences, together with more quality evaluations.</a:t>
            </a:r>
          </a:p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2563EA3-24AD-934A-55BD-9C2A07BA1DF6}"/>
              </a:ext>
            </a:extLst>
          </p:cNvPr>
          <p:cNvSpPr txBox="1"/>
          <p:nvPr/>
        </p:nvSpPr>
        <p:spPr>
          <a:xfrm>
            <a:off x="1313235" y="6059522"/>
            <a:ext cx="9144000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>
                <a:latin typeface="Fredoka"/>
              </a:rPr>
              <a:t>Researchers</a:t>
            </a:r>
            <a:endParaRPr lang="en-US" sz="3200" dirty="0">
              <a:latin typeface="Fredoka"/>
            </a:endParaRPr>
          </a:p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041EFAB-9FE8-DD6B-5296-B1DD3BE8C85E}"/>
              </a:ext>
            </a:extLst>
          </p:cNvPr>
          <p:cNvSpPr txBox="1"/>
          <p:nvPr/>
        </p:nvSpPr>
        <p:spPr>
          <a:xfrm>
            <a:off x="5885235" y="6059520"/>
            <a:ext cx="11008468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Must develop experimental designs, conduct power analyses to ensure 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sufficient sample sizes and evaluate long-term impacts.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2653954-F820-B143-52A7-62C3E71D3EF9}"/>
              </a:ext>
            </a:extLst>
          </p:cNvPr>
          <p:cNvSpPr txBox="1"/>
          <p:nvPr/>
        </p:nvSpPr>
        <p:spPr>
          <a:xfrm>
            <a:off x="1313235" y="7113351"/>
            <a:ext cx="9144000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dirty="0">
                <a:latin typeface="Fredoka"/>
              </a:rPr>
              <a:t>Policy </a:t>
            </a:r>
            <a:r>
              <a:rPr lang="en-US" sz="3200">
                <a:latin typeface="Fredoka"/>
              </a:rPr>
              <a:t>makers</a:t>
            </a:r>
            <a:endParaRPr lang="en-US" sz="3200" dirty="0">
              <a:latin typeface="Fredoka"/>
            </a:endParaRPr>
          </a:p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C40282D-421F-655A-C66A-84428AE497B7}"/>
              </a:ext>
            </a:extLst>
          </p:cNvPr>
          <p:cNvSpPr txBox="1"/>
          <p:nvPr/>
        </p:nvSpPr>
        <p:spPr>
          <a:xfrm>
            <a:off x="5885234" y="7170098"/>
            <a:ext cx="10627468" cy="11242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Prioritize evidence based on AI integration to a more responsible </a:t>
            </a:r>
            <a:r>
              <a:rPr lang="en-US" sz="2400" err="1">
                <a:solidFill>
                  <a:srgbClr val="303030"/>
                </a:solidFill>
                <a:latin typeface="Google Sans Text"/>
              </a:rPr>
              <a:t>implementati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on grounded in a </a:t>
            </a:r>
            <a:r>
              <a:rPr lang="en-US" sz="2400" err="1">
                <a:solidFill>
                  <a:srgbClr val="303030"/>
                </a:solidFill>
                <a:latin typeface="Google Sans Text"/>
              </a:rPr>
              <a:t>compre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hension of its impacts on learning outcomes.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ED312DFB-0A93-5413-C2B5-A76F46EF61C6}"/>
              </a:ext>
            </a:extLst>
          </p:cNvPr>
          <p:cNvCxnSpPr/>
          <p:nvPr/>
        </p:nvCxnSpPr>
        <p:spPr>
          <a:xfrm flipV="1">
            <a:off x="4391414" y="2629584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5BC0C349-4FFD-E1D2-CF76-179C0C3F441B}"/>
              </a:ext>
            </a:extLst>
          </p:cNvPr>
          <p:cNvCxnSpPr>
            <a:cxnSpLocks/>
          </p:cNvCxnSpPr>
          <p:nvPr/>
        </p:nvCxnSpPr>
        <p:spPr>
          <a:xfrm flipV="1">
            <a:off x="4391414" y="3967137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9C0DBC03-5C00-2B13-F7CC-C4FB7D319090}"/>
              </a:ext>
            </a:extLst>
          </p:cNvPr>
          <p:cNvCxnSpPr>
            <a:cxnSpLocks/>
          </p:cNvCxnSpPr>
          <p:nvPr/>
        </p:nvCxnSpPr>
        <p:spPr>
          <a:xfrm flipV="1">
            <a:off x="4391413" y="5142562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25E93B4B-95CB-426A-6D71-2F745FCB993F}"/>
              </a:ext>
            </a:extLst>
          </p:cNvPr>
          <p:cNvCxnSpPr>
            <a:cxnSpLocks/>
          </p:cNvCxnSpPr>
          <p:nvPr/>
        </p:nvCxnSpPr>
        <p:spPr>
          <a:xfrm flipV="1">
            <a:off x="4391415" y="6439583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94336057-411F-7181-2308-42BF713D2CFD}"/>
              </a:ext>
            </a:extLst>
          </p:cNvPr>
          <p:cNvCxnSpPr>
            <a:cxnSpLocks/>
          </p:cNvCxnSpPr>
          <p:nvPr/>
        </p:nvCxnSpPr>
        <p:spPr>
          <a:xfrm flipV="1">
            <a:off x="4391414" y="7501520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ipse 7">
            <a:extLst>
              <a:ext uri="{FF2B5EF4-FFF2-40B4-BE49-F238E27FC236}">
                <a16:creationId xmlns:a16="http://schemas.microsoft.com/office/drawing/2014/main" id="{7DEE360C-52D2-C572-A335-4BD66842E11E}"/>
              </a:ext>
            </a:extLst>
          </p:cNvPr>
          <p:cNvSpPr/>
          <p:nvPr/>
        </p:nvSpPr>
        <p:spPr>
          <a:xfrm>
            <a:off x="1788856" y="2075119"/>
            <a:ext cx="4379523" cy="247956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Freeform 2"/>
          <p:cNvSpPr/>
          <p:nvPr/>
        </p:nvSpPr>
        <p:spPr>
          <a:xfrm>
            <a:off x="14915157" y="7463955"/>
            <a:ext cx="2821882" cy="2823759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Textfeld 6">
            <a:extLst>
              <a:ext uri="{FF2B5EF4-FFF2-40B4-BE49-F238E27FC236}">
                <a16:creationId xmlns:a16="http://schemas.microsoft.com/office/drawing/2014/main" id="{D2261334-C8DE-5300-7BAA-E7315DB34080}"/>
              </a:ext>
            </a:extLst>
          </p:cNvPr>
          <p:cNvSpPr txBox="1"/>
          <p:nvPr/>
        </p:nvSpPr>
        <p:spPr>
          <a:xfrm>
            <a:off x="990600" y="419100"/>
            <a:ext cx="678926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AT" sz="6000" dirty="0" err="1">
                <a:latin typeface="Fredoka"/>
              </a:rPr>
              <a:t>Conclusion</a:t>
            </a:r>
            <a:endParaRPr lang="de-AT" sz="6000" dirty="0" err="1">
              <a:latin typeface="Fredoka" panose="020B060402020202020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03C6F8F-5ADF-F7CA-7D60-BCEB2046F70F}"/>
              </a:ext>
            </a:extLst>
          </p:cNvPr>
          <p:cNvSpPr txBox="1"/>
          <p:nvPr/>
        </p:nvSpPr>
        <p:spPr>
          <a:xfrm>
            <a:off x="2180493" y="2576146"/>
            <a:ext cx="358726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solidFill>
                  <a:srgbClr val="303030"/>
                </a:solidFill>
                <a:latin typeface="Google Sans Text"/>
              </a:rPr>
              <a:t>Early research focus on perceptions and attitudes of students and instructors</a:t>
            </a:r>
          </a:p>
          <a:p>
            <a:pPr algn="ctr"/>
            <a:endParaRPr lang="pt-BR"/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F6CE3F5C-E285-22E3-02F4-9A2C6A18FECF}"/>
              </a:ext>
            </a:extLst>
          </p:cNvPr>
          <p:cNvCxnSpPr/>
          <p:nvPr/>
        </p:nvCxnSpPr>
        <p:spPr>
          <a:xfrm flipV="1">
            <a:off x="6642245" y="3183500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28E2A87-4E79-253D-4CCA-C579F325CF80}"/>
              </a:ext>
            </a:extLst>
          </p:cNvPr>
          <p:cNvSpPr txBox="1"/>
          <p:nvPr/>
        </p:nvSpPr>
        <p:spPr>
          <a:xfrm>
            <a:off x="8168054" y="2758976"/>
            <a:ext cx="9952892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303030"/>
                </a:solidFill>
                <a:latin typeface="Google Sans Text"/>
              </a:rPr>
              <a:t>Do not provide concrete evidence of the actual impact.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r>
              <a:rPr lang="en-US" sz="2400" dirty="0">
                <a:solidFill>
                  <a:srgbClr val="303030"/>
                </a:solidFill>
                <a:ea typeface="+mn-lt"/>
                <a:cs typeface="+mn-lt"/>
              </a:rPr>
              <a:t>Effort to manage determining sufficient sample sizes.</a:t>
            </a:r>
            <a:endParaRPr lang="en-US" dirty="0"/>
          </a:p>
          <a:p>
            <a:pPr algn="ctr"/>
            <a:endParaRPr lang="pt-BR">
              <a:ea typeface="Calibri"/>
              <a:cs typeface="Calibri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22CD6FC-3C3A-CFF5-0F60-B887F13FFD53}"/>
              </a:ext>
            </a:extLst>
          </p:cNvPr>
          <p:cNvSpPr/>
          <p:nvPr/>
        </p:nvSpPr>
        <p:spPr>
          <a:xfrm>
            <a:off x="1769773" y="5486409"/>
            <a:ext cx="4379523" cy="247956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400">
                <a:solidFill>
                  <a:srgbClr val="303030"/>
                </a:solidFill>
                <a:latin typeface="Google Sans Text"/>
              </a:rPr>
              <a:t>Cross-sectional research</a:t>
            </a: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5C72F0B1-83D9-4901-463A-D01873F4F396}"/>
              </a:ext>
            </a:extLst>
          </p:cNvPr>
          <p:cNvCxnSpPr>
            <a:cxnSpLocks/>
          </p:cNvCxnSpPr>
          <p:nvPr/>
        </p:nvCxnSpPr>
        <p:spPr>
          <a:xfrm flipV="1">
            <a:off x="6642244" y="6726799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C75D0BF-D5B4-81C0-2339-4EA45B96E2B5}"/>
              </a:ext>
            </a:extLst>
          </p:cNvPr>
          <p:cNvSpPr txBox="1"/>
          <p:nvPr/>
        </p:nvSpPr>
        <p:spPr>
          <a:xfrm>
            <a:off x="8168054" y="6356839"/>
            <a:ext cx="9144000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aseline="0" dirty="0">
                <a:solidFill>
                  <a:srgbClr val="303030"/>
                </a:solidFill>
                <a:latin typeface="Google Sans Text"/>
              </a:rPr>
              <a:t>Do not 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determine if it can lead to an improvement or diminishment of performance or vice-versa.</a:t>
            </a:r>
            <a:endParaRPr lang="en-US" sz="2400" dirty="0">
              <a:solidFill>
                <a:srgbClr val="303030"/>
              </a:solidFill>
              <a:latin typeface="Google Sans Text"/>
              <a:ea typeface="Calibri"/>
              <a:cs typeface="Calibri"/>
            </a:endParaRPr>
          </a:p>
          <a:p>
            <a:pPr algn="ctr"/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C2FDC-0487-660F-1E6A-1B1F620D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6">
            <a:extLst>
              <a:ext uri="{FF2B5EF4-FFF2-40B4-BE49-F238E27FC236}">
                <a16:creationId xmlns:a16="http://schemas.microsoft.com/office/drawing/2014/main" id="{AA455F54-85DD-2696-9E76-7941BD7BD1C8}"/>
              </a:ext>
            </a:extLst>
          </p:cNvPr>
          <p:cNvSpPr txBox="1"/>
          <p:nvPr/>
        </p:nvSpPr>
        <p:spPr>
          <a:xfrm>
            <a:off x="990600" y="419100"/>
            <a:ext cx="678926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AT" sz="6000" dirty="0" err="1">
                <a:latin typeface="Fredoka"/>
              </a:rPr>
              <a:t>Conclusion</a:t>
            </a:r>
            <a:endParaRPr lang="de-AT" sz="6000" dirty="0" err="1">
              <a:latin typeface="Fredoka" panose="020B0604020202020204" charset="0"/>
            </a:endParaRPr>
          </a:p>
        </p:txBody>
      </p:sp>
      <p:sp>
        <p:nvSpPr>
          <p:cNvPr id="4" name="Freeform 2">
            <a:extLst>
              <a:ext uri="{FF2B5EF4-FFF2-40B4-BE49-F238E27FC236}">
                <a16:creationId xmlns:a16="http://schemas.microsoft.com/office/drawing/2014/main" id="{89D0060E-1611-756F-079D-96BA32D8D080}"/>
              </a:ext>
            </a:extLst>
          </p:cNvPr>
          <p:cNvSpPr/>
          <p:nvPr/>
        </p:nvSpPr>
        <p:spPr>
          <a:xfrm>
            <a:off x="141006" y="7028300"/>
            <a:ext cx="5220150" cy="325863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71716A6-4565-B989-67EF-8F58EDB9BE38}"/>
              </a:ext>
            </a:extLst>
          </p:cNvPr>
          <p:cNvSpPr txBox="1"/>
          <p:nvPr/>
        </p:nvSpPr>
        <p:spPr>
          <a:xfrm>
            <a:off x="1977958" y="1836096"/>
            <a:ext cx="482329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solidFill>
                  <a:srgbClr val="303030"/>
                </a:solidFill>
                <a:latin typeface="Google Sans Text"/>
              </a:rPr>
              <a:t>Systematic review and meta – analysis to </a:t>
            </a:r>
            <a:r>
              <a:rPr lang="en-US" sz="2400" dirty="0" err="1">
                <a:solidFill>
                  <a:srgbClr val="303030"/>
                </a:solidFill>
                <a:latin typeface="Google Sans Text"/>
              </a:rPr>
              <a:t>sinthesize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the research findings.</a:t>
            </a:r>
            <a:endParaRPr lang="en-US" sz="2400" dirty="0"/>
          </a:p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86B3526-07D2-0E50-521E-D472930E6B74}"/>
              </a:ext>
            </a:extLst>
          </p:cNvPr>
          <p:cNvSpPr txBox="1"/>
          <p:nvPr/>
        </p:nvSpPr>
        <p:spPr>
          <a:xfrm>
            <a:off x="9679021" y="1836096"/>
            <a:ext cx="367219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solidFill>
                  <a:srgbClr val="303030"/>
                </a:solidFill>
                <a:latin typeface="Google Sans Text"/>
              </a:rPr>
              <a:t>Contributions to the field of 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technology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– enhanced learning.</a:t>
            </a:r>
          </a:p>
          <a:p>
            <a:pPr algn="ctr"/>
            <a:endParaRPr lang="pt-BR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743EABBE-712B-87EA-F862-C990AA716F6D}"/>
              </a:ext>
            </a:extLst>
          </p:cNvPr>
          <p:cNvCxnSpPr/>
          <p:nvPr/>
        </p:nvCxnSpPr>
        <p:spPr>
          <a:xfrm flipV="1">
            <a:off x="7460990" y="2170202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130CF17-B174-1CDE-2FC4-812FAE818F1D}"/>
              </a:ext>
            </a:extLst>
          </p:cNvPr>
          <p:cNvSpPr/>
          <p:nvPr/>
        </p:nvSpPr>
        <p:spPr>
          <a:xfrm>
            <a:off x="2248094" y="3872555"/>
            <a:ext cx="3987209" cy="1825255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2400" dirty="0">
                <a:ea typeface="Calibri"/>
                <a:cs typeface="Calibri"/>
              </a:rPr>
              <a:t>ChatGPT </a:t>
            </a:r>
            <a:r>
              <a:rPr lang="pt-BR" sz="2400" dirty="0" err="1">
                <a:ea typeface="Calibri"/>
                <a:cs typeface="Calibri"/>
              </a:rPr>
              <a:t>interventions</a:t>
            </a:r>
            <a:endParaRPr lang="pt-BR" sz="2400" dirty="0" err="1"/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FCB86D60-F849-B275-C5C1-4473CC8999FA}"/>
              </a:ext>
            </a:extLst>
          </p:cNvPr>
          <p:cNvCxnSpPr>
            <a:cxnSpLocks/>
          </p:cNvCxnSpPr>
          <p:nvPr/>
        </p:nvCxnSpPr>
        <p:spPr>
          <a:xfrm flipV="1">
            <a:off x="6455798" y="4010350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CC1231B-5081-F32D-2665-4D7C7E5E2617}"/>
              </a:ext>
            </a:extLst>
          </p:cNvPr>
          <p:cNvSpPr txBox="1"/>
          <p:nvPr/>
        </p:nvSpPr>
        <p:spPr>
          <a:xfrm>
            <a:off x="7782127" y="3870798"/>
            <a:ext cx="5909554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303030"/>
                </a:solidFill>
                <a:latin typeface="Google Sans Text"/>
              </a:rPr>
              <a:t>University level</a:t>
            </a:r>
            <a:endParaRPr lang="pt-BR" sz="2400">
              <a:latin typeface="Google Sans Text"/>
            </a:endParaRPr>
          </a:p>
          <a:p>
            <a:pPr algn="ctr"/>
            <a:endParaRPr lang="pt-BR"/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666B2F2F-5242-AEB7-81F7-BFB97B101481}"/>
              </a:ext>
            </a:extLst>
          </p:cNvPr>
          <p:cNvCxnSpPr>
            <a:cxnSpLocks/>
          </p:cNvCxnSpPr>
          <p:nvPr/>
        </p:nvCxnSpPr>
        <p:spPr>
          <a:xfrm flipV="1">
            <a:off x="6455797" y="4602116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4B8A112-FECE-DE4E-9B8A-3F826C08A754}"/>
              </a:ext>
            </a:extLst>
          </p:cNvPr>
          <p:cNvSpPr txBox="1"/>
          <p:nvPr/>
        </p:nvSpPr>
        <p:spPr>
          <a:xfrm>
            <a:off x="7782128" y="4413926"/>
            <a:ext cx="9144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303030"/>
                </a:solidFill>
                <a:latin typeface="Google Sans Text"/>
              </a:rPr>
              <a:t>Authentic classroom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</a:t>
            </a:r>
            <a:r>
              <a:rPr lang="en-US" sz="2400" err="1">
                <a:solidFill>
                  <a:srgbClr val="303030"/>
                </a:solidFill>
                <a:latin typeface="Google Sans Text"/>
              </a:rPr>
              <a:t>environmen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ts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078DA4E5-8864-C3A4-E187-DF439C94A486}"/>
              </a:ext>
            </a:extLst>
          </p:cNvPr>
          <p:cNvCxnSpPr>
            <a:cxnSpLocks/>
          </p:cNvCxnSpPr>
          <p:nvPr/>
        </p:nvCxnSpPr>
        <p:spPr>
          <a:xfrm flipV="1">
            <a:off x="6455796" y="5137135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48C4A2E9-6C77-D507-E553-550B22DEA057}"/>
              </a:ext>
            </a:extLst>
          </p:cNvPr>
          <p:cNvSpPr txBox="1"/>
          <p:nvPr/>
        </p:nvSpPr>
        <p:spPr>
          <a:xfrm>
            <a:off x="7782127" y="4948947"/>
            <a:ext cx="9144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Emphasis on langua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ge education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768005B6-5CB0-598B-366D-F7F30ADE696C}"/>
              </a:ext>
            </a:extLst>
          </p:cNvPr>
          <p:cNvCxnSpPr>
            <a:cxnSpLocks/>
          </p:cNvCxnSpPr>
          <p:nvPr/>
        </p:nvCxnSpPr>
        <p:spPr>
          <a:xfrm flipV="1">
            <a:off x="6455795" y="5680262"/>
            <a:ext cx="112803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D99A4F4-023C-AB9A-F783-AB6D006E59D6}"/>
              </a:ext>
            </a:extLst>
          </p:cNvPr>
          <p:cNvSpPr txBox="1"/>
          <p:nvPr/>
        </p:nvSpPr>
        <p:spPr>
          <a:xfrm>
            <a:off x="7782127" y="5532607"/>
            <a:ext cx="9144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303030"/>
                </a:solidFill>
                <a:latin typeface="Google Sans Text"/>
              </a:rPr>
              <a:t>Direct learning tools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DE37A895-664F-D965-78C2-198E0CFF264B}"/>
              </a:ext>
            </a:extLst>
          </p:cNvPr>
          <p:cNvSpPr txBox="1"/>
          <p:nvPr/>
        </p:nvSpPr>
        <p:spPr>
          <a:xfrm>
            <a:off x="7020127" y="7688904"/>
            <a:ext cx="9144000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rgbClr val="303030"/>
                </a:solidFill>
                <a:latin typeface="Google Sans Text"/>
              </a:rPr>
              <a:t>ChatGPT can potentially improve academic performance, but there is a need of caution </a:t>
            </a:r>
            <a:r>
              <a:rPr lang="en-US" sz="2400" b="1">
                <a:solidFill>
                  <a:srgbClr val="303030"/>
                </a:solidFill>
                <a:latin typeface="Google Sans Text"/>
              </a:rPr>
              <a:t>interpreting the results.</a:t>
            </a:r>
            <a:endParaRPr lang="pt-BR" b="1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755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58D0-9C8A-FFEF-60A0-92B75669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6">
            <a:extLst>
              <a:ext uri="{FF2B5EF4-FFF2-40B4-BE49-F238E27FC236}">
                <a16:creationId xmlns:a16="http://schemas.microsoft.com/office/drawing/2014/main" id="{8FCB5C41-BC7F-CB83-5E9B-C7FCDCB9D7CF}"/>
              </a:ext>
            </a:extLst>
          </p:cNvPr>
          <p:cNvSpPr txBox="1"/>
          <p:nvPr/>
        </p:nvSpPr>
        <p:spPr>
          <a:xfrm>
            <a:off x="990600" y="419100"/>
            <a:ext cx="6789260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AT" sz="6000" dirty="0" err="1">
                <a:latin typeface="Fredoka"/>
              </a:rPr>
              <a:t>Conclusion</a:t>
            </a:r>
            <a:endParaRPr lang="de-AT" sz="6000" dirty="0" err="1">
              <a:latin typeface="Fredoka" panose="020B060402020202020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58D1CD9-2EA0-A035-CA7D-901758EA0C3B}"/>
              </a:ext>
            </a:extLst>
          </p:cNvPr>
          <p:cNvSpPr txBox="1"/>
          <p:nvPr/>
        </p:nvSpPr>
        <p:spPr>
          <a:xfrm>
            <a:off x="1977958" y="1836096"/>
            <a:ext cx="4823298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solidFill>
                  <a:srgbClr val="303030"/>
                </a:solidFill>
                <a:latin typeface="Google Sans Text"/>
              </a:rPr>
              <a:t>Can 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potentially improve academic performance.</a:t>
            </a:r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ACD4F257-3F8E-0782-C08B-82A9E1F10FE3}"/>
              </a:ext>
            </a:extLst>
          </p:cNvPr>
          <p:cNvSpPr/>
          <p:nvPr/>
        </p:nvSpPr>
        <p:spPr>
          <a:xfrm>
            <a:off x="13371824" y="7462339"/>
            <a:ext cx="4919731" cy="2949897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B893417-4354-30C0-385B-B548677043C4}"/>
              </a:ext>
            </a:extLst>
          </p:cNvPr>
          <p:cNvSpPr txBox="1"/>
          <p:nvPr/>
        </p:nvSpPr>
        <p:spPr>
          <a:xfrm>
            <a:off x="1977957" y="2930457"/>
            <a:ext cx="9144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303030"/>
                </a:solidFill>
                <a:latin typeface="Google Sans Text"/>
              </a:rPr>
              <a:t>Caution when interpreting the results.</a:t>
            </a:r>
            <a:endParaRPr lang="pt-BR"/>
          </a:p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0F4C89D-E0C5-0BC0-D995-2BD676CDE37A}"/>
              </a:ext>
            </a:extLst>
          </p:cNvPr>
          <p:cNvSpPr txBox="1"/>
          <p:nvPr/>
        </p:nvSpPr>
        <p:spPr>
          <a:xfrm>
            <a:off x="1977957" y="3660032"/>
            <a:ext cx="91440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Interventions enhanc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e affective motivational states and higher order thinking propensities, reducing mental effort.</a:t>
            </a:r>
            <a:endParaRPr lang="pt-BR"/>
          </a:p>
          <a:p>
            <a:endParaRPr lang="en-US" sz="2400" dirty="0">
              <a:solidFill>
                <a:srgbClr val="303030"/>
              </a:solidFill>
              <a:latin typeface="Google Sans Text"/>
            </a:endParaRPr>
          </a:p>
          <a:p>
            <a:pPr algn="ctr"/>
            <a:endParaRPr lang="pt-BR">
              <a:ea typeface="Calibri"/>
              <a:cs typeface="Calibri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74A1D4C-FB80-0CFF-2DB5-765C213A6C22}"/>
              </a:ext>
            </a:extLst>
          </p:cNvPr>
          <p:cNvSpPr txBox="1"/>
          <p:nvPr/>
        </p:nvSpPr>
        <p:spPr>
          <a:xfrm>
            <a:off x="4572000" y="5143500"/>
            <a:ext cx="9144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Lack of experimental resea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rch</a:t>
            </a:r>
            <a:endParaRPr lang="pt-BR"/>
          </a:p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958DE7-1804-6311-7CC7-CBB1523C2DD9}"/>
              </a:ext>
            </a:extLst>
          </p:cNvPr>
          <p:cNvSpPr txBox="1"/>
          <p:nvPr/>
        </p:nvSpPr>
        <p:spPr>
          <a:xfrm>
            <a:off x="4572000" y="6043309"/>
            <a:ext cx="91440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303030"/>
                </a:solidFill>
                <a:latin typeface="Google Sans Text"/>
              </a:rPr>
              <a:t>Future research: </a:t>
            </a:r>
            <a:r>
              <a:rPr lang="en-US" sz="2400" dirty="0" err="1">
                <a:solidFill>
                  <a:srgbClr val="303030"/>
                </a:solidFill>
                <a:latin typeface="Google Sans Text"/>
              </a:rPr>
              <a:t>exlplore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long term impact, disentangle the quality </a:t>
            </a:r>
            <a:r>
              <a:rPr lang="en-US" sz="2400" dirty="0" err="1">
                <a:solidFill>
                  <a:srgbClr val="303030"/>
                </a:solidFill>
                <a:latin typeface="Google Sans Text"/>
              </a:rPr>
              <a:t>fron</a:t>
            </a:r>
            <a:r>
              <a:rPr lang="en-US" sz="2400" dirty="0">
                <a:solidFill>
                  <a:srgbClr val="303030"/>
                </a:solidFill>
                <a:latin typeface="Google Sans Text"/>
              </a:rPr>
              <a:t> the intervention effects and assess if the students' improvements are relat</a:t>
            </a:r>
            <a:r>
              <a:rPr lang="en-US" sz="2400">
                <a:solidFill>
                  <a:srgbClr val="303030"/>
                </a:solidFill>
                <a:latin typeface="Google Sans Text"/>
              </a:rPr>
              <a:t>ed to the skills.</a:t>
            </a:r>
            <a:endParaRPr lang="pt-BR" dirty="0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92122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326326" y="-22861"/>
            <a:ext cx="9758748" cy="10309861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FFD4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44541" y="2197739"/>
            <a:ext cx="7617015" cy="38041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</a:t>
            </a:r>
          </a:p>
          <a:p>
            <a:pPr algn="ctr">
              <a:lnSpc>
                <a:spcPts val="15271"/>
              </a:lnSpc>
            </a:pPr>
            <a:r>
              <a:rPr lang="en-US" sz="10908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YOU!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9735" y="6069476"/>
            <a:ext cx="7281649" cy="107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05"/>
              </a:lnSpc>
            </a:pPr>
            <a:r>
              <a:rPr lang="en-US" sz="7368" dirty="0">
                <a:solidFill>
                  <a:srgbClr val="000000"/>
                </a:solidFill>
                <a:latin typeface="KG Primary Penmanship"/>
                <a:ea typeface="KG Primary Penmanship"/>
                <a:cs typeface="KG Primary Penmanship"/>
                <a:sym typeface="KG Primary Penmanship"/>
              </a:rPr>
              <a:t>Discussion time!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0694901-97D3-73F7-3D3B-E6DBFD91B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0" y="1514474"/>
            <a:ext cx="7345147" cy="725805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396B072-1AA0-6997-A261-3D2BBCA71521}"/>
              </a:ext>
            </a:extLst>
          </p:cNvPr>
          <p:cNvSpPr txBox="1"/>
          <p:nvPr/>
        </p:nvSpPr>
        <p:spPr>
          <a:xfrm>
            <a:off x="10210800" y="8783585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Source: imgflip.com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07675" y="2809275"/>
            <a:ext cx="7846135" cy="4668450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73FDB8E4-7690-34A1-B34D-84F95D11197D}"/>
              </a:ext>
            </a:extLst>
          </p:cNvPr>
          <p:cNvSpPr/>
          <p:nvPr/>
        </p:nvSpPr>
        <p:spPr>
          <a:xfrm>
            <a:off x="2264376" y="1020977"/>
            <a:ext cx="4948047" cy="8229600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6C25D820-7D4D-5548-FFC8-6B6F8E655206}"/>
              </a:ext>
            </a:extLst>
          </p:cNvPr>
          <p:cNvSpPr/>
          <p:nvPr/>
        </p:nvSpPr>
        <p:spPr>
          <a:xfrm>
            <a:off x="2743200" y="5143500"/>
            <a:ext cx="2743200" cy="4448831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2">
            <a:extLst>
              <a:ext uri="{FF2B5EF4-FFF2-40B4-BE49-F238E27FC236}">
                <a16:creationId xmlns:a16="http://schemas.microsoft.com/office/drawing/2014/main" id="{17AE14C7-EA74-424A-D067-0BB0A925AB5F}"/>
              </a:ext>
            </a:extLst>
          </p:cNvPr>
          <p:cNvSpPr/>
          <p:nvPr/>
        </p:nvSpPr>
        <p:spPr>
          <a:xfrm>
            <a:off x="9448800" y="4806763"/>
            <a:ext cx="7709622" cy="4770328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22686" y="2707598"/>
            <a:ext cx="7538575" cy="487180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0723" y="1729250"/>
            <a:ext cx="6652240" cy="8051123"/>
          </a:xfrm>
          <a:custGeom>
            <a:avLst/>
            <a:gdLst/>
            <a:ahLst/>
            <a:cxnLst/>
            <a:rect l="l" t="t" r="r" b="b"/>
            <a:pathLst>
              <a:path w="6652240" h="8051123">
                <a:moveTo>
                  <a:pt x="0" y="0"/>
                </a:moveTo>
                <a:lnTo>
                  <a:pt x="6652240" y="0"/>
                </a:lnTo>
                <a:lnTo>
                  <a:pt x="6652240" y="8051123"/>
                </a:lnTo>
                <a:lnTo>
                  <a:pt x="0" y="8051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69297" y="1924944"/>
            <a:ext cx="7561952" cy="6437112"/>
          </a:xfrm>
          <a:custGeom>
            <a:avLst/>
            <a:gdLst/>
            <a:ahLst/>
            <a:cxnLst/>
            <a:rect l="l" t="t" r="r" b="b"/>
            <a:pathLst>
              <a:path w="7561952" h="6437112">
                <a:moveTo>
                  <a:pt x="0" y="0"/>
                </a:moveTo>
                <a:lnTo>
                  <a:pt x="7561953" y="0"/>
                </a:lnTo>
                <a:lnTo>
                  <a:pt x="7561953" y="6437112"/>
                </a:lnTo>
                <a:lnTo>
                  <a:pt x="0" y="64371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7610" y="2642007"/>
            <a:ext cx="6871547" cy="7290766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45217" y="2099566"/>
            <a:ext cx="7574331" cy="6087869"/>
          </a:xfrm>
          <a:custGeom>
            <a:avLst/>
            <a:gdLst/>
            <a:ahLst/>
            <a:cxnLst/>
            <a:rect l="l" t="t" r="r" b="b"/>
            <a:pathLst>
              <a:path w="7574331" h="6087869">
                <a:moveTo>
                  <a:pt x="0" y="0"/>
                </a:moveTo>
                <a:lnTo>
                  <a:pt x="7574331" y="0"/>
                </a:lnTo>
                <a:lnTo>
                  <a:pt x="7574331" y="6087868"/>
                </a:lnTo>
                <a:lnTo>
                  <a:pt x="0" y="608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209" y="936159"/>
            <a:ext cx="5718216" cy="8780370"/>
          </a:xfrm>
          <a:custGeom>
            <a:avLst/>
            <a:gdLst/>
            <a:ahLst/>
            <a:cxnLst/>
            <a:rect l="l" t="t" r="r" b="b"/>
            <a:pathLst>
              <a:path w="5718216" h="8780370">
                <a:moveTo>
                  <a:pt x="0" y="0"/>
                </a:moveTo>
                <a:lnTo>
                  <a:pt x="5718216" y="0"/>
                </a:lnTo>
                <a:lnTo>
                  <a:pt x="5718216" y="8780370"/>
                </a:lnTo>
                <a:lnTo>
                  <a:pt x="0" y="87803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7835" y="1418265"/>
            <a:ext cx="7357338" cy="7450469"/>
          </a:xfrm>
          <a:custGeom>
            <a:avLst/>
            <a:gdLst/>
            <a:ahLst/>
            <a:cxnLst/>
            <a:rect l="l" t="t" r="r" b="b"/>
            <a:pathLst>
              <a:path w="7357338" h="7450469">
                <a:moveTo>
                  <a:pt x="0" y="0"/>
                </a:moveTo>
                <a:lnTo>
                  <a:pt x="7357338" y="0"/>
                </a:lnTo>
                <a:lnTo>
                  <a:pt x="7357338" y="7450470"/>
                </a:lnTo>
                <a:lnTo>
                  <a:pt x="0" y="7450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9759" y="1133682"/>
            <a:ext cx="7718899" cy="8019636"/>
          </a:xfrm>
          <a:custGeom>
            <a:avLst/>
            <a:gdLst/>
            <a:ahLst/>
            <a:cxnLst/>
            <a:rect l="l" t="t" r="r" b="b"/>
            <a:pathLst>
              <a:path w="7718899" h="8019636">
                <a:moveTo>
                  <a:pt x="0" y="0"/>
                </a:moveTo>
                <a:lnTo>
                  <a:pt x="7718899" y="0"/>
                </a:lnTo>
                <a:lnTo>
                  <a:pt x="7718899" y="8019636"/>
                </a:lnTo>
                <a:lnTo>
                  <a:pt x="0" y="8019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C858B-164C-6826-3E72-1EAA1CBD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0CC5F2-728C-7867-3C07-800C9F4CD570}"/>
              </a:ext>
            </a:extLst>
          </p:cNvPr>
          <p:cNvSpPr/>
          <p:nvPr/>
        </p:nvSpPr>
        <p:spPr>
          <a:xfrm>
            <a:off x="681790" y="2012190"/>
            <a:ext cx="7914843" cy="6262620"/>
          </a:xfrm>
          <a:custGeom>
            <a:avLst/>
            <a:gdLst/>
            <a:ahLst/>
            <a:cxnLst/>
            <a:rect l="l" t="t" r="r" b="b"/>
            <a:pathLst>
              <a:path w="7914843" h="6262620">
                <a:moveTo>
                  <a:pt x="0" y="0"/>
                </a:moveTo>
                <a:lnTo>
                  <a:pt x="7914844" y="0"/>
                </a:lnTo>
                <a:lnTo>
                  <a:pt x="7914844" y="6262620"/>
                </a:lnTo>
                <a:lnTo>
                  <a:pt x="0" y="626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D11DC75-731B-A269-E164-9D6A5A6A903E}"/>
              </a:ext>
            </a:extLst>
          </p:cNvPr>
          <p:cNvSpPr/>
          <p:nvPr/>
        </p:nvSpPr>
        <p:spPr>
          <a:xfrm>
            <a:off x="10182083" y="3168347"/>
            <a:ext cx="7463366" cy="4851188"/>
          </a:xfrm>
          <a:custGeom>
            <a:avLst/>
            <a:gdLst/>
            <a:ahLst/>
            <a:cxnLst/>
            <a:rect l="l" t="t" r="r" b="b"/>
            <a:pathLst>
              <a:path w="7463366" h="4851188">
                <a:moveTo>
                  <a:pt x="0" y="0"/>
                </a:moveTo>
                <a:lnTo>
                  <a:pt x="7463366" y="0"/>
                </a:lnTo>
                <a:lnTo>
                  <a:pt x="7463366" y="4851188"/>
                </a:lnTo>
                <a:lnTo>
                  <a:pt x="0" y="485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8425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2014</Words>
  <Application>Microsoft Office PowerPoint</Application>
  <PresentationFormat>Benutzerdefiniert</PresentationFormat>
  <Paragraphs>143</Paragraphs>
  <Slides>22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1" baseType="lpstr">
      <vt:lpstr>Candara</vt:lpstr>
      <vt:lpstr>Aptos</vt:lpstr>
      <vt:lpstr>KG Primary Penmanship</vt:lpstr>
      <vt:lpstr>Arial</vt:lpstr>
      <vt:lpstr>Google Sans Text</vt:lpstr>
      <vt:lpstr>Century Gothic</vt:lpstr>
      <vt:lpstr>Calibri</vt:lpstr>
      <vt:lpstr>Fredoka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Knes, Christina Sophie</cp:lastModifiedBy>
  <cp:revision>1</cp:revision>
  <dcterms:created xsi:type="dcterms:W3CDTF">2006-08-16T00:00:00Z</dcterms:created>
  <dcterms:modified xsi:type="dcterms:W3CDTF">2026-06-18T15:29:26Z</dcterms:modified>
  <dc:identifier>DAHMD6YqX8Q</dc:identifier>
</cp:coreProperties>
</file>