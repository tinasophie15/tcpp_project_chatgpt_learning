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0"/>
  </p:notesMasterIdLst>
  <p:sldIdLst>
    <p:sldId id="267" r:id="rId2"/>
    <p:sldId id="271" r:id="rId3"/>
    <p:sldId id="274" r:id="rId4"/>
    <p:sldId id="269" r:id="rId5"/>
    <p:sldId id="273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8" r:id="rId17"/>
    <p:sldId id="272" r:id="rId18"/>
    <p:sldId id="270" r:id="rId19"/>
  </p:sldIdLst>
  <p:sldSz cx="18288000" cy="10287000"/>
  <p:notesSz cx="6858000" cy="9144000"/>
  <p:embeddedFontLst>
    <p:embeddedFont>
      <p:font typeface="Candara" panose="020E0502030303020204" pitchFamily="34" charset="0"/>
      <p:regular r:id="rId21"/>
      <p:bold r:id="rId22"/>
      <p:italic r:id="rId23"/>
      <p:boldItalic r:id="rId24"/>
    </p:embeddedFont>
    <p:embeddedFont>
      <p:font typeface="Century Gothic" panose="020B0502020202020204" pitchFamily="34" charset="0"/>
      <p:regular r:id="rId25"/>
      <p:bold r:id="rId26"/>
      <p:italic r:id="rId27"/>
      <p:boldItalic r:id="rId28"/>
    </p:embeddedFont>
    <p:embeddedFont>
      <p:font typeface="Fredoka" panose="020B0604020202020204" charset="0"/>
      <p:regular r:id="rId29"/>
    </p:embeddedFont>
    <p:embeddedFont>
      <p:font typeface="KG Primary Penmanship" panose="020B0604020202020204" charset="0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949B3650-02F7-4E04-9F25-F1A55820F397}">
          <p14:sldIdLst>
            <p14:sldId id="267"/>
            <p14:sldId id="271"/>
            <p14:sldId id="274"/>
            <p14:sldId id="269"/>
            <p14:sldId id="273"/>
          </p14:sldIdLst>
        </p14:section>
        <p14:section name="Pictures we can use" id="{F3923ABB-DC79-49BF-8F12-F017564C7A8E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8"/>
            <p14:sldId id="272"/>
            <p14:sldId id="27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D98BA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725B31-4962-41AA-844B-8672FCF03F15}" v="53" dt="2026-06-15T16:45:20.1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63268" autoAdjust="0"/>
  </p:normalViewPr>
  <p:slideViewPr>
    <p:cSldViewPr>
      <p:cViewPr>
        <p:scale>
          <a:sx n="34" d="100"/>
          <a:sy n="34" d="100"/>
        </p:scale>
        <p:origin x="1906" y="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na Knes" userId="7e9737a164333dbd" providerId="LiveId" clId="{72053980-4108-4AED-A5B7-3290F7F82C69}"/>
    <pc:docChg chg="undo custSel addSld delSld modSld sldOrd addSection modSection">
      <pc:chgData name="Christina Knes" userId="7e9737a164333dbd" providerId="LiveId" clId="{72053980-4108-4AED-A5B7-3290F7F82C69}" dt="2026-06-15T16:51:44.847" v="1749" actId="1076"/>
      <pc:docMkLst>
        <pc:docMk/>
      </pc:docMkLst>
      <pc:sldChg chg="addSp delSp modSp mod">
        <pc:chgData name="Christina Knes" userId="7e9737a164333dbd" providerId="LiveId" clId="{72053980-4108-4AED-A5B7-3290F7F82C69}" dt="2026-06-09T07:59:16.993" v="176" actId="20577"/>
        <pc:sldMkLst>
          <pc:docMk/>
          <pc:sldMk cId="0" sldId="257"/>
        </pc:sldMkLst>
        <pc:spChg chg="add mod">
          <ac:chgData name="Christina Knes" userId="7e9737a164333dbd" providerId="LiveId" clId="{72053980-4108-4AED-A5B7-3290F7F82C69}" dt="2026-06-09T07:59:16.993" v="176" actId="20577"/>
          <ac:spMkLst>
            <pc:docMk/>
            <pc:sldMk cId="0" sldId="257"/>
            <ac:spMk id="3" creationId="{8DCB6488-6E08-1E6C-43C7-BBE1D91E7DEC}"/>
          </ac:spMkLst>
        </pc:spChg>
      </pc:sldChg>
      <pc:sldChg chg="addSp delSp modSp mod">
        <pc:chgData name="Christina Knes" userId="7e9737a164333dbd" providerId="LiveId" clId="{72053980-4108-4AED-A5B7-3290F7F82C69}" dt="2026-06-09T09:09:30.130" v="480"/>
        <pc:sldMkLst>
          <pc:docMk/>
          <pc:sldMk cId="0" sldId="258"/>
        </pc:sldMkLst>
        <pc:spChg chg="add mod">
          <ac:chgData name="Christina Knes" userId="7e9737a164333dbd" providerId="LiveId" clId="{72053980-4108-4AED-A5B7-3290F7F82C69}" dt="2026-06-09T09:09:30.130" v="480"/>
          <ac:spMkLst>
            <pc:docMk/>
            <pc:sldMk cId="0" sldId="258"/>
            <ac:spMk id="3" creationId="{73FDB8E4-7690-34A1-B34D-84F95D11197D}"/>
          </ac:spMkLst>
        </pc:spChg>
      </pc:sldChg>
      <pc:sldChg chg="addSp delSp modSp mod">
        <pc:chgData name="Christina Knes" userId="7e9737a164333dbd" providerId="LiveId" clId="{72053980-4108-4AED-A5B7-3290F7F82C69}" dt="2026-06-15T16:47:14.464" v="1718" actId="1076"/>
        <pc:sldMkLst>
          <pc:docMk/>
          <pc:sldMk cId="0" sldId="259"/>
        </pc:sldMkLst>
        <pc:spChg chg="del">
          <ac:chgData name="Christina Knes" userId="7e9737a164333dbd" providerId="LiveId" clId="{72053980-4108-4AED-A5B7-3290F7F82C69}" dt="2026-06-15T16:47:11.382" v="1716" actId="21"/>
          <ac:spMkLst>
            <pc:docMk/>
            <pc:sldMk cId="0" sldId="259"/>
            <ac:spMk id="2" creationId="{00000000-0000-0000-0000-000000000000}"/>
          </ac:spMkLst>
        </pc:spChg>
        <pc:spChg chg="add">
          <ac:chgData name="Christina Knes" userId="7e9737a164333dbd" providerId="LiveId" clId="{72053980-4108-4AED-A5B7-3290F7F82C69}" dt="2026-06-15T16:47:08.351" v="1715" actId="22"/>
          <ac:spMkLst>
            <pc:docMk/>
            <pc:sldMk cId="0" sldId="259"/>
            <ac:spMk id="4" creationId="{6C25D820-7D4D-5548-FFC8-6B6F8E655206}"/>
          </ac:spMkLst>
        </pc:spChg>
        <pc:spChg chg="add mod">
          <ac:chgData name="Christina Knes" userId="7e9737a164333dbd" providerId="LiveId" clId="{72053980-4108-4AED-A5B7-3290F7F82C69}" dt="2026-06-15T16:47:14.464" v="1718" actId="1076"/>
          <ac:spMkLst>
            <pc:docMk/>
            <pc:sldMk cId="0" sldId="259"/>
            <ac:spMk id="6" creationId="{17AE14C7-EA74-424A-D067-0BB0A925AB5F}"/>
          </ac:spMkLst>
        </pc:spChg>
      </pc:sldChg>
      <pc:sldChg chg="delSp mod">
        <pc:chgData name="Christina Knes" userId="7e9737a164333dbd" providerId="LiveId" clId="{72053980-4108-4AED-A5B7-3290F7F82C69}" dt="2026-06-09T07:47:22.843" v="6" actId="478"/>
        <pc:sldMkLst>
          <pc:docMk/>
          <pc:sldMk cId="0" sldId="260"/>
        </pc:sldMkLst>
      </pc:sldChg>
      <pc:sldChg chg="delSp mod">
        <pc:chgData name="Christina Knes" userId="7e9737a164333dbd" providerId="LiveId" clId="{72053980-4108-4AED-A5B7-3290F7F82C69}" dt="2026-06-09T07:47:25.680" v="7" actId="478"/>
        <pc:sldMkLst>
          <pc:docMk/>
          <pc:sldMk cId="0" sldId="261"/>
        </pc:sldMkLst>
      </pc:sldChg>
      <pc:sldChg chg="delSp mod">
        <pc:chgData name="Christina Knes" userId="7e9737a164333dbd" providerId="LiveId" clId="{72053980-4108-4AED-A5B7-3290F7F82C69}" dt="2026-06-09T07:47:28.354" v="8" actId="478"/>
        <pc:sldMkLst>
          <pc:docMk/>
          <pc:sldMk cId="0" sldId="262"/>
        </pc:sldMkLst>
      </pc:sldChg>
      <pc:sldChg chg="delSp mod">
        <pc:chgData name="Christina Knes" userId="7e9737a164333dbd" providerId="LiveId" clId="{72053980-4108-4AED-A5B7-3290F7F82C69}" dt="2026-06-09T07:47:30.618" v="9" actId="478"/>
        <pc:sldMkLst>
          <pc:docMk/>
          <pc:sldMk cId="0" sldId="263"/>
        </pc:sldMkLst>
      </pc:sldChg>
      <pc:sldChg chg="delSp mod">
        <pc:chgData name="Christina Knes" userId="7e9737a164333dbd" providerId="LiveId" clId="{72053980-4108-4AED-A5B7-3290F7F82C69}" dt="2026-06-09T07:47:32.737" v="10" actId="478"/>
        <pc:sldMkLst>
          <pc:docMk/>
          <pc:sldMk cId="0" sldId="264"/>
        </pc:sldMkLst>
      </pc:sldChg>
      <pc:sldChg chg="delSp mod">
        <pc:chgData name="Christina Knes" userId="7e9737a164333dbd" providerId="LiveId" clId="{72053980-4108-4AED-A5B7-3290F7F82C69}" dt="2026-06-09T07:47:34.634" v="11" actId="478"/>
        <pc:sldMkLst>
          <pc:docMk/>
          <pc:sldMk cId="0" sldId="265"/>
        </pc:sldMkLst>
      </pc:sldChg>
      <pc:sldChg chg="delSp mod">
        <pc:chgData name="Christina Knes" userId="7e9737a164333dbd" providerId="LiveId" clId="{72053980-4108-4AED-A5B7-3290F7F82C69}" dt="2026-06-09T07:47:36.785" v="12" actId="478"/>
        <pc:sldMkLst>
          <pc:docMk/>
          <pc:sldMk cId="0" sldId="266"/>
        </pc:sldMkLst>
      </pc:sldChg>
      <pc:sldChg chg="addSp delSp modSp mod ord modTransition">
        <pc:chgData name="Christina Knes" userId="7e9737a164333dbd" providerId="LiveId" clId="{72053980-4108-4AED-A5B7-3290F7F82C69}" dt="2026-06-15T16:48:53.150" v="1740" actId="1076"/>
        <pc:sldMkLst>
          <pc:docMk/>
          <pc:sldMk cId="0" sldId="267"/>
        </pc:sldMkLst>
        <pc:spChg chg="add mod">
          <ac:chgData name="Christina Knes" userId="7e9737a164333dbd" providerId="LiveId" clId="{72053980-4108-4AED-A5B7-3290F7F82C69}" dt="2026-06-15T16:48:53.150" v="1740" actId="1076"/>
          <ac:spMkLst>
            <pc:docMk/>
            <pc:sldMk cId="0" sldId="267"/>
            <ac:spMk id="3" creationId="{544E612F-67B2-D86D-EC5E-180C32037383}"/>
          </ac:spMkLst>
        </pc:spChg>
        <pc:spChg chg="add mod">
          <ac:chgData name="Christina Knes" userId="7e9737a164333dbd" providerId="LiveId" clId="{72053980-4108-4AED-A5B7-3290F7F82C69}" dt="2026-06-15T16:48:47.803" v="1739" actId="1076"/>
          <ac:spMkLst>
            <pc:docMk/>
            <pc:sldMk cId="0" sldId="267"/>
            <ac:spMk id="4" creationId="{EE14A9CE-6968-670A-5915-39B744948801}"/>
          </ac:spMkLst>
        </pc:spChg>
        <pc:spChg chg="add mod">
          <ac:chgData name="Christina Knes" userId="7e9737a164333dbd" providerId="LiveId" clId="{72053980-4108-4AED-A5B7-3290F7F82C69}" dt="2026-06-15T16:48:20.114" v="1736" actId="1076"/>
          <ac:spMkLst>
            <pc:docMk/>
            <pc:sldMk cId="0" sldId="267"/>
            <ac:spMk id="6" creationId="{8336465B-C739-E720-C6C3-9572C15F98F5}"/>
          </ac:spMkLst>
        </pc:spChg>
        <pc:spChg chg="mod">
          <ac:chgData name="Christina Knes" userId="7e9737a164333dbd" providerId="LiveId" clId="{72053980-4108-4AED-A5B7-3290F7F82C69}" dt="2026-06-15T16:45:46.659" v="1693" actId="208"/>
          <ac:spMkLst>
            <pc:docMk/>
            <pc:sldMk cId="0" sldId="267"/>
            <ac:spMk id="7" creationId="{D6F447FD-0BEE-0006-4259-B057955FD20C}"/>
          </ac:spMkLst>
        </pc:spChg>
        <pc:spChg chg="mod">
          <ac:chgData name="Christina Knes" userId="7e9737a164333dbd" providerId="LiveId" clId="{72053980-4108-4AED-A5B7-3290F7F82C69}" dt="2026-06-15T16:45:46.659" v="1693" actId="208"/>
          <ac:spMkLst>
            <pc:docMk/>
            <pc:sldMk cId="0" sldId="267"/>
            <ac:spMk id="8" creationId="{3DAB61ED-D63C-519A-FD70-A18434C2C360}"/>
          </ac:spMkLst>
        </pc:spChg>
        <pc:grpChg chg="add mod ord">
          <ac:chgData name="Christina Knes" userId="7e9737a164333dbd" providerId="LiveId" clId="{72053980-4108-4AED-A5B7-3290F7F82C69}" dt="2026-06-15T16:48:32.604" v="1738" actId="14100"/>
          <ac:grpSpMkLst>
            <pc:docMk/>
            <pc:sldMk cId="0" sldId="267"/>
            <ac:grpSpMk id="5" creationId="{E634DF09-77AE-8CFA-49F4-2E7E3CEF3BA6}"/>
          </ac:grpSpMkLst>
        </pc:grpChg>
        <pc:picChg chg="add mod">
          <ac:chgData name="Christina Knes" userId="7e9737a164333dbd" providerId="LiveId" clId="{72053980-4108-4AED-A5B7-3290F7F82C69}" dt="2026-06-09T09:08:12.663" v="476" actId="1076"/>
          <ac:picMkLst>
            <pc:docMk/>
            <pc:sldMk cId="0" sldId="267"/>
            <ac:picMk id="2050" creationId="{FE1E4CFA-B9D9-4015-CE71-F5D42DE47BC0}"/>
          </ac:picMkLst>
        </pc:picChg>
      </pc:sldChg>
      <pc:sldChg chg="delSp mod ord">
        <pc:chgData name="Christina Knes" userId="7e9737a164333dbd" providerId="LiveId" clId="{72053980-4108-4AED-A5B7-3290F7F82C69}" dt="2026-06-15T16:17:17.540" v="1297"/>
        <pc:sldMkLst>
          <pc:docMk/>
          <pc:sldMk cId="0" sldId="268"/>
        </pc:sldMkLst>
      </pc:sldChg>
      <pc:sldChg chg="addSp delSp modSp mod ord modTransition modAnim modNotesTx">
        <pc:chgData name="Christina Knes" userId="7e9737a164333dbd" providerId="LiveId" clId="{72053980-4108-4AED-A5B7-3290F7F82C69}" dt="2026-06-15T16:51:44.847" v="1749" actId="1076"/>
        <pc:sldMkLst>
          <pc:docMk/>
          <pc:sldMk cId="0" sldId="269"/>
        </pc:sldMkLst>
        <pc:spChg chg="del">
          <ac:chgData name="Christina Knes" userId="7e9737a164333dbd" providerId="LiveId" clId="{72053980-4108-4AED-A5B7-3290F7F82C69}" dt="2026-06-15T16:10:39.210" v="992" actId="478"/>
          <ac:spMkLst>
            <pc:docMk/>
            <pc:sldMk cId="0" sldId="269"/>
            <ac:spMk id="2" creationId="{00000000-0000-0000-0000-000000000000}"/>
          </ac:spMkLst>
        </pc:spChg>
        <pc:spChg chg="add del mod">
          <ac:chgData name="Christina Knes" userId="7e9737a164333dbd" providerId="LiveId" clId="{72053980-4108-4AED-A5B7-3290F7F82C69}" dt="2026-06-15T16:13:12.396" v="1248" actId="21"/>
          <ac:spMkLst>
            <pc:docMk/>
            <pc:sldMk cId="0" sldId="269"/>
            <ac:spMk id="3" creationId="{00000000-0000-0000-0000-000000000000}"/>
          </ac:spMkLst>
        </pc:spChg>
        <pc:spChg chg="add del">
          <ac:chgData name="Christina Knes" userId="7e9737a164333dbd" providerId="LiveId" clId="{72053980-4108-4AED-A5B7-3290F7F82C69}" dt="2026-06-15T16:10:15.248" v="986" actId="22"/>
          <ac:spMkLst>
            <pc:docMk/>
            <pc:sldMk cId="0" sldId="269"/>
            <ac:spMk id="5" creationId="{C5618B61-9D23-C357-672F-8A72F33C7A44}"/>
          </ac:spMkLst>
        </pc:spChg>
        <pc:spChg chg="add mod">
          <ac:chgData name="Christina Knes" userId="7e9737a164333dbd" providerId="LiveId" clId="{72053980-4108-4AED-A5B7-3290F7F82C69}" dt="2026-06-15T16:51:40.451" v="1748" actId="1076"/>
          <ac:spMkLst>
            <pc:docMk/>
            <pc:sldMk cId="0" sldId="269"/>
            <ac:spMk id="7" creationId="{0EDD8E0F-E14B-BD80-4157-60EF7989AD67}"/>
          </ac:spMkLst>
        </pc:spChg>
        <pc:spChg chg="add mod">
          <ac:chgData name="Christina Knes" userId="7e9737a164333dbd" providerId="LiveId" clId="{72053980-4108-4AED-A5B7-3290F7F82C69}" dt="2026-06-15T16:51:29.495" v="1746" actId="1076"/>
          <ac:spMkLst>
            <pc:docMk/>
            <pc:sldMk cId="0" sldId="269"/>
            <ac:spMk id="10" creationId="{2C74592C-1E29-BA63-FED4-45CBDDE5039A}"/>
          </ac:spMkLst>
        </pc:spChg>
        <pc:graphicFrameChg chg="add mod modGraphic">
          <ac:chgData name="Christina Knes" userId="7e9737a164333dbd" providerId="LiveId" clId="{72053980-4108-4AED-A5B7-3290F7F82C69}" dt="2026-06-15T16:51:33.521" v="1747" actId="1076"/>
          <ac:graphicFrameMkLst>
            <pc:docMk/>
            <pc:sldMk cId="0" sldId="269"/>
            <ac:graphicFrameMk id="8" creationId="{5AFFE19B-B6D0-EF0D-8AF4-A1C0036D1EAE}"/>
          </ac:graphicFrameMkLst>
        </pc:graphicFrameChg>
        <pc:picChg chg="add mod">
          <ac:chgData name="Christina Knes" userId="7e9737a164333dbd" providerId="LiveId" clId="{72053980-4108-4AED-A5B7-3290F7F82C69}" dt="2026-06-15T16:51:44.847" v="1749" actId="1076"/>
          <ac:picMkLst>
            <pc:docMk/>
            <pc:sldMk cId="0" sldId="269"/>
            <ac:picMk id="12" creationId="{5C30494B-8E02-FA47-5C2D-66E96CC5A88B}"/>
          </ac:picMkLst>
        </pc:picChg>
      </pc:sldChg>
      <pc:sldChg chg="addSp delSp modSp mod">
        <pc:chgData name="Christina Knes" userId="7e9737a164333dbd" providerId="LiveId" clId="{72053980-4108-4AED-A5B7-3290F7F82C69}" dt="2026-06-15T16:45:15.348" v="1687" actId="14100"/>
        <pc:sldMkLst>
          <pc:docMk/>
          <pc:sldMk cId="0" sldId="270"/>
        </pc:sldMkLst>
        <pc:spChg chg="mod">
          <ac:chgData name="Christina Knes" userId="7e9737a164333dbd" providerId="LiveId" clId="{72053980-4108-4AED-A5B7-3290F7F82C69}" dt="2026-06-15T16:44:58.213" v="1685" actId="1076"/>
          <ac:spMkLst>
            <pc:docMk/>
            <pc:sldMk cId="0" sldId="270"/>
            <ac:spMk id="6" creationId="{00000000-0000-0000-0000-000000000000}"/>
          </ac:spMkLst>
        </pc:spChg>
        <pc:spChg chg="mod">
          <ac:chgData name="Christina Knes" userId="7e9737a164333dbd" providerId="LiveId" clId="{72053980-4108-4AED-A5B7-3290F7F82C69}" dt="2026-06-15T16:44:56.414" v="1684" actId="1076"/>
          <ac:spMkLst>
            <pc:docMk/>
            <pc:sldMk cId="0" sldId="270"/>
            <ac:spMk id="7" creationId="{00000000-0000-0000-0000-000000000000}"/>
          </ac:spMkLst>
        </pc:spChg>
        <pc:spChg chg="add del mod">
          <ac:chgData name="Christina Knes" userId="7e9737a164333dbd" providerId="LiveId" clId="{72053980-4108-4AED-A5B7-3290F7F82C69}" dt="2026-06-15T16:44:50.218" v="1683" actId="478"/>
          <ac:spMkLst>
            <pc:docMk/>
            <pc:sldMk cId="0" sldId="270"/>
            <ac:spMk id="8" creationId="{3793229E-DE1D-D8E1-12F5-A994388F4DA7}"/>
          </ac:spMkLst>
        </pc:spChg>
        <pc:spChg chg="add mod">
          <ac:chgData name="Christina Knes" userId="7e9737a164333dbd" providerId="LiveId" clId="{72053980-4108-4AED-A5B7-3290F7F82C69}" dt="2026-06-09T09:05:53.350" v="468" actId="1076"/>
          <ac:spMkLst>
            <pc:docMk/>
            <pc:sldMk cId="0" sldId="270"/>
            <ac:spMk id="16" creationId="{0396B072-1AA0-6997-A261-3D2BBCA71521}"/>
          </ac:spMkLst>
        </pc:spChg>
        <pc:grpChg chg="mod">
          <ac:chgData name="Christina Knes" userId="7e9737a164333dbd" providerId="LiveId" clId="{72053980-4108-4AED-A5B7-3290F7F82C69}" dt="2026-06-15T16:45:15.348" v="1687" actId="14100"/>
          <ac:grpSpMkLst>
            <pc:docMk/>
            <pc:sldMk cId="0" sldId="270"/>
            <ac:grpSpMk id="3" creationId="{00000000-0000-0000-0000-000000000000}"/>
          </ac:grpSpMkLst>
        </pc:grpChg>
        <pc:picChg chg="add mod">
          <ac:chgData name="Christina Knes" userId="7e9737a164333dbd" providerId="LiveId" clId="{72053980-4108-4AED-A5B7-3290F7F82C69}" dt="2026-06-09T09:05:00.213" v="444" actId="1076"/>
          <ac:picMkLst>
            <pc:docMk/>
            <pc:sldMk cId="0" sldId="270"/>
            <ac:picMk id="15" creationId="{70694901-97D3-73F7-3D3B-E6DBFD91B8A2}"/>
          </ac:picMkLst>
        </pc:picChg>
      </pc:sldChg>
      <pc:sldChg chg="addSp delSp modSp add mod modTransition modNotesTx">
        <pc:chgData name="Christina Knes" userId="7e9737a164333dbd" providerId="LiveId" clId="{72053980-4108-4AED-A5B7-3290F7F82C69}" dt="2026-06-15T16:47:54.327" v="1731" actId="1076"/>
        <pc:sldMkLst>
          <pc:docMk/>
          <pc:sldMk cId="3676627759" sldId="271"/>
        </pc:sldMkLst>
        <pc:spChg chg="add mod">
          <ac:chgData name="Christina Knes" userId="7e9737a164333dbd" providerId="LiveId" clId="{72053980-4108-4AED-A5B7-3290F7F82C69}" dt="2026-06-15T16:47:54.327" v="1731" actId="1076"/>
          <ac:spMkLst>
            <pc:docMk/>
            <pc:sldMk cId="3676627759" sldId="271"/>
            <ac:spMk id="3" creationId="{FEA4FB85-2386-1D72-B539-EE82701E767A}"/>
          </ac:spMkLst>
        </pc:spChg>
        <pc:spChg chg="add del mod">
          <ac:chgData name="Christina Knes" userId="7e9737a164333dbd" providerId="LiveId" clId="{72053980-4108-4AED-A5B7-3290F7F82C69}" dt="2026-06-15T16:47:03.975" v="1714" actId="21"/>
          <ac:spMkLst>
            <pc:docMk/>
            <pc:sldMk cId="3676627759" sldId="271"/>
            <ac:spMk id="6" creationId="{C514BB90-57BA-AFE6-AC1F-FEC4247F25E6}"/>
          </ac:spMkLst>
        </pc:spChg>
        <pc:spChg chg="add mod">
          <ac:chgData name="Christina Knes" userId="7e9737a164333dbd" providerId="LiveId" clId="{72053980-4108-4AED-A5B7-3290F7F82C69}" dt="2026-06-15T16:47:48.312" v="1728" actId="1076"/>
          <ac:spMkLst>
            <pc:docMk/>
            <pc:sldMk cId="3676627759" sldId="271"/>
            <ac:spMk id="7" creationId="{40FE6B35-91C6-D113-ACDE-04E07AA4783A}"/>
          </ac:spMkLst>
        </pc:spChg>
        <pc:spChg chg="add mod">
          <ac:chgData name="Christina Knes" userId="7e9737a164333dbd" providerId="LiveId" clId="{72053980-4108-4AED-A5B7-3290F7F82C69}" dt="2026-06-15T16:47:50.240" v="1729" actId="1076"/>
          <ac:spMkLst>
            <pc:docMk/>
            <pc:sldMk cId="3676627759" sldId="271"/>
            <ac:spMk id="8" creationId="{83C2C069-AA71-5C06-E494-E4B061CC408E}"/>
          </ac:spMkLst>
        </pc:spChg>
        <pc:picChg chg="add mod">
          <ac:chgData name="Christina Knes" userId="7e9737a164333dbd" providerId="LiveId" clId="{72053980-4108-4AED-A5B7-3290F7F82C69}" dt="2026-06-15T16:09:18.859" v="979" actId="208"/>
          <ac:picMkLst>
            <pc:docMk/>
            <pc:sldMk cId="3676627759" sldId="271"/>
            <ac:picMk id="5" creationId="{77A5E288-C61E-B3FC-2136-360FDFA4C6A3}"/>
          </ac:picMkLst>
        </pc:picChg>
      </pc:sldChg>
      <pc:sldChg chg="add">
        <pc:chgData name="Christina Knes" userId="7e9737a164333dbd" providerId="LiveId" clId="{72053980-4108-4AED-A5B7-3290F7F82C69}" dt="2026-06-15T16:09:57.327" v="980" actId="2890"/>
        <pc:sldMkLst>
          <pc:docMk/>
          <pc:sldMk cId="348425690" sldId="272"/>
        </pc:sldMkLst>
      </pc:sldChg>
      <pc:sldChg chg="add del">
        <pc:chgData name="Christina Knes" userId="7e9737a164333dbd" providerId="LiveId" clId="{72053980-4108-4AED-A5B7-3290F7F82C69}" dt="2026-06-15T16:04:58.631" v="977" actId="2696"/>
        <pc:sldMkLst>
          <pc:docMk/>
          <pc:sldMk cId="1582935613" sldId="272"/>
        </pc:sldMkLst>
      </pc:sldChg>
      <pc:sldChg chg="addSp delSp modSp add mod ord modTransition modAnim modNotesTx">
        <pc:chgData name="Christina Knes" userId="7e9737a164333dbd" providerId="LiveId" clId="{72053980-4108-4AED-A5B7-3290F7F82C69}" dt="2026-06-15T16:50:53.149" v="1741" actId="207"/>
        <pc:sldMkLst>
          <pc:docMk/>
          <pc:sldMk cId="1652076068" sldId="273"/>
        </pc:sldMkLst>
        <pc:spChg chg="mod ord">
          <ac:chgData name="Christina Knes" userId="7e9737a164333dbd" providerId="LiveId" clId="{72053980-4108-4AED-A5B7-3290F7F82C69}" dt="2026-06-15T16:27:24.626" v="1414" actId="1076"/>
          <ac:spMkLst>
            <pc:docMk/>
            <pc:sldMk cId="1652076068" sldId="273"/>
            <ac:spMk id="2" creationId="{EC05AF14-A1AD-A0A0-844A-D1CBEF5CD868}"/>
          </ac:spMkLst>
        </pc:spChg>
        <pc:spChg chg="del">
          <ac:chgData name="Christina Knes" userId="7e9737a164333dbd" providerId="LiveId" clId="{72053980-4108-4AED-A5B7-3290F7F82C69}" dt="2026-06-15T16:17:49.913" v="1307" actId="478"/>
          <ac:spMkLst>
            <pc:docMk/>
            <pc:sldMk cId="1652076068" sldId="273"/>
            <ac:spMk id="3" creationId="{920F5CA5-25FA-6F8B-04C6-DDAF16187E97}"/>
          </ac:spMkLst>
        </pc:spChg>
        <pc:spChg chg="add mod">
          <ac:chgData name="Christina Knes" userId="7e9737a164333dbd" providerId="LiveId" clId="{72053980-4108-4AED-A5B7-3290F7F82C69}" dt="2026-06-15T16:20:15.701" v="1338" actId="1076"/>
          <ac:spMkLst>
            <pc:docMk/>
            <pc:sldMk cId="1652076068" sldId="273"/>
            <ac:spMk id="5" creationId="{012C0003-8150-404A-4AA7-303C81DF5D40}"/>
          </ac:spMkLst>
        </pc:spChg>
        <pc:spChg chg="add mod">
          <ac:chgData name="Christina Knes" userId="7e9737a164333dbd" providerId="LiveId" clId="{72053980-4108-4AED-A5B7-3290F7F82C69}" dt="2026-06-15T16:41:12.544" v="1653" actId="1076"/>
          <ac:spMkLst>
            <pc:docMk/>
            <pc:sldMk cId="1652076068" sldId="273"/>
            <ac:spMk id="7" creationId="{FF7CA737-0D55-BDDA-2670-9E4F2D5EA68F}"/>
          </ac:spMkLst>
        </pc:spChg>
        <pc:spChg chg="add mod">
          <ac:chgData name="Christina Knes" userId="7e9737a164333dbd" providerId="LiveId" clId="{72053980-4108-4AED-A5B7-3290F7F82C69}" dt="2026-06-15T16:50:53.149" v="1741" actId="207"/>
          <ac:spMkLst>
            <pc:docMk/>
            <pc:sldMk cId="1652076068" sldId="273"/>
            <ac:spMk id="9" creationId="{551F6912-BE5D-98B0-97B4-469B5971EA84}"/>
          </ac:spMkLst>
        </pc:spChg>
      </pc:sldChg>
      <pc:sldChg chg="add del ord">
        <pc:chgData name="Christina Knes" userId="7e9737a164333dbd" providerId="LiveId" clId="{72053980-4108-4AED-A5B7-3290F7F82C69}" dt="2026-06-15T16:17:29.810" v="1303" actId="47"/>
        <pc:sldMkLst>
          <pc:docMk/>
          <pc:sldMk cId="3341480065" sldId="273"/>
        </pc:sldMkLst>
      </pc:sldChg>
      <pc:sldChg chg="addSp modSp new mod modTransition modNotesTx">
        <pc:chgData name="Christina Knes" userId="7e9737a164333dbd" providerId="LiveId" clId="{72053980-4108-4AED-A5B7-3290F7F82C69}" dt="2026-06-15T16:42:07.644" v="1664" actId="1076"/>
        <pc:sldMkLst>
          <pc:docMk/>
          <pc:sldMk cId="3893026578" sldId="274"/>
        </pc:sldMkLst>
        <pc:spChg chg="add mod">
          <ac:chgData name="Christina Knes" userId="7e9737a164333dbd" providerId="LiveId" clId="{72053980-4108-4AED-A5B7-3290F7F82C69}" dt="2026-06-15T16:42:07.644" v="1664" actId="1076"/>
          <ac:spMkLst>
            <pc:docMk/>
            <pc:sldMk cId="3893026578" sldId="274"/>
            <ac:spMk id="4" creationId="{83AC48D8-10F6-F342-E8AF-815A9D9BDAD2}"/>
          </ac:spMkLst>
        </pc:spChg>
        <pc:picChg chg="add mod">
          <ac:chgData name="Christina Knes" userId="7e9737a164333dbd" providerId="LiveId" clId="{72053980-4108-4AED-A5B7-3290F7F82C69}" dt="2026-06-15T16:42:01.543" v="1663" actId="1076"/>
          <ac:picMkLst>
            <pc:docMk/>
            <pc:sldMk cId="3893026578" sldId="274"/>
            <ac:picMk id="3" creationId="{0364B6F1-A225-E9E3-7146-DD4F9C82D7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CAB475-9A83-44C3-86D1-19D1A355B5E8}" type="datetimeFigureOut">
              <a:rPr lang="de-AT" smtClean="0"/>
              <a:t>15.06.2026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A25E8D-1920-4741-80B4-A268E6871E94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493481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A25E8D-1920-4741-80B4-A268E6871E94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16171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Before</a:t>
            </a:r>
            <a:r>
              <a:rPr lang="de-AT" dirty="0"/>
              <a:t> </a:t>
            </a:r>
            <a:r>
              <a:rPr lang="de-AT" dirty="0" err="1"/>
              <a:t>evaluating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results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meta-analysis,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important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understand</a:t>
            </a:r>
            <a:r>
              <a:rPr lang="de-AT" dirty="0"/>
              <a:t> </a:t>
            </a:r>
            <a:r>
              <a:rPr lang="de-AT" dirty="0" err="1"/>
              <a:t>how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selected</a:t>
            </a:r>
            <a:r>
              <a:rPr lang="de-AT" dirty="0"/>
              <a:t>. The </a:t>
            </a:r>
            <a:r>
              <a:rPr lang="de-AT" dirty="0" err="1"/>
              <a:t>quality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a meta-analysis </a:t>
            </a:r>
            <a:r>
              <a:rPr lang="de-AT" dirty="0" err="1"/>
              <a:t>depends</a:t>
            </a:r>
            <a:r>
              <a:rPr lang="de-AT" dirty="0"/>
              <a:t> </a:t>
            </a:r>
            <a:r>
              <a:rPr lang="de-AT" dirty="0" err="1"/>
              <a:t>heavily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quality</a:t>
            </a:r>
            <a:r>
              <a:rPr lang="de-AT" dirty="0"/>
              <a:t> and </a:t>
            </a:r>
            <a:r>
              <a:rPr lang="de-AT" dirty="0" err="1"/>
              <a:t>relevance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. This </a:t>
            </a:r>
            <a:r>
              <a:rPr lang="de-AT" dirty="0" err="1"/>
              <a:t>idea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often</a:t>
            </a:r>
            <a:r>
              <a:rPr lang="de-AT" dirty="0"/>
              <a:t> </a:t>
            </a:r>
            <a:r>
              <a:rPr lang="de-AT" dirty="0" err="1"/>
              <a:t>summarized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phrase</a:t>
            </a:r>
            <a:r>
              <a:rPr lang="de-AT" dirty="0"/>
              <a:t> “</a:t>
            </a:r>
            <a:r>
              <a:rPr lang="de-AT" dirty="0" err="1"/>
              <a:t>garbage</a:t>
            </a:r>
            <a:r>
              <a:rPr lang="de-AT" dirty="0"/>
              <a:t> in, </a:t>
            </a:r>
            <a:r>
              <a:rPr lang="de-AT" dirty="0" err="1"/>
              <a:t>garbage</a:t>
            </a:r>
            <a:r>
              <a:rPr lang="de-AT" dirty="0"/>
              <a:t> out.” </a:t>
            </a:r>
            <a:r>
              <a:rPr lang="de-AT" dirty="0" err="1"/>
              <a:t>If</a:t>
            </a:r>
            <a:r>
              <a:rPr lang="de-AT" dirty="0"/>
              <a:t> </a:t>
            </a:r>
            <a:r>
              <a:rPr lang="de-AT" dirty="0" err="1"/>
              <a:t>unsuitable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, </a:t>
            </a:r>
            <a:r>
              <a:rPr lang="de-AT" dirty="0" err="1"/>
              <a:t>even</a:t>
            </a:r>
            <a:r>
              <a:rPr lang="de-AT" dirty="0"/>
              <a:t> sophisticated </a:t>
            </a:r>
            <a:r>
              <a:rPr lang="de-AT" dirty="0" err="1"/>
              <a:t>statistical</a:t>
            </a:r>
            <a:r>
              <a:rPr lang="de-AT" dirty="0"/>
              <a:t> </a:t>
            </a:r>
            <a:r>
              <a:rPr lang="de-AT" dirty="0" err="1"/>
              <a:t>analyses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lead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misleading</a:t>
            </a:r>
            <a:r>
              <a:rPr lang="de-AT" dirty="0"/>
              <a:t> </a:t>
            </a:r>
            <a:r>
              <a:rPr lang="de-AT" dirty="0" err="1"/>
              <a:t>conclusions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As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see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ensure</a:t>
            </a:r>
            <a:r>
              <a:rPr lang="de-AT" dirty="0"/>
              <a:t> a transparent and </a:t>
            </a:r>
            <a:r>
              <a:rPr lang="de-AT" dirty="0" err="1"/>
              <a:t>systematic</a:t>
            </a:r>
            <a:r>
              <a:rPr lang="de-AT" dirty="0"/>
              <a:t> </a:t>
            </a:r>
            <a:r>
              <a:rPr lang="de-AT" dirty="0" err="1"/>
              <a:t>selection</a:t>
            </a:r>
            <a:r>
              <a:rPr lang="de-AT" dirty="0"/>
              <a:t> </a:t>
            </a:r>
            <a:r>
              <a:rPr lang="de-AT" dirty="0" err="1"/>
              <a:t>process</a:t>
            </a:r>
            <a:r>
              <a:rPr lang="de-AT" dirty="0"/>
              <a:t>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authors</a:t>
            </a:r>
            <a:r>
              <a:rPr lang="de-AT" dirty="0"/>
              <a:t> </a:t>
            </a:r>
            <a:r>
              <a:rPr lang="de-AT" dirty="0" err="1"/>
              <a:t>followed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PRISMA </a:t>
            </a:r>
            <a:r>
              <a:rPr lang="de-AT" dirty="0" err="1"/>
              <a:t>framework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literature</a:t>
            </a:r>
            <a:r>
              <a:rPr lang="de-AT" dirty="0"/>
              <a:t> </a:t>
            </a:r>
            <a:r>
              <a:rPr lang="de-AT" dirty="0" err="1"/>
              <a:t>search</a:t>
            </a:r>
            <a:r>
              <a:rPr lang="de-AT" dirty="0"/>
              <a:t> was </a:t>
            </a:r>
            <a:r>
              <a:rPr lang="de-AT" dirty="0" err="1"/>
              <a:t>conducted</a:t>
            </a:r>
            <a:r>
              <a:rPr lang="de-AT" dirty="0"/>
              <a:t> </a:t>
            </a:r>
            <a:r>
              <a:rPr lang="de-AT" dirty="0" err="1"/>
              <a:t>across</a:t>
            </a:r>
            <a:r>
              <a:rPr lang="de-AT" dirty="0"/>
              <a:t> </a:t>
            </a:r>
            <a:r>
              <a:rPr lang="de-AT" dirty="0" err="1"/>
              <a:t>five</a:t>
            </a:r>
            <a:r>
              <a:rPr lang="de-AT" dirty="0"/>
              <a:t> </a:t>
            </a:r>
            <a:r>
              <a:rPr lang="de-AT" dirty="0" err="1"/>
              <a:t>major</a:t>
            </a:r>
            <a:r>
              <a:rPr lang="de-AT" dirty="0"/>
              <a:t> </a:t>
            </a:r>
            <a:r>
              <a:rPr lang="de-AT" dirty="0" err="1"/>
              <a:t>scientific</a:t>
            </a:r>
            <a:r>
              <a:rPr lang="de-AT" dirty="0"/>
              <a:t> </a:t>
            </a:r>
            <a:r>
              <a:rPr lang="de-AT" dirty="0" err="1"/>
              <a:t>databases</a:t>
            </a:r>
            <a:r>
              <a:rPr lang="de-AT" dirty="0"/>
              <a:t>: Web </a:t>
            </a:r>
            <a:r>
              <a:rPr lang="de-AT" dirty="0" err="1"/>
              <a:t>of</a:t>
            </a:r>
            <a:r>
              <a:rPr lang="de-AT" dirty="0"/>
              <a:t> Science, </a:t>
            </a:r>
            <a:r>
              <a:rPr lang="de-AT" dirty="0" err="1"/>
              <a:t>EBSCOhost</a:t>
            </a:r>
            <a:r>
              <a:rPr lang="de-AT" dirty="0"/>
              <a:t>, Scopus, </a:t>
            </a:r>
            <a:r>
              <a:rPr lang="de-AT" dirty="0" err="1"/>
              <a:t>PsycINFO</a:t>
            </a:r>
            <a:r>
              <a:rPr lang="de-AT" dirty="0"/>
              <a:t>, and IEEE </a:t>
            </a:r>
            <a:r>
              <a:rPr lang="de-AT" dirty="0" err="1"/>
              <a:t>Xplore</a:t>
            </a:r>
            <a:r>
              <a:rPr lang="de-AT" dirty="0"/>
              <a:t>. </a:t>
            </a:r>
            <a:r>
              <a:rPr lang="de-AT" dirty="0" err="1"/>
              <a:t>Using</a:t>
            </a:r>
            <a:r>
              <a:rPr lang="de-AT" dirty="0"/>
              <a:t> </a:t>
            </a:r>
            <a:r>
              <a:rPr lang="de-AT" dirty="0" err="1"/>
              <a:t>search</a:t>
            </a:r>
            <a:r>
              <a:rPr lang="de-AT" dirty="0"/>
              <a:t> </a:t>
            </a:r>
            <a:r>
              <a:rPr lang="de-AT" dirty="0" err="1"/>
              <a:t>terms</a:t>
            </a:r>
            <a:r>
              <a:rPr lang="de-AT" dirty="0"/>
              <a:t> </a:t>
            </a:r>
            <a:r>
              <a:rPr lang="de-AT" dirty="0" err="1"/>
              <a:t>related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ChatGPT and </a:t>
            </a:r>
            <a:r>
              <a:rPr lang="de-AT" dirty="0" err="1"/>
              <a:t>education</a:t>
            </a:r>
            <a:r>
              <a:rPr lang="de-AT" dirty="0"/>
              <a:t>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authors</a:t>
            </a:r>
            <a:r>
              <a:rPr lang="de-AT" dirty="0"/>
              <a:t> </a:t>
            </a:r>
            <a:r>
              <a:rPr lang="de-AT" dirty="0" err="1"/>
              <a:t>initially</a:t>
            </a:r>
            <a:r>
              <a:rPr lang="de-AT" dirty="0"/>
              <a:t> </a:t>
            </a:r>
            <a:r>
              <a:rPr lang="de-AT" dirty="0" err="1"/>
              <a:t>identified</a:t>
            </a:r>
            <a:r>
              <a:rPr lang="de-AT" dirty="0"/>
              <a:t> 1,683 </a:t>
            </a:r>
            <a:r>
              <a:rPr lang="de-AT" dirty="0" err="1"/>
              <a:t>records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After </a:t>
            </a:r>
            <a:r>
              <a:rPr lang="de-AT" dirty="0" err="1"/>
              <a:t>removing</a:t>
            </a:r>
            <a:r>
              <a:rPr lang="de-AT" dirty="0"/>
              <a:t> 656 </a:t>
            </a:r>
            <a:r>
              <a:rPr lang="de-AT" dirty="0" err="1"/>
              <a:t>duplicate</a:t>
            </a:r>
            <a:r>
              <a:rPr lang="de-AT" dirty="0"/>
              <a:t> </a:t>
            </a:r>
            <a:r>
              <a:rPr lang="de-AT" dirty="0" err="1"/>
              <a:t>records</a:t>
            </a:r>
            <a:r>
              <a:rPr lang="de-AT" dirty="0"/>
              <a:t>, 1,027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remained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screening</a:t>
            </a:r>
            <a:r>
              <a:rPr lang="de-AT" dirty="0"/>
              <a:t>. During </a:t>
            </a:r>
            <a:r>
              <a:rPr lang="de-AT" dirty="0" err="1"/>
              <a:t>the</a:t>
            </a:r>
            <a:r>
              <a:rPr lang="de-AT" dirty="0"/>
              <a:t> title and </a:t>
            </a:r>
            <a:r>
              <a:rPr lang="de-AT" dirty="0" err="1"/>
              <a:t>abstract</a:t>
            </a:r>
            <a:r>
              <a:rPr lang="de-AT" dirty="0"/>
              <a:t> </a:t>
            </a:r>
            <a:r>
              <a:rPr lang="de-AT" dirty="0" err="1"/>
              <a:t>screening</a:t>
            </a:r>
            <a:r>
              <a:rPr lang="de-AT" dirty="0"/>
              <a:t> </a:t>
            </a:r>
            <a:r>
              <a:rPr lang="de-AT" dirty="0" err="1"/>
              <a:t>stage</a:t>
            </a:r>
            <a:r>
              <a:rPr lang="de-AT" dirty="0"/>
              <a:t>,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assessed</a:t>
            </a:r>
            <a:r>
              <a:rPr lang="de-AT" dirty="0"/>
              <a:t> </a:t>
            </a:r>
            <a:r>
              <a:rPr lang="de-AT" dirty="0" err="1"/>
              <a:t>against</a:t>
            </a:r>
            <a:r>
              <a:rPr lang="de-AT" dirty="0"/>
              <a:t> </a:t>
            </a:r>
            <a:r>
              <a:rPr lang="de-AT" dirty="0" err="1"/>
              <a:t>predefined</a:t>
            </a:r>
            <a:r>
              <a:rPr lang="de-AT" dirty="0"/>
              <a:t> </a:t>
            </a:r>
            <a:r>
              <a:rPr lang="de-AT" dirty="0" err="1"/>
              <a:t>inclusion</a:t>
            </a:r>
            <a:r>
              <a:rPr lang="de-AT" dirty="0"/>
              <a:t> and </a:t>
            </a:r>
            <a:r>
              <a:rPr lang="de-AT" dirty="0" err="1"/>
              <a:t>exclusion</a:t>
            </a:r>
            <a:r>
              <a:rPr lang="de-AT" dirty="0"/>
              <a:t> </a:t>
            </a:r>
            <a:r>
              <a:rPr lang="de-AT" dirty="0" err="1"/>
              <a:t>criteria</a:t>
            </a:r>
            <a:r>
              <a:rPr lang="de-AT" dirty="0"/>
              <a:t>.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,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had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investigate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use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ChatGPT in </a:t>
            </a:r>
            <a:r>
              <a:rPr lang="de-AT" dirty="0" err="1"/>
              <a:t>educational</a:t>
            </a:r>
            <a:r>
              <a:rPr lang="de-AT" dirty="0"/>
              <a:t> </a:t>
            </a:r>
            <a:r>
              <a:rPr lang="de-AT" dirty="0" err="1"/>
              <a:t>contexts</a:t>
            </a:r>
            <a:r>
              <a:rPr lang="de-AT" dirty="0"/>
              <a:t> and </a:t>
            </a:r>
            <a:r>
              <a:rPr lang="de-AT" dirty="0" err="1"/>
              <a:t>employ</a:t>
            </a:r>
            <a:r>
              <a:rPr lang="de-AT" dirty="0"/>
              <a:t> experimental </a:t>
            </a:r>
            <a:r>
              <a:rPr lang="de-AT" dirty="0" err="1"/>
              <a:t>or</a:t>
            </a:r>
            <a:r>
              <a:rPr lang="de-AT" dirty="0"/>
              <a:t> quasi-experimental </a:t>
            </a:r>
            <a:r>
              <a:rPr lang="de-AT" dirty="0" err="1"/>
              <a:t>research</a:t>
            </a:r>
            <a:r>
              <a:rPr lang="de-AT" dirty="0"/>
              <a:t> </a:t>
            </a:r>
            <a:r>
              <a:rPr lang="de-AT" dirty="0" err="1"/>
              <a:t>designs</a:t>
            </a:r>
            <a:r>
              <a:rPr lang="de-AT" dirty="0"/>
              <a:t>. Studies </a:t>
            </a:r>
            <a:r>
              <a:rPr lang="de-AT" dirty="0" err="1"/>
              <a:t>focusing</a:t>
            </a:r>
            <a:r>
              <a:rPr lang="de-AT" dirty="0"/>
              <a:t> </a:t>
            </a:r>
            <a:r>
              <a:rPr lang="de-AT" dirty="0" err="1"/>
              <a:t>primarily</a:t>
            </a:r>
            <a:r>
              <a:rPr lang="de-AT" dirty="0"/>
              <a:t> on qualitative </a:t>
            </a:r>
            <a:r>
              <a:rPr lang="de-AT" dirty="0" err="1"/>
              <a:t>evidence</a:t>
            </a:r>
            <a:r>
              <a:rPr lang="de-AT" dirty="0"/>
              <a:t>, </a:t>
            </a:r>
            <a:r>
              <a:rPr lang="de-AT" dirty="0" err="1"/>
              <a:t>opinion</a:t>
            </a:r>
            <a:r>
              <a:rPr lang="de-AT" dirty="0"/>
              <a:t> </a:t>
            </a:r>
            <a:r>
              <a:rPr lang="de-AT" dirty="0" err="1"/>
              <a:t>pieces</a:t>
            </a:r>
            <a:r>
              <a:rPr lang="de-AT" dirty="0"/>
              <a:t>,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broader</a:t>
            </a:r>
            <a:r>
              <a:rPr lang="de-AT" dirty="0"/>
              <a:t> </a:t>
            </a:r>
            <a:r>
              <a:rPr lang="de-AT" dirty="0" err="1"/>
              <a:t>impact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artificial</a:t>
            </a:r>
            <a:r>
              <a:rPr lang="de-AT" dirty="0"/>
              <a:t> </a:t>
            </a:r>
            <a:r>
              <a:rPr lang="de-AT" dirty="0" err="1"/>
              <a:t>intelligence</a:t>
            </a:r>
            <a:r>
              <a:rPr lang="de-AT" dirty="0"/>
              <a:t> </a:t>
            </a:r>
            <a:r>
              <a:rPr lang="de-AT" dirty="0" err="1"/>
              <a:t>without</a:t>
            </a:r>
            <a:r>
              <a:rPr lang="de-AT" dirty="0"/>
              <a:t> </a:t>
            </a:r>
            <a:r>
              <a:rPr lang="de-AT" dirty="0" err="1"/>
              <a:t>specifically</a:t>
            </a:r>
            <a:r>
              <a:rPr lang="de-AT" dirty="0"/>
              <a:t> </a:t>
            </a:r>
            <a:r>
              <a:rPr lang="de-AT" dirty="0" err="1"/>
              <a:t>examining</a:t>
            </a:r>
            <a:r>
              <a:rPr lang="de-AT" dirty="0"/>
              <a:t> ChatGPT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excluded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As a </a:t>
            </a:r>
            <a:r>
              <a:rPr lang="de-AT" dirty="0" err="1"/>
              <a:t>result</a:t>
            </a:r>
            <a:r>
              <a:rPr lang="de-AT" dirty="0"/>
              <a:t>, 899 </a:t>
            </a:r>
            <a:r>
              <a:rPr lang="de-AT" dirty="0" err="1"/>
              <a:t>records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removed</a:t>
            </a:r>
            <a:r>
              <a:rPr lang="de-AT" dirty="0"/>
              <a:t> </a:t>
            </a:r>
            <a:r>
              <a:rPr lang="de-AT" dirty="0" err="1"/>
              <a:t>during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initial </a:t>
            </a:r>
            <a:r>
              <a:rPr lang="de-AT" dirty="0" err="1"/>
              <a:t>screening</a:t>
            </a:r>
            <a:r>
              <a:rPr lang="de-AT" dirty="0"/>
              <a:t> </a:t>
            </a:r>
            <a:r>
              <a:rPr lang="de-AT" dirty="0" err="1"/>
              <a:t>process</a:t>
            </a:r>
            <a:r>
              <a:rPr lang="de-AT" dirty="0"/>
              <a:t>. The </a:t>
            </a:r>
            <a:r>
              <a:rPr lang="de-AT" dirty="0" err="1"/>
              <a:t>remaining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then</a:t>
            </a:r>
            <a:r>
              <a:rPr lang="de-AT" dirty="0"/>
              <a:t> </a:t>
            </a:r>
            <a:r>
              <a:rPr lang="de-AT" dirty="0" err="1"/>
              <a:t>examined</a:t>
            </a:r>
            <a:r>
              <a:rPr lang="de-AT" dirty="0"/>
              <a:t> in </a:t>
            </a:r>
            <a:r>
              <a:rPr lang="de-AT" dirty="0" err="1"/>
              <a:t>greater</a:t>
            </a:r>
            <a:r>
              <a:rPr lang="de-AT" dirty="0"/>
              <a:t> </a:t>
            </a:r>
            <a:r>
              <a:rPr lang="de-AT" dirty="0" err="1"/>
              <a:t>detail</a:t>
            </a:r>
            <a:r>
              <a:rPr lang="de-AT" dirty="0"/>
              <a:t>. After </a:t>
            </a:r>
            <a:r>
              <a:rPr lang="de-AT" dirty="0" err="1"/>
              <a:t>attempting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retrieve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articles</a:t>
            </a:r>
            <a:r>
              <a:rPr lang="de-AT" dirty="0"/>
              <a:t>, 123 </a:t>
            </a:r>
            <a:r>
              <a:rPr lang="de-AT" dirty="0" err="1"/>
              <a:t>full</a:t>
            </a:r>
            <a:r>
              <a:rPr lang="de-AT" dirty="0"/>
              <a:t>-text </a:t>
            </a:r>
            <a:r>
              <a:rPr lang="de-AT" dirty="0" err="1"/>
              <a:t>reports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assessed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eligibility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At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stage</a:t>
            </a:r>
            <a:r>
              <a:rPr lang="de-AT" dirty="0"/>
              <a:t>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authors</a:t>
            </a:r>
            <a:r>
              <a:rPr lang="de-AT" dirty="0"/>
              <a:t> </a:t>
            </a:r>
            <a:r>
              <a:rPr lang="de-AT" dirty="0" err="1"/>
              <a:t>applied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specific</a:t>
            </a:r>
            <a:r>
              <a:rPr lang="de-AT" dirty="0"/>
              <a:t> </a:t>
            </a:r>
            <a:r>
              <a:rPr lang="de-AT" dirty="0" err="1"/>
              <a:t>exclusion</a:t>
            </a:r>
            <a:r>
              <a:rPr lang="de-AT" dirty="0"/>
              <a:t> </a:t>
            </a:r>
            <a:r>
              <a:rPr lang="de-AT" dirty="0" err="1"/>
              <a:t>criteria</a:t>
            </a:r>
            <a:r>
              <a:rPr lang="de-AT" dirty="0"/>
              <a:t>. Studies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excluded</a:t>
            </a:r>
            <a:r>
              <a:rPr lang="de-AT" dirty="0"/>
              <a:t> </a:t>
            </a:r>
            <a:r>
              <a:rPr lang="de-AT" dirty="0" err="1"/>
              <a:t>if</a:t>
            </a:r>
            <a:r>
              <a:rPr lang="de-AT" dirty="0"/>
              <a:t> </a:t>
            </a:r>
            <a:r>
              <a:rPr lang="de-AT" dirty="0" err="1"/>
              <a:t>they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non-experimental </a:t>
            </a:r>
            <a:r>
              <a:rPr lang="de-AT" dirty="0" err="1"/>
              <a:t>designs</a:t>
            </a:r>
            <a:r>
              <a:rPr lang="de-AT" dirty="0"/>
              <a:t>, </a:t>
            </a:r>
            <a:r>
              <a:rPr lang="de-AT" dirty="0" err="1"/>
              <a:t>focused</a:t>
            </a:r>
            <a:r>
              <a:rPr lang="de-AT" dirty="0"/>
              <a:t> on irrelevant </a:t>
            </a:r>
            <a:r>
              <a:rPr lang="de-AT" dirty="0" err="1"/>
              <a:t>topics</a:t>
            </a:r>
            <a:r>
              <a:rPr lang="de-AT" dirty="0"/>
              <a:t>, </a:t>
            </a:r>
            <a:r>
              <a:rPr lang="de-AT" dirty="0" err="1"/>
              <a:t>lacked</a:t>
            </a:r>
            <a:r>
              <a:rPr lang="de-AT" dirty="0"/>
              <a:t> </a:t>
            </a:r>
            <a:r>
              <a:rPr lang="de-AT" dirty="0" err="1"/>
              <a:t>student-centered</a:t>
            </a:r>
            <a:r>
              <a:rPr lang="de-AT" dirty="0"/>
              <a:t> </a:t>
            </a:r>
            <a:r>
              <a:rPr lang="de-AT" dirty="0" err="1"/>
              <a:t>learning</a:t>
            </a:r>
            <a:r>
              <a:rPr lang="de-AT" dirty="0"/>
              <a:t> </a:t>
            </a:r>
            <a:r>
              <a:rPr lang="de-AT" dirty="0" err="1"/>
              <a:t>outcomes</a:t>
            </a:r>
            <a:r>
              <a:rPr lang="de-AT" dirty="0"/>
              <a:t>, </a:t>
            </a:r>
            <a:r>
              <a:rPr lang="de-AT" dirty="0" err="1"/>
              <a:t>did</a:t>
            </a:r>
            <a:r>
              <a:rPr lang="de-AT" dirty="0"/>
              <a:t> not </a:t>
            </a:r>
            <a:r>
              <a:rPr lang="de-AT" dirty="0" err="1"/>
              <a:t>include</a:t>
            </a:r>
            <a:r>
              <a:rPr lang="de-AT" dirty="0"/>
              <a:t> an </a:t>
            </a:r>
            <a:r>
              <a:rPr lang="de-AT" dirty="0" err="1"/>
              <a:t>appropriate</a:t>
            </a:r>
            <a:r>
              <a:rPr lang="de-AT" dirty="0"/>
              <a:t> </a:t>
            </a:r>
            <a:r>
              <a:rPr lang="de-AT" dirty="0" err="1"/>
              <a:t>control</a:t>
            </a:r>
            <a:r>
              <a:rPr lang="de-AT" dirty="0"/>
              <a:t> </a:t>
            </a:r>
            <a:r>
              <a:rPr lang="de-AT" dirty="0" err="1"/>
              <a:t>group</a:t>
            </a:r>
            <a:r>
              <a:rPr lang="de-AT" dirty="0"/>
              <a:t>,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failed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provide</a:t>
            </a:r>
            <a:r>
              <a:rPr lang="de-AT" dirty="0"/>
              <a:t> </a:t>
            </a:r>
            <a:r>
              <a:rPr lang="de-AT" dirty="0" err="1"/>
              <a:t>sufficient</a:t>
            </a:r>
            <a:r>
              <a:rPr lang="de-AT" dirty="0"/>
              <a:t> quantitative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analysis</a:t>
            </a:r>
            <a:r>
              <a:rPr lang="de-AT" dirty="0"/>
              <a:t>. Additional </a:t>
            </a:r>
            <a:r>
              <a:rPr lang="de-AT" dirty="0" err="1"/>
              <a:t>exclusions</a:t>
            </a:r>
            <a:r>
              <a:rPr lang="de-AT" dirty="0"/>
              <a:t> </a:t>
            </a:r>
            <a:r>
              <a:rPr lang="de-AT" dirty="0" err="1"/>
              <a:t>occurred</a:t>
            </a:r>
            <a:r>
              <a:rPr lang="de-AT" dirty="0"/>
              <a:t> </a:t>
            </a:r>
            <a:r>
              <a:rPr lang="de-AT" dirty="0" err="1"/>
              <a:t>when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intervention</a:t>
            </a:r>
            <a:r>
              <a:rPr lang="de-AT" dirty="0"/>
              <a:t> </a:t>
            </a:r>
            <a:r>
              <a:rPr lang="de-AT" dirty="0" err="1"/>
              <a:t>extended</a:t>
            </a:r>
            <a:r>
              <a:rPr lang="de-AT" dirty="0"/>
              <a:t> </a:t>
            </a:r>
            <a:r>
              <a:rPr lang="de-AT" dirty="0" err="1"/>
              <a:t>beyond</a:t>
            </a:r>
            <a:r>
              <a:rPr lang="de-AT" dirty="0"/>
              <a:t> ChatGPT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when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study</a:t>
            </a:r>
            <a:r>
              <a:rPr lang="de-AT" dirty="0"/>
              <a:t> design </a:t>
            </a:r>
            <a:r>
              <a:rPr lang="de-AT" dirty="0" err="1"/>
              <a:t>did</a:t>
            </a:r>
            <a:r>
              <a:rPr lang="de-AT" dirty="0"/>
              <a:t> not </a:t>
            </a:r>
            <a:r>
              <a:rPr lang="de-AT" dirty="0" err="1"/>
              <a:t>allow</a:t>
            </a:r>
            <a:r>
              <a:rPr lang="de-AT" dirty="0"/>
              <a:t> </a:t>
            </a:r>
            <a:r>
              <a:rPr lang="de-AT" dirty="0" err="1"/>
              <a:t>meaningful</a:t>
            </a:r>
            <a:r>
              <a:rPr lang="de-AT" dirty="0"/>
              <a:t> </a:t>
            </a:r>
            <a:r>
              <a:rPr lang="de-AT" dirty="0" err="1"/>
              <a:t>comparison</a:t>
            </a:r>
            <a:r>
              <a:rPr lang="de-AT" dirty="0"/>
              <a:t> </a:t>
            </a:r>
            <a:r>
              <a:rPr lang="de-AT" dirty="0" err="1"/>
              <a:t>between</a:t>
            </a:r>
            <a:r>
              <a:rPr lang="de-AT" dirty="0"/>
              <a:t> </a:t>
            </a:r>
            <a:r>
              <a:rPr lang="de-AT" dirty="0" err="1"/>
              <a:t>groups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Following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detailed</a:t>
            </a:r>
            <a:r>
              <a:rPr lang="de-AT" dirty="0"/>
              <a:t> </a:t>
            </a:r>
            <a:r>
              <a:rPr lang="de-AT" dirty="0" err="1"/>
              <a:t>assessment</a:t>
            </a:r>
            <a:r>
              <a:rPr lang="de-AT" dirty="0"/>
              <a:t>, </a:t>
            </a:r>
            <a:r>
              <a:rPr lang="de-AT" dirty="0" err="1"/>
              <a:t>three</a:t>
            </a:r>
            <a:r>
              <a:rPr lang="de-AT" dirty="0"/>
              <a:t> </a:t>
            </a:r>
            <a:r>
              <a:rPr lang="de-AT" dirty="0" err="1"/>
              <a:t>further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removed</a:t>
            </a:r>
            <a:r>
              <a:rPr lang="de-AT" dirty="0"/>
              <a:t> </a:t>
            </a:r>
            <a:r>
              <a:rPr lang="de-AT" dirty="0" err="1"/>
              <a:t>during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quality</a:t>
            </a:r>
            <a:r>
              <a:rPr lang="de-AT" dirty="0"/>
              <a:t> </a:t>
            </a:r>
            <a:r>
              <a:rPr lang="de-AT" dirty="0" err="1"/>
              <a:t>appraisal</a:t>
            </a:r>
            <a:r>
              <a:rPr lang="de-AT" dirty="0"/>
              <a:t> </a:t>
            </a:r>
            <a:r>
              <a:rPr lang="de-AT" dirty="0" err="1"/>
              <a:t>stage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Ultimately</a:t>
            </a:r>
            <a:r>
              <a:rPr lang="de-AT" dirty="0"/>
              <a:t>, 69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met</a:t>
            </a:r>
            <a:r>
              <a:rPr lang="de-AT" dirty="0"/>
              <a:t> all </a:t>
            </a:r>
            <a:r>
              <a:rPr lang="de-AT" dirty="0" err="1"/>
              <a:t>criteria</a:t>
            </a:r>
            <a:r>
              <a:rPr lang="de-AT" dirty="0"/>
              <a:t> and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systematic</a:t>
            </a:r>
            <a:r>
              <a:rPr lang="de-AT" dirty="0"/>
              <a:t> review, </a:t>
            </a:r>
            <a:r>
              <a:rPr lang="de-AT" dirty="0" err="1"/>
              <a:t>while</a:t>
            </a:r>
            <a:r>
              <a:rPr lang="de-AT" dirty="0"/>
              <a:t> 62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provided</a:t>
            </a:r>
            <a:r>
              <a:rPr lang="de-AT" dirty="0"/>
              <a:t> </a:t>
            </a:r>
            <a:r>
              <a:rPr lang="de-AT" dirty="0" err="1"/>
              <a:t>sufficient</a:t>
            </a:r>
            <a:r>
              <a:rPr lang="de-AT" dirty="0"/>
              <a:t> quantitative </a:t>
            </a:r>
            <a:r>
              <a:rPr lang="de-AT" dirty="0" err="1"/>
              <a:t>information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final meta-analysis.</a:t>
            </a:r>
          </a:p>
          <a:p>
            <a:endParaRPr lang="de-AT" dirty="0"/>
          </a:p>
          <a:p>
            <a:r>
              <a:rPr lang="de-AT" dirty="0"/>
              <a:t>Overall, </a:t>
            </a:r>
            <a:r>
              <a:rPr lang="de-AT" dirty="0" err="1"/>
              <a:t>this</a:t>
            </a:r>
            <a:r>
              <a:rPr lang="de-AT" dirty="0"/>
              <a:t> PRISMA-</a:t>
            </a:r>
            <a:r>
              <a:rPr lang="de-AT" dirty="0" err="1"/>
              <a:t>guided</a:t>
            </a:r>
            <a:r>
              <a:rPr lang="de-AT" dirty="0"/>
              <a:t> </a:t>
            </a:r>
            <a:r>
              <a:rPr lang="de-AT" dirty="0" err="1"/>
              <a:t>process</a:t>
            </a:r>
            <a:r>
              <a:rPr lang="de-AT" dirty="0"/>
              <a:t> </a:t>
            </a:r>
            <a:r>
              <a:rPr lang="de-AT" dirty="0" err="1"/>
              <a:t>represents</a:t>
            </a:r>
            <a:r>
              <a:rPr lang="de-AT" dirty="0"/>
              <a:t> a </a:t>
            </a:r>
            <a:r>
              <a:rPr lang="de-AT" dirty="0" err="1"/>
              <a:t>major</a:t>
            </a:r>
            <a:r>
              <a:rPr lang="de-AT" dirty="0"/>
              <a:t> </a:t>
            </a:r>
            <a:r>
              <a:rPr lang="de-AT" dirty="0" err="1"/>
              <a:t>strength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study</a:t>
            </a:r>
            <a:r>
              <a:rPr lang="de-AT" dirty="0"/>
              <a:t> </a:t>
            </a:r>
            <a:r>
              <a:rPr lang="de-AT" dirty="0" err="1"/>
              <a:t>because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demonstrates</a:t>
            </a:r>
            <a:r>
              <a:rPr lang="de-AT" dirty="0"/>
              <a:t> a transparent, </a:t>
            </a:r>
            <a:r>
              <a:rPr lang="de-AT" dirty="0" err="1"/>
              <a:t>systematic</a:t>
            </a:r>
            <a:r>
              <a:rPr lang="de-AT" dirty="0"/>
              <a:t>, and </a:t>
            </a:r>
            <a:r>
              <a:rPr lang="de-AT" dirty="0" err="1"/>
              <a:t>reproducible</a:t>
            </a:r>
            <a:r>
              <a:rPr lang="de-AT" dirty="0"/>
              <a:t> </a:t>
            </a:r>
            <a:r>
              <a:rPr lang="de-AT" dirty="0" err="1"/>
              <a:t>approach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selecting</a:t>
            </a:r>
            <a:r>
              <a:rPr lang="de-AT" dirty="0"/>
              <a:t> </a:t>
            </a:r>
            <a:r>
              <a:rPr lang="de-AT" dirty="0" err="1"/>
              <a:t>evidence</a:t>
            </a:r>
            <a:r>
              <a:rPr lang="de-AT" dirty="0"/>
              <a:t>. This </a:t>
            </a:r>
            <a:r>
              <a:rPr lang="de-AT" dirty="0" err="1"/>
              <a:t>increases</a:t>
            </a:r>
            <a:r>
              <a:rPr lang="de-AT" dirty="0"/>
              <a:t> </a:t>
            </a:r>
            <a:r>
              <a:rPr lang="de-AT" dirty="0" err="1"/>
              <a:t>confidence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conclusions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meta-analysis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based</a:t>
            </a:r>
            <a:r>
              <a:rPr lang="de-AT" dirty="0"/>
              <a:t> on relevant and </a:t>
            </a:r>
            <a:r>
              <a:rPr lang="de-AT" dirty="0" err="1"/>
              <a:t>methodologically</a:t>
            </a:r>
            <a:r>
              <a:rPr lang="de-AT" dirty="0"/>
              <a:t> </a:t>
            </a:r>
            <a:r>
              <a:rPr lang="de-AT" dirty="0" err="1"/>
              <a:t>appropriate</a:t>
            </a:r>
            <a:r>
              <a:rPr lang="de-AT" dirty="0"/>
              <a:t> </a:t>
            </a:r>
            <a:r>
              <a:rPr lang="de-AT" dirty="0" err="1"/>
              <a:t>research</a:t>
            </a:r>
            <a:r>
              <a:rPr lang="de-AT" dirty="0"/>
              <a:t> </a:t>
            </a:r>
            <a:r>
              <a:rPr lang="de-AT" dirty="0" err="1"/>
              <a:t>rather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on </a:t>
            </a:r>
            <a:r>
              <a:rPr lang="de-AT" dirty="0" err="1"/>
              <a:t>selectively</a:t>
            </a:r>
            <a:r>
              <a:rPr lang="de-AT" dirty="0"/>
              <a:t> </a:t>
            </a:r>
            <a:r>
              <a:rPr lang="de-AT" dirty="0" err="1"/>
              <a:t>chosen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A25E8D-1920-4741-80B4-A268E6871E94}" type="slidenum">
              <a:rPr lang="de-AT" smtClean="0"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554109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After </a:t>
            </a:r>
            <a:r>
              <a:rPr lang="de-AT" dirty="0" err="1"/>
              <a:t>the</a:t>
            </a:r>
            <a:r>
              <a:rPr lang="de-AT" dirty="0"/>
              <a:t> PRISMA </a:t>
            </a:r>
            <a:r>
              <a:rPr lang="de-AT" dirty="0" err="1"/>
              <a:t>process</a:t>
            </a:r>
            <a:r>
              <a:rPr lang="de-AT" dirty="0"/>
              <a:t>,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useful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look</a:t>
            </a:r>
            <a:r>
              <a:rPr lang="de-AT" dirty="0"/>
              <a:t> at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characteristics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69 </a:t>
            </a:r>
            <a:r>
              <a:rPr lang="de-AT" dirty="0" err="1"/>
              <a:t>included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(not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meta</a:t>
            </a:r>
            <a:r>
              <a:rPr lang="de-AT" dirty="0"/>
              <a:t> </a:t>
            </a:r>
            <a:r>
              <a:rPr lang="de-AT" dirty="0" err="1"/>
              <a:t>analysis</a:t>
            </a:r>
            <a:r>
              <a:rPr lang="de-AT" dirty="0"/>
              <a:t> but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systematic</a:t>
            </a:r>
            <a:r>
              <a:rPr lang="de-AT" dirty="0"/>
              <a:t> review)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many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always</a:t>
            </a:r>
            <a:r>
              <a:rPr lang="de-AT" dirty="0"/>
              <a:t> </a:t>
            </a:r>
            <a:r>
              <a:rPr lang="de-AT" dirty="0" err="1"/>
              <a:t>want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know</a:t>
            </a:r>
            <a:r>
              <a:rPr lang="de-AT" dirty="0"/>
              <a:t> </a:t>
            </a:r>
            <a:r>
              <a:rPr lang="de-AT" dirty="0" err="1"/>
              <a:t>where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took</a:t>
            </a:r>
            <a:r>
              <a:rPr lang="de-AT" dirty="0"/>
              <a:t> </a:t>
            </a:r>
            <a:r>
              <a:rPr lang="de-AT" dirty="0" err="1"/>
              <a:t>place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table</a:t>
            </a:r>
            <a:r>
              <a:rPr lang="de-AT" dirty="0"/>
              <a:t> </a:t>
            </a:r>
            <a:r>
              <a:rPr lang="de-AT" dirty="0" err="1"/>
              <a:t>shows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evidence</a:t>
            </a:r>
            <a:r>
              <a:rPr lang="de-AT" dirty="0"/>
              <a:t> </a:t>
            </a:r>
            <a:r>
              <a:rPr lang="de-AT" dirty="0" err="1"/>
              <a:t>base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very</a:t>
            </a:r>
            <a:r>
              <a:rPr lang="de-AT" dirty="0"/>
              <a:t> </a:t>
            </a:r>
            <a:r>
              <a:rPr lang="de-AT" dirty="0" err="1"/>
              <a:t>recent</a:t>
            </a:r>
            <a:r>
              <a:rPr lang="de-AT" dirty="0"/>
              <a:t>: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80 </a:t>
            </a:r>
            <a:r>
              <a:rPr lang="de-AT" dirty="0" err="1"/>
              <a:t>percent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published</a:t>
            </a:r>
            <a:r>
              <a:rPr lang="de-AT" dirty="0"/>
              <a:t> in 2024,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reflects</a:t>
            </a:r>
            <a:r>
              <a:rPr lang="de-AT" dirty="0"/>
              <a:t> </a:t>
            </a:r>
            <a:r>
              <a:rPr lang="de-AT" dirty="0" err="1"/>
              <a:t>how</a:t>
            </a:r>
            <a:r>
              <a:rPr lang="de-AT" dirty="0"/>
              <a:t> </a:t>
            </a:r>
            <a:r>
              <a:rPr lang="de-AT" dirty="0" err="1"/>
              <a:t>quickly</a:t>
            </a:r>
            <a:r>
              <a:rPr lang="de-AT" dirty="0"/>
              <a:t> </a:t>
            </a:r>
            <a:r>
              <a:rPr lang="de-AT" dirty="0" err="1"/>
              <a:t>research</a:t>
            </a:r>
            <a:r>
              <a:rPr lang="de-AT" dirty="0"/>
              <a:t> on ChatGPT in </a:t>
            </a:r>
            <a:r>
              <a:rPr lang="de-AT" dirty="0" err="1"/>
              <a:t>education</a:t>
            </a:r>
            <a:r>
              <a:rPr lang="de-AT" dirty="0"/>
              <a:t> </a:t>
            </a:r>
            <a:r>
              <a:rPr lang="de-AT" dirty="0" err="1"/>
              <a:t>has</a:t>
            </a:r>
            <a:r>
              <a:rPr lang="de-AT" dirty="0"/>
              <a:t> </a:t>
            </a:r>
            <a:r>
              <a:rPr lang="de-AT" dirty="0" err="1"/>
              <a:t>developed</a:t>
            </a:r>
            <a:r>
              <a:rPr lang="de-AT" dirty="0"/>
              <a:t> and </a:t>
            </a:r>
            <a:r>
              <a:rPr lang="de-AT" dirty="0" err="1"/>
              <a:t>is</a:t>
            </a:r>
            <a:r>
              <a:rPr lang="de-AT" dirty="0"/>
              <a:t> still </a:t>
            </a:r>
            <a:r>
              <a:rPr lang="de-AT" dirty="0" err="1"/>
              <a:t>developing</a:t>
            </a:r>
            <a:r>
              <a:rPr lang="de-AT" dirty="0"/>
              <a:t> </a:t>
            </a:r>
            <a:r>
              <a:rPr lang="de-AT" dirty="0" err="1"/>
              <a:t>further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Most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journal</a:t>
            </a:r>
            <a:r>
              <a:rPr lang="de-AT" dirty="0"/>
              <a:t> </a:t>
            </a:r>
            <a:r>
              <a:rPr lang="de-AT" dirty="0" err="1"/>
              <a:t>articles</a:t>
            </a:r>
            <a:r>
              <a:rPr lang="de-AT" dirty="0"/>
              <a:t>, </a:t>
            </a:r>
            <a:r>
              <a:rPr lang="de-AT" dirty="0" err="1"/>
              <a:t>about</a:t>
            </a:r>
            <a:r>
              <a:rPr lang="de-AT" dirty="0"/>
              <a:t> 84 </a:t>
            </a:r>
            <a:r>
              <a:rPr lang="de-AT" dirty="0" err="1"/>
              <a:t>percent</a:t>
            </a:r>
            <a:r>
              <a:rPr lang="de-AT" dirty="0"/>
              <a:t>, </a:t>
            </a:r>
            <a:r>
              <a:rPr lang="de-AT" dirty="0" err="1"/>
              <a:t>while</a:t>
            </a:r>
            <a:r>
              <a:rPr lang="de-AT" dirty="0"/>
              <a:t> </a:t>
            </a:r>
            <a:r>
              <a:rPr lang="de-AT" dirty="0" err="1"/>
              <a:t>around</a:t>
            </a:r>
            <a:r>
              <a:rPr lang="de-AT" dirty="0"/>
              <a:t> 16 </a:t>
            </a:r>
            <a:r>
              <a:rPr lang="de-AT" dirty="0" err="1"/>
              <a:t>percent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conference</a:t>
            </a:r>
            <a:r>
              <a:rPr lang="de-AT" dirty="0"/>
              <a:t> </a:t>
            </a:r>
            <a:r>
              <a:rPr lang="de-AT" dirty="0" err="1"/>
              <a:t>papers</a:t>
            </a:r>
            <a:r>
              <a:rPr lang="de-AT" dirty="0"/>
              <a:t>. This </a:t>
            </a:r>
            <a:r>
              <a:rPr lang="de-AT" dirty="0" err="1"/>
              <a:t>strengthens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credibility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review, </a:t>
            </a:r>
            <a:r>
              <a:rPr lang="de-AT" dirty="0" err="1"/>
              <a:t>since</a:t>
            </a:r>
            <a:r>
              <a:rPr lang="de-AT" dirty="0"/>
              <a:t> </a:t>
            </a:r>
            <a:r>
              <a:rPr lang="de-AT" dirty="0" err="1"/>
              <a:t>journal</a:t>
            </a:r>
            <a:r>
              <a:rPr lang="de-AT" dirty="0"/>
              <a:t> </a:t>
            </a:r>
            <a:r>
              <a:rPr lang="de-AT" dirty="0" err="1"/>
              <a:t>articles</a:t>
            </a:r>
            <a:r>
              <a:rPr lang="de-AT" dirty="0"/>
              <a:t> </a:t>
            </a:r>
            <a:r>
              <a:rPr lang="de-AT" dirty="0" err="1"/>
              <a:t>usually</a:t>
            </a:r>
            <a:r>
              <a:rPr lang="de-AT" dirty="0"/>
              <a:t> </a:t>
            </a:r>
            <a:r>
              <a:rPr lang="de-AT" dirty="0" err="1"/>
              <a:t>undergo</a:t>
            </a:r>
            <a:r>
              <a:rPr lang="de-AT" dirty="0"/>
              <a:t> a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rigorous</a:t>
            </a:r>
            <a:r>
              <a:rPr lang="de-AT" dirty="0"/>
              <a:t> peer-review </a:t>
            </a:r>
            <a:r>
              <a:rPr lang="de-AT" dirty="0" err="1"/>
              <a:t>process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Another</a:t>
            </a:r>
            <a:r>
              <a:rPr lang="de-AT" dirty="0"/>
              <a:t> </a:t>
            </a:r>
            <a:r>
              <a:rPr lang="de-AT" dirty="0" err="1"/>
              <a:t>important</a:t>
            </a:r>
            <a:r>
              <a:rPr lang="de-AT" dirty="0"/>
              <a:t> </a:t>
            </a:r>
            <a:r>
              <a:rPr lang="de-AT" dirty="0" err="1"/>
              <a:t>point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geographical</a:t>
            </a:r>
            <a:r>
              <a:rPr lang="de-AT" dirty="0"/>
              <a:t> </a:t>
            </a:r>
            <a:r>
              <a:rPr lang="de-AT" dirty="0" err="1"/>
              <a:t>distribution</a:t>
            </a:r>
            <a:r>
              <a:rPr lang="de-AT" dirty="0"/>
              <a:t>. More </a:t>
            </a:r>
            <a:r>
              <a:rPr lang="de-AT" dirty="0" err="1"/>
              <a:t>than</a:t>
            </a:r>
            <a:r>
              <a:rPr lang="de-AT" dirty="0"/>
              <a:t> 70 </a:t>
            </a:r>
            <a:r>
              <a:rPr lang="de-AT" dirty="0" err="1"/>
              <a:t>percent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first</a:t>
            </a:r>
            <a:r>
              <a:rPr lang="de-AT" dirty="0"/>
              <a:t> </a:t>
            </a:r>
            <a:r>
              <a:rPr lang="de-AT" dirty="0" err="1"/>
              <a:t>authors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Asia, and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half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also </a:t>
            </a:r>
            <a:r>
              <a:rPr lang="de-AT" dirty="0" err="1"/>
              <a:t>conducted</a:t>
            </a:r>
            <a:r>
              <a:rPr lang="de-AT" dirty="0"/>
              <a:t> in Asian </a:t>
            </a:r>
            <a:r>
              <a:rPr lang="de-AT" dirty="0" err="1"/>
              <a:t>educational</a:t>
            </a:r>
            <a:r>
              <a:rPr lang="de-AT" dirty="0"/>
              <a:t> </a:t>
            </a:r>
            <a:r>
              <a:rPr lang="de-AT" dirty="0" err="1"/>
              <a:t>contexts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This </a:t>
            </a:r>
            <a:r>
              <a:rPr lang="de-AT" dirty="0" err="1"/>
              <a:t>shows</a:t>
            </a:r>
            <a:r>
              <a:rPr lang="de-AT" dirty="0"/>
              <a:t> strong </a:t>
            </a:r>
            <a:r>
              <a:rPr lang="de-AT" dirty="0" err="1"/>
              <a:t>research</a:t>
            </a:r>
            <a:r>
              <a:rPr lang="de-AT" dirty="0"/>
              <a:t> </a:t>
            </a:r>
            <a:r>
              <a:rPr lang="de-AT" dirty="0" err="1"/>
              <a:t>activity</a:t>
            </a:r>
            <a:r>
              <a:rPr lang="de-AT" dirty="0"/>
              <a:t> in Asia, but </a:t>
            </a:r>
            <a:r>
              <a:rPr lang="de-AT" dirty="0" err="1"/>
              <a:t>it</a:t>
            </a:r>
            <a:r>
              <a:rPr lang="de-AT" dirty="0"/>
              <a:t> also </a:t>
            </a:r>
            <a:r>
              <a:rPr lang="de-AT" dirty="0" err="1"/>
              <a:t>limits</a:t>
            </a:r>
            <a:r>
              <a:rPr lang="de-AT" dirty="0"/>
              <a:t> </a:t>
            </a:r>
            <a:r>
              <a:rPr lang="de-AT" dirty="0" err="1"/>
              <a:t>generalizability</a:t>
            </a:r>
            <a:r>
              <a:rPr lang="de-AT" dirty="0"/>
              <a:t>. Educational </a:t>
            </a:r>
            <a:r>
              <a:rPr lang="de-AT" dirty="0" err="1"/>
              <a:t>systems</a:t>
            </a:r>
            <a:r>
              <a:rPr lang="de-AT" dirty="0"/>
              <a:t> and </a:t>
            </a:r>
            <a:r>
              <a:rPr lang="de-AT" dirty="0" err="1"/>
              <a:t>technology</a:t>
            </a:r>
            <a:r>
              <a:rPr lang="de-AT" dirty="0"/>
              <a:t> </a:t>
            </a:r>
            <a:r>
              <a:rPr lang="de-AT" dirty="0" err="1"/>
              <a:t>use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differ</a:t>
            </a:r>
            <a:r>
              <a:rPr lang="de-AT" dirty="0"/>
              <a:t> </a:t>
            </a:r>
            <a:r>
              <a:rPr lang="de-AT" dirty="0" err="1"/>
              <a:t>across</a:t>
            </a:r>
            <a:r>
              <a:rPr lang="de-AT" dirty="0"/>
              <a:t> </a:t>
            </a:r>
            <a:r>
              <a:rPr lang="de-AT" dirty="0" err="1"/>
              <a:t>regions</a:t>
            </a:r>
            <a:r>
              <a:rPr lang="de-AT" dirty="0"/>
              <a:t>, so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findings</a:t>
            </a:r>
            <a:r>
              <a:rPr lang="de-AT" dirty="0"/>
              <a:t> </a:t>
            </a:r>
            <a:r>
              <a:rPr lang="de-AT" dirty="0" err="1"/>
              <a:t>should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applied</a:t>
            </a:r>
            <a:r>
              <a:rPr lang="de-AT" dirty="0"/>
              <a:t> </a:t>
            </a:r>
            <a:r>
              <a:rPr lang="de-AT" dirty="0" err="1"/>
              <a:t>carefully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other</a:t>
            </a:r>
            <a:r>
              <a:rPr lang="de-AT" dirty="0"/>
              <a:t> </a:t>
            </a:r>
            <a:r>
              <a:rPr lang="de-AT" dirty="0" err="1"/>
              <a:t>contexts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Overall,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evidence</a:t>
            </a:r>
            <a:r>
              <a:rPr lang="de-AT" dirty="0"/>
              <a:t> </a:t>
            </a:r>
            <a:r>
              <a:rPr lang="de-AT" dirty="0" err="1"/>
              <a:t>base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recent</a:t>
            </a:r>
            <a:r>
              <a:rPr lang="de-AT" dirty="0"/>
              <a:t> and </a:t>
            </a:r>
            <a:r>
              <a:rPr lang="de-AT" dirty="0" err="1"/>
              <a:t>mostly</a:t>
            </a:r>
            <a:r>
              <a:rPr lang="de-AT" dirty="0"/>
              <a:t> peer-</a:t>
            </a:r>
            <a:r>
              <a:rPr lang="de-AT" dirty="0" err="1"/>
              <a:t>reviewed</a:t>
            </a:r>
            <a:r>
              <a:rPr lang="de-AT" dirty="0"/>
              <a:t>, but </a:t>
            </a:r>
            <a:r>
              <a:rPr lang="de-AT" dirty="0" err="1"/>
              <a:t>geographically</a:t>
            </a:r>
            <a:r>
              <a:rPr lang="de-AT" dirty="0"/>
              <a:t> </a:t>
            </a:r>
            <a:r>
              <a:rPr lang="de-AT" dirty="0" err="1"/>
              <a:t>concentrated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Having </a:t>
            </a:r>
            <a:r>
              <a:rPr lang="de-AT" dirty="0" err="1"/>
              <a:t>looked</a:t>
            </a:r>
            <a:r>
              <a:rPr lang="de-AT" dirty="0"/>
              <a:t> at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study</a:t>
            </a:r>
            <a:r>
              <a:rPr lang="de-AT" dirty="0"/>
              <a:t> </a:t>
            </a:r>
            <a:r>
              <a:rPr lang="de-AT" dirty="0" err="1"/>
              <a:t>selection</a:t>
            </a:r>
            <a:r>
              <a:rPr lang="de-AT" dirty="0"/>
              <a:t> </a:t>
            </a:r>
            <a:r>
              <a:rPr lang="de-AT" dirty="0" err="1"/>
              <a:t>process</a:t>
            </a:r>
            <a:r>
              <a:rPr lang="de-AT" dirty="0"/>
              <a:t> and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characteristics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, I will </a:t>
            </a:r>
            <a:r>
              <a:rPr lang="de-AT" dirty="0" err="1"/>
              <a:t>now</a:t>
            </a:r>
            <a:r>
              <a:rPr lang="de-AT" dirty="0"/>
              <a:t> </a:t>
            </a:r>
            <a:r>
              <a:rPr lang="de-AT" dirty="0" err="1"/>
              <a:t>evaluate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overall</a:t>
            </a:r>
            <a:r>
              <a:rPr lang="de-AT" dirty="0"/>
              <a:t> </a:t>
            </a:r>
            <a:r>
              <a:rPr lang="de-AT" dirty="0" err="1"/>
              <a:t>quality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meta-analysis </a:t>
            </a:r>
            <a:r>
              <a:rPr lang="de-AT" dirty="0" err="1"/>
              <a:t>using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MAGIC </a:t>
            </a:r>
            <a:r>
              <a:rPr lang="de-AT" dirty="0" err="1"/>
              <a:t>framework</a:t>
            </a:r>
            <a:r>
              <a:rPr lang="de-AT" dirty="0"/>
              <a:t>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A25E8D-1920-4741-80B4-A268E6871E94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163573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evaluate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quality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meta-analysis, I </a:t>
            </a:r>
            <a:r>
              <a:rPr lang="de-AT" dirty="0" err="1"/>
              <a:t>applied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MAGIC </a:t>
            </a:r>
            <a:r>
              <a:rPr lang="de-AT" dirty="0" err="1"/>
              <a:t>criteria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course</a:t>
            </a:r>
            <a:r>
              <a:rPr lang="de-AT" dirty="0"/>
              <a:t>: Magnitude, </a:t>
            </a:r>
            <a:r>
              <a:rPr lang="de-AT" dirty="0" err="1"/>
              <a:t>Articulation</a:t>
            </a:r>
            <a:r>
              <a:rPr lang="de-AT" dirty="0"/>
              <a:t>, </a:t>
            </a:r>
            <a:r>
              <a:rPr lang="de-AT" dirty="0" err="1"/>
              <a:t>Generality</a:t>
            </a:r>
            <a:r>
              <a:rPr lang="de-AT" dirty="0"/>
              <a:t>, </a:t>
            </a:r>
            <a:r>
              <a:rPr lang="de-AT" dirty="0" err="1"/>
              <a:t>Interestingness</a:t>
            </a:r>
            <a:r>
              <a:rPr lang="de-AT" dirty="0"/>
              <a:t>, and Credibility.</a:t>
            </a:r>
          </a:p>
          <a:p>
            <a:endParaRPr lang="de-AT" dirty="0"/>
          </a:p>
          <a:p>
            <a:r>
              <a:rPr lang="de-AT" dirty="0" err="1"/>
              <a:t>Starting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b="1" dirty="0"/>
              <a:t>Magnitude</a:t>
            </a:r>
            <a:r>
              <a:rPr lang="de-AT" dirty="0"/>
              <a:t>, </a:t>
            </a:r>
            <a:r>
              <a:rPr lang="de-AT" dirty="0" err="1"/>
              <a:t>the</a:t>
            </a:r>
            <a:r>
              <a:rPr lang="de-AT" dirty="0"/>
              <a:t> meta-analysis </a:t>
            </a:r>
            <a:r>
              <a:rPr lang="de-AT" dirty="0" err="1"/>
              <a:t>reports</a:t>
            </a:r>
            <a:r>
              <a:rPr lang="de-AT" dirty="0"/>
              <a:t> an </a:t>
            </a:r>
            <a:r>
              <a:rPr lang="de-AT" dirty="0" err="1"/>
              <a:t>overall</a:t>
            </a:r>
            <a:r>
              <a:rPr lang="de-AT" dirty="0"/>
              <a:t> positive </a:t>
            </a:r>
            <a:r>
              <a:rPr lang="de-AT" dirty="0" err="1"/>
              <a:t>effect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ChatGPT on </a:t>
            </a:r>
            <a:r>
              <a:rPr lang="de-AT" dirty="0" err="1"/>
              <a:t>student</a:t>
            </a:r>
            <a:r>
              <a:rPr lang="de-AT" dirty="0"/>
              <a:t> </a:t>
            </a:r>
            <a:r>
              <a:rPr lang="de-AT" dirty="0" err="1"/>
              <a:t>learning</a:t>
            </a:r>
            <a:r>
              <a:rPr lang="de-AT" dirty="0"/>
              <a:t>. This </a:t>
            </a:r>
            <a:r>
              <a:rPr lang="de-AT" dirty="0" err="1"/>
              <a:t>suggests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, </a:t>
            </a:r>
            <a:r>
              <a:rPr lang="de-AT" dirty="0" err="1"/>
              <a:t>across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 experimental </a:t>
            </a:r>
            <a:r>
              <a:rPr lang="de-AT" dirty="0" err="1"/>
              <a:t>studies</a:t>
            </a:r>
            <a:r>
              <a:rPr lang="de-AT" dirty="0"/>
              <a:t>, </a:t>
            </a:r>
            <a:r>
              <a:rPr lang="de-AT" dirty="0" err="1"/>
              <a:t>students</a:t>
            </a:r>
            <a:r>
              <a:rPr lang="de-AT" dirty="0"/>
              <a:t> </a:t>
            </a:r>
            <a:r>
              <a:rPr lang="de-AT" dirty="0" err="1"/>
              <a:t>using</a:t>
            </a:r>
            <a:r>
              <a:rPr lang="de-AT" dirty="0"/>
              <a:t> ChatGPT </a:t>
            </a:r>
            <a:r>
              <a:rPr lang="de-AT" dirty="0" err="1"/>
              <a:t>tended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benefit</a:t>
            </a:r>
            <a:r>
              <a:rPr lang="de-AT" dirty="0"/>
              <a:t> </a:t>
            </a:r>
            <a:r>
              <a:rPr lang="de-AT" dirty="0" err="1"/>
              <a:t>compared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control</a:t>
            </a:r>
            <a:r>
              <a:rPr lang="de-AT" dirty="0"/>
              <a:t> </a:t>
            </a:r>
            <a:r>
              <a:rPr lang="de-AT" dirty="0" err="1"/>
              <a:t>groups</a:t>
            </a:r>
            <a:r>
              <a:rPr lang="de-AT" dirty="0"/>
              <a:t>. </a:t>
            </a:r>
            <a:r>
              <a:rPr lang="de-AT" dirty="0" err="1"/>
              <a:t>However</a:t>
            </a:r>
            <a:r>
              <a:rPr lang="de-AT" dirty="0"/>
              <a:t>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size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effect</a:t>
            </a:r>
            <a:r>
              <a:rPr lang="de-AT" dirty="0"/>
              <a:t> </a:t>
            </a:r>
            <a:r>
              <a:rPr lang="de-AT" dirty="0" err="1"/>
              <a:t>should</a:t>
            </a:r>
            <a:r>
              <a:rPr lang="de-AT" dirty="0"/>
              <a:t> not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interpreted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proof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ChatGPT </a:t>
            </a:r>
            <a:r>
              <a:rPr lang="de-AT" dirty="0" err="1"/>
              <a:t>always</a:t>
            </a:r>
            <a:r>
              <a:rPr lang="de-AT" dirty="0"/>
              <a:t> </a:t>
            </a:r>
            <a:r>
              <a:rPr lang="de-AT" dirty="0" err="1"/>
              <a:t>improves</a:t>
            </a:r>
            <a:r>
              <a:rPr lang="de-AT" dirty="0"/>
              <a:t> </a:t>
            </a:r>
            <a:r>
              <a:rPr lang="de-AT" dirty="0" err="1"/>
              <a:t>learning</a:t>
            </a:r>
            <a:r>
              <a:rPr lang="de-AT" dirty="0"/>
              <a:t>. Rather,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indicates</a:t>
            </a:r>
            <a:r>
              <a:rPr lang="de-AT" dirty="0"/>
              <a:t> a </a:t>
            </a:r>
            <a:r>
              <a:rPr lang="de-AT" dirty="0" err="1"/>
              <a:t>general</a:t>
            </a:r>
            <a:r>
              <a:rPr lang="de-AT" dirty="0"/>
              <a:t> positive </a:t>
            </a:r>
            <a:r>
              <a:rPr lang="de-AT" dirty="0" err="1"/>
              <a:t>tendency</a:t>
            </a:r>
            <a:r>
              <a:rPr lang="de-AT" dirty="0"/>
              <a:t> </a:t>
            </a:r>
            <a:r>
              <a:rPr lang="de-AT" dirty="0" err="1"/>
              <a:t>across</a:t>
            </a:r>
            <a:r>
              <a:rPr lang="de-AT" dirty="0"/>
              <a:t> different </a:t>
            </a:r>
            <a:r>
              <a:rPr lang="de-AT" dirty="0" err="1"/>
              <a:t>studies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second</a:t>
            </a:r>
            <a:r>
              <a:rPr lang="de-AT" dirty="0"/>
              <a:t> </a:t>
            </a:r>
            <a:r>
              <a:rPr lang="de-AT" dirty="0" err="1"/>
              <a:t>criterion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b="1" dirty="0" err="1"/>
              <a:t>Articulation</a:t>
            </a:r>
            <a:r>
              <a:rPr lang="de-AT" dirty="0"/>
              <a:t>. Here, I </a:t>
            </a:r>
            <a:r>
              <a:rPr lang="de-AT" dirty="0" err="1"/>
              <a:t>would</a:t>
            </a:r>
            <a:r>
              <a:rPr lang="de-AT" dirty="0"/>
              <a:t> </a:t>
            </a:r>
            <a:r>
              <a:rPr lang="de-AT" dirty="0" err="1"/>
              <a:t>say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meta-analysis </a:t>
            </a:r>
            <a:r>
              <a:rPr lang="de-AT" dirty="0" err="1"/>
              <a:t>performs</a:t>
            </a:r>
            <a:r>
              <a:rPr lang="de-AT" dirty="0"/>
              <a:t> </a:t>
            </a:r>
            <a:r>
              <a:rPr lang="de-AT" dirty="0" err="1"/>
              <a:t>well</a:t>
            </a:r>
            <a:r>
              <a:rPr lang="de-AT" dirty="0"/>
              <a:t>. The </a:t>
            </a:r>
            <a:r>
              <a:rPr lang="de-AT" dirty="0" err="1"/>
              <a:t>research</a:t>
            </a:r>
            <a:r>
              <a:rPr lang="de-AT" dirty="0"/>
              <a:t> </a:t>
            </a:r>
            <a:r>
              <a:rPr lang="de-AT" dirty="0" err="1"/>
              <a:t>question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clearly</a:t>
            </a:r>
            <a:r>
              <a:rPr lang="de-AT" dirty="0"/>
              <a:t> </a:t>
            </a:r>
            <a:r>
              <a:rPr lang="de-AT" dirty="0" err="1"/>
              <a:t>formulated</a:t>
            </a:r>
            <a:r>
              <a:rPr lang="de-AT" dirty="0"/>
              <a:t>: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authors</a:t>
            </a:r>
            <a:r>
              <a:rPr lang="de-AT" dirty="0"/>
              <a:t> </a:t>
            </a:r>
            <a:r>
              <a:rPr lang="de-AT" dirty="0" err="1"/>
              <a:t>want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investigate</a:t>
            </a:r>
            <a:r>
              <a:rPr lang="de-AT" dirty="0"/>
              <a:t> </a:t>
            </a:r>
            <a:r>
              <a:rPr lang="de-AT" dirty="0" err="1"/>
              <a:t>whether</a:t>
            </a:r>
            <a:r>
              <a:rPr lang="de-AT" dirty="0"/>
              <a:t> ChatGPT </a:t>
            </a:r>
            <a:r>
              <a:rPr lang="de-AT" dirty="0" err="1"/>
              <a:t>enhances</a:t>
            </a:r>
            <a:r>
              <a:rPr lang="de-AT" dirty="0"/>
              <a:t> </a:t>
            </a:r>
            <a:r>
              <a:rPr lang="de-AT" dirty="0" err="1"/>
              <a:t>student</a:t>
            </a:r>
            <a:r>
              <a:rPr lang="de-AT" dirty="0"/>
              <a:t> </a:t>
            </a:r>
            <a:r>
              <a:rPr lang="de-AT" dirty="0" err="1"/>
              <a:t>learning</a:t>
            </a:r>
            <a:r>
              <a:rPr lang="de-AT" dirty="0"/>
              <a:t> </a:t>
            </a:r>
            <a:r>
              <a:rPr lang="de-AT" dirty="0" err="1"/>
              <a:t>based</a:t>
            </a:r>
            <a:r>
              <a:rPr lang="de-AT" dirty="0"/>
              <a:t> on experimental </a:t>
            </a:r>
            <a:r>
              <a:rPr lang="de-AT" dirty="0" err="1"/>
              <a:t>evidence</a:t>
            </a:r>
            <a:r>
              <a:rPr lang="de-AT" dirty="0"/>
              <a:t>. The </a:t>
            </a:r>
            <a:r>
              <a:rPr lang="de-AT" dirty="0" err="1"/>
              <a:t>inclusion</a:t>
            </a:r>
            <a:r>
              <a:rPr lang="de-AT" dirty="0"/>
              <a:t> and </a:t>
            </a:r>
            <a:r>
              <a:rPr lang="de-AT" dirty="0" err="1"/>
              <a:t>exclusion</a:t>
            </a:r>
            <a:r>
              <a:rPr lang="de-AT" dirty="0"/>
              <a:t> </a:t>
            </a:r>
            <a:r>
              <a:rPr lang="de-AT" dirty="0" err="1"/>
              <a:t>criteria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also </a:t>
            </a:r>
            <a:r>
              <a:rPr lang="de-AT" dirty="0" err="1"/>
              <a:t>clearly</a:t>
            </a:r>
            <a:r>
              <a:rPr lang="de-AT" dirty="0"/>
              <a:t> </a:t>
            </a:r>
            <a:r>
              <a:rPr lang="de-AT" dirty="0" err="1"/>
              <a:t>explained</a:t>
            </a:r>
            <a:r>
              <a:rPr lang="de-AT" dirty="0"/>
              <a:t>. This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important</a:t>
            </a:r>
            <a:r>
              <a:rPr lang="de-AT" dirty="0"/>
              <a:t> </a:t>
            </a:r>
            <a:r>
              <a:rPr lang="de-AT" dirty="0" err="1"/>
              <a:t>because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allows</a:t>
            </a:r>
            <a:r>
              <a:rPr lang="de-AT" dirty="0"/>
              <a:t> </a:t>
            </a:r>
            <a:r>
              <a:rPr lang="de-AT" dirty="0" err="1"/>
              <a:t>readers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understand</a:t>
            </a:r>
            <a:r>
              <a:rPr lang="de-AT" dirty="0"/>
              <a:t> </a:t>
            </a:r>
            <a:r>
              <a:rPr lang="de-AT" dirty="0" err="1"/>
              <a:t>exactly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types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 and </a:t>
            </a:r>
            <a:r>
              <a:rPr lang="de-AT" dirty="0" err="1"/>
              <a:t>why</a:t>
            </a:r>
            <a:r>
              <a:rPr lang="de-AT" dirty="0"/>
              <a:t> </a:t>
            </a:r>
            <a:r>
              <a:rPr lang="de-AT" dirty="0" err="1"/>
              <a:t>others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excluded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third</a:t>
            </a:r>
            <a:r>
              <a:rPr lang="de-AT" dirty="0"/>
              <a:t> </a:t>
            </a:r>
            <a:r>
              <a:rPr lang="de-AT" dirty="0" err="1"/>
              <a:t>criterion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b="1" dirty="0" err="1"/>
              <a:t>Generality</a:t>
            </a:r>
            <a:r>
              <a:rPr lang="de-AT" dirty="0"/>
              <a:t>. The review </a:t>
            </a:r>
            <a:r>
              <a:rPr lang="de-AT" dirty="0" err="1"/>
              <a:t>includes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different </a:t>
            </a:r>
            <a:r>
              <a:rPr lang="de-AT" dirty="0" err="1"/>
              <a:t>educational</a:t>
            </a:r>
            <a:r>
              <a:rPr lang="de-AT" dirty="0"/>
              <a:t> </a:t>
            </a:r>
            <a:r>
              <a:rPr lang="de-AT" dirty="0" err="1"/>
              <a:t>contexts</a:t>
            </a:r>
            <a:r>
              <a:rPr lang="de-AT" dirty="0"/>
              <a:t>, different </a:t>
            </a:r>
            <a:r>
              <a:rPr lang="de-AT" dirty="0" err="1"/>
              <a:t>subjects</a:t>
            </a:r>
            <a:r>
              <a:rPr lang="de-AT" dirty="0"/>
              <a:t>, and different </a:t>
            </a:r>
            <a:r>
              <a:rPr lang="de-AT" dirty="0" err="1"/>
              <a:t>student</a:t>
            </a:r>
            <a:r>
              <a:rPr lang="de-AT" dirty="0"/>
              <a:t> </a:t>
            </a:r>
            <a:r>
              <a:rPr lang="de-AT" dirty="0" err="1"/>
              <a:t>populations</a:t>
            </a:r>
            <a:r>
              <a:rPr lang="de-AT" dirty="0"/>
              <a:t>. This </a:t>
            </a:r>
            <a:r>
              <a:rPr lang="de-AT" dirty="0" err="1"/>
              <a:t>makes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results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broadly</a:t>
            </a:r>
            <a:r>
              <a:rPr lang="de-AT" dirty="0"/>
              <a:t> relevant </a:t>
            </a:r>
            <a:r>
              <a:rPr lang="de-AT" dirty="0" err="1"/>
              <a:t>than</a:t>
            </a:r>
            <a:r>
              <a:rPr lang="de-AT" dirty="0"/>
              <a:t> a </a:t>
            </a:r>
            <a:r>
              <a:rPr lang="de-AT" dirty="0" err="1"/>
              <a:t>single</a:t>
            </a:r>
            <a:r>
              <a:rPr lang="de-AT" dirty="0"/>
              <a:t> </a:t>
            </a:r>
            <a:r>
              <a:rPr lang="de-AT" dirty="0" err="1"/>
              <a:t>experiment</a:t>
            </a:r>
            <a:r>
              <a:rPr lang="de-AT" dirty="0"/>
              <a:t>. At </a:t>
            </a:r>
            <a:r>
              <a:rPr lang="de-AT" dirty="0" err="1"/>
              <a:t>the</a:t>
            </a:r>
            <a:r>
              <a:rPr lang="de-AT" dirty="0"/>
              <a:t> same time, </a:t>
            </a:r>
            <a:r>
              <a:rPr lang="de-AT" dirty="0" err="1"/>
              <a:t>this</a:t>
            </a:r>
            <a:r>
              <a:rPr lang="de-AT" dirty="0"/>
              <a:t> also </a:t>
            </a:r>
            <a:r>
              <a:rPr lang="de-AT" dirty="0" err="1"/>
              <a:t>creates</a:t>
            </a:r>
            <a:r>
              <a:rPr lang="de-AT" dirty="0"/>
              <a:t> a </a:t>
            </a:r>
            <a:r>
              <a:rPr lang="de-AT" dirty="0" err="1"/>
              <a:t>challenge</a:t>
            </a:r>
            <a:r>
              <a:rPr lang="de-AT" dirty="0"/>
              <a:t>: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quite</a:t>
            </a:r>
            <a:r>
              <a:rPr lang="de-AT" dirty="0"/>
              <a:t> </a:t>
            </a:r>
            <a:r>
              <a:rPr lang="de-AT" dirty="0" err="1"/>
              <a:t>heterogeneous</a:t>
            </a:r>
            <a:r>
              <a:rPr lang="de-AT" dirty="0"/>
              <a:t>.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example</a:t>
            </a:r>
            <a:r>
              <a:rPr lang="de-AT" dirty="0"/>
              <a:t>, </a:t>
            </a:r>
            <a:r>
              <a:rPr lang="de-AT" dirty="0" err="1"/>
              <a:t>using</a:t>
            </a:r>
            <a:r>
              <a:rPr lang="de-AT" dirty="0"/>
              <a:t> ChatGPT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language</a:t>
            </a:r>
            <a:r>
              <a:rPr lang="de-AT" dirty="0"/>
              <a:t> </a:t>
            </a:r>
            <a:r>
              <a:rPr lang="de-AT" dirty="0" err="1"/>
              <a:t>learning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not </a:t>
            </a:r>
            <a:r>
              <a:rPr lang="de-AT" dirty="0" err="1"/>
              <a:t>the</a:t>
            </a:r>
            <a:r>
              <a:rPr lang="de-AT" dirty="0"/>
              <a:t> same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using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programming</a:t>
            </a:r>
            <a:r>
              <a:rPr lang="de-AT" dirty="0"/>
              <a:t>, </a:t>
            </a:r>
            <a:r>
              <a:rPr lang="de-AT" dirty="0" err="1"/>
              <a:t>medicine</a:t>
            </a:r>
            <a:r>
              <a:rPr lang="de-AT" dirty="0"/>
              <a:t>,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general</a:t>
            </a:r>
            <a:r>
              <a:rPr lang="de-AT" dirty="0"/>
              <a:t> </a:t>
            </a:r>
            <a:r>
              <a:rPr lang="de-AT" dirty="0" err="1"/>
              <a:t>study</a:t>
            </a:r>
            <a:r>
              <a:rPr lang="de-AT" dirty="0"/>
              <a:t> support. So, </a:t>
            </a:r>
            <a:r>
              <a:rPr lang="de-AT" dirty="0" err="1"/>
              <a:t>while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findings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broadly</a:t>
            </a:r>
            <a:r>
              <a:rPr lang="de-AT" dirty="0"/>
              <a:t> relevant, </a:t>
            </a:r>
            <a:r>
              <a:rPr lang="de-AT" dirty="0" err="1"/>
              <a:t>they</a:t>
            </a:r>
            <a:r>
              <a:rPr lang="de-AT" dirty="0"/>
              <a:t> </a:t>
            </a:r>
            <a:r>
              <a:rPr lang="de-AT" dirty="0" err="1"/>
              <a:t>should</a:t>
            </a:r>
            <a:r>
              <a:rPr lang="de-AT" dirty="0"/>
              <a:t> still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applied</a:t>
            </a:r>
            <a:r>
              <a:rPr lang="de-AT" dirty="0"/>
              <a:t> </a:t>
            </a:r>
            <a:r>
              <a:rPr lang="de-AT" dirty="0" err="1"/>
              <a:t>carefully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specific</a:t>
            </a:r>
            <a:r>
              <a:rPr lang="de-AT" dirty="0"/>
              <a:t> </a:t>
            </a:r>
            <a:r>
              <a:rPr lang="de-AT" dirty="0" err="1"/>
              <a:t>educational</a:t>
            </a:r>
            <a:r>
              <a:rPr lang="de-AT" dirty="0"/>
              <a:t> </a:t>
            </a:r>
            <a:r>
              <a:rPr lang="de-AT" dirty="0" err="1"/>
              <a:t>contexts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fourth</a:t>
            </a:r>
            <a:r>
              <a:rPr lang="de-AT" dirty="0"/>
              <a:t> </a:t>
            </a:r>
            <a:r>
              <a:rPr lang="de-AT" dirty="0" err="1"/>
              <a:t>criterion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b="1" dirty="0" err="1"/>
              <a:t>Interestingness</a:t>
            </a:r>
            <a:r>
              <a:rPr lang="de-AT" dirty="0"/>
              <a:t>. This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strongest</a:t>
            </a:r>
            <a:r>
              <a:rPr lang="de-AT" dirty="0"/>
              <a:t> </a:t>
            </a:r>
            <a:r>
              <a:rPr lang="de-AT" dirty="0" err="1"/>
              <a:t>aspects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paper</a:t>
            </a:r>
            <a:r>
              <a:rPr lang="de-AT" dirty="0"/>
              <a:t>. ChatGPT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currently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most</a:t>
            </a:r>
            <a:r>
              <a:rPr lang="de-AT" dirty="0"/>
              <a:t> </a:t>
            </a:r>
            <a:r>
              <a:rPr lang="de-AT" dirty="0" err="1"/>
              <a:t>discussed</a:t>
            </a:r>
            <a:r>
              <a:rPr lang="de-AT" dirty="0"/>
              <a:t> </a:t>
            </a:r>
            <a:r>
              <a:rPr lang="de-AT" dirty="0" err="1"/>
              <a:t>technologies</a:t>
            </a:r>
            <a:r>
              <a:rPr lang="de-AT" dirty="0"/>
              <a:t> in </a:t>
            </a:r>
            <a:r>
              <a:rPr lang="de-AT" dirty="0" err="1"/>
              <a:t>education</a:t>
            </a:r>
            <a:r>
              <a:rPr lang="de-AT" dirty="0"/>
              <a:t>. </a:t>
            </a:r>
            <a:r>
              <a:rPr lang="de-AT" dirty="0" err="1"/>
              <a:t>There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a </a:t>
            </a:r>
            <a:r>
              <a:rPr lang="de-AT" dirty="0" err="1"/>
              <a:t>lot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debate</a:t>
            </a:r>
            <a:r>
              <a:rPr lang="de-AT" dirty="0"/>
              <a:t> </a:t>
            </a:r>
            <a:r>
              <a:rPr lang="de-AT" dirty="0" err="1"/>
              <a:t>about</a:t>
            </a:r>
            <a:r>
              <a:rPr lang="de-AT" dirty="0"/>
              <a:t> </a:t>
            </a:r>
            <a:r>
              <a:rPr lang="de-AT" dirty="0" err="1"/>
              <a:t>whether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supports</a:t>
            </a:r>
            <a:r>
              <a:rPr lang="de-AT" dirty="0"/>
              <a:t> </a:t>
            </a:r>
            <a:r>
              <a:rPr lang="de-AT" dirty="0" err="1"/>
              <a:t>learning</a:t>
            </a:r>
            <a:r>
              <a:rPr lang="de-AT" dirty="0"/>
              <a:t>, </a:t>
            </a:r>
            <a:r>
              <a:rPr lang="de-AT" dirty="0" err="1"/>
              <a:t>threatens</a:t>
            </a:r>
            <a:r>
              <a:rPr lang="de-AT" dirty="0"/>
              <a:t> </a:t>
            </a:r>
            <a:r>
              <a:rPr lang="de-AT" dirty="0" err="1"/>
              <a:t>academic</a:t>
            </a:r>
            <a:r>
              <a:rPr lang="de-AT" dirty="0"/>
              <a:t> </a:t>
            </a:r>
            <a:r>
              <a:rPr lang="de-AT" dirty="0" err="1"/>
              <a:t>integrity</a:t>
            </a:r>
            <a:r>
              <a:rPr lang="de-AT" dirty="0"/>
              <a:t>,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changes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role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teachers</a:t>
            </a:r>
            <a:r>
              <a:rPr lang="de-AT" dirty="0"/>
              <a:t> and </a:t>
            </a:r>
            <a:r>
              <a:rPr lang="de-AT" dirty="0" err="1"/>
              <a:t>students</a:t>
            </a:r>
            <a:r>
              <a:rPr lang="de-AT" dirty="0"/>
              <a:t>. </a:t>
            </a:r>
            <a:r>
              <a:rPr lang="de-AT" dirty="0" err="1"/>
              <a:t>Because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research</a:t>
            </a:r>
            <a:r>
              <a:rPr lang="de-AT" dirty="0"/>
              <a:t> </a:t>
            </a:r>
            <a:r>
              <a:rPr lang="de-AT" dirty="0" err="1"/>
              <a:t>question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highly</a:t>
            </a:r>
            <a:r>
              <a:rPr lang="de-AT" dirty="0"/>
              <a:t> relevant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universities</a:t>
            </a:r>
            <a:r>
              <a:rPr lang="de-AT" dirty="0"/>
              <a:t>, </a:t>
            </a:r>
            <a:r>
              <a:rPr lang="de-AT" dirty="0" err="1"/>
              <a:t>teachers</a:t>
            </a:r>
            <a:r>
              <a:rPr lang="de-AT" dirty="0"/>
              <a:t>, </a:t>
            </a:r>
            <a:r>
              <a:rPr lang="de-AT" dirty="0" err="1"/>
              <a:t>students</a:t>
            </a:r>
            <a:r>
              <a:rPr lang="de-AT" dirty="0"/>
              <a:t>, and </a:t>
            </a:r>
            <a:r>
              <a:rPr lang="de-AT" dirty="0" err="1"/>
              <a:t>policymakers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The final </a:t>
            </a:r>
            <a:r>
              <a:rPr lang="de-AT" dirty="0" err="1"/>
              <a:t>criterion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b="1" dirty="0"/>
              <a:t>Credibility</a:t>
            </a:r>
            <a:r>
              <a:rPr lang="de-AT" dirty="0"/>
              <a:t>. The </a:t>
            </a:r>
            <a:r>
              <a:rPr lang="de-AT" dirty="0" err="1"/>
              <a:t>credibility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meta-analysis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strengthened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several</a:t>
            </a:r>
            <a:r>
              <a:rPr lang="de-AT" dirty="0"/>
              <a:t> </a:t>
            </a:r>
            <a:r>
              <a:rPr lang="de-AT" dirty="0" err="1"/>
              <a:t>methodological</a:t>
            </a:r>
            <a:r>
              <a:rPr lang="de-AT" dirty="0"/>
              <a:t> </a:t>
            </a:r>
            <a:r>
              <a:rPr lang="de-AT" dirty="0" err="1"/>
              <a:t>choices</a:t>
            </a:r>
            <a:r>
              <a:rPr lang="de-AT" dirty="0"/>
              <a:t>. The </a:t>
            </a:r>
            <a:r>
              <a:rPr lang="de-AT" dirty="0" err="1"/>
              <a:t>authors</a:t>
            </a:r>
            <a:r>
              <a:rPr lang="de-AT" dirty="0"/>
              <a:t> </a:t>
            </a:r>
            <a:r>
              <a:rPr lang="de-AT" dirty="0" err="1"/>
              <a:t>followed</a:t>
            </a:r>
            <a:r>
              <a:rPr lang="de-AT" dirty="0"/>
              <a:t> PRISMA, </a:t>
            </a:r>
            <a:r>
              <a:rPr lang="de-AT" dirty="0" err="1"/>
              <a:t>used</a:t>
            </a:r>
            <a:r>
              <a:rPr lang="de-AT" dirty="0"/>
              <a:t> </a:t>
            </a:r>
            <a:r>
              <a:rPr lang="de-AT" dirty="0" err="1"/>
              <a:t>predefined</a:t>
            </a:r>
            <a:r>
              <a:rPr lang="de-AT" dirty="0"/>
              <a:t> </a:t>
            </a:r>
            <a:r>
              <a:rPr lang="de-AT" dirty="0" err="1"/>
              <a:t>inclusion</a:t>
            </a:r>
            <a:r>
              <a:rPr lang="de-AT" dirty="0"/>
              <a:t> and </a:t>
            </a:r>
            <a:r>
              <a:rPr lang="de-AT" dirty="0" err="1"/>
              <a:t>exclusion</a:t>
            </a:r>
            <a:r>
              <a:rPr lang="de-AT" dirty="0"/>
              <a:t> </a:t>
            </a:r>
            <a:r>
              <a:rPr lang="de-AT" dirty="0" err="1"/>
              <a:t>criteria</a:t>
            </a:r>
            <a:r>
              <a:rPr lang="de-AT" dirty="0"/>
              <a:t>, and </a:t>
            </a:r>
            <a:r>
              <a:rPr lang="de-AT" dirty="0" err="1"/>
              <a:t>focused</a:t>
            </a:r>
            <a:r>
              <a:rPr lang="de-AT" dirty="0"/>
              <a:t> on experimental and quasi-experimental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rather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cross-sectional</a:t>
            </a:r>
            <a:r>
              <a:rPr lang="de-AT" dirty="0"/>
              <a:t>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opinion-based</a:t>
            </a:r>
            <a:r>
              <a:rPr lang="de-AT" dirty="0"/>
              <a:t> </a:t>
            </a:r>
            <a:r>
              <a:rPr lang="de-AT" dirty="0" err="1"/>
              <a:t>research</a:t>
            </a:r>
            <a:r>
              <a:rPr lang="de-AT" dirty="0"/>
              <a:t>. This </a:t>
            </a:r>
            <a:r>
              <a:rPr lang="de-AT" dirty="0" err="1"/>
              <a:t>allows</a:t>
            </a:r>
            <a:r>
              <a:rPr lang="de-AT" dirty="0"/>
              <a:t> </a:t>
            </a:r>
            <a:r>
              <a:rPr lang="de-AT" dirty="0" err="1"/>
              <a:t>stronger</a:t>
            </a:r>
            <a:r>
              <a:rPr lang="de-AT" dirty="0"/>
              <a:t> </a:t>
            </a:r>
            <a:r>
              <a:rPr lang="de-AT" dirty="0" err="1"/>
              <a:t>conclusions</a:t>
            </a:r>
            <a:r>
              <a:rPr lang="de-AT" dirty="0"/>
              <a:t> </a:t>
            </a:r>
            <a:r>
              <a:rPr lang="de-AT" dirty="0" err="1"/>
              <a:t>about</a:t>
            </a:r>
            <a:r>
              <a:rPr lang="de-AT" dirty="0"/>
              <a:t> potential </a:t>
            </a:r>
            <a:r>
              <a:rPr lang="de-AT" dirty="0" err="1"/>
              <a:t>effects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Overall, </a:t>
            </a:r>
            <a:r>
              <a:rPr lang="de-AT" dirty="0" err="1"/>
              <a:t>based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MAGIC </a:t>
            </a:r>
            <a:r>
              <a:rPr lang="de-AT" dirty="0" err="1"/>
              <a:t>criteria</a:t>
            </a:r>
            <a:r>
              <a:rPr lang="de-AT" dirty="0"/>
              <a:t>,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would</a:t>
            </a:r>
            <a:r>
              <a:rPr lang="de-AT" dirty="0"/>
              <a:t> </a:t>
            </a:r>
            <a:r>
              <a:rPr lang="de-AT" dirty="0" err="1"/>
              <a:t>describe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meta-analysis </a:t>
            </a:r>
            <a:r>
              <a:rPr lang="de-AT" dirty="0" err="1"/>
              <a:t>as</a:t>
            </a:r>
            <a:r>
              <a:rPr lang="de-AT" dirty="0"/>
              <a:t> relevant, </a:t>
            </a:r>
            <a:r>
              <a:rPr lang="de-AT" dirty="0" err="1"/>
              <a:t>clearly</a:t>
            </a:r>
            <a:r>
              <a:rPr lang="de-AT" dirty="0"/>
              <a:t> </a:t>
            </a:r>
            <a:r>
              <a:rPr lang="de-AT" dirty="0" err="1"/>
              <a:t>articulated</a:t>
            </a:r>
            <a:r>
              <a:rPr lang="de-AT" dirty="0"/>
              <a:t>, and </a:t>
            </a:r>
            <a:r>
              <a:rPr lang="de-AT" dirty="0" err="1"/>
              <a:t>methodologically</a:t>
            </a:r>
            <a:r>
              <a:rPr lang="de-AT" dirty="0"/>
              <a:t> </a:t>
            </a:r>
            <a:r>
              <a:rPr lang="de-AT" dirty="0" err="1"/>
              <a:t>credible</a:t>
            </a:r>
            <a:r>
              <a:rPr lang="de-AT" dirty="0"/>
              <a:t>. </a:t>
            </a:r>
            <a:r>
              <a:rPr lang="de-AT" dirty="0" err="1"/>
              <a:t>However</a:t>
            </a:r>
            <a:r>
              <a:rPr lang="de-AT" dirty="0"/>
              <a:t>, </a:t>
            </a:r>
            <a:r>
              <a:rPr lang="de-AT" dirty="0" err="1"/>
              <a:t>its</a:t>
            </a:r>
            <a:r>
              <a:rPr lang="de-AT" dirty="0"/>
              <a:t> </a:t>
            </a:r>
            <a:r>
              <a:rPr lang="de-AT" dirty="0" err="1"/>
              <a:t>generality</a:t>
            </a:r>
            <a:r>
              <a:rPr lang="de-AT" dirty="0"/>
              <a:t> and </a:t>
            </a:r>
            <a:r>
              <a:rPr lang="de-AT" dirty="0" err="1"/>
              <a:t>magnitude</a:t>
            </a:r>
            <a:r>
              <a:rPr lang="de-AT" dirty="0"/>
              <a:t> </a:t>
            </a:r>
            <a:r>
              <a:rPr lang="de-AT" dirty="0" err="1"/>
              <a:t>should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interpreted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caution</a:t>
            </a:r>
            <a:r>
              <a:rPr lang="de-AT" dirty="0"/>
              <a:t> </a:t>
            </a:r>
            <a:r>
              <a:rPr lang="de-AT" dirty="0" err="1"/>
              <a:t>because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differ</a:t>
            </a:r>
            <a:r>
              <a:rPr lang="de-AT" dirty="0"/>
              <a:t> </a:t>
            </a:r>
            <a:r>
              <a:rPr lang="de-AT" dirty="0" err="1"/>
              <a:t>considerably</a:t>
            </a:r>
            <a:r>
              <a:rPr lang="de-AT" dirty="0"/>
              <a:t>.</a:t>
            </a:r>
          </a:p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A25E8D-1920-4741-80B4-A268E6871E94}" type="slidenum">
              <a:rPr lang="de-AT" smtClean="0"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511463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Although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meta-analysis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methodologically</a:t>
            </a:r>
            <a:r>
              <a:rPr lang="de-AT" dirty="0"/>
              <a:t> strong, </a:t>
            </a:r>
            <a:r>
              <a:rPr lang="de-AT" dirty="0" err="1"/>
              <a:t>there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still </a:t>
            </a:r>
            <a:r>
              <a:rPr lang="de-AT" dirty="0" err="1"/>
              <a:t>several</a:t>
            </a:r>
            <a:r>
              <a:rPr lang="de-AT" dirty="0"/>
              <a:t> </a:t>
            </a:r>
            <a:r>
              <a:rPr lang="de-AT" dirty="0" err="1"/>
              <a:t>limitations</a:t>
            </a:r>
            <a:r>
              <a:rPr lang="de-AT" dirty="0"/>
              <a:t> and possible </a:t>
            </a:r>
            <a:r>
              <a:rPr lang="de-AT" dirty="0" err="1"/>
              <a:t>sources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bias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important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interpreting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results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first</a:t>
            </a:r>
            <a:r>
              <a:rPr lang="de-AT" dirty="0"/>
              <a:t> </a:t>
            </a:r>
            <a:r>
              <a:rPr lang="de-AT" dirty="0" err="1"/>
              <a:t>limitation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rapid </a:t>
            </a:r>
            <a:r>
              <a:rPr lang="de-AT" dirty="0" err="1"/>
              <a:t>development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ChatGPT </a:t>
            </a:r>
            <a:r>
              <a:rPr lang="de-AT" dirty="0" err="1"/>
              <a:t>itself</a:t>
            </a:r>
            <a:r>
              <a:rPr lang="de-AT" dirty="0"/>
              <a:t>. Many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conducted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earlier</a:t>
            </a:r>
            <a:r>
              <a:rPr lang="de-AT" dirty="0"/>
              <a:t> </a:t>
            </a:r>
            <a:r>
              <a:rPr lang="de-AT" dirty="0" err="1"/>
              <a:t>versions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ChatGPT, </a:t>
            </a:r>
            <a:r>
              <a:rPr lang="de-AT" dirty="0" err="1"/>
              <a:t>especially</a:t>
            </a:r>
            <a:r>
              <a:rPr lang="de-AT" dirty="0"/>
              <a:t> GPT-3.5. Since AI </a:t>
            </a:r>
            <a:r>
              <a:rPr lang="de-AT" dirty="0" err="1"/>
              <a:t>models</a:t>
            </a:r>
            <a:r>
              <a:rPr lang="de-AT" dirty="0"/>
              <a:t> </a:t>
            </a:r>
            <a:r>
              <a:rPr lang="de-AT" dirty="0" err="1"/>
              <a:t>develop</a:t>
            </a:r>
            <a:r>
              <a:rPr lang="de-AT" dirty="0"/>
              <a:t> </a:t>
            </a:r>
            <a:r>
              <a:rPr lang="de-AT" dirty="0" err="1"/>
              <a:t>very</a:t>
            </a:r>
            <a:r>
              <a:rPr lang="de-AT" dirty="0"/>
              <a:t> </a:t>
            </a:r>
            <a:r>
              <a:rPr lang="de-AT" dirty="0" err="1"/>
              <a:t>quickly</a:t>
            </a:r>
            <a:r>
              <a:rPr lang="de-AT" dirty="0"/>
              <a:t>, </a:t>
            </a:r>
            <a:r>
              <a:rPr lang="de-AT" dirty="0" err="1"/>
              <a:t>results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earlier</a:t>
            </a:r>
            <a:r>
              <a:rPr lang="de-AT" dirty="0"/>
              <a:t> </a:t>
            </a:r>
            <a:r>
              <a:rPr lang="de-AT" dirty="0" err="1"/>
              <a:t>versions</a:t>
            </a:r>
            <a:r>
              <a:rPr lang="de-AT" dirty="0"/>
              <a:t> </a:t>
            </a:r>
            <a:r>
              <a:rPr lang="de-AT" dirty="0" err="1"/>
              <a:t>may</a:t>
            </a:r>
            <a:r>
              <a:rPr lang="de-AT" dirty="0"/>
              <a:t> not fully </a:t>
            </a:r>
            <a:r>
              <a:rPr lang="de-AT" dirty="0" err="1"/>
              <a:t>represent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tools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students</a:t>
            </a:r>
            <a:r>
              <a:rPr lang="de-AT" dirty="0"/>
              <a:t> </a:t>
            </a:r>
            <a:r>
              <a:rPr lang="de-AT" dirty="0" err="1"/>
              <a:t>use</a:t>
            </a:r>
            <a:r>
              <a:rPr lang="de-AT" dirty="0"/>
              <a:t> </a:t>
            </a:r>
            <a:r>
              <a:rPr lang="de-AT" dirty="0" err="1"/>
              <a:t>today</a:t>
            </a:r>
            <a:r>
              <a:rPr lang="de-AT" dirty="0"/>
              <a:t>. This </a:t>
            </a:r>
            <a:r>
              <a:rPr lang="de-AT" dirty="0" err="1"/>
              <a:t>makes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evidence</a:t>
            </a:r>
            <a:r>
              <a:rPr lang="de-AT" dirty="0"/>
              <a:t> </a:t>
            </a:r>
            <a:r>
              <a:rPr lang="de-AT" dirty="0" err="1"/>
              <a:t>somewhat</a:t>
            </a:r>
            <a:r>
              <a:rPr lang="de-AT" dirty="0"/>
              <a:t> time-sensitive.</a:t>
            </a:r>
          </a:p>
          <a:p>
            <a:endParaRPr lang="de-AT" dirty="0"/>
          </a:p>
          <a:p>
            <a:r>
              <a:rPr lang="de-AT" dirty="0"/>
              <a:t>A </a:t>
            </a:r>
            <a:r>
              <a:rPr lang="de-AT" dirty="0" err="1"/>
              <a:t>second</a:t>
            </a:r>
            <a:r>
              <a:rPr lang="de-AT" dirty="0"/>
              <a:t> </a:t>
            </a:r>
            <a:r>
              <a:rPr lang="de-AT" dirty="0" err="1"/>
              <a:t>limitation</a:t>
            </a:r>
            <a:r>
              <a:rPr lang="de-AT" dirty="0"/>
              <a:t> </a:t>
            </a:r>
            <a:r>
              <a:rPr lang="de-AT" dirty="0" err="1"/>
              <a:t>concerns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duration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many</a:t>
            </a:r>
            <a:r>
              <a:rPr lang="de-AT" dirty="0"/>
              <a:t> </a:t>
            </a:r>
            <a:r>
              <a:rPr lang="de-AT" dirty="0" err="1"/>
              <a:t>interventions</a:t>
            </a:r>
            <a:r>
              <a:rPr lang="de-AT" dirty="0"/>
              <a:t>. </a:t>
            </a:r>
            <a:r>
              <a:rPr lang="de-AT" dirty="0" err="1"/>
              <a:t>Several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measured</a:t>
            </a:r>
            <a:r>
              <a:rPr lang="de-AT" dirty="0"/>
              <a:t> </a:t>
            </a:r>
            <a:r>
              <a:rPr lang="de-AT" dirty="0" err="1"/>
              <a:t>short</a:t>
            </a:r>
            <a:r>
              <a:rPr lang="de-AT" dirty="0"/>
              <a:t>-term </a:t>
            </a:r>
            <a:r>
              <a:rPr lang="de-AT" dirty="0" err="1"/>
              <a:t>effects</a:t>
            </a:r>
            <a:r>
              <a:rPr lang="de-AT" dirty="0"/>
              <a:t>,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example</a:t>
            </a:r>
            <a:r>
              <a:rPr lang="de-AT" dirty="0"/>
              <a:t> </a:t>
            </a:r>
            <a:r>
              <a:rPr lang="de-AT" dirty="0" err="1"/>
              <a:t>directly</a:t>
            </a:r>
            <a:r>
              <a:rPr lang="de-AT" dirty="0"/>
              <a:t> after a </a:t>
            </a:r>
            <a:r>
              <a:rPr lang="de-AT" dirty="0" err="1"/>
              <a:t>learning</a:t>
            </a:r>
            <a:r>
              <a:rPr lang="de-AT" dirty="0"/>
              <a:t> </a:t>
            </a:r>
            <a:r>
              <a:rPr lang="de-AT" dirty="0" err="1"/>
              <a:t>activity</a:t>
            </a:r>
            <a:r>
              <a:rPr lang="de-AT" dirty="0"/>
              <a:t>. This </a:t>
            </a:r>
            <a:r>
              <a:rPr lang="de-AT" dirty="0" err="1"/>
              <a:t>tells</a:t>
            </a:r>
            <a:r>
              <a:rPr lang="de-AT" dirty="0"/>
              <a:t> </a:t>
            </a:r>
            <a:r>
              <a:rPr lang="de-AT" dirty="0" err="1"/>
              <a:t>us</a:t>
            </a:r>
            <a:r>
              <a:rPr lang="de-AT" dirty="0"/>
              <a:t> </a:t>
            </a:r>
            <a:r>
              <a:rPr lang="de-AT" dirty="0" err="1"/>
              <a:t>something</a:t>
            </a:r>
            <a:r>
              <a:rPr lang="de-AT" dirty="0"/>
              <a:t> </a:t>
            </a:r>
            <a:r>
              <a:rPr lang="de-AT" dirty="0" err="1"/>
              <a:t>about</a:t>
            </a:r>
            <a:r>
              <a:rPr lang="de-AT" dirty="0"/>
              <a:t> immediate </a:t>
            </a:r>
            <a:r>
              <a:rPr lang="de-AT" dirty="0" err="1"/>
              <a:t>performance</a:t>
            </a:r>
            <a:r>
              <a:rPr lang="de-AT" dirty="0"/>
              <a:t>, but </a:t>
            </a:r>
            <a:r>
              <a:rPr lang="de-AT" dirty="0" err="1"/>
              <a:t>less</a:t>
            </a:r>
            <a:r>
              <a:rPr lang="de-AT" dirty="0"/>
              <a:t> </a:t>
            </a:r>
            <a:r>
              <a:rPr lang="de-AT" dirty="0" err="1"/>
              <a:t>about</a:t>
            </a:r>
            <a:r>
              <a:rPr lang="de-AT" dirty="0"/>
              <a:t> </a:t>
            </a:r>
            <a:r>
              <a:rPr lang="de-AT" dirty="0" err="1"/>
              <a:t>long</a:t>
            </a:r>
            <a:r>
              <a:rPr lang="de-AT" dirty="0"/>
              <a:t>-term </a:t>
            </a:r>
            <a:r>
              <a:rPr lang="de-AT" dirty="0" err="1"/>
              <a:t>learning</a:t>
            </a:r>
            <a:r>
              <a:rPr lang="de-AT" dirty="0"/>
              <a:t>.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education</a:t>
            </a:r>
            <a:r>
              <a:rPr lang="de-AT" dirty="0"/>
              <a:t>, </a:t>
            </a:r>
            <a:r>
              <a:rPr lang="de-AT" dirty="0" err="1"/>
              <a:t>long</a:t>
            </a:r>
            <a:r>
              <a:rPr lang="de-AT" dirty="0"/>
              <a:t>-term </a:t>
            </a:r>
            <a:r>
              <a:rPr lang="de-AT" dirty="0" err="1"/>
              <a:t>outcomes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very</a:t>
            </a:r>
            <a:r>
              <a:rPr lang="de-AT" dirty="0"/>
              <a:t> </a:t>
            </a:r>
            <a:r>
              <a:rPr lang="de-AT" dirty="0" err="1"/>
              <a:t>important</a:t>
            </a:r>
            <a:r>
              <a:rPr lang="de-AT" dirty="0"/>
              <a:t>. </a:t>
            </a:r>
            <a:r>
              <a:rPr lang="de-AT" dirty="0" err="1"/>
              <a:t>We</a:t>
            </a:r>
            <a:r>
              <a:rPr lang="de-AT" dirty="0"/>
              <a:t> do not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want</a:t>
            </a:r>
            <a:r>
              <a:rPr lang="de-AT" dirty="0"/>
              <a:t> </a:t>
            </a:r>
            <a:r>
              <a:rPr lang="de-AT" dirty="0" err="1"/>
              <a:t>students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perform </a:t>
            </a:r>
            <a:r>
              <a:rPr lang="de-AT" dirty="0" err="1"/>
              <a:t>well</a:t>
            </a:r>
            <a:r>
              <a:rPr lang="de-AT" dirty="0"/>
              <a:t> </a:t>
            </a:r>
            <a:r>
              <a:rPr lang="de-AT" dirty="0" err="1"/>
              <a:t>immediately</a:t>
            </a:r>
            <a:r>
              <a:rPr lang="de-AT" dirty="0"/>
              <a:t> after </a:t>
            </a:r>
            <a:r>
              <a:rPr lang="de-AT" dirty="0" err="1"/>
              <a:t>using</a:t>
            </a:r>
            <a:r>
              <a:rPr lang="de-AT" dirty="0"/>
              <a:t> ChatGPT; </a:t>
            </a:r>
            <a:r>
              <a:rPr lang="de-AT" dirty="0" err="1"/>
              <a:t>we</a:t>
            </a:r>
            <a:r>
              <a:rPr lang="de-AT" dirty="0"/>
              <a:t> also </a:t>
            </a:r>
            <a:r>
              <a:rPr lang="de-AT" dirty="0" err="1"/>
              <a:t>want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know</a:t>
            </a:r>
            <a:r>
              <a:rPr lang="de-AT" dirty="0"/>
              <a:t> </a:t>
            </a:r>
            <a:r>
              <a:rPr lang="de-AT" dirty="0" err="1"/>
              <a:t>whether</a:t>
            </a:r>
            <a:r>
              <a:rPr lang="de-AT" dirty="0"/>
              <a:t> </a:t>
            </a:r>
            <a:r>
              <a:rPr lang="de-AT" dirty="0" err="1"/>
              <a:t>they</a:t>
            </a:r>
            <a:r>
              <a:rPr lang="de-AT" dirty="0"/>
              <a:t> </a:t>
            </a:r>
            <a:r>
              <a:rPr lang="de-AT" dirty="0" err="1"/>
              <a:t>retain</a:t>
            </a:r>
            <a:r>
              <a:rPr lang="de-AT" dirty="0"/>
              <a:t> </a:t>
            </a:r>
            <a:r>
              <a:rPr lang="de-AT" dirty="0" err="1"/>
              <a:t>knowledge</a:t>
            </a:r>
            <a:r>
              <a:rPr lang="de-AT" dirty="0"/>
              <a:t>, </a:t>
            </a:r>
            <a:r>
              <a:rPr lang="de-AT" dirty="0" err="1"/>
              <a:t>develop</a:t>
            </a:r>
            <a:r>
              <a:rPr lang="de-AT" dirty="0"/>
              <a:t> </a:t>
            </a:r>
            <a:r>
              <a:rPr lang="de-AT" dirty="0" err="1"/>
              <a:t>deeper</a:t>
            </a:r>
            <a:r>
              <a:rPr lang="de-AT" dirty="0"/>
              <a:t> </a:t>
            </a:r>
            <a:r>
              <a:rPr lang="de-AT" dirty="0" err="1"/>
              <a:t>understanding</a:t>
            </a:r>
            <a:r>
              <a:rPr lang="de-AT" dirty="0"/>
              <a:t>, and </a:t>
            </a:r>
            <a:r>
              <a:rPr lang="de-AT" dirty="0" err="1"/>
              <a:t>improve</a:t>
            </a:r>
            <a:r>
              <a:rPr lang="de-AT" dirty="0"/>
              <a:t> </a:t>
            </a:r>
            <a:r>
              <a:rPr lang="de-AT" dirty="0" err="1"/>
              <a:t>critical</a:t>
            </a:r>
            <a:r>
              <a:rPr lang="de-AT" dirty="0"/>
              <a:t> </a:t>
            </a:r>
            <a:r>
              <a:rPr lang="de-AT" dirty="0" err="1"/>
              <a:t>thinking</a:t>
            </a:r>
            <a:r>
              <a:rPr lang="de-AT" dirty="0"/>
              <a:t> </a:t>
            </a:r>
            <a:r>
              <a:rPr lang="de-AT" dirty="0" err="1"/>
              <a:t>over</a:t>
            </a:r>
            <a:r>
              <a:rPr lang="de-AT" dirty="0"/>
              <a:t> time.</a:t>
            </a:r>
          </a:p>
          <a:p>
            <a:endParaRPr lang="de-AT" dirty="0"/>
          </a:p>
          <a:p>
            <a:r>
              <a:rPr lang="de-AT" dirty="0"/>
              <a:t>A </a:t>
            </a:r>
            <a:r>
              <a:rPr lang="de-AT" dirty="0" err="1"/>
              <a:t>third</a:t>
            </a:r>
            <a:r>
              <a:rPr lang="de-AT" dirty="0"/>
              <a:t> </a:t>
            </a:r>
            <a:r>
              <a:rPr lang="de-AT" dirty="0" err="1"/>
              <a:t>issue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heterogeneity</a:t>
            </a:r>
            <a:r>
              <a:rPr lang="de-AT" dirty="0"/>
              <a:t>. The </a:t>
            </a:r>
            <a:r>
              <a:rPr lang="de-AT" dirty="0" err="1"/>
              <a:t>included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differed</a:t>
            </a:r>
            <a:r>
              <a:rPr lang="de-AT" dirty="0"/>
              <a:t> in </a:t>
            </a:r>
            <a:r>
              <a:rPr lang="de-AT" dirty="0" err="1"/>
              <a:t>many</a:t>
            </a:r>
            <a:r>
              <a:rPr lang="de-AT" dirty="0"/>
              <a:t> </a:t>
            </a:r>
            <a:r>
              <a:rPr lang="de-AT" dirty="0" err="1"/>
              <a:t>ways</a:t>
            </a:r>
            <a:r>
              <a:rPr lang="de-AT" dirty="0"/>
              <a:t>: </a:t>
            </a:r>
            <a:r>
              <a:rPr lang="de-AT" dirty="0" err="1"/>
              <a:t>educational</a:t>
            </a:r>
            <a:r>
              <a:rPr lang="de-AT" dirty="0"/>
              <a:t> </a:t>
            </a:r>
            <a:r>
              <a:rPr lang="de-AT" dirty="0" err="1"/>
              <a:t>level</a:t>
            </a:r>
            <a:r>
              <a:rPr lang="de-AT" dirty="0"/>
              <a:t>, </a:t>
            </a:r>
            <a:r>
              <a:rPr lang="de-AT" dirty="0" err="1"/>
              <a:t>subject</a:t>
            </a:r>
            <a:r>
              <a:rPr lang="de-AT" dirty="0"/>
              <a:t> </a:t>
            </a:r>
            <a:r>
              <a:rPr lang="de-AT" dirty="0" err="1"/>
              <a:t>area</a:t>
            </a:r>
            <a:r>
              <a:rPr lang="de-AT" dirty="0"/>
              <a:t>, </a:t>
            </a:r>
            <a:r>
              <a:rPr lang="de-AT" dirty="0" err="1"/>
              <a:t>intervention</a:t>
            </a:r>
            <a:r>
              <a:rPr lang="de-AT" dirty="0"/>
              <a:t> design, </a:t>
            </a:r>
            <a:r>
              <a:rPr lang="de-AT" dirty="0" err="1"/>
              <a:t>outcome</a:t>
            </a:r>
            <a:r>
              <a:rPr lang="de-AT" dirty="0"/>
              <a:t> </a:t>
            </a:r>
            <a:r>
              <a:rPr lang="de-AT" dirty="0" err="1"/>
              <a:t>measures</a:t>
            </a:r>
            <a:r>
              <a:rPr lang="de-AT" dirty="0"/>
              <a:t>, and </a:t>
            </a:r>
            <a:r>
              <a:rPr lang="de-AT" dirty="0" err="1"/>
              <a:t>how</a:t>
            </a:r>
            <a:r>
              <a:rPr lang="de-AT" dirty="0"/>
              <a:t> ChatGPT was </a:t>
            </a:r>
            <a:r>
              <a:rPr lang="de-AT" dirty="0" err="1"/>
              <a:t>used</a:t>
            </a:r>
            <a:r>
              <a:rPr lang="de-AT" dirty="0"/>
              <a:t>. This </a:t>
            </a:r>
            <a:r>
              <a:rPr lang="de-AT" dirty="0" err="1"/>
              <a:t>diversity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useful</a:t>
            </a:r>
            <a:r>
              <a:rPr lang="de-AT" dirty="0"/>
              <a:t> </a:t>
            </a:r>
            <a:r>
              <a:rPr lang="de-AT" dirty="0" err="1"/>
              <a:t>because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gives</a:t>
            </a:r>
            <a:r>
              <a:rPr lang="de-AT" dirty="0"/>
              <a:t> a </a:t>
            </a:r>
            <a:r>
              <a:rPr lang="de-AT" dirty="0" err="1"/>
              <a:t>broad</a:t>
            </a:r>
            <a:r>
              <a:rPr lang="de-AT" dirty="0"/>
              <a:t> </a:t>
            </a:r>
            <a:r>
              <a:rPr lang="de-AT" dirty="0" err="1"/>
              <a:t>picture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field</a:t>
            </a:r>
            <a:r>
              <a:rPr lang="de-AT" dirty="0"/>
              <a:t>, but </a:t>
            </a:r>
            <a:r>
              <a:rPr lang="de-AT" dirty="0" err="1"/>
              <a:t>it</a:t>
            </a:r>
            <a:r>
              <a:rPr lang="de-AT" dirty="0"/>
              <a:t> also </a:t>
            </a:r>
            <a:r>
              <a:rPr lang="de-AT" dirty="0" err="1"/>
              <a:t>makes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overall</a:t>
            </a:r>
            <a:r>
              <a:rPr lang="de-AT" dirty="0"/>
              <a:t> </a:t>
            </a:r>
            <a:r>
              <a:rPr lang="de-AT" dirty="0" err="1"/>
              <a:t>effect</a:t>
            </a:r>
            <a:r>
              <a:rPr lang="de-AT" dirty="0"/>
              <a:t> </a:t>
            </a:r>
            <a:r>
              <a:rPr lang="de-AT" dirty="0" err="1"/>
              <a:t>harder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interpret</a:t>
            </a:r>
            <a:r>
              <a:rPr lang="de-AT" dirty="0"/>
              <a:t>. A positive </a:t>
            </a:r>
            <a:r>
              <a:rPr lang="de-AT" dirty="0" err="1"/>
              <a:t>average</a:t>
            </a:r>
            <a:r>
              <a:rPr lang="de-AT" dirty="0"/>
              <a:t> </a:t>
            </a:r>
            <a:r>
              <a:rPr lang="de-AT" dirty="0" err="1"/>
              <a:t>effect</a:t>
            </a:r>
            <a:r>
              <a:rPr lang="de-AT" dirty="0"/>
              <a:t> </a:t>
            </a:r>
            <a:r>
              <a:rPr lang="de-AT" dirty="0" err="1"/>
              <a:t>does</a:t>
            </a:r>
            <a:r>
              <a:rPr lang="de-AT" dirty="0"/>
              <a:t> not </a:t>
            </a:r>
            <a:r>
              <a:rPr lang="de-AT" dirty="0" err="1"/>
              <a:t>mean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ChatGPT </a:t>
            </a:r>
            <a:r>
              <a:rPr lang="de-AT" dirty="0" err="1"/>
              <a:t>works</a:t>
            </a:r>
            <a:r>
              <a:rPr lang="de-AT" dirty="0"/>
              <a:t> </a:t>
            </a:r>
            <a:r>
              <a:rPr lang="de-AT" dirty="0" err="1"/>
              <a:t>equally</a:t>
            </a:r>
            <a:r>
              <a:rPr lang="de-AT" dirty="0"/>
              <a:t> </a:t>
            </a:r>
            <a:r>
              <a:rPr lang="de-AT" dirty="0" err="1"/>
              <a:t>well</a:t>
            </a:r>
            <a:r>
              <a:rPr lang="de-AT" dirty="0"/>
              <a:t> in </a:t>
            </a:r>
            <a:r>
              <a:rPr lang="de-AT" dirty="0" err="1"/>
              <a:t>every</a:t>
            </a:r>
            <a:r>
              <a:rPr lang="de-AT" dirty="0"/>
              <a:t> </a:t>
            </a:r>
            <a:r>
              <a:rPr lang="de-AT" dirty="0" err="1"/>
              <a:t>setting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There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also </a:t>
            </a:r>
            <a:r>
              <a:rPr lang="de-AT" dirty="0" err="1"/>
              <a:t>several</a:t>
            </a:r>
            <a:r>
              <a:rPr lang="de-AT" dirty="0"/>
              <a:t> possible </a:t>
            </a:r>
            <a:r>
              <a:rPr lang="de-AT" dirty="0" err="1"/>
              <a:t>biases</a:t>
            </a:r>
            <a:r>
              <a:rPr lang="de-AT" dirty="0"/>
              <a:t>.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b="1" dirty="0" err="1"/>
              <a:t>publication</a:t>
            </a:r>
            <a:r>
              <a:rPr lang="de-AT" b="1" dirty="0"/>
              <a:t> </a:t>
            </a:r>
            <a:r>
              <a:rPr lang="de-AT" b="1" dirty="0" err="1"/>
              <a:t>bias</a:t>
            </a:r>
            <a:r>
              <a:rPr lang="de-AT" dirty="0"/>
              <a:t>. Studies </a:t>
            </a:r>
            <a:r>
              <a:rPr lang="de-AT" dirty="0" err="1"/>
              <a:t>with</a:t>
            </a:r>
            <a:r>
              <a:rPr lang="de-AT" dirty="0"/>
              <a:t> positive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significant</a:t>
            </a:r>
            <a:r>
              <a:rPr lang="de-AT" dirty="0"/>
              <a:t> </a:t>
            </a:r>
            <a:r>
              <a:rPr lang="de-AT" dirty="0" err="1"/>
              <a:t>results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often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likely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published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null </a:t>
            </a:r>
            <a:r>
              <a:rPr lang="de-AT" dirty="0" err="1"/>
              <a:t>or</a:t>
            </a:r>
            <a:r>
              <a:rPr lang="de-AT" dirty="0"/>
              <a:t> negative </a:t>
            </a:r>
            <a:r>
              <a:rPr lang="de-AT" dirty="0" err="1"/>
              <a:t>findings</a:t>
            </a:r>
            <a:r>
              <a:rPr lang="de-AT" dirty="0"/>
              <a:t>. </a:t>
            </a:r>
            <a:r>
              <a:rPr lang="de-AT" dirty="0" err="1"/>
              <a:t>If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happens</a:t>
            </a:r>
            <a:r>
              <a:rPr lang="de-AT" dirty="0"/>
              <a:t>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average</a:t>
            </a:r>
            <a:r>
              <a:rPr lang="de-AT" dirty="0"/>
              <a:t> </a:t>
            </a:r>
            <a:r>
              <a:rPr lang="de-AT" dirty="0" err="1"/>
              <a:t>effect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meta-analysis </a:t>
            </a:r>
            <a:r>
              <a:rPr lang="de-AT" dirty="0" err="1"/>
              <a:t>may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overestimated</a:t>
            </a:r>
            <a:r>
              <a:rPr lang="de-AT" dirty="0"/>
              <a:t>.</a:t>
            </a:r>
          </a:p>
          <a:p>
            <a:r>
              <a:rPr lang="de-AT" dirty="0" err="1"/>
              <a:t>Another</a:t>
            </a:r>
            <a:r>
              <a:rPr lang="de-AT" dirty="0"/>
              <a:t> </a:t>
            </a:r>
            <a:r>
              <a:rPr lang="de-AT" dirty="0" err="1"/>
              <a:t>issue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small</a:t>
            </a:r>
            <a:r>
              <a:rPr lang="de-AT" dirty="0"/>
              <a:t> sample </a:t>
            </a:r>
            <a:r>
              <a:rPr lang="de-AT" dirty="0" err="1"/>
              <a:t>size</a:t>
            </a:r>
            <a:r>
              <a:rPr lang="de-AT" dirty="0"/>
              <a:t>. Some </a:t>
            </a:r>
            <a:r>
              <a:rPr lang="de-AT" dirty="0" err="1"/>
              <a:t>included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had</a:t>
            </a:r>
            <a:r>
              <a:rPr lang="de-AT" dirty="0"/>
              <a:t> </a:t>
            </a:r>
            <a:r>
              <a:rPr lang="de-AT" dirty="0" err="1"/>
              <a:t>relatively</a:t>
            </a:r>
            <a:r>
              <a:rPr lang="de-AT" dirty="0"/>
              <a:t> </a:t>
            </a:r>
            <a:r>
              <a:rPr lang="de-AT" dirty="0" err="1"/>
              <a:t>small</a:t>
            </a:r>
            <a:r>
              <a:rPr lang="de-AT" dirty="0"/>
              <a:t> </a:t>
            </a:r>
            <a:r>
              <a:rPr lang="de-AT" dirty="0" err="1"/>
              <a:t>samples</a:t>
            </a:r>
            <a:r>
              <a:rPr lang="de-AT" dirty="0"/>
              <a:t>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make</a:t>
            </a:r>
            <a:r>
              <a:rPr lang="de-AT" dirty="0"/>
              <a:t> </a:t>
            </a:r>
            <a:r>
              <a:rPr lang="de-AT" dirty="0" err="1"/>
              <a:t>results</a:t>
            </a:r>
            <a:r>
              <a:rPr lang="de-AT" dirty="0"/>
              <a:t> </a:t>
            </a:r>
            <a:r>
              <a:rPr lang="de-AT" dirty="0" err="1"/>
              <a:t>less</a:t>
            </a:r>
            <a:r>
              <a:rPr lang="de-AT" dirty="0"/>
              <a:t> </a:t>
            </a:r>
            <a:r>
              <a:rPr lang="de-AT" dirty="0" err="1"/>
              <a:t>stable</a:t>
            </a:r>
            <a:r>
              <a:rPr lang="de-AT" dirty="0"/>
              <a:t>. Small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sometimes</a:t>
            </a:r>
            <a:r>
              <a:rPr lang="de-AT" dirty="0"/>
              <a:t> </a:t>
            </a:r>
            <a:r>
              <a:rPr lang="de-AT" dirty="0" err="1"/>
              <a:t>produce</a:t>
            </a:r>
            <a:r>
              <a:rPr lang="de-AT" dirty="0"/>
              <a:t> </a:t>
            </a:r>
            <a:r>
              <a:rPr lang="de-AT" dirty="0" err="1"/>
              <a:t>exaggerated</a:t>
            </a:r>
            <a:r>
              <a:rPr lang="de-AT" dirty="0"/>
              <a:t> </a:t>
            </a:r>
            <a:r>
              <a:rPr lang="de-AT" dirty="0" err="1"/>
              <a:t>effects</a:t>
            </a:r>
            <a:r>
              <a:rPr lang="de-AT" dirty="0"/>
              <a:t>, </a:t>
            </a:r>
            <a:r>
              <a:rPr lang="de-AT" dirty="0" err="1"/>
              <a:t>especially</a:t>
            </a:r>
            <a:r>
              <a:rPr lang="de-AT" dirty="0"/>
              <a:t> in a </a:t>
            </a:r>
            <a:r>
              <a:rPr lang="de-AT" dirty="0" err="1"/>
              <a:t>new</a:t>
            </a:r>
            <a:r>
              <a:rPr lang="de-AT" dirty="0"/>
              <a:t> and </a:t>
            </a:r>
            <a:r>
              <a:rPr lang="de-AT" dirty="0" err="1"/>
              <a:t>rapidly</a:t>
            </a:r>
            <a:r>
              <a:rPr lang="de-AT" dirty="0"/>
              <a:t> </a:t>
            </a:r>
            <a:r>
              <a:rPr lang="de-AT" dirty="0" err="1"/>
              <a:t>developing</a:t>
            </a:r>
            <a:r>
              <a:rPr lang="de-AT" dirty="0"/>
              <a:t> </a:t>
            </a:r>
            <a:r>
              <a:rPr lang="de-AT" dirty="0" err="1"/>
              <a:t>research</a:t>
            </a:r>
            <a:r>
              <a:rPr lang="de-AT" dirty="0"/>
              <a:t> </a:t>
            </a:r>
            <a:r>
              <a:rPr lang="de-AT" dirty="0" err="1"/>
              <a:t>area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A </a:t>
            </a:r>
            <a:r>
              <a:rPr lang="de-AT" dirty="0" err="1"/>
              <a:t>further</a:t>
            </a:r>
            <a:r>
              <a:rPr lang="de-AT" dirty="0"/>
              <a:t> possible </a:t>
            </a:r>
            <a:r>
              <a:rPr lang="de-AT" dirty="0" err="1"/>
              <a:t>bias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novelty</a:t>
            </a:r>
            <a:r>
              <a:rPr lang="de-AT" dirty="0"/>
              <a:t> </a:t>
            </a:r>
            <a:r>
              <a:rPr lang="de-AT" dirty="0" err="1"/>
              <a:t>effect</a:t>
            </a:r>
            <a:r>
              <a:rPr lang="de-AT" dirty="0"/>
              <a:t>. </a:t>
            </a:r>
            <a:r>
              <a:rPr lang="de-AT" dirty="0" err="1"/>
              <a:t>Students</a:t>
            </a:r>
            <a:r>
              <a:rPr lang="de-AT" dirty="0"/>
              <a:t> </a:t>
            </a:r>
            <a:r>
              <a:rPr lang="de-AT" dirty="0" err="1"/>
              <a:t>may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motivated</a:t>
            </a:r>
            <a:r>
              <a:rPr lang="de-AT" dirty="0"/>
              <a:t> </a:t>
            </a:r>
            <a:r>
              <a:rPr lang="de-AT" dirty="0" err="1"/>
              <a:t>simply</a:t>
            </a:r>
            <a:r>
              <a:rPr lang="de-AT" dirty="0"/>
              <a:t> </a:t>
            </a:r>
            <a:r>
              <a:rPr lang="de-AT" dirty="0" err="1"/>
              <a:t>because</a:t>
            </a:r>
            <a:r>
              <a:rPr lang="de-AT" dirty="0"/>
              <a:t> ChatGPT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new</a:t>
            </a:r>
            <a:r>
              <a:rPr lang="de-AT" dirty="0"/>
              <a:t> and </a:t>
            </a:r>
            <a:r>
              <a:rPr lang="de-AT" dirty="0" err="1"/>
              <a:t>interesting</a:t>
            </a:r>
            <a:r>
              <a:rPr lang="de-AT" dirty="0"/>
              <a:t>. In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case</a:t>
            </a:r>
            <a:r>
              <a:rPr lang="de-AT" dirty="0"/>
              <a:t>, </a:t>
            </a:r>
            <a:r>
              <a:rPr lang="de-AT" dirty="0" err="1"/>
              <a:t>some</a:t>
            </a:r>
            <a:r>
              <a:rPr lang="de-AT" dirty="0"/>
              <a:t> positive </a:t>
            </a:r>
            <a:r>
              <a:rPr lang="de-AT" dirty="0" err="1"/>
              <a:t>effects</a:t>
            </a:r>
            <a:r>
              <a:rPr lang="de-AT" dirty="0"/>
              <a:t> </a:t>
            </a:r>
            <a:r>
              <a:rPr lang="de-AT" dirty="0" err="1"/>
              <a:t>might</a:t>
            </a:r>
            <a:r>
              <a:rPr lang="de-AT" dirty="0"/>
              <a:t> </a:t>
            </a:r>
            <a:r>
              <a:rPr lang="de-AT" dirty="0" err="1"/>
              <a:t>reflect</a:t>
            </a:r>
            <a:r>
              <a:rPr lang="de-AT" dirty="0"/>
              <a:t> </a:t>
            </a:r>
            <a:r>
              <a:rPr lang="de-AT" dirty="0" err="1"/>
              <a:t>curiosity</a:t>
            </a:r>
            <a:r>
              <a:rPr lang="de-AT" dirty="0"/>
              <a:t>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excitement</a:t>
            </a:r>
            <a:r>
              <a:rPr lang="de-AT" dirty="0"/>
              <a:t> </a:t>
            </a:r>
            <a:r>
              <a:rPr lang="de-AT" dirty="0" err="1"/>
              <a:t>rather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a </a:t>
            </a:r>
            <a:r>
              <a:rPr lang="de-AT" dirty="0" err="1"/>
              <a:t>stable</a:t>
            </a:r>
            <a:r>
              <a:rPr lang="de-AT" dirty="0"/>
              <a:t> </a:t>
            </a:r>
            <a:r>
              <a:rPr lang="de-AT" dirty="0" err="1"/>
              <a:t>educational</a:t>
            </a:r>
            <a:r>
              <a:rPr lang="de-AT" dirty="0"/>
              <a:t> </a:t>
            </a:r>
            <a:r>
              <a:rPr lang="de-AT" dirty="0" err="1"/>
              <a:t>benefit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Finally</a:t>
            </a:r>
            <a:r>
              <a:rPr lang="de-AT" dirty="0"/>
              <a:t>, different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different </a:t>
            </a:r>
            <a:r>
              <a:rPr lang="de-AT" dirty="0" err="1"/>
              <a:t>versions</a:t>
            </a:r>
            <a:r>
              <a:rPr lang="de-AT" dirty="0"/>
              <a:t> and </a:t>
            </a:r>
            <a:r>
              <a:rPr lang="de-AT" dirty="0" err="1"/>
              <a:t>implementations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ChatGPT. Some </a:t>
            </a:r>
            <a:r>
              <a:rPr lang="de-AT" dirty="0" err="1"/>
              <a:t>students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ChatGPT </a:t>
            </a:r>
            <a:r>
              <a:rPr lang="de-AT" dirty="0" err="1"/>
              <a:t>directly</a:t>
            </a:r>
            <a:r>
              <a:rPr lang="de-AT" dirty="0"/>
              <a:t>, </a:t>
            </a:r>
            <a:r>
              <a:rPr lang="de-AT" dirty="0" err="1"/>
              <a:t>while</a:t>
            </a:r>
            <a:r>
              <a:rPr lang="de-AT" dirty="0"/>
              <a:t> </a:t>
            </a:r>
            <a:r>
              <a:rPr lang="de-AT" dirty="0" err="1"/>
              <a:t>others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</a:t>
            </a:r>
            <a:r>
              <a:rPr lang="de-AT" dirty="0" err="1"/>
              <a:t>tools</a:t>
            </a:r>
            <a:r>
              <a:rPr lang="de-AT" dirty="0"/>
              <a:t> </a:t>
            </a:r>
            <a:r>
              <a:rPr lang="de-AT" dirty="0" err="1"/>
              <a:t>based</a:t>
            </a:r>
            <a:r>
              <a:rPr lang="de-AT" dirty="0"/>
              <a:t> on ChatGPT. This </a:t>
            </a:r>
            <a:r>
              <a:rPr lang="de-AT" dirty="0" err="1"/>
              <a:t>makes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difficult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know</a:t>
            </a:r>
            <a:r>
              <a:rPr lang="de-AT" dirty="0"/>
              <a:t> </a:t>
            </a:r>
            <a:r>
              <a:rPr lang="de-AT" dirty="0" err="1"/>
              <a:t>whether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observed</a:t>
            </a:r>
            <a:r>
              <a:rPr lang="de-AT" dirty="0"/>
              <a:t> </a:t>
            </a:r>
            <a:r>
              <a:rPr lang="de-AT" dirty="0" err="1"/>
              <a:t>effects</a:t>
            </a:r>
            <a:r>
              <a:rPr lang="de-AT" dirty="0"/>
              <a:t> </a:t>
            </a:r>
            <a:r>
              <a:rPr lang="de-AT" dirty="0" err="1"/>
              <a:t>come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ChatGPT </a:t>
            </a:r>
            <a:r>
              <a:rPr lang="de-AT" dirty="0" err="1"/>
              <a:t>itself</a:t>
            </a:r>
            <a:r>
              <a:rPr lang="de-AT" dirty="0"/>
              <a:t>,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instructional</a:t>
            </a:r>
            <a:r>
              <a:rPr lang="de-AT" dirty="0"/>
              <a:t> design,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novelty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technology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So,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critical</a:t>
            </a:r>
            <a:r>
              <a:rPr lang="de-AT" dirty="0"/>
              <a:t> </a:t>
            </a:r>
            <a:r>
              <a:rPr lang="de-AT" dirty="0" err="1"/>
              <a:t>evaluation</a:t>
            </a:r>
            <a:r>
              <a:rPr lang="de-AT" dirty="0"/>
              <a:t> </a:t>
            </a:r>
            <a:r>
              <a:rPr lang="de-AT" dirty="0" err="1"/>
              <a:t>would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: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findings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promising, but </a:t>
            </a:r>
            <a:r>
              <a:rPr lang="de-AT" dirty="0" err="1"/>
              <a:t>they</a:t>
            </a:r>
            <a:r>
              <a:rPr lang="de-AT" dirty="0"/>
              <a:t> </a:t>
            </a:r>
            <a:r>
              <a:rPr lang="de-AT" dirty="0" err="1"/>
              <a:t>should</a:t>
            </a:r>
            <a:r>
              <a:rPr lang="de-AT" dirty="0"/>
              <a:t> not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interpreted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final </a:t>
            </a:r>
            <a:r>
              <a:rPr lang="de-AT" dirty="0" err="1"/>
              <a:t>proof</a:t>
            </a:r>
            <a:r>
              <a:rPr lang="de-AT" dirty="0"/>
              <a:t>. The meta-analysis </a:t>
            </a:r>
            <a:r>
              <a:rPr lang="de-AT" dirty="0" err="1"/>
              <a:t>provides</a:t>
            </a:r>
            <a:r>
              <a:rPr lang="de-AT" dirty="0"/>
              <a:t> </a:t>
            </a:r>
            <a:r>
              <a:rPr lang="de-AT" dirty="0" err="1"/>
              <a:t>valuable</a:t>
            </a:r>
            <a:r>
              <a:rPr lang="de-AT" dirty="0"/>
              <a:t> </a:t>
            </a:r>
            <a:r>
              <a:rPr lang="de-AT" dirty="0" err="1"/>
              <a:t>evidence</a:t>
            </a:r>
            <a:r>
              <a:rPr lang="de-AT" dirty="0"/>
              <a:t>, but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field</a:t>
            </a:r>
            <a:r>
              <a:rPr lang="de-AT" dirty="0"/>
              <a:t> still </a:t>
            </a:r>
            <a:r>
              <a:rPr lang="de-AT" dirty="0" err="1"/>
              <a:t>needs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long</a:t>
            </a:r>
            <a:r>
              <a:rPr lang="de-AT" dirty="0"/>
              <a:t>-term, high-quality and </a:t>
            </a:r>
            <a:r>
              <a:rPr lang="de-AT" dirty="0" err="1"/>
              <a:t>context</a:t>
            </a:r>
            <a:r>
              <a:rPr lang="de-AT" dirty="0"/>
              <a:t>-sensitive experimental </a:t>
            </a:r>
            <a:r>
              <a:rPr lang="de-AT" dirty="0" err="1"/>
              <a:t>research</a:t>
            </a:r>
            <a:r>
              <a:rPr lang="de-AT" dirty="0"/>
              <a:t>.</a:t>
            </a:r>
          </a:p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A25E8D-1920-4741-80B4-A268E6871E94}" type="slidenum">
              <a:rPr lang="de-AT" smtClean="0"/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875619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A25E8D-1920-4741-80B4-A268E6871E94}" type="slidenum">
              <a:rPr lang="de-AT" smtClean="0"/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637823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A25E8D-1920-4741-80B4-A268E6871E94}" type="slidenum">
              <a:rPr lang="de-AT" smtClean="0"/>
              <a:t>18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5907374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3">
            <a:extLst>
              <a:ext uri="{FF2B5EF4-FFF2-40B4-BE49-F238E27FC236}">
                <a16:creationId xmlns:a16="http://schemas.microsoft.com/office/drawing/2014/main" id="{E634DF09-77AE-8CFA-49F4-2E7E3CEF3BA6}"/>
              </a:ext>
            </a:extLst>
          </p:cNvPr>
          <p:cNvGrpSpPr/>
          <p:nvPr/>
        </p:nvGrpSpPr>
        <p:grpSpPr>
          <a:xfrm>
            <a:off x="8991600" y="0"/>
            <a:ext cx="9296400" cy="10309861"/>
            <a:chOff x="0" y="0"/>
            <a:chExt cx="2570205" cy="2899719"/>
          </a:xfrm>
          <a:solidFill>
            <a:srgbClr val="6D98BA"/>
          </a:solidFill>
        </p:grpSpPr>
        <p:sp>
          <p:nvSpPr>
            <p:cNvPr id="7" name="Freeform 4">
              <a:extLst>
                <a:ext uri="{FF2B5EF4-FFF2-40B4-BE49-F238E27FC236}">
                  <a16:creationId xmlns:a16="http://schemas.microsoft.com/office/drawing/2014/main" id="{D6F447FD-0BEE-0006-4259-B057955FD20C}"/>
                </a:ext>
              </a:extLst>
            </p:cNvPr>
            <p:cNvSpPr/>
            <p:nvPr/>
          </p:nvSpPr>
          <p:spPr>
            <a:xfrm>
              <a:off x="0" y="0"/>
              <a:ext cx="2570205" cy="2899719"/>
            </a:xfrm>
            <a:custGeom>
              <a:avLst/>
              <a:gdLst/>
              <a:ahLst/>
              <a:cxnLst/>
              <a:rect l="l" t="t" r="r" b="b"/>
              <a:pathLst>
                <a:path w="2570205" h="2899719">
                  <a:moveTo>
                    <a:pt x="0" y="0"/>
                  </a:moveTo>
                  <a:lnTo>
                    <a:pt x="2570205" y="0"/>
                  </a:lnTo>
                  <a:lnTo>
                    <a:pt x="2570205" y="2899719"/>
                  </a:lnTo>
                  <a:lnTo>
                    <a:pt x="0" y="2899719"/>
                  </a:lnTo>
                  <a:close/>
                </a:path>
              </a:pathLst>
            </a:custGeom>
            <a:grpFill/>
            <a:ln w="28575" cap="sq">
              <a:solidFill>
                <a:schemeClr val="tx1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8" name="TextBox 5">
              <a:extLst>
                <a:ext uri="{FF2B5EF4-FFF2-40B4-BE49-F238E27FC236}">
                  <a16:creationId xmlns:a16="http://schemas.microsoft.com/office/drawing/2014/main" id="{3DAB61ED-D63C-519A-FD70-A18434C2C360}"/>
                </a:ext>
              </a:extLst>
            </p:cNvPr>
            <p:cNvSpPr txBox="1"/>
            <p:nvPr/>
          </p:nvSpPr>
          <p:spPr>
            <a:xfrm>
              <a:off x="0" y="-38100"/>
              <a:ext cx="2570205" cy="293781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" name="Freeform 2"/>
          <p:cNvSpPr/>
          <p:nvPr/>
        </p:nvSpPr>
        <p:spPr>
          <a:xfrm>
            <a:off x="632461" y="3969270"/>
            <a:ext cx="7729481" cy="5893729"/>
          </a:xfrm>
          <a:custGeom>
            <a:avLst/>
            <a:gdLst/>
            <a:ahLst/>
            <a:cxnLst/>
            <a:rect l="l" t="t" r="r" b="b"/>
            <a:pathLst>
              <a:path w="7729481" h="5893729">
                <a:moveTo>
                  <a:pt x="0" y="0"/>
                </a:moveTo>
                <a:lnTo>
                  <a:pt x="7729481" y="0"/>
                </a:lnTo>
                <a:lnTo>
                  <a:pt x="7729481" y="5893729"/>
                </a:lnTo>
                <a:lnTo>
                  <a:pt x="0" y="58937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544E612F-67B2-D86D-EC5E-180C32037383}"/>
              </a:ext>
            </a:extLst>
          </p:cNvPr>
          <p:cNvSpPr txBox="1"/>
          <p:nvPr/>
        </p:nvSpPr>
        <p:spPr>
          <a:xfrm>
            <a:off x="1325876" y="1103174"/>
            <a:ext cx="15636240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6000" dirty="0">
                <a:latin typeface="Fredoka"/>
                <a:ea typeface="Fredoka"/>
                <a:cs typeface="Fredoka"/>
                <a:sym typeface="Fredoka"/>
              </a:rPr>
              <a:t>Does ChatGPT enhance student learning? </a:t>
            </a:r>
            <a:br>
              <a:rPr lang="en-US" sz="6000" dirty="0">
                <a:latin typeface="Fredoka"/>
                <a:ea typeface="Fredoka"/>
                <a:cs typeface="Fredoka"/>
                <a:sym typeface="Fredoka"/>
              </a:rPr>
            </a:br>
            <a:r>
              <a:rPr lang="en-US" sz="6000" dirty="0">
                <a:latin typeface="Fredoka"/>
                <a:ea typeface="Fredoka"/>
                <a:cs typeface="Fredoka"/>
                <a:sym typeface="Fredoka"/>
              </a:rPr>
              <a:t>A systematic review and meta-analysis of experimental studies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E14A9CE-6968-670A-5915-39B744948801}"/>
              </a:ext>
            </a:extLst>
          </p:cNvPr>
          <p:cNvSpPr txBox="1"/>
          <p:nvPr/>
        </p:nvSpPr>
        <p:spPr>
          <a:xfrm>
            <a:off x="5279256" y="3998999"/>
            <a:ext cx="77294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3200" dirty="0">
                <a:latin typeface="Fredoka"/>
              </a:rPr>
              <a:t>Deng et al. (2024)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336465B-C739-E720-C6C3-9572C15F98F5}"/>
              </a:ext>
            </a:extLst>
          </p:cNvPr>
          <p:cNvSpPr txBox="1"/>
          <p:nvPr/>
        </p:nvSpPr>
        <p:spPr>
          <a:xfrm>
            <a:off x="10091681" y="7429500"/>
            <a:ext cx="8153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3600" dirty="0">
                <a:latin typeface="Century Gothic" panose="020B0502020202020204" pitchFamily="34" charset="0"/>
                <a:cs typeface="IrisUPC" panose="020B0502040204020203" pitchFamily="34" charset="-34"/>
              </a:rPr>
              <a:t>Maria Clara Escanuela dos Santos</a:t>
            </a:r>
          </a:p>
          <a:p>
            <a:r>
              <a:rPr lang="de-AT" sz="3600" dirty="0">
                <a:latin typeface="Century Gothic" panose="020B0502020202020204" pitchFamily="34" charset="0"/>
                <a:cs typeface="IrisUPC" panose="020B0502040204020203" pitchFamily="34" charset="-34"/>
              </a:rPr>
              <a:t>Marina Tatjana Hofer</a:t>
            </a:r>
          </a:p>
          <a:p>
            <a:r>
              <a:rPr lang="de-AT" sz="3600" dirty="0">
                <a:latin typeface="Century Gothic" panose="020B0502020202020204" pitchFamily="34" charset="0"/>
                <a:cs typeface="IrisUPC" panose="020B0502040204020203" pitchFamily="34" charset="-34"/>
              </a:rPr>
              <a:t>Christina Sophie Knes</a:t>
            </a:r>
          </a:p>
        </p:txBody>
      </p:sp>
      <p:pic>
        <p:nvPicPr>
          <p:cNvPr id="2050" name="Picture 2" descr="Chatgpt logo Icon">
            <a:extLst>
              <a:ext uri="{FF2B5EF4-FFF2-40B4-BE49-F238E27FC236}">
                <a16:creationId xmlns:a16="http://schemas.microsoft.com/office/drawing/2014/main" id="{FE1E4CFA-B9D9-4015-CE71-F5D42DE47B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6591300"/>
            <a:ext cx="838200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B39EE-9387-7C49-BA99-4F6352710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7A5E288-C61E-B3FC-2136-360FDFA4C6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131397"/>
            <a:ext cx="9753600" cy="10024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0FE6B35-91C6-D113-ACDE-04E07AA4783A}"/>
              </a:ext>
            </a:extLst>
          </p:cNvPr>
          <p:cNvSpPr txBox="1"/>
          <p:nvPr/>
        </p:nvSpPr>
        <p:spPr>
          <a:xfrm>
            <a:off x="571498" y="694669"/>
            <a:ext cx="70866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4400" dirty="0">
                <a:latin typeface="Fredoka" panose="020B0604020202020204" charset="0"/>
              </a:rPr>
              <a:t>PRISMA-</a:t>
            </a:r>
            <a:r>
              <a:rPr lang="de-AT" sz="4400" dirty="0" err="1">
                <a:latin typeface="Fredoka" panose="020B0604020202020204" charset="0"/>
              </a:rPr>
              <a:t>guided</a:t>
            </a:r>
            <a:r>
              <a:rPr lang="de-AT" sz="4400" dirty="0">
                <a:latin typeface="Fredoka" panose="020B0604020202020204" charset="0"/>
              </a:rPr>
              <a:t> </a:t>
            </a:r>
            <a:r>
              <a:rPr lang="de-AT" sz="4400" dirty="0" err="1">
                <a:latin typeface="Fredoka" panose="020B0604020202020204" charset="0"/>
              </a:rPr>
              <a:t>study</a:t>
            </a:r>
            <a:r>
              <a:rPr lang="de-AT" sz="4400" dirty="0">
                <a:latin typeface="Fredoka" panose="020B0604020202020204" charset="0"/>
              </a:rPr>
              <a:t> </a:t>
            </a:r>
            <a:r>
              <a:rPr lang="de-AT" sz="4400" dirty="0" err="1">
                <a:latin typeface="Fredoka" panose="020B0604020202020204" charset="0"/>
              </a:rPr>
              <a:t>selection</a:t>
            </a:r>
            <a:endParaRPr lang="de-AT" sz="4400" dirty="0">
              <a:latin typeface="Fredoka" panose="020B060402020202020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3C2C069-AA71-5C06-E494-E4B061CC408E}"/>
              </a:ext>
            </a:extLst>
          </p:cNvPr>
          <p:cNvSpPr txBox="1"/>
          <p:nvPr/>
        </p:nvSpPr>
        <p:spPr>
          <a:xfrm>
            <a:off x="1047747" y="2781300"/>
            <a:ext cx="613410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de-AT" sz="2400" dirty="0">
                <a:latin typeface="Century Gothic" panose="020B0502020202020204" pitchFamily="34" charset="0"/>
              </a:rPr>
              <a:t>Search </a:t>
            </a:r>
            <a:r>
              <a:rPr lang="de-AT" sz="2400" dirty="0" err="1">
                <a:latin typeface="Century Gothic" panose="020B0502020202020204" pitchFamily="34" charset="0"/>
              </a:rPr>
              <a:t>keywords</a:t>
            </a:r>
            <a:r>
              <a:rPr lang="de-AT" sz="2400" dirty="0">
                <a:latin typeface="Century Gothic" panose="020B0502020202020204" pitchFamily="34" charset="0"/>
              </a:rPr>
              <a:t> (e.g. ChatGPT,…)</a:t>
            </a:r>
          </a:p>
          <a:p>
            <a:pPr marL="457200" indent="-457200" algn="just">
              <a:buAutoNum type="arabicPeriod"/>
            </a:pPr>
            <a:r>
              <a:rPr lang="de-AT" sz="2400" dirty="0" err="1">
                <a:latin typeface="Century Gothic" panose="020B0502020202020204" pitchFamily="34" charset="0"/>
              </a:rPr>
              <a:t>Inclusion</a:t>
            </a:r>
            <a:r>
              <a:rPr lang="de-AT" sz="2400" dirty="0">
                <a:latin typeface="Century Gothic" panose="020B0502020202020204" pitchFamily="34" charset="0"/>
              </a:rPr>
              <a:t> </a:t>
            </a:r>
            <a:r>
              <a:rPr lang="de-AT" sz="2400" dirty="0" err="1">
                <a:latin typeface="Century Gothic" panose="020B0502020202020204" pitchFamily="34" charset="0"/>
              </a:rPr>
              <a:t>criteria</a:t>
            </a:r>
            <a:r>
              <a:rPr lang="de-AT" sz="2400" dirty="0">
                <a:latin typeface="Century Gothic" panose="020B0502020202020204" pitchFamily="34" charset="0"/>
              </a:rPr>
              <a:t> (e.g. </a:t>
            </a:r>
            <a:r>
              <a:rPr lang="de-AT" sz="2400" dirty="0" err="1">
                <a:latin typeface="Century Gothic" panose="020B0502020202020204" pitchFamily="34" charset="0"/>
              </a:rPr>
              <a:t>used</a:t>
            </a:r>
            <a:r>
              <a:rPr lang="de-AT" sz="2400" dirty="0">
                <a:latin typeface="Century Gothic" panose="020B0502020202020204" pitchFamily="34" charset="0"/>
              </a:rPr>
              <a:t> ChatGPT, </a:t>
            </a:r>
            <a:r>
              <a:rPr lang="de-AT" sz="2400" dirty="0" err="1">
                <a:latin typeface="Century Gothic" panose="020B0502020202020204" pitchFamily="34" charset="0"/>
              </a:rPr>
              <a:t>used</a:t>
            </a:r>
            <a:r>
              <a:rPr lang="de-AT" sz="2400" dirty="0">
                <a:latin typeface="Century Gothic" panose="020B0502020202020204" pitchFamily="34" charset="0"/>
              </a:rPr>
              <a:t> experimental and quasi-experimental </a:t>
            </a:r>
            <a:r>
              <a:rPr lang="de-AT" sz="2400" dirty="0" err="1">
                <a:latin typeface="Century Gothic" panose="020B0502020202020204" pitchFamily="34" charset="0"/>
              </a:rPr>
              <a:t>designs</a:t>
            </a:r>
            <a:r>
              <a:rPr lang="de-AT" sz="2400" dirty="0">
                <a:latin typeface="Century Gothic" panose="020B0502020202020204" pitchFamily="34" charset="0"/>
              </a:rPr>
              <a:t>,…)</a:t>
            </a:r>
          </a:p>
          <a:p>
            <a:pPr marL="457200" indent="-457200" algn="just">
              <a:buAutoNum type="arabicPeriod"/>
            </a:pPr>
            <a:r>
              <a:rPr lang="de-AT" sz="2400" dirty="0" err="1">
                <a:latin typeface="Century Gothic" panose="020B0502020202020204" pitchFamily="34" charset="0"/>
              </a:rPr>
              <a:t>Exclusion</a:t>
            </a:r>
            <a:r>
              <a:rPr lang="de-AT" sz="2400" dirty="0">
                <a:latin typeface="Century Gothic" panose="020B0502020202020204" pitchFamily="34" charset="0"/>
              </a:rPr>
              <a:t> </a:t>
            </a:r>
            <a:r>
              <a:rPr lang="de-AT" sz="2400" dirty="0" err="1">
                <a:latin typeface="Century Gothic" panose="020B0502020202020204" pitchFamily="34" charset="0"/>
              </a:rPr>
              <a:t>criteria</a:t>
            </a:r>
            <a:r>
              <a:rPr lang="de-AT" sz="2400" dirty="0">
                <a:latin typeface="Century Gothic" panose="020B0502020202020204" pitchFamily="34" charset="0"/>
              </a:rPr>
              <a:t> (e.g. </a:t>
            </a:r>
            <a:r>
              <a:rPr lang="de-AT" sz="2400" dirty="0" err="1">
                <a:latin typeface="Century Gothic" panose="020B0502020202020204" pitchFamily="34" charset="0"/>
              </a:rPr>
              <a:t>no</a:t>
            </a:r>
            <a:r>
              <a:rPr lang="de-AT" sz="2400" dirty="0">
                <a:latin typeface="Century Gothic" panose="020B0502020202020204" pitchFamily="34" charset="0"/>
              </a:rPr>
              <a:t> </a:t>
            </a:r>
            <a:r>
              <a:rPr lang="de-AT" sz="2400" dirty="0" err="1">
                <a:latin typeface="Century Gothic" panose="020B0502020202020204" pitchFamily="34" charset="0"/>
              </a:rPr>
              <a:t>focus</a:t>
            </a:r>
            <a:r>
              <a:rPr lang="de-AT" sz="2400" dirty="0">
                <a:latin typeface="Century Gothic" panose="020B0502020202020204" pitchFamily="34" charset="0"/>
              </a:rPr>
              <a:t> on </a:t>
            </a:r>
            <a:r>
              <a:rPr lang="de-AT" sz="2400" dirty="0" err="1">
                <a:latin typeface="Century Gothic" panose="020B0502020202020204" pitchFamily="34" charset="0"/>
              </a:rPr>
              <a:t>rich</a:t>
            </a:r>
            <a:r>
              <a:rPr lang="de-AT" sz="2400" dirty="0">
                <a:latin typeface="Century Gothic" panose="020B0502020202020204" pitchFamily="34" charset="0"/>
              </a:rPr>
              <a:t> qualitative </a:t>
            </a:r>
            <a:r>
              <a:rPr lang="de-AT" sz="2400" dirty="0" err="1">
                <a:latin typeface="Century Gothic" panose="020B0502020202020204" pitchFamily="34" charset="0"/>
              </a:rPr>
              <a:t>data</a:t>
            </a:r>
            <a:r>
              <a:rPr lang="de-AT" sz="2400" dirty="0">
                <a:latin typeface="Century Gothic" panose="020B0502020202020204" pitchFamily="34" charset="0"/>
              </a:rPr>
              <a:t>, </a:t>
            </a:r>
            <a:r>
              <a:rPr lang="de-AT" sz="2400" dirty="0" err="1">
                <a:latin typeface="Century Gothic" panose="020B0502020202020204" pitchFamily="34" charset="0"/>
              </a:rPr>
              <a:t>focus</a:t>
            </a:r>
            <a:r>
              <a:rPr lang="de-AT" sz="2400" dirty="0">
                <a:latin typeface="Century Gothic" panose="020B0502020202020204" pitchFamily="34" charset="0"/>
              </a:rPr>
              <a:t> on </a:t>
            </a:r>
            <a:r>
              <a:rPr lang="de-AT" sz="2400" dirty="0" err="1">
                <a:latin typeface="Century Gothic" panose="020B0502020202020204" pitchFamily="34" charset="0"/>
              </a:rPr>
              <a:t>broader</a:t>
            </a:r>
            <a:r>
              <a:rPr lang="de-AT" sz="2400" dirty="0">
                <a:latin typeface="Century Gothic" panose="020B0502020202020204" pitchFamily="34" charset="0"/>
              </a:rPr>
              <a:t> </a:t>
            </a:r>
            <a:r>
              <a:rPr lang="de-AT" sz="2400" dirty="0" err="1">
                <a:latin typeface="Century Gothic" panose="020B0502020202020204" pitchFamily="34" charset="0"/>
              </a:rPr>
              <a:t>impact</a:t>
            </a:r>
            <a:r>
              <a:rPr lang="de-AT" sz="2400" dirty="0">
                <a:latin typeface="Century Gothic" panose="020B0502020202020204" pitchFamily="34" charset="0"/>
              </a:rPr>
              <a:t> </a:t>
            </a:r>
            <a:r>
              <a:rPr lang="de-AT" sz="2400" dirty="0" err="1">
                <a:latin typeface="Century Gothic" panose="020B0502020202020204" pitchFamily="34" charset="0"/>
              </a:rPr>
              <a:t>of</a:t>
            </a:r>
            <a:r>
              <a:rPr lang="de-AT" sz="2400" dirty="0">
                <a:latin typeface="Century Gothic" panose="020B0502020202020204" pitchFamily="34" charset="0"/>
              </a:rPr>
              <a:t> non-gen AI,…)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FEA4FB85-2386-1D72-B539-EE82701E767A}"/>
              </a:ext>
            </a:extLst>
          </p:cNvPr>
          <p:cNvSpPr/>
          <p:nvPr/>
        </p:nvSpPr>
        <p:spPr>
          <a:xfrm>
            <a:off x="1447800" y="6099037"/>
            <a:ext cx="5253728" cy="3493294"/>
          </a:xfrm>
          <a:custGeom>
            <a:avLst/>
            <a:gdLst/>
            <a:ahLst/>
            <a:cxnLst/>
            <a:rect l="l" t="t" r="r" b="b"/>
            <a:pathLst>
              <a:path w="7709622" h="4770328">
                <a:moveTo>
                  <a:pt x="0" y="0"/>
                </a:moveTo>
                <a:lnTo>
                  <a:pt x="7709621" y="0"/>
                </a:lnTo>
                <a:lnTo>
                  <a:pt x="7709621" y="4770328"/>
                </a:lnTo>
                <a:lnTo>
                  <a:pt x="0" y="47703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766277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0364B6F1-A225-E9E3-7146-DD4F9C82D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9509" y="0"/>
            <a:ext cx="14708981" cy="1023233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83AC48D8-10F6-F342-E8AF-815A9D9BDAD2}"/>
              </a:ext>
            </a:extLst>
          </p:cNvPr>
          <p:cNvSpPr/>
          <p:nvPr/>
        </p:nvSpPr>
        <p:spPr>
          <a:xfrm>
            <a:off x="1238249" y="8343900"/>
            <a:ext cx="15811500" cy="1888434"/>
          </a:xfrm>
          <a:prstGeom prst="roundRect">
            <a:avLst>
              <a:gd name="adj" fmla="val 50000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930265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0EDD8E0F-E14B-BD80-4157-60EF7989AD67}"/>
              </a:ext>
            </a:extLst>
          </p:cNvPr>
          <p:cNvSpPr txBox="1"/>
          <p:nvPr/>
        </p:nvSpPr>
        <p:spPr>
          <a:xfrm>
            <a:off x="6477000" y="1112101"/>
            <a:ext cx="103632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4800" dirty="0">
                <a:latin typeface="Fredoka" panose="020B0604020202020204" charset="0"/>
              </a:rPr>
              <a:t>Quality</a:t>
            </a:r>
            <a:r>
              <a:rPr lang="de-AT" sz="2400" dirty="0"/>
              <a:t> </a:t>
            </a:r>
            <a:r>
              <a:rPr lang="de-AT" sz="4800" dirty="0">
                <a:latin typeface="Fredoka" panose="020B0604020202020204" charset="0"/>
              </a:rPr>
              <a:t>Assessment </a:t>
            </a:r>
            <a:r>
              <a:rPr lang="de-AT" sz="4800" dirty="0" err="1">
                <a:latin typeface="Fredoka" panose="020B0604020202020204" charset="0"/>
              </a:rPr>
              <a:t>using</a:t>
            </a:r>
            <a:r>
              <a:rPr lang="de-AT" sz="4800" dirty="0">
                <a:latin typeface="Fredoka" panose="020B0604020202020204" charset="0"/>
              </a:rPr>
              <a:t> MAGIC</a:t>
            </a:r>
          </a:p>
        </p:txBody>
      </p:sp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5AFFE19B-B6D0-EF0D-8AF4-A1C0036D1E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5244170"/>
              </p:ext>
            </p:extLst>
          </p:nvPr>
        </p:nvGraphicFramePr>
        <p:xfrm>
          <a:off x="5486400" y="2441999"/>
          <a:ext cx="12344400" cy="731520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59577852"/>
                    </a:ext>
                  </a:extLst>
                </a:gridCol>
                <a:gridCol w="8229600">
                  <a:extLst>
                    <a:ext uri="{9D8B030D-6E8A-4147-A177-3AD203B41FA5}">
                      <a16:colId xmlns:a16="http://schemas.microsoft.com/office/drawing/2014/main" val="1188454792"/>
                    </a:ext>
                  </a:extLst>
                </a:gridCol>
              </a:tblGrid>
              <a:tr h="706107">
                <a:tc>
                  <a:txBody>
                    <a:bodyPr/>
                    <a:lstStyle/>
                    <a:p>
                      <a:r>
                        <a:rPr lang="de-AT" sz="4000" dirty="0"/>
                        <a:t>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sz="4000" dirty="0"/>
                        <a:t>Assessment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9484184"/>
                  </a:ext>
                </a:extLst>
              </a:tr>
              <a:tr h="1321819">
                <a:tc>
                  <a:txBody>
                    <a:bodyPr/>
                    <a:lstStyle/>
                    <a:p>
                      <a:r>
                        <a:rPr lang="de-AT" sz="3600" b="1" dirty="0">
                          <a:latin typeface="Century Gothic" panose="020B0502020202020204" pitchFamily="34" charset="0"/>
                        </a:rPr>
                        <a:t>M</a:t>
                      </a:r>
                      <a:r>
                        <a:rPr lang="de-AT" sz="3600" dirty="0">
                          <a:latin typeface="Century Gothic" panose="020B0502020202020204" pitchFamily="34" charset="0"/>
                        </a:rPr>
                        <a:t>agnitude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sz="3600" dirty="0">
                          <a:latin typeface="Century Gothic" panose="020B0502020202020204" pitchFamily="34" charset="0"/>
                        </a:rPr>
                        <a:t>Positive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overall</a:t>
                      </a:r>
                      <a:r>
                        <a:rPr lang="de-AT" sz="3600" dirty="0">
                          <a:latin typeface="Century Gothic" panose="020B0502020202020204" pitchFamily="34" charset="0"/>
                        </a:rPr>
                        <a:t>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effect</a:t>
                      </a:r>
                      <a:endParaRPr lang="de-AT" sz="3600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7769846"/>
                  </a:ext>
                </a:extLst>
              </a:tr>
              <a:tr h="1321819">
                <a:tc>
                  <a:txBody>
                    <a:bodyPr/>
                    <a:lstStyle/>
                    <a:p>
                      <a:r>
                        <a:rPr lang="de-AT" sz="3600" b="1" dirty="0" err="1">
                          <a:latin typeface="Century Gothic" panose="020B0502020202020204" pitchFamily="34" charset="0"/>
                        </a:rPr>
                        <a:t>A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rticulation</a:t>
                      </a:r>
                      <a:endParaRPr lang="de-AT" sz="3600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sz="3600" dirty="0">
                          <a:latin typeface="Century Gothic" panose="020B0502020202020204" pitchFamily="34" charset="0"/>
                        </a:rPr>
                        <a:t>Clear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research</a:t>
                      </a:r>
                      <a:r>
                        <a:rPr lang="de-AT" sz="3600" dirty="0">
                          <a:latin typeface="Century Gothic" panose="020B0502020202020204" pitchFamily="34" charset="0"/>
                        </a:rPr>
                        <a:t>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question</a:t>
                      </a:r>
                      <a:r>
                        <a:rPr lang="de-AT" sz="3600" dirty="0">
                          <a:latin typeface="Century Gothic" panose="020B0502020202020204" pitchFamily="34" charset="0"/>
                        </a:rPr>
                        <a:t> and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methods</a:t>
                      </a:r>
                      <a:endParaRPr lang="de-AT" sz="3600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1055271"/>
                  </a:ext>
                </a:extLst>
              </a:tr>
              <a:tr h="1321819">
                <a:tc>
                  <a:txBody>
                    <a:bodyPr/>
                    <a:lstStyle/>
                    <a:p>
                      <a:r>
                        <a:rPr lang="de-AT" sz="3600" b="1" dirty="0" err="1">
                          <a:latin typeface="Century Gothic" panose="020B0502020202020204" pitchFamily="34" charset="0"/>
                        </a:rPr>
                        <a:t>G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enerality</a:t>
                      </a:r>
                      <a:endParaRPr lang="de-AT" sz="3600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sz="3600" dirty="0">
                          <a:latin typeface="Century Gothic" panose="020B0502020202020204" pitchFamily="34" charset="0"/>
                        </a:rPr>
                        <a:t>Multiple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educational</a:t>
                      </a:r>
                      <a:r>
                        <a:rPr lang="de-AT" sz="3600" dirty="0">
                          <a:latin typeface="Century Gothic" panose="020B0502020202020204" pitchFamily="34" charset="0"/>
                        </a:rPr>
                        <a:t>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contexts</a:t>
                      </a:r>
                      <a:endParaRPr lang="de-AT" sz="3600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081196"/>
                  </a:ext>
                </a:extLst>
              </a:tr>
              <a:tr h="1321819">
                <a:tc>
                  <a:txBody>
                    <a:bodyPr/>
                    <a:lstStyle/>
                    <a:p>
                      <a:r>
                        <a:rPr lang="de-AT" sz="3600" b="1" dirty="0" err="1">
                          <a:latin typeface="Century Gothic" panose="020B0502020202020204" pitchFamily="34" charset="0"/>
                        </a:rPr>
                        <a:t>I</a:t>
                      </a:r>
                      <a:r>
                        <a:rPr lang="de-AT" sz="3600" b="0" dirty="0" err="1">
                          <a:latin typeface="Century Gothic" panose="020B0502020202020204" pitchFamily="34" charset="0"/>
                        </a:rPr>
                        <a:t>n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terestingness</a:t>
                      </a:r>
                      <a:endParaRPr lang="de-AT" sz="3600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sz="3600" dirty="0">
                          <a:latin typeface="Century Gothic" panose="020B0502020202020204" pitchFamily="34" charset="0"/>
                        </a:rPr>
                        <a:t>High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relevance</a:t>
                      </a:r>
                      <a:r>
                        <a:rPr lang="de-AT" sz="3600" dirty="0">
                          <a:latin typeface="Century Gothic" panose="020B0502020202020204" pitchFamily="34" charset="0"/>
                        </a:rPr>
                        <a:t>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for</a:t>
                      </a:r>
                      <a:r>
                        <a:rPr lang="de-AT" sz="3600" dirty="0">
                          <a:latin typeface="Century Gothic" panose="020B0502020202020204" pitchFamily="34" charset="0"/>
                        </a:rPr>
                        <a:t>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education</a:t>
                      </a:r>
                      <a:endParaRPr lang="de-AT" sz="3600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8343700"/>
                  </a:ext>
                </a:extLst>
              </a:tr>
              <a:tr h="1321819">
                <a:tc>
                  <a:txBody>
                    <a:bodyPr/>
                    <a:lstStyle/>
                    <a:p>
                      <a:r>
                        <a:rPr lang="de-AT" sz="3600" b="1" dirty="0">
                          <a:latin typeface="Century Gothic" panose="020B0502020202020204" pitchFamily="34" charset="0"/>
                        </a:rPr>
                        <a:t>C</a:t>
                      </a:r>
                      <a:r>
                        <a:rPr lang="de-AT" sz="3600" b="0" dirty="0">
                          <a:latin typeface="Century Gothic" panose="020B0502020202020204" pitchFamily="34" charset="0"/>
                        </a:rPr>
                        <a:t>r</a:t>
                      </a:r>
                      <a:r>
                        <a:rPr lang="de-AT" sz="3600" dirty="0">
                          <a:latin typeface="Century Gothic" panose="020B0502020202020204" pitchFamily="34" charset="0"/>
                        </a:rPr>
                        <a:t>edibility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sz="3600" dirty="0">
                          <a:latin typeface="Century Gothic" panose="020B0502020202020204" pitchFamily="34" charset="0"/>
                        </a:rPr>
                        <a:t>PRISMA and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quality</a:t>
                      </a:r>
                      <a:r>
                        <a:rPr lang="de-AT" sz="3600" dirty="0">
                          <a:latin typeface="Century Gothic" panose="020B0502020202020204" pitchFamily="34" charset="0"/>
                        </a:rPr>
                        <a:t>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appraisal</a:t>
                      </a:r>
                      <a:endParaRPr lang="de-AT" sz="3600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7310704"/>
                  </a:ext>
                </a:extLst>
              </a:tr>
            </a:tbl>
          </a:graphicData>
        </a:graphic>
      </p:graphicFrame>
      <p:sp>
        <p:nvSpPr>
          <p:cNvPr id="10" name="Freeform 2">
            <a:extLst>
              <a:ext uri="{FF2B5EF4-FFF2-40B4-BE49-F238E27FC236}">
                <a16:creationId xmlns:a16="http://schemas.microsoft.com/office/drawing/2014/main" id="{2C74592C-1E29-BA63-FED4-45CBDDE5039A}"/>
              </a:ext>
            </a:extLst>
          </p:cNvPr>
          <p:cNvSpPr/>
          <p:nvPr/>
        </p:nvSpPr>
        <p:spPr>
          <a:xfrm>
            <a:off x="441960" y="4381500"/>
            <a:ext cx="4708358" cy="5407477"/>
          </a:xfrm>
          <a:custGeom>
            <a:avLst/>
            <a:gdLst/>
            <a:ahLst/>
            <a:cxnLst/>
            <a:rect l="l" t="t" r="r" b="b"/>
            <a:pathLst>
              <a:path w="6871547" h="7290766">
                <a:moveTo>
                  <a:pt x="0" y="0"/>
                </a:moveTo>
                <a:lnTo>
                  <a:pt x="6871547" y="0"/>
                </a:lnTo>
                <a:lnTo>
                  <a:pt x="6871547" y="7290766"/>
                </a:lnTo>
                <a:lnTo>
                  <a:pt x="0" y="72907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pic>
        <p:nvPicPr>
          <p:cNvPr id="12" name="Grafik 11" descr="Sterne mit einfarbiger Füllung">
            <a:extLst>
              <a:ext uri="{FF2B5EF4-FFF2-40B4-BE49-F238E27FC236}">
                <a16:creationId xmlns:a16="http://schemas.microsoft.com/office/drawing/2014/main" id="{5C30494B-8E02-FA47-5C2D-66E96CC5A8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78200" y="654901"/>
            <a:ext cx="9144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8CAA0-04E3-413B-3618-257307129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012C0003-8150-404A-4AA7-303C81DF5D40}"/>
              </a:ext>
            </a:extLst>
          </p:cNvPr>
          <p:cNvSpPr txBox="1"/>
          <p:nvPr/>
        </p:nvSpPr>
        <p:spPr>
          <a:xfrm>
            <a:off x="1295400" y="874067"/>
            <a:ext cx="123444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6000" dirty="0" err="1">
                <a:latin typeface="Fredoka"/>
              </a:rPr>
              <a:t>Limitations</a:t>
            </a:r>
            <a:r>
              <a:rPr lang="de-AT" dirty="0"/>
              <a:t> </a:t>
            </a:r>
            <a:r>
              <a:rPr lang="de-AT" sz="6000" dirty="0">
                <a:latin typeface="Fredoka"/>
              </a:rPr>
              <a:t>and Potential </a:t>
            </a:r>
            <a:r>
              <a:rPr lang="de-AT" sz="6000" dirty="0" err="1">
                <a:latin typeface="Fredoka"/>
              </a:rPr>
              <a:t>Biases</a:t>
            </a:r>
            <a:endParaRPr lang="de-AT" sz="6000" dirty="0">
              <a:latin typeface="Fredoka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F7CA737-0D55-BDDA-2670-9E4F2D5EA68F}"/>
              </a:ext>
            </a:extLst>
          </p:cNvPr>
          <p:cNvSpPr txBox="1"/>
          <p:nvPr/>
        </p:nvSpPr>
        <p:spPr>
          <a:xfrm>
            <a:off x="1981200" y="2677130"/>
            <a:ext cx="16992600" cy="3539430"/>
          </a:xfrm>
          <a:prstGeom prst="rect">
            <a:avLst/>
          </a:prstGeom>
          <a:noFill/>
        </p:spPr>
        <p:txBody>
          <a:bodyPr wrap="square" numCol="2">
            <a:spAutoFit/>
          </a:bodyPr>
          <a:lstStyle/>
          <a:p>
            <a:pPr>
              <a:buNone/>
            </a:pPr>
            <a:r>
              <a:rPr lang="de-AT" sz="4400" b="1" dirty="0" err="1">
                <a:latin typeface="Fredoka" panose="020B0604020202020204" charset="0"/>
              </a:rPr>
              <a:t>Limitations</a:t>
            </a:r>
            <a:endParaRPr lang="de-AT" sz="4400" b="1" dirty="0">
              <a:latin typeface="Fredoka" panose="020B0604020202020204" charset="0"/>
            </a:endParaRPr>
          </a:p>
          <a:p>
            <a:pPr>
              <a:buNone/>
            </a:pPr>
            <a:endParaRPr lang="de-AT" sz="3600" b="1" dirty="0">
              <a:latin typeface="Fredoka" panose="020B060402020202020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AT" sz="3600" dirty="0" err="1">
                <a:latin typeface="Century Gothic" panose="020B0502020202020204" pitchFamily="34" charset="0"/>
              </a:rPr>
              <a:t>Rapidly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  <a:r>
              <a:rPr lang="de-AT" sz="3600" dirty="0" err="1">
                <a:latin typeface="Century Gothic" panose="020B0502020202020204" pitchFamily="34" charset="0"/>
              </a:rPr>
              <a:t>evolving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  <a:r>
              <a:rPr lang="de-AT" sz="3600" dirty="0" err="1">
                <a:latin typeface="Century Gothic" panose="020B0502020202020204" pitchFamily="34" charset="0"/>
              </a:rPr>
              <a:t>technology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AT" sz="3600" dirty="0">
                <a:latin typeface="Century Gothic" panose="020B0502020202020204" pitchFamily="34" charset="0"/>
              </a:rPr>
              <a:t>Short-term </a:t>
            </a:r>
            <a:r>
              <a:rPr lang="de-AT" sz="3600" dirty="0" err="1">
                <a:latin typeface="Century Gothic" panose="020B0502020202020204" pitchFamily="34" charset="0"/>
              </a:rPr>
              <a:t>interventions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AT" sz="3600" dirty="0" err="1">
                <a:latin typeface="Century Gothic" panose="020B0502020202020204" pitchFamily="34" charset="0"/>
              </a:rPr>
              <a:t>Heterogeneity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  <a:r>
              <a:rPr lang="de-AT" sz="3600" dirty="0" err="1">
                <a:latin typeface="Century Gothic" panose="020B0502020202020204" pitchFamily="34" charset="0"/>
              </a:rPr>
              <a:t>across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  <a:r>
              <a:rPr lang="de-AT" sz="3600" dirty="0" err="1">
                <a:latin typeface="Century Gothic" panose="020B0502020202020204" pitchFamily="34" charset="0"/>
              </a:rPr>
              <a:t>studies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AT" sz="3600" dirty="0">
                <a:latin typeface="Century Gothic" panose="020B0502020202020204" pitchFamily="34" charset="0"/>
              </a:rPr>
              <a:t>Limited </a:t>
            </a:r>
            <a:r>
              <a:rPr lang="de-AT" sz="3600" dirty="0" err="1">
                <a:latin typeface="Century Gothic" panose="020B0502020202020204" pitchFamily="34" charset="0"/>
              </a:rPr>
              <a:t>long</a:t>
            </a:r>
            <a:r>
              <a:rPr lang="de-AT" sz="3600" dirty="0">
                <a:latin typeface="Century Gothic" panose="020B0502020202020204" pitchFamily="34" charset="0"/>
              </a:rPr>
              <a:t>-term </a:t>
            </a:r>
            <a:r>
              <a:rPr lang="de-AT" sz="3600" dirty="0" err="1">
                <a:latin typeface="Century Gothic" panose="020B0502020202020204" pitchFamily="34" charset="0"/>
              </a:rPr>
              <a:t>evidence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</a:p>
          <a:p>
            <a:pPr>
              <a:buNone/>
            </a:pPr>
            <a:r>
              <a:rPr lang="de-AT" sz="4400" b="1" dirty="0">
                <a:latin typeface="Fredoka" panose="020B0604020202020204" charset="0"/>
              </a:rPr>
              <a:t>Potential </a:t>
            </a:r>
            <a:r>
              <a:rPr lang="de-AT" sz="4400" b="1" dirty="0" err="1">
                <a:latin typeface="Fredoka" panose="020B0604020202020204" charset="0"/>
              </a:rPr>
              <a:t>Biases</a:t>
            </a:r>
            <a:endParaRPr lang="de-AT" sz="4400" b="1" dirty="0">
              <a:latin typeface="Fredoka" panose="020B0604020202020204" charset="0"/>
            </a:endParaRPr>
          </a:p>
          <a:p>
            <a:pPr>
              <a:buNone/>
            </a:pPr>
            <a:endParaRPr lang="de-AT" sz="3600" b="1" dirty="0">
              <a:latin typeface="Fredoka" panose="020B060402020202020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AT" sz="3600" dirty="0" err="1">
                <a:latin typeface="Century Gothic" panose="020B0502020202020204" pitchFamily="34" charset="0"/>
              </a:rPr>
              <a:t>Publication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  <a:r>
              <a:rPr lang="de-AT" sz="3600" dirty="0" err="1">
                <a:latin typeface="Century Gothic" panose="020B0502020202020204" pitchFamily="34" charset="0"/>
              </a:rPr>
              <a:t>bias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AT" sz="3600" dirty="0">
                <a:latin typeface="Century Gothic" panose="020B0502020202020204" pitchFamily="34" charset="0"/>
              </a:rPr>
              <a:t>Small </a:t>
            </a:r>
            <a:r>
              <a:rPr lang="de-AT" sz="3600" dirty="0" err="1">
                <a:latin typeface="Century Gothic" panose="020B0502020202020204" pitchFamily="34" charset="0"/>
              </a:rPr>
              <a:t>study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  <a:r>
              <a:rPr lang="de-AT" sz="3600" dirty="0" err="1">
                <a:latin typeface="Century Gothic" panose="020B0502020202020204" pitchFamily="34" charset="0"/>
              </a:rPr>
              <a:t>effects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AT" sz="3600" dirty="0" err="1">
                <a:latin typeface="Century Gothic" panose="020B0502020202020204" pitchFamily="34" charset="0"/>
              </a:rPr>
              <a:t>Novelty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  <a:r>
              <a:rPr lang="de-AT" sz="3600" dirty="0" err="1">
                <a:latin typeface="Century Gothic" panose="020B0502020202020204" pitchFamily="34" charset="0"/>
              </a:rPr>
              <a:t>effect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AT" sz="3600" dirty="0">
                <a:latin typeface="Century Gothic" panose="020B0502020202020204" pitchFamily="34" charset="0"/>
              </a:rPr>
              <a:t>Different ChatGPT </a:t>
            </a:r>
            <a:r>
              <a:rPr lang="de-AT" sz="3600" dirty="0" err="1">
                <a:latin typeface="Century Gothic" panose="020B0502020202020204" pitchFamily="34" charset="0"/>
              </a:rPr>
              <a:t>versions</a:t>
            </a:r>
            <a:endParaRPr lang="de-AT" sz="3600" dirty="0">
              <a:latin typeface="Century Gothic" panose="020B0502020202020204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51F6912-BE5D-98B0-97B4-469B5971EA84}"/>
              </a:ext>
            </a:extLst>
          </p:cNvPr>
          <p:cNvSpPr txBox="1"/>
          <p:nvPr/>
        </p:nvSpPr>
        <p:spPr>
          <a:xfrm>
            <a:off x="2400299" y="9426970"/>
            <a:ext cx="13487400" cy="584775"/>
          </a:xfrm>
          <a:prstGeom prst="rect">
            <a:avLst/>
          </a:prstGeom>
          <a:solidFill>
            <a:schemeClr val="accent6">
              <a:lumMod val="75000"/>
              <a:alpha val="43137"/>
            </a:schemeClr>
          </a:solidFill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de-AT" sz="3200" dirty="0">
                <a:latin typeface="Fredoka" panose="020B0604020202020204" charset="0"/>
              </a:rPr>
              <a:t>Key Message: </a:t>
            </a:r>
            <a:r>
              <a:rPr lang="de-AT" sz="3200" dirty="0" err="1">
                <a:latin typeface="Candara" panose="020E0502030303020204" pitchFamily="34" charset="0"/>
              </a:rPr>
              <a:t>Results</a:t>
            </a:r>
            <a:r>
              <a:rPr lang="de-AT" sz="3200" dirty="0">
                <a:latin typeface="Candara" panose="020E0502030303020204" pitchFamily="34" charset="0"/>
              </a:rPr>
              <a:t> </a:t>
            </a:r>
            <a:r>
              <a:rPr lang="de-AT" sz="3200" dirty="0" err="1">
                <a:latin typeface="Candara" panose="020E0502030303020204" pitchFamily="34" charset="0"/>
              </a:rPr>
              <a:t>are</a:t>
            </a:r>
            <a:r>
              <a:rPr lang="de-AT" sz="3200" dirty="0">
                <a:latin typeface="Candara" panose="020E0502030303020204" pitchFamily="34" charset="0"/>
              </a:rPr>
              <a:t> promising, but </a:t>
            </a:r>
            <a:r>
              <a:rPr lang="de-AT" sz="3200" dirty="0" err="1">
                <a:latin typeface="Candara" panose="020E0502030303020204" pitchFamily="34" charset="0"/>
              </a:rPr>
              <a:t>should</a:t>
            </a:r>
            <a:r>
              <a:rPr lang="de-AT" sz="3200" dirty="0">
                <a:latin typeface="Candara" panose="020E0502030303020204" pitchFamily="34" charset="0"/>
              </a:rPr>
              <a:t> </a:t>
            </a:r>
            <a:r>
              <a:rPr lang="de-AT" sz="3200" dirty="0" err="1">
                <a:latin typeface="Candara" panose="020E0502030303020204" pitchFamily="34" charset="0"/>
              </a:rPr>
              <a:t>be</a:t>
            </a:r>
            <a:r>
              <a:rPr lang="de-AT" sz="3200" dirty="0">
                <a:latin typeface="Candara" panose="020E0502030303020204" pitchFamily="34" charset="0"/>
              </a:rPr>
              <a:t> </a:t>
            </a:r>
            <a:r>
              <a:rPr lang="de-AT" sz="3200" dirty="0" err="1">
                <a:latin typeface="Candara" panose="020E0502030303020204" pitchFamily="34" charset="0"/>
              </a:rPr>
              <a:t>interpreted</a:t>
            </a:r>
            <a:r>
              <a:rPr lang="de-AT" sz="3200" dirty="0">
                <a:latin typeface="Candara" panose="020E0502030303020204" pitchFamily="34" charset="0"/>
              </a:rPr>
              <a:t> </a:t>
            </a:r>
            <a:r>
              <a:rPr lang="de-AT" sz="3200" dirty="0" err="1">
                <a:latin typeface="Candara" panose="020E0502030303020204" pitchFamily="34" charset="0"/>
              </a:rPr>
              <a:t>cautiously</a:t>
            </a:r>
            <a:r>
              <a:rPr lang="de-AT" sz="3200" dirty="0">
                <a:latin typeface="Candara" panose="020E0502030303020204" pitchFamily="34" charset="0"/>
              </a:rPr>
              <a:t>.</a:t>
            </a:r>
          </a:p>
        </p:txBody>
      </p:sp>
      <p:sp>
        <p:nvSpPr>
          <p:cNvPr id="2" name="Freeform 2">
            <a:extLst>
              <a:ext uri="{FF2B5EF4-FFF2-40B4-BE49-F238E27FC236}">
                <a16:creationId xmlns:a16="http://schemas.microsoft.com/office/drawing/2014/main" id="{EC05AF14-A1AD-A0A0-844A-D1CBEF5CD868}"/>
              </a:ext>
            </a:extLst>
          </p:cNvPr>
          <p:cNvSpPr/>
          <p:nvPr/>
        </p:nvSpPr>
        <p:spPr>
          <a:xfrm>
            <a:off x="6661746" y="6515100"/>
            <a:ext cx="4964505" cy="3011928"/>
          </a:xfrm>
          <a:custGeom>
            <a:avLst/>
            <a:gdLst/>
            <a:ahLst/>
            <a:cxnLst/>
            <a:rect l="l" t="t" r="r" b="b"/>
            <a:pathLst>
              <a:path w="7846135" h="4668450">
                <a:moveTo>
                  <a:pt x="0" y="0"/>
                </a:moveTo>
                <a:lnTo>
                  <a:pt x="7846135" y="0"/>
                </a:lnTo>
                <a:lnTo>
                  <a:pt x="7846135" y="4668450"/>
                </a:lnTo>
                <a:lnTo>
                  <a:pt x="0" y="46684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520760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45243" y="1476394"/>
            <a:ext cx="7886250" cy="7334212"/>
          </a:xfrm>
          <a:custGeom>
            <a:avLst/>
            <a:gdLst/>
            <a:ahLst/>
            <a:cxnLst/>
            <a:rect l="l" t="t" r="r" b="b"/>
            <a:pathLst>
              <a:path w="7886250" h="7334212">
                <a:moveTo>
                  <a:pt x="0" y="0"/>
                </a:moveTo>
                <a:lnTo>
                  <a:pt x="7886249" y="0"/>
                </a:lnTo>
                <a:lnTo>
                  <a:pt x="7886249" y="7334212"/>
                </a:lnTo>
                <a:lnTo>
                  <a:pt x="0" y="73342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DCB6488-6E08-1E6C-43C7-BBE1D91E7DEC}"/>
              </a:ext>
            </a:extLst>
          </p:cNvPr>
          <p:cNvSpPr txBox="1"/>
          <p:nvPr/>
        </p:nvSpPr>
        <p:spPr>
          <a:xfrm>
            <a:off x="10591800" y="723900"/>
            <a:ext cx="70509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Review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Study: Marina</a:t>
            </a:r>
          </a:p>
          <a:p>
            <a:r>
              <a:rPr lang="de-AT" dirty="0"/>
              <a:t>Main </a:t>
            </a:r>
            <a:r>
              <a:rPr lang="de-AT" dirty="0" err="1"/>
              <a:t>Results</a:t>
            </a:r>
            <a:r>
              <a:rPr lang="de-AT" dirty="0"/>
              <a:t>: Marina</a:t>
            </a:r>
          </a:p>
          <a:p>
            <a:r>
              <a:rPr lang="de-AT" dirty="0"/>
              <a:t>Quality and Prisma </a:t>
            </a:r>
            <a:r>
              <a:rPr lang="de-AT" dirty="0" err="1"/>
              <a:t>What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concluded</a:t>
            </a:r>
            <a:r>
              <a:rPr lang="de-AT" dirty="0"/>
              <a:t>: Christina</a:t>
            </a:r>
          </a:p>
          <a:p>
            <a:r>
              <a:rPr lang="de-AT" dirty="0" err="1"/>
              <a:t>Conclusion</a:t>
            </a:r>
            <a:r>
              <a:rPr lang="de-AT" dirty="0"/>
              <a:t> and Stakeholders: Maria Clara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07675" y="2809275"/>
            <a:ext cx="7846135" cy="4668450"/>
          </a:xfrm>
          <a:custGeom>
            <a:avLst/>
            <a:gdLst/>
            <a:ahLst/>
            <a:cxnLst/>
            <a:rect l="l" t="t" r="r" b="b"/>
            <a:pathLst>
              <a:path w="7846135" h="4668450">
                <a:moveTo>
                  <a:pt x="0" y="0"/>
                </a:moveTo>
                <a:lnTo>
                  <a:pt x="7846135" y="0"/>
                </a:lnTo>
                <a:lnTo>
                  <a:pt x="7846135" y="4668450"/>
                </a:lnTo>
                <a:lnTo>
                  <a:pt x="0" y="46684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73FDB8E4-7690-34A1-B34D-84F95D11197D}"/>
              </a:ext>
            </a:extLst>
          </p:cNvPr>
          <p:cNvSpPr/>
          <p:nvPr/>
        </p:nvSpPr>
        <p:spPr>
          <a:xfrm>
            <a:off x="2264376" y="1020977"/>
            <a:ext cx="4948047" cy="8229600"/>
          </a:xfrm>
          <a:custGeom>
            <a:avLst/>
            <a:gdLst/>
            <a:ahLst/>
            <a:cxnLst/>
            <a:rect l="l" t="t" r="r" b="b"/>
            <a:pathLst>
              <a:path w="4948047" h="8229600">
                <a:moveTo>
                  <a:pt x="0" y="0"/>
                </a:moveTo>
                <a:lnTo>
                  <a:pt x="4948047" y="0"/>
                </a:lnTo>
                <a:lnTo>
                  <a:pt x="4948047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2">
            <a:extLst>
              <a:ext uri="{FF2B5EF4-FFF2-40B4-BE49-F238E27FC236}">
                <a16:creationId xmlns:a16="http://schemas.microsoft.com/office/drawing/2014/main" id="{6C25D820-7D4D-5548-FFC8-6B6F8E655206}"/>
              </a:ext>
            </a:extLst>
          </p:cNvPr>
          <p:cNvSpPr/>
          <p:nvPr/>
        </p:nvSpPr>
        <p:spPr>
          <a:xfrm>
            <a:off x="2743200" y="5143500"/>
            <a:ext cx="2743200" cy="4448831"/>
          </a:xfrm>
          <a:custGeom>
            <a:avLst/>
            <a:gdLst/>
            <a:ahLst/>
            <a:cxnLst/>
            <a:rect l="l" t="t" r="r" b="b"/>
            <a:pathLst>
              <a:path w="4948047" h="8229600">
                <a:moveTo>
                  <a:pt x="0" y="0"/>
                </a:moveTo>
                <a:lnTo>
                  <a:pt x="4948047" y="0"/>
                </a:lnTo>
                <a:lnTo>
                  <a:pt x="4948047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6" name="Freeform 2">
            <a:extLst>
              <a:ext uri="{FF2B5EF4-FFF2-40B4-BE49-F238E27FC236}">
                <a16:creationId xmlns:a16="http://schemas.microsoft.com/office/drawing/2014/main" id="{17AE14C7-EA74-424A-D067-0BB0A925AB5F}"/>
              </a:ext>
            </a:extLst>
          </p:cNvPr>
          <p:cNvSpPr/>
          <p:nvPr/>
        </p:nvSpPr>
        <p:spPr>
          <a:xfrm>
            <a:off x="9448800" y="4806763"/>
            <a:ext cx="7709622" cy="4770328"/>
          </a:xfrm>
          <a:custGeom>
            <a:avLst/>
            <a:gdLst/>
            <a:ahLst/>
            <a:cxnLst/>
            <a:rect l="l" t="t" r="r" b="b"/>
            <a:pathLst>
              <a:path w="7709622" h="4770328">
                <a:moveTo>
                  <a:pt x="0" y="0"/>
                </a:moveTo>
                <a:lnTo>
                  <a:pt x="7709621" y="0"/>
                </a:lnTo>
                <a:lnTo>
                  <a:pt x="7709621" y="4770328"/>
                </a:lnTo>
                <a:lnTo>
                  <a:pt x="0" y="47703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22686" y="2707598"/>
            <a:ext cx="7538575" cy="4871804"/>
          </a:xfrm>
          <a:custGeom>
            <a:avLst/>
            <a:gdLst/>
            <a:ahLst/>
            <a:cxnLst/>
            <a:rect l="l" t="t" r="r" b="b"/>
            <a:pathLst>
              <a:path w="7538575" h="4871804">
                <a:moveTo>
                  <a:pt x="0" y="0"/>
                </a:moveTo>
                <a:lnTo>
                  <a:pt x="7538575" y="0"/>
                </a:lnTo>
                <a:lnTo>
                  <a:pt x="7538575" y="4871804"/>
                </a:lnTo>
                <a:lnTo>
                  <a:pt x="0" y="48718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0723" y="1729250"/>
            <a:ext cx="6652240" cy="8051123"/>
          </a:xfrm>
          <a:custGeom>
            <a:avLst/>
            <a:gdLst/>
            <a:ahLst/>
            <a:cxnLst/>
            <a:rect l="l" t="t" r="r" b="b"/>
            <a:pathLst>
              <a:path w="6652240" h="8051123">
                <a:moveTo>
                  <a:pt x="0" y="0"/>
                </a:moveTo>
                <a:lnTo>
                  <a:pt x="6652240" y="0"/>
                </a:lnTo>
                <a:lnTo>
                  <a:pt x="6652240" y="8051123"/>
                </a:lnTo>
                <a:lnTo>
                  <a:pt x="0" y="80511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169297" y="1924944"/>
            <a:ext cx="7561952" cy="6437112"/>
          </a:xfrm>
          <a:custGeom>
            <a:avLst/>
            <a:gdLst/>
            <a:ahLst/>
            <a:cxnLst/>
            <a:rect l="l" t="t" r="r" b="b"/>
            <a:pathLst>
              <a:path w="7561952" h="6437112">
                <a:moveTo>
                  <a:pt x="0" y="0"/>
                </a:moveTo>
                <a:lnTo>
                  <a:pt x="7561953" y="0"/>
                </a:lnTo>
                <a:lnTo>
                  <a:pt x="7561953" y="6437112"/>
                </a:lnTo>
                <a:lnTo>
                  <a:pt x="0" y="64371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37610" y="2642007"/>
            <a:ext cx="6871547" cy="7290766"/>
          </a:xfrm>
          <a:custGeom>
            <a:avLst/>
            <a:gdLst/>
            <a:ahLst/>
            <a:cxnLst/>
            <a:rect l="l" t="t" r="r" b="b"/>
            <a:pathLst>
              <a:path w="6871547" h="7290766">
                <a:moveTo>
                  <a:pt x="0" y="0"/>
                </a:moveTo>
                <a:lnTo>
                  <a:pt x="6871547" y="0"/>
                </a:lnTo>
                <a:lnTo>
                  <a:pt x="6871547" y="7290766"/>
                </a:lnTo>
                <a:lnTo>
                  <a:pt x="0" y="72907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45217" y="2099566"/>
            <a:ext cx="7574331" cy="6087869"/>
          </a:xfrm>
          <a:custGeom>
            <a:avLst/>
            <a:gdLst/>
            <a:ahLst/>
            <a:cxnLst/>
            <a:rect l="l" t="t" r="r" b="b"/>
            <a:pathLst>
              <a:path w="7574331" h="6087869">
                <a:moveTo>
                  <a:pt x="0" y="0"/>
                </a:moveTo>
                <a:lnTo>
                  <a:pt x="7574331" y="0"/>
                </a:lnTo>
                <a:lnTo>
                  <a:pt x="7574331" y="6087868"/>
                </a:lnTo>
                <a:lnTo>
                  <a:pt x="0" y="60878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63209" y="936159"/>
            <a:ext cx="5718216" cy="8780370"/>
          </a:xfrm>
          <a:custGeom>
            <a:avLst/>
            <a:gdLst/>
            <a:ahLst/>
            <a:cxnLst/>
            <a:rect l="l" t="t" r="r" b="b"/>
            <a:pathLst>
              <a:path w="5718216" h="8780370">
                <a:moveTo>
                  <a:pt x="0" y="0"/>
                </a:moveTo>
                <a:lnTo>
                  <a:pt x="5718216" y="0"/>
                </a:lnTo>
                <a:lnTo>
                  <a:pt x="5718216" y="8780370"/>
                </a:lnTo>
                <a:lnTo>
                  <a:pt x="0" y="87803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117835" y="1418265"/>
            <a:ext cx="7357338" cy="7450469"/>
          </a:xfrm>
          <a:custGeom>
            <a:avLst/>
            <a:gdLst/>
            <a:ahLst/>
            <a:cxnLst/>
            <a:rect l="l" t="t" r="r" b="b"/>
            <a:pathLst>
              <a:path w="7357338" h="7450469">
                <a:moveTo>
                  <a:pt x="0" y="0"/>
                </a:moveTo>
                <a:lnTo>
                  <a:pt x="7357338" y="0"/>
                </a:lnTo>
                <a:lnTo>
                  <a:pt x="7357338" y="7450470"/>
                </a:lnTo>
                <a:lnTo>
                  <a:pt x="0" y="7450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39759" y="1133682"/>
            <a:ext cx="7718899" cy="8019636"/>
          </a:xfrm>
          <a:custGeom>
            <a:avLst/>
            <a:gdLst/>
            <a:ahLst/>
            <a:cxnLst/>
            <a:rect l="l" t="t" r="r" b="b"/>
            <a:pathLst>
              <a:path w="7718899" h="8019636">
                <a:moveTo>
                  <a:pt x="0" y="0"/>
                </a:moveTo>
                <a:lnTo>
                  <a:pt x="7718899" y="0"/>
                </a:lnTo>
                <a:lnTo>
                  <a:pt x="7718899" y="8019636"/>
                </a:lnTo>
                <a:lnTo>
                  <a:pt x="0" y="80196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C858B-164C-6826-3E72-1EAA1CBD8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E0CC5F2-728C-7867-3C07-800C9F4CD570}"/>
              </a:ext>
            </a:extLst>
          </p:cNvPr>
          <p:cNvSpPr/>
          <p:nvPr/>
        </p:nvSpPr>
        <p:spPr>
          <a:xfrm>
            <a:off x="681790" y="2012190"/>
            <a:ext cx="7914843" cy="6262620"/>
          </a:xfrm>
          <a:custGeom>
            <a:avLst/>
            <a:gdLst/>
            <a:ahLst/>
            <a:cxnLst/>
            <a:rect l="l" t="t" r="r" b="b"/>
            <a:pathLst>
              <a:path w="7914843" h="6262620">
                <a:moveTo>
                  <a:pt x="0" y="0"/>
                </a:moveTo>
                <a:lnTo>
                  <a:pt x="7914844" y="0"/>
                </a:lnTo>
                <a:lnTo>
                  <a:pt x="7914844" y="6262620"/>
                </a:lnTo>
                <a:lnTo>
                  <a:pt x="0" y="62626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DD11DC75-731B-A269-E164-9D6A5A6A903E}"/>
              </a:ext>
            </a:extLst>
          </p:cNvPr>
          <p:cNvSpPr/>
          <p:nvPr/>
        </p:nvSpPr>
        <p:spPr>
          <a:xfrm>
            <a:off x="10182083" y="3168347"/>
            <a:ext cx="7463366" cy="4851188"/>
          </a:xfrm>
          <a:custGeom>
            <a:avLst/>
            <a:gdLst/>
            <a:ahLst/>
            <a:cxnLst/>
            <a:rect l="l" t="t" r="r" b="b"/>
            <a:pathLst>
              <a:path w="7463366" h="4851188">
                <a:moveTo>
                  <a:pt x="0" y="0"/>
                </a:moveTo>
                <a:lnTo>
                  <a:pt x="7463366" y="0"/>
                </a:lnTo>
                <a:lnTo>
                  <a:pt x="7463366" y="4851188"/>
                </a:lnTo>
                <a:lnTo>
                  <a:pt x="0" y="48511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484256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326326" y="-22861"/>
            <a:ext cx="9758748" cy="10309861"/>
            <a:chOff x="0" y="0"/>
            <a:chExt cx="2570205" cy="289971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70205" cy="2899719"/>
            </a:xfrm>
            <a:custGeom>
              <a:avLst/>
              <a:gdLst/>
              <a:ahLst/>
              <a:cxnLst/>
              <a:rect l="l" t="t" r="r" b="b"/>
              <a:pathLst>
                <a:path w="2570205" h="2899719">
                  <a:moveTo>
                    <a:pt x="0" y="0"/>
                  </a:moveTo>
                  <a:lnTo>
                    <a:pt x="2570205" y="0"/>
                  </a:lnTo>
                  <a:lnTo>
                    <a:pt x="2570205" y="2899719"/>
                  </a:lnTo>
                  <a:lnTo>
                    <a:pt x="0" y="2899719"/>
                  </a:lnTo>
                  <a:close/>
                </a:path>
              </a:pathLst>
            </a:custGeom>
            <a:solidFill>
              <a:srgbClr val="FFD4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570205" cy="29378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744541" y="2197739"/>
            <a:ext cx="7617015" cy="38041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271"/>
              </a:lnSpc>
            </a:pPr>
            <a:r>
              <a:rPr lang="en-US" sz="10908" dirty="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THANK</a:t>
            </a:r>
          </a:p>
          <a:p>
            <a:pPr algn="ctr">
              <a:lnSpc>
                <a:spcPts val="15271"/>
              </a:lnSpc>
            </a:pPr>
            <a:r>
              <a:rPr lang="en-US" sz="10908" dirty="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YOU!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99735" y="6069476"/>
            <a:ext cx="7281649" cy="1074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05"/>
              </a:lnSpc>
            </a:pPr>
            <a:r>
              <a:rPr lang="en-US" sz="7368" dirty="0">
                <a:solidFill>
                  <a:srgbClr val="000000"/>
                </a:solidFill>
                <a:latin typeface="KG Primary Penmanship"/>
                <a:ea typeface="KG Primary Penmanship"/>
                <a:cs typeface="KG Primary Penmanship"/>
                <a:sym typeface="KG Primary Penmanship"/>
              </a:rPr>
              <a:t>Discussion time!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70694901-97D3-73F7-3D3B-E6DBFD91B8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800" y="1514474"/>
            <a:ext cx="7345147" cy="725805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0396B072-1AA0-6997-A261-3D2BBCA71521}"/>
              </a:ext>
            </a:extLst>
          </p:cNvPr>
          <p:cNvSpPr txBox="1"/>
          <p:nvPr/>
        </p:nvSpPr>
        <p:spPr>
          <a:xfrm>
            <a:off x="10210800" y="8783585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Source: imgflip.com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1738</Words>
  <Application>Microsoft Office PowerPoint</Application>
  <PresentationFormat>Benutzerdefiniert</PresentationFormat>
  <Paragraphs>110</Paragraphs>
  <Slides>18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6" baseType="lpstr">
      <vt:lpstr>Fredoka</vt:lpstr>
      <vt:lpstr>KG Primary Penmanship</vt:lpstr>
      <vt:lpstr>Candara</vt:lpstr>
      <vt:lpstr>Arial</vt:lpstr>
      <vt:lpstr>Century Gothic</vt:lpstr>
      <vt:lpstr>Calibri</vt:lpstr>
      <vt:lpstr>Aptos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Knes, Christina Sophie</cp:lastModifiedBy>
  <cp:revision>1</cp:revision>
  <dcterms:created xsi:type="dcterms:W3CDTF">2006-08-16T00:00:00Z</dcterms:created>
  <dcterms:modified xsi:type="dcterms:W3CDTF">2026-06-15T16:51:48Z</dcterms:modified>
  <dc:identifier>DAHMD6YqX8Q</dc:identifier>
</cp:coreProperties>
</file>