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Open Sans 1 Ultra-Bold" charset="1" panose="00000000000000000000"/>
      <p:regular r:id="rId12"/>
    </p:embeddedFont>
    <p:embeddedFont>
      <p:font typeface="Open Sans Condensed" charset="1" panose="020B0306030504020204"/>
      <p:regular r:id="rId13"/>
    </p:embeddedFont>
    <p:embeddedFont>
      <p:font typeface="Open Sans 2" charset="1" panose="020B0606030504020204"/>
      <p:regular r:id="rId14"/>
    </p:embeddedFont>
    <p:embeddedFont>
      <p:font typeface="Open Sans 2 Bold" charset="1" panose="020B0806030504020204"/>
      <p:regular r:id="rId15"/>
    </p:embeddedFont>
    <p:embeddedFont>
      <p:font typeface="Open Sans 1 Bold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94537"/>
            <a:chOff x="0" y="0"/>
            <a:chExt cx="24384000" cy="1372604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069955" cy="6863025"/>
              <a:chOff x="0" y="0"/>
              <a:chExt cx="1913890" cy="322732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913890" cy="3227326"/>
              </a:xfrm>
              <a:custGeom>
                <a:avLst/>
                <a:gdLst/>
                <a:ahLst/>
                <a:cxnLst/>
                <a:rect r="r" b="b" t="t" l="l"/>
                <a:pathLst>
                  <a:path h="3227326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3227326"/>
                    </a:lnTo>
                    <a:lnTo>
                      <a:pt x="0" y="3227326"/>
                    </a:lnTo>
                    <a:close/>
                  </a:path>
                </a:pathLst>
              </a:custGeom>
              <a:solidFill>
                <a:srgbClr val="F0C600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0" y="6863025"/>
              <a:ext cx="4069955" cy="6863025"/>
              <a:chOff x="0" y="0"/>
              <a:chExt cx="1913890" cy="322732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913890" cy="3227326"/>
              </a:xfrm>
              <a:custGeom>
                <a:avLst/>
                <a:gdLst/>
                <a:ahLst/>
                <a:cxnLst/>
                <a:rect r="r" b="b" t="t" l="l"/>
                <a:pathLst>
                  <a:path h="3227326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3227326"/>
                    </a:lnTo>
                    <a:lnTo>
                      <a:pt x="0" y="3227326"/>
                    </a:lnTo>
                    <a:close/>
                  </a:path>
                </a:pathLst>
              </a:custGeom>
              <a:solidFill>
                <a:srgbClr val="F0C600">
                  <a:alpha val="60000"/>
                </a:srgbClr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4069955" y="0"/>
              <a:ext cx="4069955" cy="6863025"/>
              <a:chOff x="0" y="0"/>
              <a:chExt cx="1913890" cy="3227327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913890" cy="3227326"/>
              </a:xfrm>
              <a:custGeom>
                <a:avLst/>
                <a:gdLst/>
                <a:ahLst/>
                <a:cxnLst/>
                <a:rect r="r" b="b" t="t" l="l"/>
                <a:pathLst>
                  <a:path h="3227326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3227326"/>
                    </a:lnTo>
                    <a:lnTo>
                      <a:pt x="0" y="3227326"/>
                    </a:lnTo>
                    <a:close/>
                  </a:path>
                </a:pathLst>
              </a:custGeom>
              <a:solidFill>
                <a:srgbClr val="EA6045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4069955" y="6863025"/>
              <a:ext cx="4069955" cy="6863025"/>
              <a:chOff x="0" y="0"/>
              <a:chExt cx="1913890" cy="3227327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913890" cy="3227326"/>
              </a:xfrm>
              <a:custGeom>
                <a:avLst/>
                <a:gdLst/>
                <a:ahLst/>
                <a:cxnLst/>
                <a:rect r="r" b="b" t="t" l="l"/>
                <a:pathLst>
                  <a:path h="3227326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3227326"/>
                    </a:lnTo>
                    <a:lnTo>
                      <a:pt x="0" y="3227326"/>
                    </a:lnTo>
                    <a:close/>
                  </a:path>
                </a:pathLst>
              </a:custGeom>
              <a:solidFill>
                <a:srgbClr val="EA6045">
                  <a:alpha val="60000"/>
                </a:srgbClr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8139910" y="0"/>
              <a:ext cx="4061022" cy="6863025"/>
              <a:chOff x="0" y="0"/>
              <a:chExt cx="1913890" cy="323442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913890" cy="3234425"/>
              </a:xfrm>
              <a:custGeom>
                <a:avLst/>
                <a:gdLst/>
                <a:ahLst/>
                <a:cxnLst/>
                <a:rect r="r" b="b" t="t" l="l"/>
                <a:pathLst>
                  <a:path h="3234425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3234425"/>
                    </a:lnTo>
                    <a:lnTo>
                      <a:pt x="0" y="3234425"/>
                    </a:lnTo>
                    <a:close/>
                  </a:path>
                </a:pathLst>
              </a:custGeom>
              <a:solidFill>
                <a:srgbClr val="85A5CC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8139910" y="6863025"/>
              <a:ext cx="4061022" cy="6863025"/>
              <a:chOff x="0" y="0"/>
              <a:chExt cx="1913890" cy="323442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13890" cy="3234425"/>
              </a:xfrm>
              <a:custGeom>
                <a:avLst/>
                <a:gdLst/>
                <a:ahLst/>
                <a:cxnLst/>
                <a:rect r="r" b="b" t="t" l="l"/>
                <a:pathLst>
                  <a:path h="3234425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3234425"/>
                    </a:lnTo>
                    <a:lnTo>
                      <a:pt x="0" y="3234425"/>
                    </a:lnTo>
                    <a:close/>
                  </a:path>
                </a:pathLst>
              </a:custGeom>
              <a:solidFill>
                <a:srgbClr val="85A5CC">
                  <a:alpha val="60000"/>
                </a:srgbClr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12200933" y="0"/>
              <a:ext cx="4061022" cy="6863025"/>
              <a:chOff x="0" y="0"/>
              <a:chExt cx="1913890" cy="323442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913890" cy="3234425"/>
              </a:xfrm>
              <a:custGeom>
                <a:avLst/>
                <a:gdLst/>
                <a:ahLst/>
                <a:cxnLst/>
                <a:rect r="r" b="b" t="t" l="l"/>
                <a:pathLst>
                  <a:path h="3234425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3234425"/>
                    </a:lnTo>
                    <a:lnTo>
                      <a:pt x="0" y="3234425"/>
                    </a:lnTo>
                    <a:close/>
                  </a:path>
                </a:pathLst>
              </a:custGeom>
              <a:solidFill>
                <a:srgbClr val="4A6491"/>
              </a:solidFill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12200933" y="6863025"/>
              <a:ext cx="4061022" cy="6863025"/>
              <a:chOff x="0" y="0"/>
              <a:chExt cx="1913890" cy="323442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913890" cy="3234425"/>
              </a:xfrm>
              <a:custGeom>
                <a:avLst/>
                <a:gdLst/>
                <a:ahLst/>
                <a:cxnLst/>
                <a:rect r="r" b="b" t="t" l="l"/>
                <a:pathLst>
                  <a:path h="3234425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3234425"/>
                    </a:lnTo>
                    <a:lnTo>
                      <a:pt x="0" y="3234425"/>
                    </a:lnTo>
                    <a:close/>
                  </a:path>
                </a:pathLst>
              </a:custGeom>
              <a:solidFill>
                <a:srgbClr val="4A6491">
                  <a:alpha val="60000"/>
                </a:srgbClr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16261955" y="0"/>
              <a:ext cx="4061022" cy="6863025"/>
              <a:chOff x="0" y="0"/>
              <a:chExt cx="1913890" cy="3234425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913890" cy="3234425"/>
              </a:xfrm>
              <a:custGeom>
                <a:avLst/>
                <a:gdLst/>
                <a:ahLst/>
                <a:cxnLst/>
                <a:rect r="r" b="b" t="t" l="l"/>
                <a:pathLst>
                  <a:path h="3234425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3234425"/>
                    </a:lnTo>
                    <a:lnTo>
                      <a:pt x="0" y="3234425"/>
                    </a:lnTo>
                    <a:close/>
                  </a:path>
                </a:pathLst>
              </a:custGeom>
              <a:solidFill>
                <a:srgbClr val="91C46C"/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16261955" y="6863025"/>
              <a:ext cx="4061022" cy="6863025"/>
              <a:chOff x="0" y="0"/>
              <a:chExt cx="1913890" cy="3234425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913890" cy="3234425"/>
              </a:xfrm>
              <a:custGeom>
                <a:avLst/>
                <a:gdLst/>
                <a:ahLst/>
                <a:cxnLst/>
                <a:rect r="r" b="b" t="t" l="l"/>
                <a:pathLst>
                  <a:path h="3234425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3234425"/>
                    </a:lnTo>
                    <a:lnTo>
                      <a:pt x="0" y="3234425"/>
                    </a:lnTo>
                    <a:close/>
                  </a:path>
                </a:pathLst>
              </a:custGeom>
              <a:solidFill>
                <a:srgbClr val="91C46C">
                  <a:alpha val="60000"/>
                </a:srgbClr>
              </a:solid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20322978" y="0"/>
              <a:ext cx="4061022" cy="6863025"/>
              <a:chOff x="0" y="0"/>
              <a:chExt cx="1913890" cy="323442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913890" cy="3234425"/>
              </a:xfrm>
              <a:custGeom>
                <a:avLst/>
                <a:gdLst/>
                <a:ahLst/>
                <a:cxnLst/>
                <a:rect r="r" b="b" t="t" l="l"/>
                <a:pathLst>
                  <a:path h="3234425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3234425"/>
                    </a:lnTo>
                    <a:lnTo>
                      <a:pt x="0" y="3234425"/>
                    </a:lnTo>
                    <a:close/>
                  </a:path>
                </a:pathLst>
              </a:custGeom>
              <a:solidFill>
                <a:srgbClr val="287D7D"/>
              </a:solidFill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20322978" y="6863025"/>
              <a:ext cx="4061022" cy="6863025"/>
              <a:chOff x="0" y="0"/>
              <a:chExt cx="1913890" cy="3234425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913890" cy="3234425"/>
              </a:xfrm>
              <a:custGeom>
                <a:avLst/>
                <a:gdLst/>
                <a:ahLst/>
                <a:cxnLst/>
                <a:rect r="r" b="b" t="t" l="l"/>
                <a:pathLst>
                  <a:path h="3234425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3234425"/>
                    </a:lnTo>
                    <a:lnTo>
                      <a:pt x="0" y="3234425"/>
                    </a:lnTo>
                    <a:close/>
                  </a:path>
                </a:pathLst>
              </a:custGeom>
              <a:solidFill>
                <a:srgbClr val="287D7D">
                  <a:alpha val="60000"/>
                </a:srgbClr>
              </a:solidFill>
            </p:spPr>
          </p:sp>
        </p:grpSp>
      </p:grpSp>
      <p:grpSp>
        <p:nvGrpSpPr>
          <p:cNvPr name="Group 27" id="27"/>
          <p:cNvGrpSpPr/>
          <p:nvPr/>
        </p:nvGrpSpPr>
        <p:grpSpPr>
          <a:xfrm rot="0">
            <a:off x="1028700" y="1028700"/>
            <a:ext cx="16230600" cy="8229600"/>
            <a:chOff x="0" y="0"/>
            <a:chExt cx="3774616" cy="191389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774617" cy="1913890"/>
            </a:xfrm>
            <a:custGeom>
              <a:avLst/>
              <a:gdLst/>
              <a:ahLst/>
              <a:cxnLst/>
              <a:rect r="r" b="b" t="t" l="l"/>
              <a:pathLst>
                <a:path h="1913890" w="3774617">
                  <a:moveTo>
                    <a:pt x="0" y="0"/>
                  </a:moveTo>
                  <a:lnTo>
                    <a:pt x="3774617" y="0"/>
                  </a:lnTo>
                  <a:lnTo>
                    <a:pt x="3774617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3056926" y="3648718"/>
            <a:ext cx="12174148" cy="2913363"/>
            <a:chOff x="0" y="0"/>
            <a:chExt cx="16232197" cy="3884485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0" y="38100"/>
              <a:ext cx="16232197" cy="28278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00"/>
                </a:lnSpc>
              </a:pPr>
              <a:r>
                <a:rPr lang="en-US" b="true" sz="5000">
                  <a:solidFill>
                    <a:srgbClr val="3B3838"/>
                  </a:solidFill>
                  <a:latin typeface="Open Sans 1 Ultra-Bold"/>
                  <a:ea typeface="Open Sans 1 Ultra-Bold"/>
                  <a:cs typeface="Open Sans 1 Ultra-Bold"/>
                  <a:sym typeface="Open Sans 1 Ultra-Bold"/>
                </a:rPr>
                <a:t>IMPACT OF CHATGPT ON THE ACADEMIC WRITING QUALITY OF SENIOR HIGH SCHOOL STUDENTS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3274885"/>
              <a:ext cx="16232197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3B3838"/>
                  </a:solidFill>
                  <a:latin typeface="Open Sans Condensed"/>
                  <a:ea typeface="Open Sans Condensed"/>
                  <a:cs typeface="Open Sans Condensed"/>
                  <a:sym typeface="Open Sans Condensed"/>
                </a:rPr>
                <a:t>MY</a:t>
              </a:r>
              <a:r>
                <a:rPr lang="en-US" sz="3000">
                  <a:solidFill>
                    <a:srgbClr val="3B3838"/>
                  </a:solidFill>
                  <a:latin typeface="Open Sans Condensed"/>
                  <a:ea typeface="Open Sans Condensed"/>
                  <a:cs typeface="Open Sans Condensed"/>
                  <a:sym typeface="Open Sans Condensed"/>
                </a:rPr>
                <a:t>CHOL C. MAGHAMIL AND SHANGRELA G. SIERAS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94537"/>
            <a:chOff x="0" y="0"/>
            <a:chExt cx="24384000" cy="1372604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069955" cy="6863025"/>
              <a:chOff x="0" y="0"/>
              <a:chExt cx="1913890" cy="322732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913890" cy="3227326"/>
              </a:xfrm>
              <a:custGeom>
                <a:avLst/>
                <a:gdLst/>
                <a:ahLst/>
                <a:cxnLst/>
                <a:rect r="r" b="b" t="t" l="l"/>
                <a:pathLst>
                  <a:path h="3227326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3227326"/>
                    </a:lnTo>
                    <a:lnTo>
                      <a:pt x="0" y="3227326"/>
                    </a:lnTo>
                    <a:close/>
                  </a:path>
                </a:pathLst>
              </a:custGeom>
              <a:solidFill>
                <a:srgbClr val="F0C600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0" y="6863025"/>
              <a:ext cx="4069955" cy="6863025"/>
              <a:chOff x="0" y="0"/>
              <a:chExt cx="1913890" cy="322732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913890" cy="3227326"/>
              </a:xfrm>
              <a:custGeom>
                <a:avLst/>
                <a:gdLst/>
                <a:ahLst/>
                <a:cxnLst/>
                <a:rect r="r" b="b" t="t" l="l"/>
                <a:pathLst>
                  <a:path h="3227326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3227326"/>
                    </a:lnTo>
                    <a:lnTo>
                      <a:pt x="0" y="3227326"/>
                    </a:lnTo>
                    <a:close/>
                  </a:path>
                </a:pathLst>
              </a:custGeom>
              <a:solidFill>
                <a:srgbClr val="F0C600">
                  <a:alpha val="60000"/>
                </a:srgbClr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4069955" y="0"/>
              <a:ext cx="4069955" cy="6863025"/>
              <a:chOff x="0" y="0"/>
              <a:chExt cx="1913890" cy="3227327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913890" cy="3227326"/>
              </a:xfrm>
              <a:custGeom>
                <a:avLst/>
                <a:gdLst/>
                <a:ahLst/>
                <a:cxnLst/>
                <a:rect r="r" b="b" t="t" l="l"/>
                <a:pathLst>
                  <a:path h="3227326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3227326"/>
                    </a:lnTo>
                    <a:lnTo>
                      <a:pt x="0" y="3227326"/>
                    </a:lnTo>
                    <a:close/>
                  </a:path>
                </a:pathLst>
              </a:custGeom>
              <a:solidFill>
                <a:srgbClr val="EA6045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4069955" y="6863025"/>
              <a:ext cx="4069955" cy="6863025"/>
              <a:chOff x="0" y="0"/>
              <a:chExt cx="1913890" cy="3227327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913890" cy="3227326"/>
              </a:xfrm>
              <a:custGeom>
                <a:avLst/>
                <a:gdLst/>
                <a:ahLst/>
                <a:cxnLst/>
                <a:rect r="r" b="b" t="t" l="l"/>
                <a:pathLst>
                  <a:path h="3227326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3227326"/>
                    </a:lnTo>
                    <a:lnTo>
                      <a:pt x="0" y="3227326"/>
                    </a:lnTo>
                    <a:close/>
                  </a:path>
                </a:pathLst>
              </a:custGeom>
              <a:solidFill>
                <a:srgbClr val="EA6045">
                  <a:alpha val="60000"/>
                </a:srgbClr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8139910" y="0"/>
              <a:ext cx="4061022" cy="6863025"/>
              <a:chOff x="0" y="0"/>
              <a:chExt cx="1913890" cy="323442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913890" cy="3234425"/>
              </a:xfrm>
              <a:custGeom>
                <a:avLst/>
                <a:gdLst/>
                <a:ahLst/>
                <a:cxnLst/>
                <a:rect r="r" b="b" t="t" l="l"/>
                <a:pathLst>
                  <a:path h="3234425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3234425"/>
                    </a:lnTo>
                    <a:lnTo>
                      <a:pt x="0" y="3234425"/>
                    </a:lnTo>
                    <a:close/>
                  </a:path>
                </a:pathLst>
              </a:custGeom>
              <a:solidFill>
                <a:srgbClr val="85A5CC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8139910" y="6863025"/>
              <a:ext cx="4061022" cy="6863025"/>
              <a:chOff x="0" y="0"/>
              <a:chExt cx="1913890" cy="323442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13890" cy="3234425"/>
              </a:xfrm>
              <a:custGeom>
                <a:avLst/>
                <a:gdLst/>
                <a:ahLst/>
                <a:cxnLst/>
                <a:rect r="r" b="b" t="t" l="l"/>
                <a:pathLst>
                  <a:path h="3234425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3234425"/>
                    </a:lnTo>
                    <a:lnTo>
                      <a:pt x="0" y="3234425"/>
                    </a:lnTo>
                    <a:close/>
                  </a:path>
                </a:pathLst>
              </a:custGeom>
              <a:solidFill>
                <a:srgbClr val="85A5CC">
                  <a:alpha val="60000"/>
                </a:srgbClr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12200933" y="0"/>
              <a:ext cx="4061022" cy="6863025"/>
              <a:chOff x="0" y="0"/>
              <a:chExt cx="1913890" cy="323442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913890" cy="3234425"/>
              </a:xfrm>
              <a:custGeom>
                <a:avLst/>
                <a:gdLst/>
                <a:ahLst/>
                <a:cxnLst/>
                <a:rect r="r" b="b" t="t" l="l"/>
                <a:pathLst>
                  <a:path h="3234425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3234425"/>
                    </a:lnTo>
                    <a:lnTo>
                      <a:pt x="0" y="3234425"/>
                    </a:lnTo>
                    <a:close/>
                  </a:path>
                </a:pathLst>
              </a:custGeom>
              <a:solidFill>
                <a:srgbClr val="4A6491"/>
              </a:solidFill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12200933" y="6863025"/>
              <a:ext cx="4061022" cy="6863025"/>
              <a:chOff x="0" y="0"/>
              <a:chExt cx="1913890" cy="323442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913890" cy="3234425"/>
              </a:xfrm>
              <a:custGeom>
                <a:avLst/>
                <a:gdLst/>
                <a:ahLst/>
                <a:cxnLst/>
                <a:rect r="r" b="b" t="t" l="l"/>
                <a:pathLst>
                  <a:path h="3234425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3234425"/>
                    </a:lnTo>
                    <a:lnTo>
                      <a:pt x="0" y="3234425"/>
                    </a:lnTo>
                    <a:close/>
                  </a:path>
                </a:pathLst>
              </a:custGeom>
              <a:solidFill>
                <a:srgbClr val="4A6491">
                  <a:alpha val="60000"/>
                </a:srgbClr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16261955" y="0"/>
              <a:ext cx="4061022" cy="6863025"/>
              <a:chOff x="0" y="0"/>
              <a:chExt cx="1913890" cy="3234425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913890" cy="3234425"/>
              </a:xfrm>
              <a:custGeom>
                <a:avLst/>
                <a:gdLst/>
                <a:ahLst/>
                <a:cxnLst/>
                <a:rect r="r" b="b" t="t" l="l"/>
                <a:pathLst>
                  <a:path h="3234425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3234425"/>
                    </a:lnTo>
                    <a:lnTo>
                      <a:pt x="0" y="3234425"/>
                    </a:lnTo>
                    <a:close/>
                  </a:path>
                </a:pathLst>
              </a:custGeom>
              <a:solidFill>
                <a:srgbClr val="91C46C"/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16261955" y="6863025"/>
              <a:ext cx="4061022" cy="6863025"/>
              <a:chOff x="0" y="0"/>
              <a:chExt cx="1913890" cy="3234425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913890" cy="3234425"/>
              </a:xfrm>
              <a:custGeom>
                <a:avLst/>
                <a:gdLst/>
                <a:ahLst/>
                <a:cxnLst/>
                <a:rect r="r" b="b" t="t" l="l"/>
                <a:pathLst>
                  <a:path h="3234425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3234425"/>
                    </a:lnTo>
                    <a:lnTo>
                      <a:pt x="0" y="3234425"/>
                    </a:lnTo>
                    <a:close/>
                  </a:path>
                </a:pathLst>
              </a:custGeom>
              <a:solidFill>
                <a:srgbClr val="91C46C">
                  <a:alpha val="60000"/>
                </a:srgbClr>
              </a:solid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20322978" y="0"/>
              <a:ext cx="4061022" cy="6863025"/>
              <a:chOff x="0" y="0"/>
              <a:chExt cx="1913890" cy="323442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913890" cy="3234425"/>
              </a:xfrm>
              <a:custGeom>
                <a:avLst/>
                <a:gdLst/>
                <a:ahLst/>
                <a:cxnLst/>
                <a:rect r="r" b="b" t="t" l="l"/>
                <a:pathLst>
                  <a:path h="3234425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3234425"/>
                    </a:lnTo>
                    <a:lnTo>
                      <a:pt x="0" y="3234425"/>
                    </a:lnTo>
                    <a:close/>
                  </a:path>
                </a:pathLst>
              </a:custGeom>
              <a:solidFill>
                <a:srgbClr val="287D7D"/>
              </a:solidFill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20322978" y="6863025"/>
              <a:ext cx="4061022" cy="6863025"/>
              <a:chOff x="0" y="0"/>
              <a:chExt cx="1913890" cy="3234425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913890" cy="3234425"/>
              </a:xfrm>
              <a:custGeom>
                <a:avLst/>
                <a:gdLst/>
                <a:ahLst/>
                <a:cxnLst/>
                <a:rect r="r" b="b" t="t" l="l"/>
                <a:pathLst>
                  <a:path h="3234425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3234425"/>
                    </a:lnTo>
                    <a:lnTo>
                      <a:pt x="0" y="3234425"/>
                    </a:lnTo>
                    <a:close/>
                  </a:path>
                </a:pathLst>
              </a:custGeom>
              <a:solidFill>
                <a:srgbClr val="287D7D">
                  <a:alpha val="60000"/>
                </a:srgbClr>
              </a:solidFill>
            </p:spPr>
          </p:sp>
        </p:grpSp>
      </p:grpSp>
      <p:grpSp>
        <p:nvGrpSpPr>
          <p:cNvPr name="Group 27" id="27"/>
          <p:cNvGrpSpPr/>
          <p:nvPr/>
        </p:nvGrpSpPr>
        <p:grpSpPr>
          <a:xfrm rot="0">
            <a:off x="1028700" y="1028700"/>
            <a:ext cx="16230600" cy="8229600"/>
            <a:chOff x="0" y="0"/>
            <a:chExt cx="3774616" cy="191389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774617" cy="1913890"/>
            </a:xfrm>
            <a:custGeom>
              <a:avLst/>
              <a:gdLst/>
              <a:ahLst/>
              <a:cxnLst/>
              <a:rect r="r" b="b" t="t" l="l"/>
              <a:pathLst>
                <a:path h="1913890" w="3774617">
                  <a:moveTo>
                    <a:pt x="0" y="0"/>
                  </a:moveTo>
                  <a:lnTo>
                    <a:pt x="3774617" y="0"/>
                  </a:lnTo>
                  <a:lnTo>
                    <a:pt x="3774617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841615" y="1784395"/>
            <a:ext cx="9970499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b="true" sz="5000">
                <a:solidFill>
                  <a:srgbClr val="3B3838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GENERAL DESCRIPTION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841615" y="3586943"/>
            <a:ext cx="14246017" cy="3552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799"/>
              </a:lnSpc>
              <a:buFont typeface="Arial"/>
              <a:buChar char="•"/>
            </a:pPr>
            <a:r>
              <a:rPr lang="en-US" sz="2999">
                <a:solidFill>
                  <a:srgbClr val="3B3838"/>
                </a:solidFill>
                <a:latin typeface="Open Sans 2"/>
                <a:ea typeface="Open Sans 2"/>
                <a:cs typeface="Open Sans 2"/>
                <a:sym typeface="Open Sans 2"/>
              </a:rPr>
              <a:t>Philippines, 2024.</a:t>
            </a:r>
          </a:p>
          <a:p>
            <a:pPr algn="l" marL="647697" indent="-323848" lvl="1">
              <a:lnSpc>
                <a:spcPts val="4799"/>
              </a:lnSpc>
              <a:buFont typeface="Arial"/>
              <a:buChar char="•"/>
            </a:pPr>
            <a:r>
              <a:rPr lang="en-US" sz="2999">
                <a:solidFill>
                  <a:srgbClr val="3B3838"/>
                </a:solidFill>
                <a:latin typeface="Open Sans 2"/>
                <a:ea typeface="Open Sans 2"/>
                <a:cs typeface="Open Sans 2"/>
                <a:sym typeface="Open Sans 2"/>
              </a:rPr>
              <a:t>Explores ChatGPT’s impact on Grade 12 students writing quality.</a:t>
            </a:r>
          </a:p>
          <a:p>
            <a:pPr algn="l" marL="647697" indent="-323848" lvl="1">
              <a:lnSpc>
                <a:spcPts val="4799"/>
              </a:lnSpc>
              <a:buFont typeface="Arial"/>
              <a:buChar char="•"/>
            </a:pPr>
            <a:r>
              <a:rPr lang="en-US" sz="2999">
                <a:solidFill>
                  <a:srgbClr val="3B3838"/>
                </a:solidFill>
                <a:latin typeface="Open Sans 2"/>
                <a:ea typeface="Open Sans 2"/>
                <a:cs typeface="Open Sans 2"/>
                <a:sym typeface="Open Sans 2"/>
              </a:rPr>
              <a:t>ChatGPT as a natural language processing model that conversationally responds to our inputs.</a:t>
            </a:r>
          </a:p>
          <a:p>
            <a:pPr algn="l" marL="647697" indent="-323848" lvl="1">
              <a:lnSpc>
                <a:spcPts val="4799"/>
              </a:lnSpc>
              <a:buFont typeface="Arial"/>
              <a:buChar char="•"/>
            </a:pPr>
            <a:r>
              <a:rPr lang="en-US" sz="2999">
                <a:solidFill>
                  <a:srgbClr val="3B3838"/>
                </a:solidFill>
                <a:latin typeface="Open Sans 2"/>
                <a:ea typeface="Open Sans 2"/>
                <a:cs typeface="Open Sans 2"/>
                <a:sym typeface="Open Sans 2"/>
              </a:rPr>
              <a:t>Quantitative pretest - posttest control group quase-experimental research design.</a:t>
            </a:r>
          </a:p>
        </p:txBody>
      </p:sp>
      <p:sp>
        <p:nvSpPr>
          <p:cNvPr name="AutoShape 31" id="31"/>
          <p:cNvSpPr/>
          <p:nvPr/>
        </p:nvSpPr>
        <p:spPr>
          <a:xfrm>
            <a:off x="1841615" y="2813223"/>
            <a:ext cx="3308586" cy="0"/>
          </a:xfrm>
          <a:prstGeom prst="line">
            <a:avLst/>
          </a:prstGeom>
          <a:ln cap="flat" w="66675">
            <a:solidFill>
              <a:srgbClr val="EA6045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828800" y="5734223"/>
            <a:ext cx="3606377" cy="0"/>
          </a:xfrm>
          <a:prstGeom prst="line">
            <a:avLst/>
          </a:prstGeom>
          <a:ln cap="flat" w="66675">
            <a:solidFill>
              <a:srgbClr val="EA60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9570180" y="1856468"/>
            <a:ext cx="8920038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3B3838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     54 Grade 12 TVL Students 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865179" y="1500610"/>
            <a:ext cx="4275968" cy="1247020"/>
            <a:chOff x="0" y="0"/>
            <a:chExt cx="1221076" cy="3561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21077" cy="356108"/>
            </a:xfrm>
            <a:custGeom>
              <a:avLst/>
              <a:gdLst/>
              <a:ahLst/>
              <a:cxnLst/>
              <a:rect r="r" b="b" t="t" l="l"/>
              <a:pathLst>
                <a:path h="356108" w="1221077">
                  <a:moveTo>
                    <a:pt x="30780" y="0"/>
                  </a:moveTo>
                  <a:lnTo>
                    <a:pt x="1190297" y="0"/>
                  </a:lnTo>
                  <a:cubicBezTo>
                    <a:pt x="1207296" y="0"/>
                    <a:pt x="1221077" y="13781"/>
                    <a:pt x="1221077" y="30780"/>
                  </a:cubicBezTo>
                  <a:lnTo>
                    <a:pt x="1221077" y="325329"/>
                  </a:lnTo>
                  <a:cubicBezTo>
                    <a:pt x="1221077" y="342328"/>
                    <a:pt x="1207296" y="356108"/>
                    <a:pt x="1190297" y="356108"/>
                  </a:cubicBezTo>
                  <a:lnTo>
                    <a:pt x="30780" y="356108"/>
                  </a:lnTo>
                  <a:cubicBezTo>
                    <a:pt x="13781" y="356108"/>
                    <a:pt x="0" y="342328"/>
                    <a:pt x="0" y="325329"/>
                  </a:cubicBezTo>
                  <a:lnTo>
                    <a:pt x="0" y="30780"/>
                  </a:lnTo>
                  <a:cubicBezTo>
                    <a:pt x="0" y="13781"/>
                    <a:pt x="13781" y="0"/>
                    <a:pt x="30780" y="0"/>
                  </a:cubicBezTo>
                  <a:close/>
                </a:path>
              </a:pathLst>
            </a:custGeom>
            <a:ln w="76200" cap="sq">
              <a:solidFill>
                <a:srgbClr val="287D7D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221076" cy="403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4141147" y="1028700"/>
            <a:ext cx="1496482" cy="791265"/>
          </a:xfrm>
          <a:custGeom>
            <a:avLst/>
            <a:gdLst/>
            <a:ahLst/>
            <a:cxnLst/>
            <a:rect r="r" b="b" t="t" l="l"/>
            <a:pathLst>
              <a:path h="791265" w="1496482">
                <a:moveTo>
                  <a:pt x="0" y="0"/>
                </a:moveTo>
                <a:lnTo>
                  <a:pt x="1496482" y="0"/>
                </a:lnTo>
                <a:lnTo>
                  <a:pt x="1496482" y="791265"/>
                </a:lnTo>
                <a:lnTo>
                  <a:pt x="0" y="7912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841615" y="3968750"/>
            <a:ext cx="5156200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b="true" sz="5000">
                <a:solidFill>
                  <a:srgbClr val="3B3838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WHAT WAS DONE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895909" y="2012256"/>
            <a:ext cx="2363391" cy="606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9"/>
              </a:lnSpc>
              <a:spcBef>
                <a:spcPct val="0"/>
              </a:spcBef>
            </a:pPr>
            <a:r>
              <a:rPr lang="en-US" b="true" sz="2145">
                <a:solidFill>
                  <a:srgbClr val="3B383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Mindanao State University</a:t>
            </a:r>
          </a:p>
        </p:txBody>
      </p:sp>
      <p:sp>
        <p:nvSpPr>
          <p:cNvPr name="AutoShape 10" id="10"/>
          <p:cNvSpPr/>
          <p:nvPr/>
        </p:nvSpPr>
        <p:spPr>
          <a:xfrm flipH="true">
            <a:off x="11067121" y="2980191"/>
            <a:ext cx="686976" cy="90989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1" id="11"/>
          <p:cNvSpPr txBox="true"/>
          <p:nvPr/>
        </p:nvSpPr>
        <p:spPr>
          <a:xfrm rot="0">
            <a:off x="9144000" y="4159250"/>
            <a:ext cx="2363391" cy="307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9"/>
              </a:lnSpc>
              <a:spcBef>
                <a:spcPct val="0"/>
              </a:spcBef>
            </a:pPr>
            <a:r>
              <a:rPr lang="en-US" b="true" sz="2145">
                <a:solidFill>
                  <a:srgbClr val="3B383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Control Group</a:t>
            </a:r>
          </a:p>
        </p:txBody>
      </p:sp>
      <p:sp>
        <p:nvSpPr>
          <p:cNvPr name="AutoShape 12" id="12"/>
          <p:cNvSpPr/>
          <p:nvPr/>
        </p:nvSpPr>
        <p:spPr>
          <a:xfrm>
            <a:off x="12432851" y="2968713"/>
            <a:ext cx="628172" cy="95144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3" id="13"/>
          <p:cNvSpPr txBox="true"/>
          <p:nvPr/>
        </p:nvSpPr>
        <p:spPr>
          <a:xfrm rot="0">
            <a:off x="12432851" y="4159250"/>
            <a:ext cx="2881150" cy="307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9"/>
              </a:lnSpc>
              <a:spcBef>
                <a:spcPct val="0"/>
              </a:spcBef>
            </a:pPr>
            <a:r>
              <a:rPr lang="en-US" b="true" sz="2145">
                <a:solidFill>
                  <a:srgbClr val="3B383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Experimental group</a:t>
            </a:r>
          </a:p>
        </p:txBody>
      </p:sp>
      <p:sp>
        <p:nvSpPr>
          <p:cNvPr name="AutoShape 14" id="14"/>
          <p:cNvSpPr/>
          <p:nvPr/>
        </p:nvSpPr>
        <p:spPr>
          <a:xfrm flipH="true">
            <a:off x="12448055" y="4745355"/>
            <a:ext cx="686976" cy="90989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5" id="15"/>
          <p:cNvSpPr/>
          <p:nvPr/>
        </p:nvSpPr>
        <p:spPr>
          <a:xfrm>
            <a:off x="11083018" y="4715285"/>
            <a:ext cx="628172" cy="95144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6" id="16"/>
          <p:cNvGrpSpPr/>
          <p:nvPr/>
        </p:nvGrpSpPr>
        <p:grpSpPr>
          <a:xfrm rot="0">
            <a:off x="10165511" y="5979999"/>
            <a:ext cx="4275968" cy="1247020"/>
            <a:chOff x="0" y="0"/>
            <a:chExt cx="1221076" cy="3561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21077" cy="356108"/>
            </a:xfrm>
            <a:custGeom>
              <a:avLst/>
              <a:gdLst/>
              <a:ahLst/>
              <a:cxnLst/>
              <a:rect r="r" b="b" t="t" l="l"/>
              <a:pathLst>
                <a:path h="356108" w="1221077">
                  <a:moveTo>
                    <a:pt x="30780" y="0"/>
                  </a:moveTo>
                  <a:lnTo>
                    <a:pt x="1190297" y="0"/>
                  </a:lnTo>
                  <a:cubicBezTo>
                    <a:pt x="1207296" y="0"/>
                    <a:pt x="1221077" y="13781"/>
                    <a:pt x="1221077" y="30780"/>
                  </a:cubicBezTo>
                  <a:lnTo>
                    <a:pt x="1221077" y="325329"/>
                  </a:lnTo>
                  <a:cubicBezTo>
                    <a:pt x="1221077" y="342328"/>
                    <a:pt x="1207296" y="356108"/>
                    <a:pt x="1190297" y="356108"/>
                  </a:cubicBezTo>
                  <a:lnTo>
                    <a:pt x="30780" y="356108"/>
                  </a:lnTo>
                  <a:cubicBezTo>
                    <a:pt x="13781" y="356108"/>
                    <a:pt x="0" y="342328"/>
                    <a:pt x="0" y="325329"/>
                  </a:cubicBezTo>
                  <a:lnTo>
                    <a:pt x="0" y="30780"/>
                  </a:lnTo>
                  <a:cubicBezTo>
                    <a:pt x="0" y="13781"/>
                    <a:pt x="13781" y="0"/>
                    <a:pt x="30780" y="0"/>
                  </a:cubicBezTo>
                  <a:close/>
                </a:path>
              </a:pathLst>
            </a:custGeom>
            <a:ln w="76200" cap="sq">
              <a:solidFill>
                <a:srgbClr val="287D7D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221076" cy="403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493489" y="6283469"/>
            <a:ext cx="3620011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true" sz="2400">
                <a:solidFill>
                  <a:srgbClr val="3B383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Prompt - based writing test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392162" y="7255594"/>
            <a:ext cx="3620011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true" sz="2400">
                <a:solidFill>
                  <a:srgbClr val="3B383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60-minute writing test: compose a three paragraph position paper.</a:t>
            </a:r>
          </a:p>
        </p:txBody>
      </p:sp>
      <p:sp>
        <p:nvSpPr>
          <p:cNvPr name="Freeform 21" id="21"/>
          <p:cNvSpPr/>
          <p:nvPr/>
        </p:nvSpPr>
        <p:spPr>
          <a:xfrm flipH="true" flipV="false" rot="0">
            <a:off x="8515690" y="6304989"/>
            <a:ext cx="1496482" cy="791265"/>
          </a:xfrm>
          <a:custGeom>
            <a:avLst/>
            <a:gdLst/>
            <a:ahLst/>
            <a:cxnLst/>
            <a:rect r="r" b="b" t="t" l="l"/>
            <a:pathLst>
              <a:path h="791265" w="1496482">
                <a:moveTo>
                  <a:pt x="1496482" y="0"/>
                </a:moveTo>
                <a:lnTo>
                  <a:pt x="0" y="0"/>
                </a:lnTo>
                <a:lnTo>
                  <a:pt x="0" y="791265"/>
                </a:lnTo>
                <a:lnTo>
                  <a:pt x="1496482" y="791265"/>
                </a:lnTo>
                <a:lnTo>
                  <a:pt x="149648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264385" y="1475738"/>
            <a:ext cx="5745841" cy="0"/>
          </a:xfrm>
          <a:prstGeom prst="line">
            <a:avLst/>
          </a:prstGeom>
          <a:ln cap="flat" w="66675">
            <a:solidFill>
              <a:srgbClr val="EA60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6199367" y="515626"/>
            <a:ext cx="5889266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b="true" sz="5000">
                <a:solidFill>
                  <a:srgbClr val="3B3838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MAIN RESULTS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7350550"/>
            <a:ext cx="4485377" cy="41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0"/>
              </a:lnSpc>
            </a:pPr>
            <a:r>
              <a:rPr lang="en-US" b="true" sz="2200">
                <a:solidFill>
                  <a:srgbClr val="3B3838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Control Group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00544" y="1909240"/>
            <a:ext cx="15895394" cy="1288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519"/>
              </a:lnSpc>
              <a:buFont typeface="Arial"/>
              <a:buChar char="•"/>
            </a:pPr>
            <a:r>
              <a:rPr lang="en-US" sz="2199">
                <a:solidFill>
                  <a:srgbClr val="3B3838"/>
                </a:solidFill>
                <a:latin typeface="Open Sans 2"/>
                <a:ea typeface="Open Sans 2"/>
                <a:cs typeface="Open Sans 2"/>
                <a:sym typeface="Open Sans 2"/>
              </a:rPr>
              <a:t>Papers evaluated by three raters (professors).</a:t>
            </a:r>
          </a:p>
          <a:p>
            <a:pPr algn="l" marL="474979" indent="-237490" lvl="1">
              <a:lnSpc>
                <a:spcPts val="3519"/>
              </a:lnSpc>
              <a:buFont typeface="Arial"/>
              <a:buChar char="•"/>
            </a:pPr>
            <a:r>
              <a:rPr lang="en-US" sz="2199">
                <a:solidFill>
                  <a:srgbClr val="3B3838"/>
                </a:solidFill>
                <a:latin typeface="Open Sans 2"/>
                <a:ea typeface="Open Sans 2"/>
                <a:cs typeface="Open Sans 2"/>
                <a:sym typeface="Open Sans 2"/>
              </a:rPr>
              <a:t>Four statistical tools: Fleiss Kappa, Frequency and Percentage, standard deviation and t-test.</a:t>
            </a:r>
          </a:p>
          <a:p>
            <a:pPr algn="l" marL="474980" indent="-237490" lvl="1">
              <a:lnSpc>
                <a:spcPts val="3520"/>
              </a:lnSpc>
              <a:buFont typeface="Arial"/>
              <a:buChar char="•"/>
            </a:pPr>
            <a:r>
              <a:rPr lang="en-US" sz="2200">
                <a:solidFill>
                  <a:srgbClr val="3B3838"/>
                </a:solidFill>
                <a:latin typeface="Open Sans 2"/>
                <a:ea typeface="Open Sans 2"/>
                <a:cs typeface="Open Sans 2"/>
                <a:sym typeface="Open Sans 2"/>
              </a:rPr>
              <a:t>The respondents' writing quality improved in content, organization, grammar, mechanics, and language.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245352" y="4247245"/>
            <a:ext cx="4058819" cy="1792510"/>
            <a:chOff x="0" y="0"/>
            <a:chExt cx="5411759" cy="2390014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5411759" cy="2390014"/>
              <a:chOff x="0" y="0"/>
              <a:chExt cx="4534902" cy="200276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534902" cy="2002765"/>
              </a:xfrm>
              <a:custGeom>
                <a:avLst/>
                <a:gdLst/>
                <a:ahLst/>
                <a:cxnLst/>
                <a:rect r="r" b="b" t="t" l="l"/>
                <a:pathLst>
                  <a:path h="2002765" w="4534902">
                    <a:moveTo>
                      <a:pt x="4410442" y="2002764"/>
                    </a:moveTo>
                    <a:lnTo>
                      <a:pt x="124460" y="2002764"/>
                    </a:lnTo>
                    <a:cubicBezTo>
                      <a:pt x="55880" y="2002764"/>
                      <a:pt x="0" y="1946884"/>
                      <a:pt x="0" y="1878304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4410442" y="0"/>
                    </a:lnTo>
                    <a:cubicBezTo>
                      <a:pt x="4479022" y="0"/>
                      <a:pt x="4534902" y="55880"/>
                      <a:pt x="4534902" y="124460"/>
                    </a:cubicBezTo>
                    <a:lnTo>
                      <a:pt x="4534902" y="1878305"/>
                    </a:lnTo>
                    <a:cubicBezTo>
                      <a:pt x="4534902" y="1946884"/>
                      <a:pt x="4479022" y="2002765"/>
                      <a:pt x="4410442" y="2002765"/>
                    </a:cubicBezTo>
                    <a:close/>
                  </a:path>
                </a:pathLst>
              </a:custGeom>
              <a:solidFill>
                <a:srgbClr val="287D7D"/>
              </a:solidFill>
            </p:spPr>
          </p:sp>
        </p:grpSp>
        <p:sp>
          <p:nvSpPr>
            <p:cNvPr name="TextBox 9" id="9"/>
            <p:cNvSpPr txBox="true"/>
            <p:nvPr/>
          </p:nvSpPr>
          <p:spPr>
            <a:xfrm rot="0">
              <a:off x="0" y="418826"/>
              <a:ext cx="5411759" cy="15809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b="true" sz="2799">
                  <a:solidFill>
                    <a:srgbClr val="FFFFFF"/>
                  </a:solidFill>
                  <a:latin typeface="Open Sans 1 Ultra-Bold"/>
                  <a:ea typeface="Open Sans 1 Ultra-Bold"/>
                  <a:cs typeface="Open Sans 1 Ultra-Bold"/>
                  <a:sym typeface="Open Sans 1 Ultra-Bold"/>
                </a:rPr>
                <a:t>ACADEMIC WRITING QUALITY DURING PRETEST 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574921" y="4216543"/>
            <a:ext cx="4058819" cy="1792510"/>
            <a:chOff x="0" y="0"/>
            <a:chExt cx="5411759" cy="2390014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5411759" cy="2390014"/>
              <a:chOff x="0" y="0"/>
              <a:chExt cx="4534902" cy="2002764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534902" cy="2002765"/>
              </a:xfrm>
              <a:custGeom>
                <a:avLst/>
                <a:gdLst/>
                <a:ahLst/>
                <a:cxnLst/>
                <a:rect r="r" b="b" t="t" l="l"/>
                <a:pathLst>
                  <a:path h="2002765" w="4534902">
                    <a:moveTo>
                      <a:pt x="4410442" y="2002764"/>
                    </a:moveTo>
                    <a:lnTo>
                      <a:pt x="124460" y="2002764"/>
                    </a:lnTo>
                    <a:cubicBezTo>
                      <a:pt x="55880" y="2002764"/>
                      <a:pt x="0" y="1946884"/>
                      <a:pt x="0" y="1878304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4410442" y="0"/>
                    </a:lnTo>
                    <a:cubicBezTo>
                      <a:pt x="4479022" y="0"/>
                      <a:pt x="4534902" y="55880"/>
                      <a:pt x="4534902" y="124460"/>
                    </a:cubicBezTo>
                    <a:lnTo>
                      <a:pt x="4534902" y="1878305"/>
                    </a:lnTo>
                    <a:cubicBezTo>
                      <a:pt x="4534902" y="1946884"/>
                      <a:pt x="4479022" y="2002765"/>
                      <a:pt x="4410442" y="2002765"/>
                    </a:cubicBezTo>
                    <a:close/>
                  </a:path>
                </a:pathLst>
              </a:custGeom>
              <a:solidFill>
                <a:srgbClr val="4A6491"/>
              </a:solid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418826"/>
              <a:ext cx="5411759" cy="15809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b="true" sz="2799">
                  <a:solidFill>
                    <a:srgbClr val="FFFFFF"/>
                  </a:solidFill>
                  <a:latin typeface="Open Sans 1 Ultra-Bold"/>
                  <a:ea typeface="Open Sans 1 Ultra-Bold"/>
                  <a:cs typeface="Open Sans 1 Ultra-Bold"/>
                  <a:sym typeface="Open Sans 1 Ultra-Bold"/>
                </a:rPr>
                <a:t>ACADEMIC WRITING QUALITY DURING POSTTEST 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flipH="true">
            <a:off x="3650963" y="6284294"/>
            <a:ext cx="985133" cy="91897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5" id="15"/>
          <p:cNvSpPr/>
          <p:nvPr/>
        </p:nvSpPr>
        <p:spPr>
          <a:xfrm>
            <a:off x="5817277" y="6215583"/>
            <a:ext cx="894216" cy="98884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6" id="16"/>
          <p:cNvSpPr txBox="true"/>
          <p:nvPr/>
        </p:nvSpPr>
        <p:spPr>
          <a:xfrm rot="0">
            <a:off x="4955169" y="7350550"/>
            <a:ext cx="4485377" cy="41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0"/>
              </a:lnSpc>
            </a:pPr>
            <a:r>
              <a:rPr lang="en-US" b="true" sz="2200">
                <a:solidFill>
                  <a:srgbClr val="3B3838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Experimental Group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752259" y="7821922"/>
            <a:ext cx="2807475" cy="850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9"/>
              </a:lnSpc>
            </a:pPr>
            <a:r>
              <a:rPr lang="en-US" sz="2199">
                <a:solidFill>
                  <a:srgbClr val="3B3838"/>
                </a:solidFill>
                <a:latin typeface="Open Sans 2"/>
                <a:ea typeface="Open Sans 2"/>
                <a:cs typeface="Open Sans 2"/>
                <a:sym typeface="Open Sans 2"/>
              </a:rPr>
              <a:t>Predominantly </a:t>
            </a:r>
            <a:r>
              <a:rPr lang="en-US" sz="2199" b="true">
                <a:solidFill>
                  <a:srgbClr val="EA6045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“Poor” </a:t>
            </a:r>
            <a:r>
              <a:rPr lang="en-US" sz="2199">
                <a:solidFill>
                  <a:srgbClr val="3B3838"/>
                </a:solidFill>
                <a:latin typeface="Open Sans 2"/>
                <a:ea typeface="Open Sans 2"/>
                <a:cs typeface="Open Sans 2"/>
                <a:sym typeface="Open Sans 2"/>
              </a:rPr>
              <a:t>and</a:t>
            </a:r>
            <a:r>
              <a:rPr lang="en-US" sz="2199" b="true">
                <a:solidFill>
                  <a:srgbClr val="EA6045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“Fair”.</a:t>
            </a:r>
            <a:r>
              <a:rPr lang="en-US" sz="2199">
                <a:solidFill>
                  <a:srgbClr val="3B3838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</p:txBody>
      </p:sp>
      <p:sp>
        <p:nvSpPr>
          <p:cNvPr name="AutoShape 18" id="18"/>
          <p:cNvSpPr/>
          <p:nvPr/>
        </p:nvSpPr>
        <p:spPr>
          <a:xfrm flipH="true">
            <a:off x="12023220" y="6219856"/>
            <a:ext cx="985133" cy="91897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9" id="19"/>
          <p:cNvSpPr/>
          <p:nvPr/>
        </p:nvSpPr>
        <p:spPr>
          <a:xfrm>
            <a:off x="14188002" y="6202805"/>
            <a:ext cx="894216" cy="98884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0" id="20"/>
          <p:cNvSpPr txBox="true"/>
          <p:nvPr/>
        </p:nvSpPr>
        <p:spPr>
          <a:xfrm rot="0">
            <a:off x="9440546" y="7173308"/>
            <a:ext cx="4485377" cy="41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0"/>
              </a:lnSpc>
            </a:pPr>
            <a:r>
              <a:rPr lang="en-US" b="true" sz="2200">
                <a:solidFill>
                  <a:srgbClr val="3B3838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Control Group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201691" y="7187355"/>
            <a:ext cx="4485377" cy="41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0"/>
              </a:lnSpc>
            </a:pPr>
            <a:r>
              <a:rPr lang="en-US" b="true" sz="2200">
                <a:solidFill>
                  <a:srgbClr val="3B3838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Experimental Group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06825" y="7676940"/>
            <a:ext cx="2706343" cy="850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9"/>
              </a:lnSpc>
            </a:pPr>
            <a:r>
              <a:rPr lang="en-US" sz="2199">
                <a:solidFill>
                  <a:srgbClr val="3B3838"/>
                </a:solidFill>
                <a:latin typeface="Open Sans 2"/>
                <a:ea typeface="Open Sans 2"/>
                <a:cs typeface="Open Sans 2"/>
                <a:sym typeface="Open Sans 2"/>
              </a:rPr>
              <a:t>Mostly </a:t>
            </a:r>
            <a:r>
              <a:rPr lang="en-US" sz="2199" b="true">
                <a:solidFill>
                  <a:srgbClr val="EA6045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“Fair”</a:t>
            </a:r>
            <a:r>
              <a:rPr lang="en-US" sz="2199">
                <a:solidFill>
                  <a:srgbClr val="3B3838"/>
                </a:solidFill>
                <a:latin typeface="Open Sans 2"/>
                <a:ea typeface="Open Sans 2"/>
                <a:cs typeface="Open Sans 2"/>
                <a:sym typeface="Open Sans 2"/>
              </a:rPr>
              <a:t> and 37% </a:t>
            </a:r>
            <a:r>
              <a:rPr lang="en-US" sz="2199" b="true">
                <a:solidFill>
                  <a:srgbClr val="EA6045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“Satisfactory”</a:t>
            </a:r>
            <a:r>
              <a:rPr lang="en-US" sz="2199">
                <a:solidFill>
                  <a:srgbClr val="3B3838"/>
                </a:solidFill>
                <a:latin typeface="Open Sans 2"/>
                <a:ea typeface="Open Sans 2"/>
                <a:cs typeface="Open Sans 2"/>
                <a:sym typeface="Open Sans 2"/>
              </a:rPr>
              <a:t>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604330" y="7676940"/>
            <a:ext cx="4291608" cy="850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9"/>
              </a:lnSpc>
            </a:pPr>
            <a:r>
              <a:rPr lang="en-US" sz="2199">
                <a:solidFill>
                  <a:srgbClr val="3B3838"/>
                </a:solidFill>
                <a:latin typeface="Open Sans 2"/>
                <a:ea typeface="Open Sans 2"/>
                <a:cs typeface="Open Sans 2"/>
                <a:sym typeface="Open Sans 2"/>
              </a:rPr>
              <a:t>Improved </a:t>
            </a:r>
            <a:r>
              <a:rPr lang="en-US" sz="2199" b="true">
                <a:solidFill>
                  <a:srgbClr val="EA6045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“Satisfactoring”</a:t>
            </a:r>
            <a:r>
              <a:rPr lang="en-US" sz="2199">
                <a:solidFill>
                  <a:srgbClr val="3B3838"/>
                </a:solidFill>
                <a:latin typeface="Open Sans 2"/>
                <a:ea typeface="Open Sans 2"/>
                <a:cs typeface="Open Sans 2"/>
                <a:sym typeface="Open Sans 2"/>
              </a:rPr>
              <a:t> with 11.11% reaching </a:t>
            </a:r>
            <a:r>
              <a:rPr lang="en-US" sz="2199" b="true">
                <a:solidFill>
                  <a:srgbClr val="EA6045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“Outstanding”</a:t>
            </a:r>
            <a:r>
              <a:rPr lang="en-US" sz="2199">
                <a:solidFill>
                  <a:srgbClr val="3B3838"/>
                </a:solidFill>
                <a:latin typeface="Open Sans 2"/>
                <a:ea typeface="Open Sans 2"/>
                <a:cs typeface="Open Sans 2"/>
                <a:sym typeface="Open Sans 2"/>
              </a:rPr>
              <a:t>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41615" y="7837239"/>
            <a:ext cx="2807475" cy="850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9"/>
              </a:lnSpc>
            </a:pPr>
            <a:r>
              <a:rPr lang="en-US" sz="2199">
                <a:solidFill>
                  <a:srgbClr val="3B3838"/>
                </a:solidFill>
                <a:latin typeface="Open Sans 2"/>
                <a:ea typeface="Open Sans 2"/>
                <a:cs typeface="Open Sans 2"/>
                <a:sym typeface="Open Sans 2"/>
              </a:rPr>
              <a:t>Predominantly </a:t>
            </a:r>
            <a:r>
              <a:rPr lang="en-US" sz="2199" b="true">
                <a:solidFill>
                  <a:srgbClr val="EA6045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“Poor” </a:t>
            </a:r>
            <a:r>
              <a:rPr lang="en-US" sz="2199">
                <a:solidFill>
                  <a:srgbClr val="3B3838"/>
                </a:solidFill>
                <a:latin typeface="Open Sans 2"/>
                <a:ea typeface="Open Sans 2"/>
                <a:cs typeface="Open Sans 2"/>
                <a:sym typeface="Open Sans 2"/>
              </a:rPr>
              <a:t>and</a:t>
            </a:r>
            <a:r>
              <a:rPr lang="en-US" sz="2199" b="true">
                <a:solidFill>
                  <a:srgbClr val="EA6045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“Fair”.</a:t>
            </a:r>
            <a:r>
              <a:rPr lang="en-US" sz="2199">
                <a:solidFill>
                  <a:srgbClr val="3B3838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43263" y="3122597"/>
            <a:ext cx="6480794" cy="0"/>
          </a:xfrm>
          <a:prstGeom prst="line">
            <a:avLst/>
          </a:prstGeom>
          <a:ln cap="flat" w="66675">
            <a:solidFill>
              <a:srgbClr val="EA60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0125" y="2052449"/>
            <a:ext cx="6934787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b="true" sz="5000">
                <a:solidFill>
                  <a:srgbClr val="3B3838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3263" y="5775831"/>
            <a:ext cx="4761779" cy="1726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19"/>
              </a:lnSpc>
            </a:pPr>
            <a:r>
              <a:rPr lang="en-US" sz="2199">
                <a:solidFill>
                  <a:srgbClr val="3B3838"/>
                </a:solidFill>
                <a:latin typeface="Open Sans 2"/>
                <a:ea typeface="Open Sans 2"/>
                <a:cs typeface="Open Sans 2"/>
                <a:sym typeface="Open Sans 2"/>
              </a:rPr>
              <a:t>ChatGPT can be a prom</a:t>
            </a:r>
            <a:r>
              <a:rPr lang="en-US" sz="2199">
                <a:solidFill>
                  <a:srgbClr val="3B3838"/>
                </a:solidFill>
                <a:latin typeface="Open Sans 2"/>
                <a:ea typeface="Open Sans 2"/>
                <a:cs typeface="Open Sans 2"/>
                <a:sym typeface="Open Sans 2"/>
              </a:rPr>
              <a:t>ising tool that </a:t>
            </a:r>
            <a:r>
              <a:rPr lang="en-US" b="true" sz="2199">
                <a:solidFill>
                  <a:srgbClr val="3B3838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teachers</a:t>
            </a:r>
            <a:r>
              <a:rPr lang="en-US" sz="2199">
                <a:solidFill>
                  <a:srgbClr val="3B3838"/>
                </a:solidFill>
                <a:latin typeface="Open Sans 2"/>
                <a:ea typeface="Open Sans 2"/>
                <a:cs typeface="Open Sans 2"/>
                <a:sym typeface="Open Sans 2"/>
              </a:rPr>
              <a:t> can use to teach writing skills by modeling sample texts extracted from the AI tool.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70392" y="5775831"/>
            <a:ext cx="4761779" cy="1726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19"/>
              </a:lnSpc>
            </a:pPr>
            <a:r>
              <a:rPr lang="en-US" sz="2199">
                <a:solidFill>
                  <a:srgbClr val="3B3838"/>
                </a:solidFill>
                <a:latin typeface="Open Sans 2"/>
                <a:ea typeface="Open Sans 2"/>
                <a:cs typeface="Open Sans 2"/>
                <a:sym typeface="Open Sans 2"/>
              </a:rPr>
              <a:t>ChatGPT can assist </a:t>
            </a:r>
            <a:r>
              <a:rPr lang="en-US" sz="2199" b="true">
                <a:solidFill>
                  <a:srgbClr val="3B3838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students</a:t>
            </a:r>
            <a:r>
              <a:rPr lang="en-US" sz="2199">
                <a:solidFill>
                  <a:srgbClr val="3B3838"/>
                </a:solidFill>
                <a:latin typeface="Open Sans 2"/>
                <a:ea typeface="Open Sans 2"/>
                <a:cs typeface="Open Sans 2"/>
                <a:sym typeface="Open Sans 2"/>
              </a:rPr>
              <a:t> in generating ideas and in identifying errors i</a:t>
            </a:r>
            <a:r>
              <a:rPr lang="en-US" sz="2199">
                <a:solidFill>
                  <a:srgbClr val="3B3838"/>
                </a:solidFill>
                <a:latin typeface="Open Sans 2"/>
                <a:ea typeface="Open Sans 2"/>
                <a:cs typeface="Open Sans 2"/>
                <a:sym typeface="Open Sans 2"/>
              </a:rPr>
              <a:t>n their writing. </a:t>
            </a:r>
          </a:p>
          <a:p>
            <a:pPr algn="just">
              <a:lnSpc>
                <a:spcPts val="352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2494196" y="5775831"/>
            <a:ext cx="4761779" cy="2164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19"/>
              </a:lnSpc>
            </a:pPr>
            <a:r>
              <a:rPr lang="en-US" b="true" sz="2199">
                <a:solidFill>
                  <a:srgbClr val="3B3838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Limitations </a:t>
            </a:r>
            <a:r>
              <a:rPr lang="en-US" sz="2199">
                <a:solidFill>
                  <a:srgbClr val="3B3838"/>
                </a:solidFill>
                <a:latin typeface="Open Sans 2"/>
                <a:ea typeface="Open Sans 2"/>
                <a:cs typeface="Open Sans 2"/>
                <a:sym typeface="Open Sans 2"/>
              </a:rPr>
              <a:t>such as the examination of a specific Senior High School and did not include the assessment of other factors that may impact writing quality.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43263" y="4756583"/>
            <a:ext cx="681753" cy="620935"/>
            <a:chOff x="0" y="0"/>
            <a:chExt cx="909004" cy="827914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909004" cy="827914"/>
              <a:chOff x="0" y="0"/>
              <a:chExt cx="761719" cy="69376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761720" cy="693769"/>
              </a:xfrm>
              <a:custGeom>
                <a:avLst/>
                <a:gdLst/>
                <a:ahLst/>
                <a:cxnLst/>
                <a:rect r="r" b="b" t="t" l="l"/>
                <a:pathLst>
                  <a:path h="693769" w="761720">
                    <a:moveTo>
                      <a:pt x="637259" y="693768"/>
                    </a:moveTo>
                    <a:lnTo>
                      <a:pt x="124460" y="693768"/>
                    </a:lnTo>
                    <a:cubicBezTo>
                      <a:pt x="55880" y="693768"/>
                      <a:pt x="0" y="637889"/>
                      <a:pt x="0" y="569308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637260" y="0"/>
                    </a:lnTo>
                    <a:cubicBezTo>
                      <a:pt x="705840" y="0"/>
                      <a:pt x="761720" y="55880"/>
                      <a:pt x="761720" y="124460"/>
                    </a:cubicBezTo>
                    <a:lnTo>
                      <a:pt x="761720" y="569309"/>
                    </a:lnTo>
                    <a:cubicBezTo>
                      <a:pt x="761720" y="637889"/>
                      <a:pt x="705840" y="693769"/>
                      <a:pt x="637260" y="693769"/>
                    </a:cubicBezTo>
                    <a:close/>
                  </a:path>
                </a:pathLst>
              </a:custGeom>
              <a:solidFill>
                <a:srgbClr val="F0C600"/>
              </a:solidFill>
            </p:spPr>
          </p:sp>
        </p:grpSp>
        <p:sp>
          <p:nvSpPr>
            <p:cNvPr name="TextBox 10" id="10"/>
            <p:cNvSpPr txBox="true"/>
            <p:nvPr/>
          </p:nvSpPr>
          <p:spPr>
            <a:xfrm rot="0">
              <a:off x="0" y="158476"/>
              <a:ext cx="909004" cy="5395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b="true" sz="2799">
                  <a:solidFill>
                    <a:srgbClr val="FFFFFF"/>
                  </a:solidFill>
                  <a:latin typeface="Open Sans 1 Ultra-Bold"/>
                  <a:ea typeface="Open Sans 1 Ultra-Bold"/>
                  <a:cs typeface="Open Sans 1 Ultra-Bold"/>
                  <a:sym typeface="Open Sans 1 Ultra-Bold"/>
                </a:rPr>
                <a:t>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763110" y="4756583"/>
            <a:ext cx="681753" cy="620935"/>
            <a:chOff x="0" y="0"/>
            <a:chExt cx="909004" cy="827914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909004" cy="827914"/>
              <a:chOff x="0" y="0"/>
              <a:chExt cx="761719" cy="69376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761720" cy="693769"/>
              </a:xfrm>
              <a:custGeom>
                <a:avLst/>
                <a:gdLst/>
                <a:ahLst/>
                <a:cxnLst/>
                <a:rect r="r" b="b" t="t" l="l"/>
                <a:pathLst>
                  <a:path h="693769" w="761720">
                    <a:moveTo>
                      <a:pt x="637259" y="693768"/>
                    </a:moveTo>
                    <a:lnTo>
                      <a:pt x="124460" y="693768"/>
                    </a:lnTo>
                    <a:cubicBezTo>
                      <a:pt x="55880" y="693768"/>
                      <a:pt x="0" y="637889"/>
                      <a:pt x="0" y="569308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637260" y="0"/>
                    </a:lnTo>
                    <a:cubicBezTo>
                      <a:pt x="705840" y="0"/>
                      <a:pt x="761720" y="55880"/>
                      <a:pt x="761720" y="124460"/>
                    </a:cubicBezTo>
                    <a:lnTo>
                      <a:pt x="761720" y="569309"/>
                    </a:lnTo>
                    <a:cubicBezTo>
                      <a:pt x="761720" y="637889"/>
                      <a:pt x="705840" y="693769"/>
                      <a:pt x="637260" y="693769"/>
                    </a:cubicBezTo>
                    <a:close/>
                  </a:path>
                </a:pathLst>
              </a:custGeom>
              <a:solidFill>
                <a:srgbClr val="287D7D"/>
              </a:solidFill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0" y="158476"/>
              <a:ext cx="909004" cy="5395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b="true" sz="2799">
                  <a:solidFill>
                    <a:srgbClr val="FFFFFF"/>
                  </a:solidFill>
                  <a:latin typeface="Open Sans 1 Ultra-Bold"/>
                  <a:ea typeface="Open Sans 1 Ultra-Bold"/>
                  <a:cs typeface="Open Sans 1 Ultra-Bold"/>
                  <a:sym typeface="Open Sans 1 Ultra-Bold"/>
                </a:rPr>
                <a:t>2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497521" y="4756583"/>
            <a:ext cx="681753" cy="620935"/>
            <a:chOff x="0" y="0"/>
            <a:chExt cx="909004" cy="827914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909004" cy="827914"/>
              <a:chOff x="0" y="0"/>
              <a:chExt cx="761719" cy="69376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761720" cy="693769"/>
              </a:xfrm>
              <a:custGeom>
                <a:avLst/>
                <a:gdLst/>
                <a:ahLst/>
                <a:cxnLst/>
                <a:rect r="r" b="b" t="t" l="l"/>
                <a:pathLst>
                  <a:path h="693769" w="761720">
                    <a:moveTo>
                      <a:pt x="637259" y="693768"/>
                    </a:moveTo>
                    <a:lnTo>
                      <a:pt x="124460" y="693768"/>
                    </a:lnTo>
                    <a:cubicBezTo>
                      <a:pt x="55880" y="693768"/>
                      <a:pt x="0" y="637889"/>
                      <a:pt x="0" y="569308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637260" y="0"/>
                    </a:lnTo>
                    <a:cubicBezTo>
                      <a:pt x="705840" y="0"/>
                      <a:pt x="761720" y="55880"/>
                      <a:pt x="761720" y="124460"/>
                    </a:cubicBezTo>
                    <a:lnTo>
                      <a:pt x="761720" y="569309"/>
                    </a:lnTo>
                    <a:cubicBezTo>
                      <a:pt x="761720" y="637889"/>
                      <a:pt x="705840" y="693769"/>
                      <a:pt x="637260" y="693769"/>
                    </a:cubicBezTo>
                    <a:close/>
                  </a:path>
                </a:pathLst>
              </a:custGeom>
              <a:solidFill>
                <a:srgbClr val="EA6045"/>
              </a:solidFill>
            </p:spPr>
          </p:sp>
        </p:grpSp>
        <p:sp>
          <p:nvSpPr>
            <p:cNvPr name="TextBox 18" id="18"/>
            <p:cNvSpPr txBox="true"/>
            <p:nvPr/>
          </p:nvSpPr>
          <p:spPr>
            <a:xfrm rot="0">
              <a:off x="0" y="158476"/>
              <a:ext cx="909004" cy="5395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b="true" sz="2799">
                  <a:solidFill>
                    <a:srgbClr val="FFFFFF"/>
                  </a:solidFill>
                  <a:latin typeface="Open Sans 1 Ultra-Bold"/>
                  <a:ea typeface="Open Sans 1 Ultra-Bold"/>
                  <a:cs typeface="Open Sans 1 Ultra-Bold"/>
                  <a:sym typeface="Open Sans 1 Ultra-Bold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768"/>
            <a:ext cx="18288000" cy="10294537"/>
            <a:chOff x="0" y="0"/>
            <a:chExt cx="24384000" cy="1372604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069955" cy="6863025"/>
              <a:chOff x="0" y="0"/>
              <a:chExt cx="1913890" cy="322732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913890" cy="3227326"/>
              </a:xfrm>
              <a:custGeom>
                <a:avLst/>
                <a:gdLst/>
                <a:ahLst/>
                <a:cxnLst/>
                <a:rect r="r" b="b" t="t" l="l"/>
                <a:pathLst>
                  <a:path h="3227326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3227326"/>
                    </a:lnTo>
                    <a:lnTo>
                      <a:pt x="0" y="3227326"/>
                    </a:lnTo>
                    <a:close/>
                  </a:path>
                </a:pathLst>
              </a:custGeom>
              <a:solidFill>
                <a:srgbClr val="F0C600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0" y="6863025"/>
              <a:ext cx="4069955" cy="6863025"/>
              <a:chOff x="0" y="0"/>
              <a:chExt cx="1913890" cy="322732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913890" cy="3227326"/>
              </a:xfrm>
              <a:custGeom>
                <a:avLst/>
                <a:gdLst/>
                <a:ahLst/>
                <a:cxnLst/>
                <a:rect r="r" b="b" t="t" l="l"/>
                <a:pathLst>
                  <a:path h="3227326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3227326"/>
                    </a:lnTo>
                    <a:lnTo>
                      <a:pt x="0" y="3227326"/>
                    </a:lnTo>
                    <a:close/>
                  </a:path>
                </a:pathLst>
              </a:custGeom>
              <a:solidFill>
                <a:srgbClr val="F0C600">
                  <a:alpha val="60000"/>
                </a:srgbClr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4069955" y="0"/>
              <a:ext cx="4069955" cy="6863025"/>
              <a:chOff x="0" y="0"/>
              <a:chExt cx="1913890" cy="3227327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913890" cy="3227326"/>
              </a:xfrm>
              <a:custGeom>
                <a:avLst/>
                <a:gdLst/>
                <a:ahLst/>
                <a:cxnLst/>
                <a:rect r="r" b="b" t="t" l="l"/>
                <a:pathLst>
                  <a:path h="3227326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3227326"/>
                    </a:lnTo>
                    <a:lnTo>
                      <a:pt x="0" y="3227326"/>
                    </a:lnTo>
                    <a:close/>
                  </a:path>
                </a:pathLst>
              </a:custGeom>
              <a:solidFill>
                <a:srgbClr val="EA6045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4069955" y="6863025"/>
              <a:ext cx="4069955" cy="6863025"/>
              <a:chOff x="0" y="0"/>
              <a:chExt cx="1913890" cy="3227327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913890" cy="3227326"/>
              </a:xfrm>
              <a:custGeom>
                <a:avLst/>
                <a:gdLst/>
                <a:ahLst/>
                <a:cxnLst/>
                <a:rect r="r" b="b" t="t" l="l"/>
                <a:pathLst>
                  <a:path h="3227326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3227326"/>
                    </a:lnTo>
                    <a:lnTo>
                      <a:pt x="0" y="3227326"/>
                    </a:lnTo>
                    <a:close/>
                  </a:path>
                </a:pathLst>
              </a:custGeom>
              <a:solidFill>
                <a:srgbClr val="EA6045">
                  <a:alpha val="60000"/>
                </a:srgbClr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8139910" y="0"/>
              <a:ext cx="4061022" cy="6863025"/>
              <a:chOff x="0" y="0"/>
              <a:chExt cx="1913890" cy="323442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913890" cy="3234425"/>
              </a:xfrm>
              <a:custGeom>
                <a:avLst/>
                <a:gdLst/>
                <a:ahLst/>
                <a:cxnLst/>
                <a:rect r="r" b="b" t="t" l="l"/>
                <a:pathLst>
                  <a:path h="3234425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3234425"/>
                    </a:lnTo>
                    <a:lnTo>
                      <a:pt x="0" y="3234425"/>
                    </a:lnTo>
                    <a:close/>
                  </a:path>
                </a:pathLst>
              </a:custGeom>
              <a:solidFill>
                <a:srgbClr val="85A5CC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8139910" y="6863025"/>
              <a:ext cx="4061022" cy="6863025"/>
              <a:chOff x="0" y="0"/>
              <a:chExt cx="1913890" cy="323442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13890" cy="3234425"/>
              </a:xfrm>
              <a:custGeom>
                <a:avLst/>
                <a:gdLst/>
                <a:ahLst/>
                <a:cxnLst/>
                <a:rect r="r" b="b" t="t" l="l"/>
                <a:pathLst>
                  <a:path h="3234425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3234425"/>
                    </a:lnTo>
                    <a:lnTo>
                      <a:pt x="0" y="3234425"/>
                    </a:lnTo>
                    <a:close/>
                  </a:path>
                </a:pathLst>
              </a:custGeom>
              <a:solidFill>
                <a:srgbClr val="85A5CC">
                  <a:alpha val="60000"/>
                </a:srgbClr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12200933" y="0"/>
              <a:ext cx="4061022" cy="6863025"/>
              <a:chOff x="0" y="0"/>
              <a:chExt cx="1913890" cy="323442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913890" cy="3234425"/>
              </a:xfrm>
              <a:custGeom>
                <a:avLst/>
                <a:gdLst/>
                <a:ahLst/>
                <a:cxnLst/>
                <a:rect r="r" b="b" t="t" l="l"/>
                <a:pathLst>
                  <a:path h="3234425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3234425"/>
                    </a:lnTo>
                    <a:lnTo>
                      <a:pt x="0" y="3234425"/>
                    </a:lnTo>
                    <a:close/>
                  </a:path>
                </a:pathLst>
              </a:custGeom>
              <a:solidFill>
                <a:srgbClr val="4A6491"/>
              </a:solidFill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12200933" y="6863025"/>
              <a:ext cx="4061022" cy="6863025"/>
              <a:chOff x="0" y="0"/>
              <a:chExt cx="1913890" cy="323442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913890" cy="3234425"/>
              </a:xfrm>
              <a:custGeom>
                <a:avLst/>
                <a:gdLst/>
                <a:ahLst/>
                <a:cxnLst/>
                <a:rect r="r" b="b" t="t" l="l"/>
                <a:pathLst>
                  <a:path h="3234425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3234425"/>
                    </a:lnTo>
                    <a:lnTo>
                      <a:pt x="0" y="3234425"/>
                    </a:lnTo>
                    <a:close/>
                  </a:path>
                </a:pathLst>
              </a:custGeom>
              <a:solidFill>
                <a:srgbClr val="4A6491">
                  <a:alpha val="60000"/>
                </a:srgbClr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16261955" y="0"/>
              <a:ext cx="4061022" cy="6863025"/>
              <a:chOff x="0" y="0"/>
              <a:chExt cx="1913890" cy="3234425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913890" cy="3234425"/>
              </a:xfrm>
              <a:custGeom>
                <a:avLst/>
                <a:gdLst/>
                <a:ahLst/>
                <a:cxnLst/>
                <a:rect r="r" b="b" t="t" l="l"/>
                <a:pathLst>
                  <a:path h="3234425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3234425"/>
                    </a:lnTo>
                    <a:lnTo>
                      <a:pt x="0" y="3234425"/>
                    </a:lnTo>
                    <a:close/>
                  </a:path>
                </a:pathLst>
              </a:custGeom>
              <a:solidFill>
                <a:srgbClr val="91C46C"/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16261955" y="6863025"/>
              <a:ext cx="4061022" cy="6863025"/>
              <a:chOff x="0" y="0"/>
              <a:chExt cx="1913890" cy="3234425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913890" cy="3234425"/>
              </a:xfrm>
              <a:custGeom>
                <a:avLst/>
                <a:gdLst/>
                <a:ahLst/>
                <a:cxnLst/>
                <a:rect r="r" b="b" t="t" l="l"/>
                <a:pathLst>
                  <a:path h="3234425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3234425"/>
                    </a:lnTo>
                    <a:lnTo>
                      <a:pt x="0" y="3234425"/>
                    </a:lnTo>
                    <a:close/>
                  </a:path>
                </a:pathLst>
              </a:custGeom>
              <a:solidFill>
                <a:srgbClr val="91C46C">
                  <a:alpha val="60000"/>
                </a:srgbClr>
              </a:solid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20322978" y="0"/>
              <a:ext cx="4061022" cy="6863025"/>
              <a:chOff x="0" y="0"/>
              <a:chExt cx="1913890" cy="323442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913890" cy="3234425"/>
              </a:xfrm>
              <a:custGeom>
                <a:avLst/>
                <a:gdLst/>
                <a:ahLst/>
                <a:cxnLst/>
                <a:rect r="r" b="b" t="t" l="l"/>
                <a:pathLst>
                  <a:path h="3234425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3234425"/>
                    </a:lnTo>
                    <a:lnTo>
                      <a:pt x="0" y="3234425"/>
                    </a:lnTo>
                    <a:close/>
                  </a:path>
                </a:pathLst>
              </a:custGeom>
              <a:solidFill>
                <a:srgbClr val="287D7D"/>
              </a:solidFill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20322978" y="6863025"/>
              <a:ext cx="4061022" cy="6863025"/>
              <a:chOff x="0" y="0"/>
              <a:chExt cx="1913890" cy="3234425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913890" cy="3234425"/>
              </a:xfrm>
              <a:custGeom>
                <a:avLst/>
                <a:gdLst/>
                <a:ahLst/>
                <a:cxnLst/>
                <a:rect r="r" b="b" t="t" l="l"/>
                <a:pathLst>
                  <a:path h="3234425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3234425"/>
                    </a:lnTo>
                    <a:lnTo>
                      <a:pt x="0" y="3234425"/>
                    </a:lnTo>
                    <a:close/>
                  </a:path>
                </a:pathLst>
              </a:custGeom>
              <a:solidFill>
                <a:srgbClr val="287D7D">
                  <a:alpha val="60000"/>
                </a:srgbClr>
              </a:solidFill>
            </p:spPr>
          </p:sp>
        </p:grpSp>
      </p:grpSp>
      <p:grpSp>
        <p:nvGrpSpPr>
          <p:cNvPr name="Group 27" id="27"/>
          <p:cNvGrpSpPr/>
          <p:nvPr/>
        </p:nvGrpSpPr>
        <p:grpSpPr>
          <a:xfrm rot="0">
            <a:off x="1028700" y="1028700"/>
            <a:ext cx="16230600" cy="8229600"/>
            <a:chOff x="0" y="0"/>
            <a:chExt cx="3774616" cy="191389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774617" cy="1913890"/>
            </a:xfrm>
            <a:custGeom>
              <a:avLst/>
              <a:gdLst/>
              <a:ahLst/>
              <a:cxnLst/>
              <a:rect r="r" b="b" t="t" l="l"/>
              <a:pathLst>
                <a:path h="1913890" w="3774617">
                  <a:moveTo>
                    <a:pt x="0" y="0"/>
                  </a:moveTo>
                  <a:lnTo>
                    <a:pt x="3774617" y="0"/>
                  </a:lnTo>
                  <a:lnTo>
                    <a:pt x="3774617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29" id="29"/>
          <p:cNvSpPr/>
          <p:nvPr/>
        </p:nvSpPr>
        <p:spPr>
          <a:xfrm>
            <a:off x="5922123" y="5856471"/>
            <a:ext cx="6443755" cy="0"/>
          </a:xfrm>
          <a:prstGeom prst="line">
            <a:avLst/>
          </a:prstGeom>
          <a:ln cap="flat" w="66675">
            <a:solidFill>
              <a:srgbClr val="EA60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5922123" y="4800600"/>
            <a:ext cx="6443755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b="true" sz="5000">
                <a:solidFill>
                  <a:srgbClr val="3B3838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DAHMvrMsUtg</dc:identifier>
  <dcterms:modified xsi:type="dcterms:W3CDTF">2011-08-01T06:04:30Z</dcterms:modified>
  <cp:revision>1</cp:revision>
  <dc:title>Colourful Simple Bold Education Animated Presentation</dc:title>
</cp:coreProperties>
</file>