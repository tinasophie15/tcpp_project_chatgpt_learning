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de-AT" sz="1800" spc="-1" strike="noStrike">
                <a:solidFill>
                  <a:schemeClr val="dk1"/>
                </a:solidFill>
                <a:latin typeface="Arial"/>
              </a:rPr>
              <a:t>Folie mittels Klicken verschieben</a:t>
            </a:r>
            <a:endParaRPr b="0" lang="de-AT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de-AT" sz="2000" spc="-1" strike="noStrike">
                <a:solidFill>
                  <a:srgbClr val="000000"/>
                </a:solidFill>
                <a:latin typeface="Arial"/>
              </a:rPr>
              <a:t>Format der Notizen mittels Klicken bearbeiten</a:t>
            </a:r>
            <a:endParaRPr b="0" lang="de-A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&lt;Kopfzeile&gt;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&lt;Datum/Uhrzeit&gt;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&lt;Fußzeile&gt;</a:t>
            </a:r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de-A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465AAB1-2761-4F70-ADEE-9A37B7D1BE86}" type="slidenum">
              <a:rPr b="0" lang="de-AT" sz="1400" spc="-1" strike="noStrike">
                <a:solidFill>
                  <a:srgbClr val="000000"/>
                </a:solidFill>
                <a:latin typeface="Times New Roman"/>
              </a:rPr>
              <a:t>&lt;Foliennummer&gt;</a:t>
            </a:fld>
            <a:endParaRPr b="0" lang="de-AT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FF6FB8-0213-4D4D-B22E-792596A3D44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&lt;Foliennummer&gt;</a:t>
            </a:fld>
            <a:endParaRPr b="0" lang="de-A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AT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AT" sz="3200" spc="-1" strike="noStrike">
              <a:solidFill>
                <a:schemeClr val="dk1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AT" sz="1800" spc="-1" strike="noStrike">
                <a:solidFill>
                  <a:schemeClr val="dk1"/>
                </a:solidFill>
                <a:latin typeface="Arial"/>
              </a:rPr>
              <a:t>Format des Titeltextes durch Klicken bearbeiten</a:t>
            </a:r>
            <a:endParaRPr b="0" lang="de-AT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3200" spc="-1" strike="noStrike">
                <a:solidFill>
                  <a:schemeClr val="dk1"/>
                </a:solidFill>
                <a:latin typeface="Arial"/>
              </a:rPr>
              <a:t>Format des Gliederungstextes durch Klicken bearbeiten</a:t>
            </a:r>
            <a:endParaRPr b="0" lang="de-AT" sz="32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AT" sz="2400" spc="-1" strike="noStrike">
                <a:solidFill>
                  <a:schemeClr val="dk1"/>
                </a:solidFill>
                <a:latin typeface="Arial"/>
              </a:rPr>
              <a:t>Zweite Gliederungsebene</a:t>
            </a:r>
            <a:endParaRPr b="0" lang="de-AT" sz="24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2000" spc="-1" strike="noStrike">
                <a:solidFill>
                  <a:schemeClr val="dk1"/>
                </a:solidFill>
                <a:latin typeface="Arial"/>
              </a:rPr>
              <a:t>Dritte Gliederungsebene</a:t>
            </a:r>
            <a:endParaRPr b="0" lang="de-AT" sz="20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AT" sz="2000" spc="-1" strike="noStrike">
                <a:solidFill>
                  <a:schemeClr val="dk1"/>
                </a:solidFill>
                <a:latin typeface="Arial"/>
              </a:rPr>
              <a:t>Vierte Gliederungsebene</a:t>
            </a:r>
            <a:endParaRPr b="0" lang="de-AT" sz="20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2000" spc="-1" strike="noStrike">
                <a:solidFill>
                  <a:schemeClr val="dk1"/>
                </a:solidFill>
                <a:latin typeface="Arial"/>
              </a:rPr>
              <a:t>Fünfte Gliederungsebene</a:t>
            </a:r>
            <a:endParaRPr b="0" lang="de-AT" sz="20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2000" spc="-1" strike="noStrike">
                <a:solidFill>
                  <a:schemeClr val="dk1"/>
                </a:solidFill>
                <a:latin typeface="Arial"/>
              </a:rPr>
              <a:t>Sechste Gliederungsebene</a:t>
            </a:r>
            <a:endParaRPr b="0" lang="de-AT" sz="20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2000" spc="-1" strike="noStrike">
                <a:solidFill>
                  <a:schemeClr val="dk1"/>
                </a:solidFill>
                <a:latin typeface="Arial"/>
              </a:rPr>
              <a:t>Siebte Gliederungsebene</a:t>
            </a:r>
            <a:endParaRPr b="0" lang="de-AT" sz="20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1400" cy="6764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84120" y="128160"/>
            <a:ext cx="7954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Cognitive ease at a cost</a:t>
            </a:r>
            <a:endParaRPr b="0" lang="de-A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9875520" y="191880"/>
            <a:ext cx="1919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11111"/>
                </a:solidFill>
                <a:latin typeface="Arial"/>
                <a:ea typeface="Arial"/>
              </a:rPr>
              <a:t>4-min pitch map</a:t>
            </a:r>
            <a:endParaRPr b="0" lang="de-A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384120" y="804600"/>
            <a:ext cx="11246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Stadler, Bannert &amp; Sailer (2024): LLMs reduce mental effort but compromise depth in student scientific inquiry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438840" y="1417320"/>
            <a:ext cx="544032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38840" y="1417320"/>
            <a:ext cx="5440320" cy="1094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03360" y="1581840"/>
            <a:ext cx="5111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1. What was done?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13160" y="1947600"/>
            <a:ext cx="50014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Randomized experimental lab study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Final sample: 91 students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Google Search vs. ChatGPT-3.5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6309360" y="1417320"/>
            <a:ext cx="544032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6309360" y="1417320"/>
            <a:ext cx="5440320" cy="1094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6473880" y="1581840"/>
            <a:ext cx="5111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2. Concrete technology use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6583680" y="1947600"/>
            <a:ext cx="50014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20-min inquiry: nanoparticles in sunscreen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Students researched, then wrote a recommendation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Outcomes: cognitive load + reasoning quality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12"/>
          <p:cNvSpPr/>
          <p:nvPr/>
        </p:nvSpPr>
        <p:spPr>
          <a:xfrm>
            <a:off x="438840" y="3035880"/>
            <a:ext cx="544032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13"/>
          <p:cNvSpPr/>
          <p:nvPr/>
        </p:nvSpPr>
        <p:spPr>
          <a:xfrm>
            <a:off x="438840" y="3035880"/>
            <a:ext cx="5440320" cy="1094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14"/>
          <p:cNvSpPr/>
          <p:nvPr/>
        </p:nvSpPr>
        <p:spPr>
          <a:xfrm>
            <a:off x="603360" y="3200400"/>
            <a:ext cx="5111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3. Main results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713160" y="3566160"/>
            <a:ext cx="50014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ChatGPT group reported lower cognitive load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But produced weaker written justifications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Core trade-off: easier task, shallower reasoning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16"/>
          <p:cNvSpPr/>
          <p:nvPr/>
        </p:nvSpPr>
        <p:spPr>
          <a:xfrm>
            <a:off x="6309360" y="3035880"/>
            <a:ext cx="544032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17"/>
          <p:cNvSpPr/>
          <p:nvPr/>
        </p:nvSpPr>
        <p:spPr>
          <a:xfrm>
            <a:off x="6309360" y="3035880"/>
            <a:ext cx="5440320" cy="1094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18"/>
          <p:cNvSpPr/>
          <p:nvPr/>
        </p:nvSpPr>
        <p:spPr>
          <a:xfrm>
            <a:off x="6473880" y="3200400"/>
            <a:ext cx="5111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4. Why relevant?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6583680" y="3566160"/>
            <a:ext cx="50014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Fits meta-analysis finding: AI can reduce mental effort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Adds caution: lower effort is not always better learning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Human Factors: support vs. overreliance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20"/>
          <p:cNvSpPr/>
          <p:nvPr/>
        </p:nvSpPr>
        <p:spPr>
          <a:xfrm>
            <a:off x="438840" y="4654440"/>
            <a:ext cx="544032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21"/>
          <p:cNvSpPr/>
          <p:nvPr/>
        </p:nvSpPr>
        <p:spPr>
          <a:xfrm>
            <a:off x="438840" y="4654440"/>
            <a:ext cx="5440320" cy="1094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603360" y="4818960"/>
            <a:ext cx="5111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5. Bias / limitations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713160" y="5184720"/>
            <a:ext cx="50014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One university, moderate sample size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Short lab task, not a long classroom intervention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ChatGPT-3.5 only; newer models may differ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24"/>
          <p:cNvSpPr/>
          <p:nvPr/>
        </p:nvSpPr>
        <p:spPr>
          <a:xfrm>
            <a:off x="6309360" y="4654440"/>
            <a:ext cx="544032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c6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25"/>
          <p:cNvSpPr/>
          <p:nvPr/>
        </p:nvSpPr>
        <p:spPr>
          <a:xfrm>
            <a:off x="6309360" y="4654440"/>
            <a:ext cx="5440320" cy="109440"/>
          </a:xfrm>
          <a:prstGeom prst="rect">
            <a:avLst/>
          </a:prstGeom>
          <a:solidFill>
            <a:srgbClr val="ffd500"/>
          </a:solidFill>
          <a:ln w="12700">
            <a:solidFill>
              <a:srgbClr val="ffd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26"/>
          <p:cNvSpPr/>
          <p:nvPr/>
        </p:nvSpPr>
        <p:spPr>
          <a:xfrm>
            <a:off x="6473880" y="4818960"/>
            <a:ext cx="5111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11111"/>
                </a:solidFill>
                <a:latin typeface="Arial"/>
                <a:ea typeface="Arial"/>
              </a:rPr>
              <a:t>6. Why special to me?</a:t>
            </a:r>
            <a:endParaRPr b="0" lang="de-AT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27"/>
          <p:cNvSpPr/>
          <p:nvPr/>
        </p:nvSpPr>
        <p:spPr>
          <a:xfrm>
            <a:off x="6583680" y="5184720"/>
            <a:ext cx="500148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As a student and mum, cognitive relief is attractive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But what thinking should AI not take over?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475569"/>
                </a:solidFill>
                <a:latin typeface="Arial"/>
                <a:ea typeface="Arial"/>
              </a:rPr>
              <a:t>Takeaway: preserve productive struggle</a:t>
            </a:r>
            <a:endParaRPr b="0" lang="de-AT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28"/>
          <p:cNvSpPr/>
          <p:nvPr/>
        </p:nvSpPr>
        <p:spPr>
          <a:xfrm>
            <a:off x="438840" y="6336720"/>
            <a:ext cx="11310840" cy="273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A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29"/>
          <p:cNvSpPr/>
          <p:nvPr/>
        </p:nvSpPr>
        <p:spPr>
          <a:xfrm>
            <a:off x="567000" y="6364080"/>
            <a:ext cx="10881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ffffff"/>
                </a:solidFill>
                <a:latin typeface="Arial"/>
                <a:ea typeface="Arial"/>
              </a:rPr>
              <a:t>One-sentence pitch: AI should support thinking, not silently replace it.</a:t>
            </a:r>
            <a:endParaRPr b="0" lang="de-AT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AT" sz="1800" spc="-1" strike="noStrike">
                <a:solidFill>
                  <a:schemeClr val="dk1"/>
                </a:solidFill>
                <a:latin typeface="Arial"/>
              </a:rPr>
              <a:t>4-minute pitch structure</a:t>
            </a:r>
            <a:endParaRPr b="0" lang="de-AT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804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3200" spc="-1" strike="noStrike">
                <a:solidFill>
                  <a:schemeClr val="dk1"/>
                </a:solidFill>
                <a:latin typeface="Arial"/>
              </a:rPr>
              <a:t>Problem: ChatGPT can make learning tasks easier, but easier does not always mean deeper.</a:t>
            </a:r>
            <a:endParaRPr b="0" lang="de-AT" sz="3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3200" spc="-1" strike="noStrike">
                <a:solidFill>
                  <a:schemeClr val="dk1"/>
                </a:solidFill>
                <a:latin typeface="Arial"/>
              </a:rPr>
              <a:t>Technology use: Students used either Google search or ChatGPT-3.5 for a 20-minute scientific inquiry task.</a:t>
            </a:r>
            <a:endParaRPr b="0" lang="de-AT" sz="3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3200" spc="-1" strike="noStrike">
                <a:solidFill>
                  <a:schemeClr val="dk1"/>
                </a:solidFill>
                <a:latin typeface="Arial"/>
              </a:rPr>
              <a:t>Main result: ChatGPT reduced cognitive load, but the reasoning quality of the final justification was weaker.</a:t>
            </a:r>
            <a:endParaRPr b="0" lang="de-AT" sz="3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3200" spc="-1" strike="noStrike">
                <a:solidFill>
                  <a:schemeClr val="dk1"/>
                </a:solidFill>
                <a:latin typeface="Arial"/>
              </a:rPr>
              <a:t>Critical point: The study has limits, but it makes the AI-in-education debate concrete and measurable.</a:t>
            </a:r>
            <a:endParaRPr b="0" lang="de-AT" sz="3200" spc="-1" strike="noStrike">
              <a:solidFill>
                <a:schemeClr val="dk1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AT" sz="3200" spc="-1" strike="noStrike">
                <a:solidFill>
                  <a:schemeClr val="dk1"/>
                </a:solidFill>
                <a:latin typeface="Arial"/>
              </a:rPr>
              <a:t>Takeaway: AI should support thinking, not silently replace it.</a:t>
            </a:r>
            <a:endParaRPr b="0" lang="de-AT" sz="32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LibreOffice/24.2.3.2$Windows_X86_64 LibreOffice_project/433d9c2ded56988e8a90e6b2e771ee4e6a5ab2ba</Application>
  <AppVersion>15.0000</AppVersion>
  <Words>0</Words>
  <Paragraphs>0</Paragraphs>
  <Company>University of Graz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2026-06-01T22:18:49Z</dcterms:created>
  <dc:creator>Marina Hofer</dc:creator>
  <dc:description/>
  <dc:language>de-AT</dc:language>
  <cp:lastModifiedBy/>
  <dcterms:modified xsi:type="dcterms:W3CDTF">2026-06-02T00:23:45Z</dcterms:modified>
  <cp:revision>2</cp:revision>
  <dc:subject>Lightning talk pitch map</dc:subject>
  <dc:title>Cognitive ease at a cost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(16:9)</vt:lpwstr>
  </property>
  <property fmtid="{D5CDD505-2E9C-101B-9397-08002B2CF9AE}" pid="4" name="Slides">
    <vt:i4>1</vt:i4>
  </property>
</Properties>
</file>