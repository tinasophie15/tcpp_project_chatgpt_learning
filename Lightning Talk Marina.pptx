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media/image1.png" ContentType="image/png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de-AT" sz="4400" spc="-1" strike="noStrike">
                <a:solidFill>
                  <a:srgbClr val="000000"/>
                </a:solidFill>
                <a:latin typeface="Arial"/>
              </a:rPr>
              <a:t>Folie mittels Klicken verschieben</a:t>
            </a:r>
            <a:endParaRPr b="0" lang="de-A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de-AT" sz="2000" spc="-1" strike="noStrike">
                <a:solidFill>
                  <a:srgbClr val="000000"/>
                </a:solidFill>
                <a:latin typeface="Arial"/>
              </a:rPr>
              <a:t>Format der Notizen mittels Klicken bearbeiten</a:t>
            </a:r>
            <a:endParaRPr b="0" lang="de-AT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de-AT" sz="1400" spc="-1" strike="noStrike">
                <a:solidFill>
                  <a:srgbClr val="000000"/>
                </a:solidFill>
                <a:latin typeface="Times New Roman"/>
              </a:rPr>
              <a:t>&lt;Kopfzeile&gt;</a:t>
            </a:r>
            <a:endParaRPr b="0" lang="de-A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de-A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de-AT" sz="1400" spc="-1" strike="noStrike">
                <a:solidFill>
                  <a:srgbClr val="000000"/>
                </a:solidFill>
                <a:latin typeface="Times New Roman"/>
              </a:rPr>
              <a:t>&lt;Datum/Uhrzeit&gt;</a:t>
            </a:r>
            <a:endParaRPr b="0" lang="de-A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de-A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de-AT" sz="1400" spc="-1" strike="noStrike">
                <a:solidFill>
                  <a:srgbClr val="000000"/>
                </a:solidFill>
                <a:latin typeface="Times New Roman"/>
              </a:rPr>
              <a:t>&lt;Fußzeile&gt;</a:t>
            </a:r>
            <a:endParaRPr b="0" lang="de-A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de-A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D9A33B5D-5C01-485E-8BAD-0EBB3E41D5A2}" type="slidenum">
              <a:rPr b="0" lang="de-AT" sz="1400" spc="-1" strike="noStrike">
                <a:solidFill>
                  <a:srgbClr val="000000"/>
                </a:solidFill>
                <a:latin typeface="Times New Roman"/>
              </a:rPr>
              <a:t>&lt;Foliennummer&gt;</a:t>
            </a:fld>
            <a:endParaRPr b="0" lang="de-AT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AT" sz="1800" spc="-1" strike="noStrike">
                <a:solidFill>
                  <a:srgbClr val="000000"/>
                </a:solidFill>
                <a:latin typeface="Arial"/>
              </a:rPr>
              <a:t>Problem: ChatGPT can make learning tasks easier, but easier does not always mean deeper.</a:t>
            </a:r>
            <a:endParaRPr b="0" lang="de-AT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AT" sz="1800" spc="-1" strike="noStrike">
                <a:solidFill>
                  <a:srgbClr val="000000"/>
                </a:solidFill>
                <a:latin typeface="Arial"/>
              </a:rPr>
              <a:t>Technology use: Students used either Google search or ChatGPT-3.5 for a 20-minute scientific inquiry task.</a:t>
            </a:r>
            <a:endParaRPr b="0" lang="de-AT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AT" sz="1800" spc="-1" strike="noStrike">
                <a:solidFill>
                  <a:srgbClr val="000000"/>
                </a:solidFill>
                <a:latin typeface="Arial"/>
              </a:rPr>
              <a:t>Main result: ChatGPT reduced cognitive load, but the reasoning quality of the final justification was weaker.</a:t>
            </a:r>
            <a:endParaRPr b="0" lang="de-AT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AT" sz="2000" spc="-1" strike="noStrike">
                <a:solidFill>
                  <a:srgbClr val="000000"/>
                </a:solidFill>
                <a:latin typeface="Arial"/>
              </a:rPr>
              <a:t>Critical point: The study has limits, but it makes </a:t>
            </a:r>
            <a:r>
              <a:rPr b="0" lang="de-AT" sz="1800" spc="-1" strike="noStrike">
                <a:solidFill>
                  <a:srgbClr val="000000"/>
                </a:solidFill>
                <a:latin typeface="Arial"/>
              </a:rPr>
              <a:t>the AI-in-education debate concrete and measurable.</a:t>
            </a:r>
            <a:endParaRPr b="0" lang="de-AT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AT" sz="1800" spc="-1" strike="noStrike">
                <a:solidFill>
                  <a:srgbClr val="000000"/>
                </a:solidFill>
                <a:latin typeface="Arial"/>
              </a:rPr>
              <a:t>Two independent raters coded the written justifications</a:t>
            </a:r>
            <a:endParaRPr b="0" lang="de-AT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de-AT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57C9EC1-784B-4FAE-A90C-3152BFEAEC7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3</a:t>
            </a:fld>
            <a:endParaRPr b="0" lang="de-AT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6920" cy="4008600"/>
          </a:xfrm>
          <a:prstGeom prst="rect">
            <a:avLst/>
          </a:prstGeom>
          <a:ln w="0">
            <a:noFill/>
          </a:ln>
        </p:spPr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AT" sz="2000" spc="-1" strike="noStrike">
                <a:solidFill>
                  <a:srgbClr val="000000"/>
                </a:solidFill>
                <a:latin typeface="Arial"/>
              </a:rPr>
              <a:t>Reducing useless load can help</a:t>
            </a:r>
            <a:endParaRPr b="0" lang="de-AT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AT" sz="2000" spc="-1" strike="noStrike">
                <a:solidFill>
                  <a:srgbClr val="000000"/>
                </a:solidFill>
                <a:latin typeface="Arial"/>
              </a:rPr>
              <a:t>Reducing productive effort can hurt</a:t>
            </a:r>
            <a:endParaRPr b="0" lang="de-AT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AT" sz="2000" spc="-1" strike="noStrike">
                <a:solidFill>
                  <a:srgbClr val="000000"/>
                </a:solidFill>
                <a:latin typeface="Arial"/>
              </a:rPr>
              <a:t>AI should support, not replace thinking</a:t>
            </a:r>
            <a:endParaRPr b="0" lang="de-AT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AT" sz="2000" spc="-1" strike="noStrike">
                <a:solidFill>
                  <a:srgbClr val="000000"/>
                </a:solidFill>
                <a:latin typeface="Arial"/>
              </a:rPr>
              <a:t>ICL: Load caused by content difficulty → “This task was very complex.”</a:t>
            </a:r>
            <a:endParaRPr b="0" lang="de-AT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AT" sz="2000" spc="-1" strike="noStrike">
                <a:solidFill>
                  <a:srgbClr val="000000"/>
                </a:solidFill>
                <a:latin typeface="Arial"/>
              </a:rPr>
              <a:t>ECL: Unnecessary extra load → How information is found or presented</a:t>
            </a:r>
            <a:endParaRPr b="0" lang="de-AT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AT" sz="2000" spc="-1" strike="noStrike">
                <a:solidFill>
                  <a:srgbClr val="000000"/>
                </a:solidFill>
                <a:latin typeface="Arial"/>
              </a:rPr>
              <a:t>GCL: Effort for understanding and connecting → Related to deeper processing </a:t>
            </a:r>
            <a:endParaRPr b="0" lang="de-AT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AT" sz="2000" spc="-1" strike="noStrike">
                <a:solidFill>
                  <a:srgbClr val="000000"/>
                </a:solidFill>
                <a:latin typeface="Arial"/>
              </a:rPr>
              <a:t>All loads are lower in the ChatGPT group</a:t>
            </a:r>
            <a:endParaRPr b="0" lang="de-AT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de-A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CFB9625-5161-4C61-B53B-5612B7AE3DA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&lt;Foliennummer&gt;</a:t>
            </a:fld>
            <a:endParaRPr b="0" lang="de-AT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de-A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de-AT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de-AT" sz="4400" spc="-1" strike="noStrike">
                <a:solidFill>
                  <a:srgbClr val="000000"/>
                </a:solidFill>
                <a:latin typeface="Arial"/>
              </a:rPr>
              <a:t>Format des Titeltextes durch Klicken bearbeiten</a:t>
            </a:r>
            <a:endParaRPr b="0" lang="de-A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AT" sz="3200" spc="-1" strike="noStrike">
                <a:solidFill>
                  <a:srgbClr val="000000"/>
                </a:solidFill>
                <a:latin typeface="Arial"/>
              </a:rPr>
              <a:t>Format des Gliederungstextes durch Klicken bearbeiten</a:t>
            </a:r>
            <a:endParaRPr b="0" lang="de-AT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AT" sz="2800" spc="-1" strike="noStrike">
                <a:solidFill>
                  <a:srgbClr val="000000"/>
                </a:solidFill>
                <a:latin typeface="Arial"/>
              </a:rPr>
              <a:t>Zweite Gliederungsebene</a:t>
            </a:r>
            <a:endParaRPr b="0" lang="de-AT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AT" sz="2400" spc="-1" strike="noStrike">
                <a:solidFill>
                  <a:srgbClr val="000000"/>
                </a:solidFill>
                <a:latin typeface="Arial"/>
              </a:rPr>
              <a:t>Dritte Gliederungsebene</a:t>
            </a:r>
            <a:endParaRPr b="0" lang="de-AT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AT" sz="2000" spc="-1" strike="noStrike">
                <a:solidFill>
                  <a:srgbClr val="000000"/>
                </a:solidFill>
                <a:latin typeface="Arial"/>
              </a:rPr>
              <a:t>Vierte Gliederungsebene</a:t>
            </a:r>
            <a:endParaRPr b="0" lang="de-AT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AT" sz="2000" spc="-1" strike="noStrike">
                <a:solidFill>
                  <a:srgbClr val="000000"/>
                </a:solidFill>
                <a:latin typeface="Arial"/>
              </a:rPr>
              <a:t>Fünfte Gliederungsebene</a:t>
            </a:r>
            <a:endParaRPr b="0" lang="de-AT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AT" sz="2000" spc="-1" strike="noStrike">
                <a:solidFill>
                  <a:srgbClr val="000000"/>
                </a:solidFill>
                <a:latin typeface="Arial"/>
              </a:rPr>
              <a:t>Sechste Gliederungsebene</a:t>
            </a:r>
            <a:endParaRPr b="0" lang="de-AT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AT" sz="2000" spc="-1" strike="noStrike">
                <a:solidFill>
                  <a:srgbClr val="000000"/>
                </a:solidFill>
                <a:latin typeface="Arial"/>
              </a:rPr>
              <a:t>Siebte Gliederungsebene</a:t>
            </a:r>
            <a:endParaRPr b="0" lang="de-AT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de-AT" sz="1800" spc="-1" strike="noStrike">
                <a:solidFill>
                  <a:srgbClr val="000000"/>
                </a:solidFill>
                <a:latin typeface="Arial"/>
              </a:rPr>
              <a:t>Format des Titeltextes durch Klicken bearbeiten</a:t>
            </a:r>
            <a:endParaRPr b="0" lang="de-A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AT" sz="1800" spc="-1" strike="noStrike">
                <a:solidFill>
                  <a:srgbClr val="000000"/>
                </a:solidFill>
                <a:latin typeface="Arial"/>
              </a:rPr>
              <a:t>Format des Gliederungstextes durch Klicken bearbeiten</a:t>
            </a:r>
            <a:endParaRPr b="0" lang="de-AT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AT" sz="1800" spc="-1" strike="noStrike">
                <a:solidFill>
                  <a:srgbClr val="000000"/>
                </a:solidFill>
                <a:latin typeface="Arial"/>
              </a:rPr>
              <a:t>Zweite Gliederungsebene</a:t>
            </a:r>
            <a:endParaRPr b="0" lang="de-AT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AT" sz="1800" spc="-1" strike="noStrike">
                <a:solidFill>
                  <a:srgbClr val="000000"/>
                </a:solidFill>
                <a:latin typeface="Arial"/>
              </a:rPr>
              <a:t>Dritte Gliederungsebene</a:t>
            </a:r>
            <a:endParaRPr b="0" lang="de-AT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AT" sz="1800" spc="-1" strike="noStrike">
                <a:solidFill>
                  <a:srgbClr val="000000"/>
                </a:solidFill>
                <a:latin typeface="Arial"/>
              </a:rPr>
              <a:t>Vierte Gliederungsebene</a:t>
            </a:r>
            <a:endParaRPr b="0" lang="de-AT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AT" sz="1800" spc="-1" strike="noStrike">
                <a:solidFill>
                  <a:srgbClr val="000000"/>
                </a:solidFill>
                <a:latin typeface="Arial"/>
              </a:rPr>
              <a:t>Fünfte Gliederungsebene</a:t>
            </a:r>
            <a:endParaRPr b="0" lang="de-AT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AT" sz="1800" spc="-1" strike="noStrike">
                <a:solidFill>
                  <a:srgbClr val="000000"/>
                </a:solidFill>
                <a:latin typeface="Arial"/>
              </a:rPr>
              <a:t>Sechste Gliederungsebene</a:t>
            </a:r>
            <a:endParaRPr b="0" lang="de-AT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AT" sz="1800" spc="-1" strike="noStrike">
                <a:solidFill>
                  <a:srgbClr val="000000"/>
                </a:solidFill>
                <a:latin typeface="Arial"/>
              </a:rPr>
              <a:t>Siebte Gliederungsebene</a:t>
            </a:r>
            <a:endParaRPr b="0" lang="de-AT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0"/>
          <p:cNvSpPr/>
          <p:nvPr/>
        </p:nvSpPr>
        <p:spPr>
          <a:xfrm>
            <a:off x="0" y="0"/>
            <a:ext cx="12190320" cy="675360"/>
          </a:xfrm>
          <a:prstGeom prst="rect">
            <a:avLst/>
          </a:prstGeom>
          <a:solidFill>
            <a:srgbClr val="ffd500"/>
          </a:solidFill>
          <a:ln w="12700">
            <a:solidFill>
              <a:srgbClr val="ffd5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A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Text 1"/>
          <p:cNvSpPr/>
          <p:nvPr/>
        </p:nvSpPr>
        <p:spPr>
          <a:xfrm>
            <a:off x="384120" y="128160"/>
            <a:ext cx="7953840" cy="40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11111"/>
                </a:solidFill>
                <a:latin typeface="Arial"/>
                <a:ea typeface="Arial"/>
              </a:rPr>
              <a:t>Cognitive ease at a cost</a:t>
            </a:r>
            <a:endParaRPr b="0" lang="de-AT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Text 2"/>
          <p:cNvSpPr/>
          <p:nvPr/>
        </p:nvSpPr>
        <p:spPr>
          <a:xfrm>
            <a:off x="9875520" y="191880"/>
            <a:ext cx="191880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endParaRPr b="0" lang="de-AT" sz="1200" spc="-1" strike="noStrike">
              <a:solidFill>
                <a:srgbClr val="000000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endParaRPr b="0" lang="de-A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Text 3"/>
          <p:cNvSpPr/>
          <p:nvPr/>
        </p:nvSpPr>
        <p:spPr>
          <a:xfrm>
            <a:off x="384120" y="804600"/>
            <a:ext cx="1124568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111111"/>
                </a:solidFill>
                <a:latin typeface="Arial"/>
                <a:ea typeface="Arial"/>
              </a:rPr>
              <a:t>Stadler, Bannert &amp; Sailer (2024): LLMs reduce mental effort but compromise depth in student scientific inquiry</a:t>
            </a:r>
            <a:endParaRPr b="0" lang="de-AT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Shape 4"/>
          <p:cNvSpPr/>
          <p:nvPr/>
        </p:nvSpPr>
        <p:spPr>
          <a:xfrm>
            <a:off x="438840" y="1417320"/>
            <a:ext cx="5439240" cy="132444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5240">
            <a:solidFill>
              <a:srgbClr val="c6c6c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A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Shape 5"/>
          <p:cNvSpPr/>
          <p:nvPr/>
        </p:nvSpPr>
        <p:spPr>
          <a:xfrm>
            <a:off x="438840" y="1417320"/>
            <a:ext cx="5439240" cy="108360"/>
          </a:xfrm>
          <a:prstGeom prst="rect">
            <a:avLst/>
          </a:prstGeom>
          <a:solidFill>
            <a:srgbClr val="ffd500"/>
          </a:solidFill>
          <a:ln w="12700">
            <a:solidFill>
              <a:srgbClr val="ffd5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A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Text 6"/>
          <p:cNvSpPr/>
          <p:nvPr/>
        </p:nvSpPr>
        <p:spPr>
          <a:xfrm>
            <a:off x="603360" y="1581840"/>
            <a:ext cx="511020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111111"/>
                </a:solidFill>
                <a:latin typeface="Arial"/>
                <a:ea typeface="Arial"/>
              </a:rPr>
              <a:t>1. What was done?</a:t>
            </a:r>
            <a:endParaRPr b="0" lang="de-AT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Text 7"/>
          <p:cNvSpPr/>
          <p:nvPr/>
        </p:nvSpPr>
        <p:spPr>
          <a:xfrm>
            <a:off x="713160" y="1947600"/>
            <a:ext cx="5000400" cy="72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pc="-1" strike="noStrike">
                <a:solidFill>
                  <a:srgbClr val="475569"/>
                </a:solidFill>
                <a:latin typeface="Arial"/>
                <a:ea typeface="Arial"/>
              </a:rPr>
              <a:t>Randomized experimental lab study</a:t>
            </a:r>
            <a:endParaRPr b="0" lang="de-AT" sz="102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20" spc="-1" strike="noStrike">
                <a:solidFill>
                  <a:srgbClr val="475569"/>
                </a:solidFill>
                <a:latin typeface="Arial"/>
                <a:ea typeface="Arial"/>
              </a:rPr>
              <a:t>Final sample: 91 students</a:t>
            </a:r>
            <a:endParaRPr b="0" lang="de-AT" sz="102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20" spc="-1" strike="noStrike">
                <a:solidFill>
                  <a:srgbClr val="475569"/>
                </a:solidFill>
                <a:latin typeface="Arial"/>
                <a:ea typeface="Arial"/>
              </a:rPr>
              <a:t>Google Search vs. ChatGPT-3.5</a:t>
            </a:r>
            <a:endParaRPr b="0" lang="de-AT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Shape 8"/>
          <p:cNvSpPr/>
          <p:nvPr/>
        </p:nvSpPr>
        <p:spPr>
          <a:xfrm>
            <a:off x="6309360" y="1417320"/>
            <a:ext cx="5439240" cy="132444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5240">
            <a:solidFill>
              <a:srgbClr val="c6c6c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A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Shape 9"/>
          <p:cNvSpPr/>
          <p:nvPr/>
        </p:nvSpPr>
        <p:spPr>
          <a:xfrm>
            <a:off x="6309360" y="1417320"/>
            <a:ext cx="5439240" cy="108360"/>
          </a:xfrm>
          <a:prstGeom prst="rect">
            <a:avLst/>
          </a:prstGeom>
          <a:solidFill>
            <a:srgbClr val="ffd500"/>
          </a:solidFill>
          <a:ln w="12700">
            <a:solidFill>
              <a:srgbClr val="ffd5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A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 10"/>
          <p:cNvSpPr/>
          <p:nvPr/>
        </p:nvSpPr>
        <p:spPr>
          <a:xfrm>
            <a:off x="6473880" y="1581840"/>
            <a:ext cx="511020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111111"/>
                </a:solidFill>
                <a:latin typeface="Arial"/>
                <a:ea typeface="Arial"/>
              </a:rPr>
              <a:t>2. Concrete technology use</a:t>
            </a:r>
            <a:endParaRPr b="0" lang="de-AT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Text 11"/>
          <p:cNvSpPr/>
          <p:nvPr/>
        </p:nvSpPr>
        <p:spPr>
          <a:xfrm>
            <a:off x="6583680" y="1980000"/>
            <a:ext cx="5000400" cy="68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pc="-1" strike="noStrike">
                <a:solidFill>
                  <a:srgbClr val="475569"/>
                </a:solidFill>
                <a:latin typeface="Arial"/>
                <a:ea typeface="Arial"/>
              </a:rPr>
              <a:t>20-min inquiry: nanoparticles in sunscreen</a:t>
            </a:r>
            <a:endParaRPr b="0" lang="de-AT" sz="102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20" spc="-1" strike="noStrike">
                <a:solidFill>
                  <a:srgbClr val="475569"/>
                </a:solidFill>
                <a:latin typeface="Arial"/>
                <a:ea typeface="Arial"/>
              </a:rPr>
              <a:t>Then wrote a recommendation (without any support) </a:t>
            </a:r>
            <a:endParaRPr b="0" lang="de-AT" sz="102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20" spc="-1" strike="noStrike">
                <a:solidFill>
                  <a:srgbClr val="475569"/>
                </a:solidFill>
                <a:latin typeface="Arial"/>
                <a:ea typeface="Arial"/>
              </a:rPr>
              <a:t>Outcomes: cognitive load + reasoning quality</a:t>
            </a:r>
            <a:endParaRPr b="0" lang="de-AT" sz="102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20" spc="-1" strike="noStrike">
                <a:solidFill>
                  <a:srgbClr val="475569"/>
                </a:solidFill>
                <a:latin typeface="Arial"/>
                <a:ea typeface="Arial"/>
              </a:rPr>
              <a:t>Prior knowledge test</a:t>
            </a:r>
            <a:endParaRPr b="0" lang="de-AT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Shape 12"/>
          <p:cNvSpPr/>
          <p:nvPr/>
        </p:nvSpPr>
        <p:spPr>
          <a:xfrm>
            <a:off x="438840" y="3035880"/>
            <a:ext cx="5439240" cy="132444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5240">
            <a:solidFill>
              <a:srgbClr val="c6c6c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A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Shape 13"/>
          <p:cNvSpPr/>
          <p:nvPr/>
        </p:nvSpPr>
        <p:spPr>
          <a:xfrm>
            <a:off x="438840" y="3035880"/>
            <a:ext cx="5439240" cy="108360"/>
          </a:xfrm>
          <a:prstGeom prst="rect">
            <a:avLst/>
          </a:prstGeom>
          <a:solidFill>
            <a:srgbClr val="ffd500"/>
          </a:solidFill>
          <a:ln w="12700">
            <a:solidFill>
              <a:srgbClr val="ffd5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A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Text 14"/>
          <p:cNvSpPr/>
          <p:nvPr/>
        </p:nvSpPr>
        <p:spPr>
          <a:xfrm>
            <a:off x="603360" y="3200400"/>
            <a:ext cx="511020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111111"/>
                </a:solidFill>
                <a:latin typeface="Arial"/>
                <a:ea typeface="Arial"/>
              </a:rPr>
              <a:t>3. Main results</a:t>
            </a:r>
            <a:endParaRPr b="0" lang="de-AT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Text 15"/>
          <p:cNvSpPr/>
          <p:nvPr/>
        </p:nvSpPr>
        <p:spPr>
          <a:xfrm>
            <a:off x="713160" y="3566160"/>
            <a:ext cx="5000400" cy="72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pc="-1" strike="noStrike">
                <a:solidFill>
                  <a:srgbClr val="475569"/>
                </a:solidFill>
                <a:latin typeface="Arial"/>
                <a:ea typeface="Arial"/>
              </a:rPr>
              <a:t>ChatGPT group reported lower cognitive load</a:t>
            </a:r>
            <a:endParaRPr b="0" lang="de-AT" sz="102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20" spc="-1" strike="noStrike">
                <a:solidFill>
                  <a:srgbClr val="475569"/>
                </a:solidFill>
                <a:latin typeface="Arial"/>
                <a:ea typeface="Arial"/>
              </a:rPr>
              <a:t>But produced weaker written justifications</a:t>
            </a:r>
            <a:endParaRPr b="0" lang="de-AT" sz="102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20" spc="-1" strike="noStrike">
                <a:solidFill>
                  <a:srgbClr val="475569"/>
                </a:solidFill>
                <a:latin typeface="Arial"/>
                <a:ea typeface="Arial"/>
              </a:rPr>
              <a:t>Core trade-off: easier task, shallower reasoning</a:t>
            </a:r>
            <a:endParaRPr b="0" lang="de-AT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Shape 16"/>
          <p:cNvSpPr/>
          <p:nvPr/>
        </p:nvSpPr>
        <p:spPr>
          <a:xfrm>
            <a:off x="6309360" y="3035880"/>
            <a:ext cx="5439240" cy="132444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5240">
            <a:solidFill>
              <a:srgbClr val="c6c6c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A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Shape 17"/>
          <p:cNvSpPr/>
          <p:nvPr/>
        </p:nvSpPr>
        <p:spPr>
          <a:xfrm>
            <a:off x="6309360" y="3035880"/>
            <a:ext cx="5439240" cy="108360"/>
          </a:xfrm>
          <a:prstGeom prst="rect">
            <a:avLst/>
          </a:prstGeom>
          <a:solidFill>
            <a:srgbClr val="ffd500"/>
          </a:solidFill>
          <a:ln w="12700">
            <a:solidFill>
              <a:srgbClr val="ffd5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A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Text 18"/>
          <p:cNvSpPr/>
          <p:nvPr/>
        </p:nvSpPr>
        <p:spPr>
          <a:xfrm>
            <a:off x="6473880" y="3200400"/>
            <a:ext cx="511020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111111"/>
                </a:solidFill>
                <a:latin typeface="Arial"/>
                <a:ea typeface="Arial"/>
              </a:rPr>
              <a:t>4. Why relevant?</a:t>
            </a:r>
            <a:endParaRPr b="0" lang="de-AT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Text 19"/>
          <p:cNvSpPr/>
          <p:nvPr/>
        </p:nvSpPr>
        <p:spPr>
          <a:xfrm>
            <a:off x="6583680" y="3566160"/>
            <a:ext cx="5000400" cy="72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pc="-1" strike="noStrike">
                <a:solidFill>
                  <a:srgbClr val="475569"/>
                </a:solidFill>
                <a:latin typeface="Arial"/>
                <a:ea typeface="Arial"/>
              </a:rPr>
              <a:t>Fits meta-analysis finding: AI can reduce mental effort</a:t>
            </a:r>
            <a:endParaRPr b="0" lang="de-AT" sz="102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20" spc="-1" strike="noStrike">
                <a:solidFill>
                  <a:srgbClr val="475569"/>
                </a:solidFill>
                <a:latin typeface="Arial"/>
                <a:ea typeface="Arial"/>
              </a:rPr>
              <a:t>Adds caution: lower effort is not always better learning</a:t>
            </a:r>
            <a:endParaRPr b="0" lang="de-AT" sz="102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20" spc="-1" strike="noStrike">
                <a:solidFill>
                  <a:srgbClr val="475569"/>
                </a:solidFill>
                <a:latin typeface="Arial"/>
                <a:ea typeface="Arial"/>
              </a:rPr>
              <a:t>Human Factors: support vs. overreliance</a:t>
            </a:r>
            <a:endParaRPr b="0" lang="de-AT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Shape 20"/>
          <p:cNvSpPr/>
          <p:nvPr/>
        </p:nvSpPr>
        <p:spPr>
          <a:xfrm>
            <a:off x="438840" y="4654440"/>
            <a:ext cx="5439240" cy="132444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5240">
            <a:solidFill>
              <a:srgbClr val="c6c6c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endParaRPr b="0" lang="en-US" sz="1020" spc="-1" strike="noStrike">
              <a:solidFill>
                <a:srgbClr val="475569"/>
              </a:solidFill>
              <a:latin typeface="Arial"/>
              <a:ea typeface="Arial"/>
            </a:endParaRPr>
          </a:p>
        </p:txBody>
      </p:sp>
      <p:sp>
        <p:nvSpPr>
          <p:cNvPr id="33" name="Shape 21"/>
          <p:cNvSpPr/>
          <p:nvPr/>
        </p:nvSpPr>
        <p:spPr>
          <a:xfrm>
            <a:off x="438840" y="4654440"/>
            <a:ext cx="5439240" cy="108360"/>
          </a:xfrm>
          <a:prstGeom prst="rect">
            <a:avLst/>
          </a:prstGeom>
          <a:solidFill>
            <a:srgbClr val="ffd500"/>
          </a:solidFill>
          <a:ln w="12700">
            <a:solidFill>
              <a:srgbClr val="ffd5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A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Text 22"/>
          <p:cNvSpPr/>
          <p:nvPr/>
        </p:nvSpPr>
        <p:spPr>
          <a:xfrm>
            <a:off x="603360" y="4818960"/>
            <a:ext cx="511020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111111"/>
                </a:solidFill>
                <a:latin typeface="Arial"/>
                <a:ea typeface="Arial"/>
              </a:rPr>
              <a:t>5. Bias / limitations</a:t>
            </a:r>
            <a:endParaRPr b="0" lang="de-AT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Text 23"/>
          <p:cNvSpPr/>
          <p:nvPr/>
        </p:nvSpPr>
        <p:spPr>
          <a:xfrm>
            <a:off x="713160" y="5184720"/>
            <a:ext cx="5000400" cy="72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pc="-1" strike="noStrike">
                <a:solidFill>
                  <a:srgbClr val="475569"/>
                </a:solidFill>
                <a:latin typeface="Arial"/>
                <a:ea typeface="Arial"/>
              </a:rPr>
              <a:t>One university, short lab task, not a long classroom intervention</a:t>
            </a:r>
            <a:endParaRPr b="0" lang="de-AT" sz="102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20" spc="-1" strike="noStrike">
                <a:solidFill>
                  <a:srgbClr val="475569"/>
                </a:solidFill>
                <a:latin typeface="Arial"/>
                <a:ea typeface="Arial"/>
              </a:rPr>
              <a:t>ChatGPT-3.5 only; newer models may differ</a:t>
            </a:r>
            <a:endParaRPr b="0" lang="de-AT" sz="102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960" spc="-1" strike="noStrike">
                <a:solidFill>
                  <a:srgbClr val="171717"/>
                </a:solidFill>
                <a:latin typeface="Arial"/>
                <a:ea typeface="Arial"/>
              </a:rPr>
              <a:t>No classic pre-post learning measurement.</a:t>
            </a:r>
            <a:endParaRPr b="0" lang="de-AT" sz="96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960" spc="-1" strike="noStrike">
                <a:solidFill>
                  <a:srgbClr val="171717"/>
                </a:solidFill>
                <a:latin typeface="Arial"/>
                <a:ea typeface="Arial"/>
              </a:rPr>
              <a:t>Prior knowledge was measured after the </a:t>
            </a:r>
            <a:r>
              <a:rPr b="0" lang="en-US" sz="1020" spc="-1" strike="noStrike">
                <a:solidFill>
                  <a:srgbClr val="475569"/>
                </a:solidFill>
                <a:latin typeface="Arial"/>
                <a:ea typeface="Arial"/>
              </a:rPr>
              <a:t>intervention.</a:t>
            </a:r>
            <a:endParaRPr b="0" lang="de-AT" sz="102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de-AT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Shape 24"/>
          <p:cNvSpPr/>
          <p:nvPr/>
        </p:nvSpPr>
        <p:spPr>
          <a:xfrm>
            <a:off x="6309360" y="4654440"/>
            <a:ext cx="5439240" cy="132444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5240">
            <a:solidFill>
              <a:srgbClr val="c6c6c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A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Shape 25"/>
          <p:cNvSpPr/>
          <p:nvPr/>
        </p:nvSpPr>
        <p:spPr>
          <a:xfrm>
            <a:off x="6309360" y="4654440"/>
            <a:ext cx="5439240" cy="108360"/>
          </a:xfrm>
          <a:prstGeom prst="rect">
            <a:avLst/>
          </a:prstGeom>
          <a:solidFill>
            <a:srgbClr val="ffd500"/>
          </a:solidFill>
          <a:ln w="12700">
            <a:solidFill>
              <a:srgbClr val="ffd5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A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Text 26"/>
          <p:cNvSpPr/>
          <p:nvPr/>
        </p:nvSpPr>
        <p:spPr>
          <a:xfrm>
            <a:off x="6473880" y="4818960"/>
            <a:ext cx="511020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111111"/>
                </a:solidFill>
                <a:latin typeface="Arial"/>
                <a:ea typeface="Arial"/>
              </a:rPr>
              <a:t>6. Why special to me?</a:t>
            </a:r>
            <a:endParaRPr b="0" lang="de-AT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Text 27"/>
          <p:cNvSpPr/>
          <p:nvPr/>
        </p:nvSpPr>
        <p:spPr>
          <a:xfrm>
            <a:off x="6583680" y="5184720"/>
            <a:ext cx="5000400" cy="72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pc="-1" strike="noStrike">
                <a:solidFill>
                  <a:srgbClr val="475569"/>
                </a:solidFill>
                <a:latin typeface="Arial"/>
                <a:ea typeface="Arial"/>
              </a:rPr>
              <a:t>As a student and mum, cognitive relief is attractive</a:t>
            </a:r>
            <a:endParaRPr b="0" lang="de-AT" sz="102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20" spc="-1" strike="noStrike">
                <a:solidFill>
                  <a:srgbClr val="475569"/>
                </a:solidFill>
                <a:latin typeface="Arial"/>
                <a:ea typeface="Arial"/>
              </a:rPr>
              <a:t>But what thinking should AI not take over?</a:t>
            </a:r>
            <a:endParaRPr b="0" lang="de-AT" sz="102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20" spc="-1" strike="noStrike">
                <a:solidFill>
                  <a:srgbClr val="475569"/>
                </a:solidFill>
                <a:latin typeface="Arial"/>
                <a:ea typeface="Arial"/>
              </a:rPr>
              <a:t>Takeaway: preserve productive struggle</a:t>
            </a:r>
            <a:endParaRPr b="0" lang="de-AT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Shape 28"/>
          <p:cNvSpPr/>
          <p:nvPr/>
        </p:nvSpPr>
        <p:spPr>
          <a:xfrm>
            <a:off x="438840" y="6336720"/>
            <a:ext cx="11309760" cy="2728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A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Text 29"/>
          <p:cNvSpPr/>
          <p:nvPr/>
        </p:nvSpPr>
        <p:spPr>
          <a:xfrm>
            <a:off x="567000" y="6364080"/>
            <a:ext cx="1087992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Arial"/>
                <a:ea typeface="Arial"/>
              </a:rPr>
              <a:t>AI should support thinking, not silently replace it.</a:t>
            </a:r>
            <a:endParaRPr b="0" lang="de-AT" sz="11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" descr=""/>
          <p:cNvPicPr/>
          <p:nvPr/>
        </p:nvPicPr>
        <p:blipFill>
          <a:blip r:embed="rId1"/>
          <a:srcRect l="0" t="10499" r="0" b="0"/>
          <a:stretch/>
        </p:blipFill>
        <p:spPr>
          <a:xfrm>
            <a:off x="1429920" y="1080000"/>
            <a:ext cx="9550080" cy="4962600"/>
          </a:xfrm>
          <a:prstGeom prst="rect">
            <a:avLst/>
          </a:prstGeom>
          <a:ln w="0">
            <a:noFill/>
          </a:ln>
        </p:spPr>
      </p:pic>
      <p:sp>
        <p:nvSpPr>
          <p:cNvPr id="43" name="Shape 3"/>
          <p:cNvSpPr/>
          <p:nvPr/>
        </p:nvSpPr>
        <p:spPr>
          <a:xfrm>
            <a:off x="0" y="0"/>
            <a:ext cx="12190320" cy="675360"/>
          </a:xfrm>
          <a:prstGeom prst="rect">
            <a:avLst/>
          </a:prstGeom>
          <a:solidFill>
            <a:srgbClr val="ffd500"/>
          </a:solidFill>
          <a:ln w="12700">
            <a:solidFill>
              <a:srgbClr val="ffd5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A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 8"/>
          <p:cNvSpPr/>
          <p:nvPr/>
        </p:nvSpPr>
        <p:spPr>
          <a:xfrm>
            <a:off x="384120" y="128160"/>
            <a:ext cx="7953840" cy="40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11111"/>
                </a:solidFill>
                <a:latin typeface="Arial"/>
                <a:ea typeface="Arial"/>
              </a:rPr>
              <a:t>Cognitive ease at a cost</a:t>
            </a:r>
            <a:endParaRPr b="0" lang="de-AT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 12"/>
          <p:cNvSpPr/>
          <p:nvPr/>
        </p:nvSpPr>
        <p:spPr>
          <a:xfrm>
            <a:off x="9875520" y="191880"/>
            <a:ext cx="191880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endParaRPr b="0" lang="de-A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Shape 6"/>
          <p:cNvSpPr/>
          <p:nvPr/>
        </p:nvSpPr>
        <p:spPr>
          <a:xfrm>
            <a:off x="438840" y="6336720"/>
            <a:ext cx="11309400" cy="2725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A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Text 16"/>
          <p:cNvSpPr/>
          <p:nvPr/>
        </p:nvSpPr>
        <p:spPr>
          <a:xfrm>
            <a:off x="567000" y="6364080"/>
            <a:ext cx="1087956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endParaRPr b="0" lang="de-A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2557440" y="6336720"/>
            <a:ext cx="6801840" cy="25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Arial"/>
                <a:ea typeface="Arial"/>
              </a:rPr>
              <a:t>Lower effort is not automatically better learning: lower GCL may indicate less deep processing.</a:t>
            </a:r>
            <a:endParaRPr b="0" lang="de-AT" sz="11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2"/>
          <p:cNvSpPr/>
          <p:nvPr/>
        </p:nvSpPr>
        <p:spPr>
          <a:xfrm>
            <a:off x="0" y="0"/>
            <a:ext cx="12189960" cy="675000"/>
          </a:xfrm>
          <a:prstGeom prst="rect">
            <a:avLst/>
          </a:prstGeom>
          <a:solidFill>
            <a:srgbClr val="ffd500"/>
          </a:solidFill>
          <a:ln w="12700">
            <a:solidFill>
              <a:srgbClr val="ffd5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A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 9"/>
          <p:cNvSpPr/>
          <p:nvPr/>
        </p:nvSpPr>
        <p:spPr>
          <a:xfrm>
            <a:off x="384120" y="128160"/>
            <a:ext cx="7953480" cy="40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11111"/>
                </a:solidFill>
                <a:latin typeface="Arial"/>
                <a:ea typeface="Arial"/>
              </a:rPr>
              <a:t>Study design: quality points</a:t>
            </a:r>
            <a:endParaRPr b="0" lang="de-AT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 13"/>
          <p:cNvSpPr/>
          <p:nvPr/>
        </p:nvSpPr>
        <p:spPr>
          <a:xfrm>
            <a:off x="384120" y="804600"/>
            <a:ext cx="1124532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111111"/>
                </a:solidFill>
                <a:latin typeface="Arial"/>
                <a:ea typeface="Arial"/>
              </a:rPr>
              <a:t>What is methodologically strong, and what should be interpreted carefully?</a:t>
            </a:r>
            <a:endParaRPr b="0" lang="de-AT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Shape 43"/>
          <p:cNvSpPr/>
          <p:nvPr/>
        </p:nvSpPr>
        <p:spPr>
          <a:xfrm>
            <a:off x="438840" y="6336720"/>
            <a:ext cx="11309400" cy="2725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A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Text 17"/>
          <p:cNvSpPr/>
          <p:nvPr/>
        </p:nvSpPr>
        <p:spPr>
          <a:xfrm>
            <a:off x="567000" y="6364080"/>
            <a:ext cx="1087956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de-A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Shape 46"/>
          <p:cNvSpPr/>
          <p:nvPr/>
        </p:nvSpPr>
        <p:spPr>
          <a:xfrm>
            <a:off x="441360" y="1417320"/>
            <a:ext cx="5438880" cy="1324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6c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A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Shape 47"/>
          <p:cNvSpPr/>
          <p:nvPr/>
        </p:nvSpPr>
        <p:spPr>
          <a:xfrm>
            <a:off x="441360" y="1417320"/>
            <a:ext cx="5438880" cy="108000"/>
          </a:xfrm>
          <a:prstGeom prst="rect">
            <a:avLst/>
          </a:prstGeom>
          <a:solidFill>
            <a:srgbClr val="ffd500"/>
          </a:solidFill>
          <a:ln w="12700">
            <a:solidFill>
              <a:srgbClr val="ffd5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A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 30"/>
          <p:cNvSpPr/>
          <p:nvPr/>
        </p:nvSpPr>
        <p:spPr>
          <a:xfrm>
            <a:off x="605880" y="1581840"/>
            <a:ext cx="510984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111111"/>
                </a:solidFill>
                <a:latin typeface="Arial"/>
                <a:ea typeface="Arial"/>
              </a:rPr>
              <a:t>Strong: controlled task</a:t>
            </a:r>
            <a:endParaRPr b="0" lang="de-AT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 46"/>
          <p:cNvSpPr/>
          <p:nvPr/>
        </p:nvSpPr>
        <p:spPr>
          <a:xfrm>
            <a:off x="715680" y="1947600"/>
            <a:ext cx="5000040" cy="72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pc="-1" strike="noStrike">
                <a:solidFill>
                  <a:srgbClr val="111111"/>
                </a:solidFill>
                <a:latin typeface="Arial"/>
                <a:ea typeface="Arial"/>
              </a:rPr>
              <a:t>Same task and same time</a:t>
            </a:r>
            <a:endParaRPr b="0" lang="de-AT" sz="102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20" spc="-1" strike="noStrike">
                <a:solidFill>
                  <a:srgbClr val="111111"/>
                </a:solidFill>
                <a:latin typeface="Arial"/>
                <a:ea typeface="Arial"/>
              </a:rPr>
              <a:t>Same lab environment</a:t>
            </a:r>
            <a:endParaRPr b="0" lang="de-AT" sz="102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20" spc="-1" strike="noStrike">
                <a:solidFill>
                  <a:srgbClr val="111111"/>
                </a:solidFill>
                <a:latin typeface="Arial"/>
                <a:ea typeface="Arial"/>
              </a:rPr>
              <a:t>University computers</a:t>
            </a:r>
            <a:endParaRPr b="0" lang="de-AT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Shape 48"/>
          <p:cNvSpPr/>
          <p:nvPr/>
        </p:nvSpPr>
        <p:spPr>
          <a:xfrm>
            <a:off x="438840" y="3035880"/>
            <a:ext cx="5438880" cy="1324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6c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A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Shape 49"/>
          <p:cNvSpPr/>
          <p:nvPr/>
        </p:nvSpPr>
        <p:spPr>
          <a:xfrm>
            <a:off x="438840" y="3035880"/>
            <a:ext cx="5438880" cy="108000"/>
          </a:xfrm>
          <a:prstGeom prst="rect">
            <a:avLst/>
          </a:prstGeom>
          <a:solidFill>
            <a:srgbClr val="ffd500"/>
          </a:solidFill>
          <a:ln w="12700">
            <a:solidFill>
              <a:srgbClr val="ffd5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A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 47"/>
          <p:cNvSpPr/>
          <p:nvPr/>
        </p:nvSpPr>
        <p:spPr>
          <a:xfrm>
            <a:off x="603360" y="3200400"/>
            <a:ext cx="510984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111111"/>
                </a:solidFill>
                <a:latin typeface="Arial"/>
                <a:ea typeface="Arial"/>
              </a:rPr>
              <a:t>Prior knowledge handling</a:t>
            </a:r>
            <a:endParaRPr b="0" lang="de-AT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 48"/>
          <p:cNvSpPr/>
          <p:nvPr/>
        </p:nvSpPr>
        <p:spPr>
          <a:xfrm>
            <a:off x="713160" y="3566160"/>
            <a:ext cx="5000040" cy="72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pc="-1" strike="noStrike">
                <a:solidFill>
                  <a:srgbClr val="111111"/>
                </a:solidFill>
                <a:latin typeface="Arial"/>
                <a:ea typeface="Arial"/>
              </a:rPr>
              <a:t>Medicine, pharmacy and biology excluded</a:t>
            </a:r>
            <a:endParaRPr b="0" lang="de-AT" sz="102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20" spc="-1" strike="noStrike">
                <a:solidFill>
                  <a:srgbClr val="111111"/>
                </a:solidFill>
                <a:latin typeface="Arial"/>
                <a:ea typeface="Arial"/>
              </a:rPr>
              <a:t>Prior knowledge measured but afterwards</a:t>
            </a:r>
            <a:endParaRPr b="0" lang="de-AT" sz="102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20" spc="-1" strike="noStrike">
                <a:solidFill>
                  <a:srgbClr val="111111"/>
                </a:solidFill>
                <a:latin typeface="Arial"/>
                <a:ea typeface="Arial"/>
              </a:rPr>
              <a:t>Controlled in ANCOVAs</a:t>
            </a:r>
            <a:endParaRPr b="0" lang="de-AT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Shape 50"/>
          <p:cNvSpPr/>
          <p:nvPr/>
        </p:nvSpPr>
        <p:spPr>
          <a:xfrm>
            <a:off x="6309360" y="3035880"/>
            <a:ext cx="5438880" cy="1324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6c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A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Shape 51"/>
          <p:cNvSpPr/>
          <p:nvPr/>
        </p:nvSpPr>
        <p:spPr>
          <a:xfrm>
            <a:off x="6309360" y="3035880"/>
            <a:ext cx="5438880" cy="108000"/>
          </a:xfrm>
          <a:prstGeom prst="rect">
            <a:avLst/>
          </a:prstGeom>
          <a:solidFill>
            <a:srgbClr val="ffd500"/>
          </a:solidFill>
          <a:ln w="12700">
            <a:solidFill>
              <a:srgbClr val="ffd5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A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 49"/>
          <p:cNvSpPr/>
          <p:nvPr/>
        </p:nvSpPr>
        <p:spPr>
          <a:xfrm>
            <a:off x="6617880" y="3272400"/>
            <a:ext cx="510984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111111"/>
                </a:solidFill>
                <a:latin typeface="Arial"/>
                <a:ea typeface="Arial"/>
              </a:rPr>
              <a:t>Strong: coding quality</a:t>
            </a:r>
            <a:endParaRPr b="0" lang="de-AT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 50"/>
          <p:cNvSpPr/>
          <p:nvPr/>
        </p:nvSpPr>
        <p:spPr>
          <a:xfrm>
            <a:off x="6583680" y="3566160"/>
            <a:ext cx="5000040" cy="72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pc="-1" strike="noStrike">
                <a:solidFill>
                  <a:srgbClr val="111111"/>
                </a:solidFill>
                <a:latin typeface="Arial"/>
                <a:ea typeface="Arial"/>
              </a:rPr>
              <a:t>Two independent raters</a:t>
            </a:r>
            <a:endParaRPr b="0" lang="de-AT" sz="102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20" spc="-1" strike="noStrike">
                <a:solidFill>
                  <a:srgbClr val="111111"/>
                </a:solidFill>
                <a:latin typeface="Arial"/>
                <a:ea typeface="Arial"/>
              </a:rPr>
              <a:t>Justifications: k = .92</a:t>
            </a:r>
            <a:endParaRPr b="0" lang="de-AT" sz="102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20" spc="-1" strike="noStrike">
                <a:solidFill>
                  <a:srgbClr val="111111"/>
                </a:solidFill>
                <a:latin typeface="Arial"/>
                <a:ea typeface="Arial"/>
              </a:rPr>
              <a:t>Recommendations: k = .89</a:t>
            </a:r>
            <a:br>
              <a:rPr sz="1020"/>
            </a:br>
            <a:endParaRPr b="0" lang="de-AT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Shape 52"/>
          <p:cNvSpPr/>
          <p:nvPr/>
        </p:nvSpPr>
        <p:spPr>
          <a:xfrm>
            <a:off x="438840" y="4654440"/>
            <a:ext cx="5438880" cy="1324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6c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A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53"/>
          <p:cNvSpPr/>
          <p:nvPr/>
        </p:nvSpPr>
        <p:spPr>
          <a:xfrm>
            <a:off x="438840" y="4654440"/>
            <a:ext cx="5438880" cy="108000"/>
          </a:xfrm>
          <a:prstGeom prst="rect">
            <a:avLst/>
          </a:prstGeom>
          <a:solidFill>
            <a:srgbClr val="ffd500"/>
          </a:solidFill>
          <a:ln w="12700">
            <a:solidFill>
              <a:srgbClr val="ffd5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A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 51"/>
          <p:cNvSpPr/>
          <p:nvPr/>
        </p:nvSpPr>
        <p:spPr>
          <a:xfrm>
            <a:off x="603360" y="4818960"/>
            <a:ext cx="510984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111111"/>
                </a:solidFill>
                <a:latin typeface="Arial"/>
                <a:ea typeface="Arial"/>
              </a:rPr>
              <a:t>Critical: sample and power</a:t>
            </a:r>
            <a:endParaRPr b="0" lang="de-AT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 52"/>
          <p:cNvSpPr/>
          <p:nvPr/>
        </p:nvSpPr>
        <p:spPr>
          <a:xfrm>
            <a:off x="713160" y="5184720"/>
            <a:ext cx="5000040" cy="72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pc="-1" strike="noStrike">
                <a:solidFill>
                  <a:srgbClr val="111111"/>
                </a:solidFill>
                <a:latin typeface="Arial"/>
                <a:ea typeface="Arial"/>
              </a:rPr>
              <a:t>Small, non-representative sample</a:t>
            </a:r>
            <a:endParaRPr b="0" lang="de-AT" sz="102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20" spc="-1" strike="noStrike">
                <a:solidFill>
                  <a:srgbClr val="111111"/>
                </a:solidFill>
                <a:latin typeface="Arial"/>
                <a:ea typeface="Arial"/>
              </a:rPr>
              <a:t>Only university students</a:t>
            </a:r>
            <a:endParaRPr b="0" lang="de-AT" sz="102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20" spc="-1" strike="noStrike">
                <a:solidFill>
                  <a:srgbClr val="111111"/>
                </a:solidFill>
                <a:latin typeface="Arial"/>
                <a:ea typeface="Arial"/>
              </a:rPr>
              <a:t>No clear a-priori power analysis</a:t>
            </a:r>
            <a:endParaRPr b="0" lang="de-AT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Shape 54"/>
          <p:cNvSpPr/>
          <p:nvPr/>
        </p:nvSpPr>
        <p:spPr>
          <a:xfrm>
            <a:off x="6309360" y="4654440"/>
            <a:ext cx="5438880" cy="1324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6c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A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Shape 55"/>
          <p:cNvSpPr/>
          <p:nvPr/>
        </p:nvSpPr>
        <p:spPr>
          <a:xfrm>
            <a:off x="6309360" y="4654440"/>
            <a:ext cx="5438880" cy="108000"/>
          </a:xfrm>
          <a:prstGeom prst="rect">
            <a:avLst/>
          </a:prstGeom>
          <a:solidFill>
            <a:srgbClr val="ffd500"/>
          </a:solidFill>
          <a:ln w="12700">
            <a:solidFill>
              <a:srgbClr val="ffd5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A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53"/>
          <p:cNvSpPr/>
          <p:nvPr/>
        </p:nvSpPr>
        <p:spPr>
          <a:xfrm>
            <a:off x="6473880" y="4818960"/>
            <a:ext cx="510984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111111"/>
                </a:solidFill>
                <a:latin typeface="Arial"/>
                <a:ea typeface="Arial"/>
              </a:rPr>
              <a:t>Critical: process insight</a:t>
            </a:r>
            <a:endParaRPr b="0" lang="de-AT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 54"/>
          <p:cNvSpPr/>
          <p:nvPr/>
        </p:nvSpPr>
        <p:spPr>
          <a:xfrm>
            <a:off x="6583680" y="5184720"/>
            <a:ext cx="5000040" cy="72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pc="-1" strike="noStrike">
                <a:solidFill>
                  <a:srgbClr val="111111"/>
                </a:solidFill>
                <a:latin typeface="Arial"/>
                <a:ea typeface="Arial"/>
              </a:rPr>
              <a:t>No classic pre-post learning test</a:t>
            </a:r>
            <a:endParaRPr b="0" lang="de-AT" sz="102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20" spc="-1" strike="noStrike">
                <a:solidFill>
                  <a:srgbClr val="111111"/>
                </a:solidFill>
                <a:latin typeface="Arial"/>
                <a:ea typeface="Arial"/>
              </a:rPr>
              <a:t>No think-aloud protocol</a:t>
            </a:r>
            <a:endParaRPr b="0" lang="de-AT" sz="102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20" spc="-1" strike="noStrike">
                <a:solidFill>
                  <a:srgbClr val="111111"/>
                </a:solidFill>
                <a:latin typeface="Arial"/>
                <a:ea typeface="Arial"/>
              </a:rPr>
              <a:t>No search logs</a:t>
            </a:r>
            <a:endParaRPr b="0" lang="de-AT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Shape 1"/>
          <p:cNvSpPr/>
          <p:nvPr/>
        </p:nvSpPr>
        <p:spPr>
          <a:xfrm>
            <a:off x="6345360" y="1415880"/>
            <a:ext cx="5438880" cy="1324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6c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A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Shape 2"/>
          <p:cNvSpPr/>
          <p:nvPr/>
        </p:nvSpPr>
        <p:spPr>
          <a:xfrm>
            <a:off x="6345360" y="1415880"/>
            <a:ext cx="5438880" cy="108000"/>
          </a:xfrm>
          <a:prstGeom prst="rect">
            <a:avLst/>
          </a:prstGeom>
          <a:solidFill>
            <a:srgbClr val="ffd500"/>
          </a:solidFill>
          <a:ln w="12700">
            <a:solidFill>
              <a:srgbClr val="ffd5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de-A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4"/>
          <p:cNvSpPr/>
          <p:nvPr/>
        </p:nvSpPr>
        <p:spPr>
          <a:xfrm>
            <a:off x="6509880" y="1580400"/>
            <a:ext cx="510984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111111"/>
                </a:solidFill>
                <a:latin typeface="Arial"/>
                <a:ea typeface="Arial"/>
              </a:rPr>
              <a:t>Cognitive load</a:t>
            </a:r>
            <a:endParaRPr b="0" lang="de-AT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5"/>
          <p:cNvSpPr/>
          <p:nvPr/>
        </p:nvSpPr>
        <p:spPr>
          <a:xfrm>
            <a:off x="6619680" y="1946160"/>
            <a:ext cx="5000040" cy="72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pc="-1" strike="noStrike">
                <a:solidFill>
                  <a:srgbClr val="111111"/>
                </a:solidFill>
                <a:latin typeface="Arial"/>
                <a:ea typeface="Arial"/>
              </a:rPr>
              <a:t>Measured directly after search</a:t>
            </a:r>
            <a:endParaRPr b="0" lang="de-AT" sz="102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20" spc="-1" strike="noStrike">
                <a:solidFill>
                  <a:srgbClr val="111111"/>
                </a:solidFill>
                <a:latin typeface="Arial"/>
                <a:ea typeface="Arial"/>
              </a:rPr>
              <a:t>Questionnaire with 1-7 scale by Klepsch</a:t>
            </a:r>
            <a:endParaRPr b="0" lang="de-AT" sz="102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20" spc="-1" strike="noStrike">
                <a:solidFill>
                  <a:srgbClr val="111111"/>
                </a:solidFill>
                <a:latin typeface="Arial"/>
                <a:ea typeface="Arial"/>
              </a:rPr>
              <a:t>ICL, ECL and GCL</a:t>
            </a:r>
            <a:endParaRPr b="0" lang="de-AT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2557440" y="6336720"/>
            <a:ext cx="6801840" cy="25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Arial"/>
                <a:ea typeface="Arial"/>
              </a:rPr>
              <a:t>Strong internal control, limited real-world generalizability.</a:t>
            </a:r>
            <a:endParaRPr b="0" lang="de-AT" sz="11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Application>LibreOffice/24.2.3.2$Windows_X86_64 LibreOffice_project/433d9c2ded56988e8a90e6b2e771ee4e6a5ab2ba</Application>
  <AppVersion>15.0000</AppVersion>
  <Words>0</Words>
  <Paragraphs>0</Paragraphs>
  <Company>University of Graz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2026-06-01T22:18:49Z</dcterms:created>
  <dc:creator>Marina Hofer</dc:creator>
  <dc:description/>
  <dc:language>de-AT</dc:language>
  <cp:lastModifiedBy/>
  <dcterms:modified xsi:type="dcterms:W3CDTF">2026-06-23T04:48:19Z</dcterms:modified>
  <cp:revision>7</cp:revision>
  <dc:subject>Lightning talk pitch map</dc:subject>
  <dc:title>Cognitive ease at a cost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On-screen Show (16:9)</vt:lpwstr>
  </property>
  <property fmtid="{D5CDD505-2E9C-101B-9397-08002B2CF9AE}" pid="4" name="Slides">
    <vt:i4>1</vt:i4>
  </property>
</Properties>
</file>