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media/image1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de-AT" sz="4400" spc="-1" strike="noStrike">
                <a:solidFill>
                  <a:srgbClr val="000000"/>
                </a:solidFill>
                <a:latin typeface="Arial"/>
              </a:rPr>
              <a:t>Folie mittels Klicken verschieben</a:t>
            </a:r>
            <a:endParaRPr b="0" lang="de-A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Format der Notizen mittels Klicken bearbeiten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&lt;Kopfzeile&gt;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&lt;Datum/Uhrzeit&gt;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0327485-B405-401D-BA3B-C976C8097088}" type="slidenum"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Problem: ChatGPT can make learning tasks easier, but easier does not always mean deeper.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Technology use: Students used either Google search or ChatGPT-3.5 for a 20-minute scientific inquiry task.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Main result: ChatGPT reduced cognitive load, but the reasoning quality of the final justification was weaker.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Critical point: The study has limits, but it makes </a:t>
            </a: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the AI-in-education debate concrete and measurable.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Two independent raters coded the written justifications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F6E255-E3CF-42A4-9386-95AC7C6CDC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Reducing useless load can help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Reducing productive effort can hurt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AI should support, not replace thinking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ICL: Load caused by content difficulty → “This task was very complex.”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ECL: Unnecessary extra load → How information is found or presented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GCL: Effort for understanding and connecting → Related to deeper processing 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All loads are lower in the ChatGPT group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9577E3-ABDD-4530-8BDD-1F95363A5F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A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AT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AT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A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A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A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A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18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89960" cy="675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384120" y="128160"/>
            <a:ext cx="795348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Cognitive ease at a cost</a:t>
            </a:r>
            <a:endParaRPr b="0" lang="de-A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9875520" y="191880"/>
            <a:ext cx="1918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de-AT" sz="12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de-A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384120" y="804600"/>
            <a:ext cx="11245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Stadler, Bannert &amp; Sailer (2024): LLMs reduce mental effort but compromise depth in student scientific inquiry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4"/>
          <p:cNvSpPr/>
          <p:nvPr/>
        </p:nvSpPr>
        <p:spPr>
          <a:xfrm>
            <a:off x="438840" y="141732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5"/>
          <p:cNvSpPr/>
          <p:nvPr/>
        </p:nvSpPr>
        <p:spPr>
          <a:xfrm>
            <a:off x="438840" y="141732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03360" y="158184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1. What was done?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713160" y="1947600"/>
            <a:ext cx="5000040" cy="72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Randomized experimental lab study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Final sample: 91 students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Google Search vs. ChatGPT-3.5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8"/>
          <p:cNvSpPr/>
          <p:nvPr/>
        </p:nvSpPr>
        <p:spPr>
          <a:xfrm>
            <a:off x="6309360" y="141732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9"/>
          <p:cNvSpPr/>
          <p:nvPr/>
        </p:nvSpPr>
        <p:spPr>
          <a:xfrm>
            <a:off x="6309360" y="141732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6473880" y="158184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2. Concrete technology use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6583680" y="1980000"/>
            <a:ext cx="5000040" cy="68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20-min inquiry: nanoparticles in sunscreen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Then wrote a recommendation (without any support) 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Outcomes: cognitive load + reasoning quality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Prior knowledge test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438840" y="303588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438840" y="303588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603360" y="320040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3. Main results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713160" y="3566160"/>
            <a:ext cx="5000040" cy="72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ChatGPT group reported lower cognitive load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But produced weaker written justifications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Core trade-off: easier task, shallower reasoning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6309360" y="303588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6309360" y="303588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8"/>
          <p:cNvSpPr/>
          <p:nvPr/>
        </p:nvSpPr>
        <p:spPr>
          <a:xfrm>
            <a:off x="6473880" y="320040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4. Why relevant?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6583680" y="3566160"/>
            <a:ext cx="5000040" cy="72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Fits meta-analysis finding: AI can reduce mental effort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Adds caution: lower effort is not always better learning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Human Factors: support vs. overreliance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438840" y="465444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020" spc="-1" strike="noStrike">
              <a:solidFill>
                <a:srgbClr val="475569"/>
              </a:solidFill>
              <a:latin typeface="Arial"/>
              <a:ea typeface="Arial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438840" y="465444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22"/>
          <p:cNvSpPr/>
          <p:nvPr/>
        </p:nvSpPr>
        <p:spPr>
          <a:xfrm>
            <a:off x="603360" y="481896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5. Bias / limitations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713160" y="5184720"/>
            <a:ext cx="5000040" cy="72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One university, short lab task, not a long classroom intervention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ChatGPT-3.5 only; newer models may differ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960" spc="-1" strike="noStrike">
                <a:solidFill>
                  <a:srgbClr val="171717"/>
                </a:solidFill>
                <a:latin typeface="Arial"/>
                <a:ea typeface="Arial"/>
              </a:rPr>
              <a:t>No classic pre-post learning measurement.</a:t>
            </a:r>
            <a:endParaRPr b="0" lang="de-AT" sz="9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960" spc="-1" strike="noStrike">
                <a:solidFill>
                  <a:srgbClr val="171717"/>
                </a:solidFill>
                <a:latin typeface="Arial"/>
                <a:ea typeface="Arial"/>
              </a:rPr>
              <a:t>Prior knowledge was measured after the </a:t>
            </a: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intervention.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24"/>
          <p:cNvSpPr/>
          <p:nvPr/>
        </p:nvSpPr>
        <p:spPr>
          <a:xfrm>
            <a:off x="6309360" y="4654440"/>
            <a:ext cx="5438880" cy="13240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5"/>
          <p:cNvSpPr/>
          <p:nvPr/>
        </p:nvSpPr>
        <p:spPr>
          <a:xfrm>
            <a:off x="6309360" y="4654440"/>
            <a:ext cx="5438880" cy="108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6473880" y="4818960"/>
            <a:ext cx="5109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6. Why special to me?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7"/>
          <p:cNvSpPr/>
          <p:nvPr/>
        </p:nvSpPr>
        <p:spPr>
          <a:xfrm>
            <a:off x="6583680" y="5184720"/>
            <a:ext cx="5000040" cy="72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As a student and mum, cognitive relief is attractive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But what thinking should AI not take over?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Takeaway: preserve productive struggle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28"/>
          <p:cNvSpPr/>
          <p:nvPr/>
        </p:nvSpPr>
        <p:spPr>
          <a:xfrm>
            <a:off x="438840" y="6336720"/>
            <a:ext cx="11309400" cy="2725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9"/>
          <p:cNvSpPr/>
          <p:nvPr/>
        </p:nvSpPr>
        <p:spPr>
          <a:xfrm>
            <a:off x="567000" y="6364080"/>
            <a:ext cx="10879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rial"/>
                <a:ea typeface="Arial"/>
              </a:rPr>
              <a:t>AI should support thinking, not silently replace it.</a:t>
            </a:r>
            <a:endParaRPr b="0" lang="de-AT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260000" y="344160"/>
            <a:ext cx="9950040" cy="5596560"/>
          </a:xfrm>
          <a:prstGeom prst="rect">
            <a:avLst/>
          </a:prstGeom>
          <a:ln w="0">
            <a:noFill/>
          </a:ln>
        </p:spPr>
      </p:pic>
      <p:sp>
        <p:nvSpPr>
          <p:cNvPr id="43" name="Shape 3"/>
          <p:cNvSpPr/>
          <p:nvPr/>
        </p:nvSpPr>
        <p:spPr>
          <a:xfrm>
            <a:off x="0" y="0"/>
            <a:ext cx="12189960" cy="67500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384120" y="128160"/>
            <a:ext cx="795348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Cognitive ease at a cost</a:t>
            </a:r>
            <a:endParaRPr b="0" lang="de-A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9875520" y="191880"/>
            <a:ext cx="1918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438840" y="6336720"/>
            <a:ext cx="11309040" cy="2721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6"/>
          <p:cNvSpPr/>
          <p:nvPr/>
        </p:nvSpPr>
        <p:spPr>
          <a:xfrm>
            <a:off x="567000" y="6364080"/>
            <a:ext cx="10879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2557440" y="6336720"/>
            <a:ext cx="68014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Arial"/>
                <a:ea typeface="Arial"/>
              </a:rPr>
              <a:t>Lower effort is not automatically better learning: lower GCL may indicate less deep processing.</a:t>
            </a:r>
            <a:endParaRPr b="0" lang="de-AT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260000" y="720000"/>
            <a:ext cx="4140000" cy="360000"/>
          </a:xfrm>
          <a:prstGeom prst="rect">
            <a:avLst/>
          </a:prstGeom>
          <a:solidFill>
            <a:schemeClr val="lt1">
              <a:lumOff val="0"/>
            </a:schemeClr>
          </a:solidFill>
          <a:ln w="0">
            <a:solidFill>
              <a:schemeClr val="lt1">
                <a:lumOff val="0"/>
              </a:scheme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42"/>
          <p:cNvSpPr/>
          <p:nvPr/>
        </p:nvSpPr>
        <p:spPr>
          <a:xfrm>
            <a:off x="0" y="0"/>
            <a:ext cx="12189600" cy="674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384120" y="128160"/>
            <a:ext cx="795312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Study design: quality points</a:t>
            </a:r>
            <a:endParaRPr b="0" lang="de-A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384120" y="804600"/>
            <a:ext cx="11244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What is methodologically strong, and what should be interpreted carefully?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43"/>
          <p:cNvSpPr/>
          <p:nvPr/>
        </p:nvSpPr>
        <p:spPr>
          <a:xfrm>
            <a:off x="438840" y="6336720"/>
            <a:ext cx="11309040" cy="2721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567000" y="6364080"/>
            <a:ext cx="108792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6"/>
          <p:cNvSpPr/>
          <p:nvPr/>
        </p:nvSpPr>
        <p:spPr>
          <a:xfrm>
            <a:off x="441360" y="141732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47"/>
          <p:cNvSpPr/>
          <p:nvPr/>
        </p:nvSpPr>
        <p:spPr>
          <a:xfrm>
            <a:off x="441360" y="141732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30"/>
          <p:cNvSpPr/>
          <p:nvPr/>
        </p:nvSpPr>
        <p:spPr>
          <a:xfrm>
            <a:off x="605880" y="158184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Strong: controlled task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46"/>
          <p:cNvSpPr/>
          <p:nvPr/>
        </p:nvSpPr>
        <p:spPr>
          <a:xfrm>
            <a:off x="715680" y="194760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Same task and same time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Same lab environment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University computers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8"/>
          <p:cNvSpPr/>
          <p:nvPr/>
        </p:nvSpPr>
        <p:spPr>
          <a:xfrm>
            <a:off x="438840" y="303588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49"/>
          <p:cNvSpPr/>
          <p:nvPr/>
        </p:nvSpPr>
        <p:spPr>
          <a:xfrm>
            <a:off x="438840" y="303588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7"/>
          <p:cNvSpPr/>
          <p:nvPr/>
        </p:nvSpPr>
        <p:spPr>
          <a:xfrm>
            <a:off x="603360" y="320040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Prior knowledge handling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48"/>
          <p:cNvSpPr/>
          <p:nvPr/>
        </p:nvSpPr>
        <p:spPr>
          <a:xfrm>
            <a:off x="713160" y="356616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Medicine, pharmacy and biology excluded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Prior knowledge measured but afterwards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Controlled in ANCOVAs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50"/>
          <p:cNvSpPr/>
          <p:nvPr/>
        </p:nvSpPr>
        <p:spPr>
          <a:xfrm>
            <a:off x="6309360" y="303588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1"/>
          <p:cNvSpPr/>
          <p:nvPr/>
        </p:nvSpPr>
        <p:spPr>
          <a:xfrm>
            <a:off x="6309360" y="303588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9"/>
          <p:cNvSpPr/>
          <p:nvPr/>
        </p:nvSpPr>
        <p:spPr>
          <a:xfrm>
            <a:off x="6617880" y="327240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Strong: coding quality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50"/>
          <p:cNvSpPr/>
          <p:nvPr/>
        </p:nvSpPr>
        <p:spPr>
          <a:xfrm>
            <a:off x="6583680" y="356616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Two independent raters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Justifications: k = .92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Recommendations: k = .89</a:t>
            </a:r>
            <a:br>
              <a:rPr sz="1020"/>
            </a:b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52"/>
          <p:cNvSpPr/>
          <p:nvPr/>
        </p:nvSpPr>
        <p:spPr>
          <a:xfrm>
            <a:off x="438840" y="465444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53"/>
          <p:cNvSpPr/>
          <p:nvPr/>
        </p:nvSpPr>
        <p:spPr>
          <a:xfrm>
            <a:off x="438840" y="465444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51"/>
          <p:cNvSpPr/>
          <p:nvPr/>
        </p:nvSpPr>
        <p:spPr>
          <a:xfrm>
            <a:off x="603360" y="481896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Critical: sample and power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52"/>
          <p:cNvSpPr/>
          <p:nvPr/>
        </p:nvSpPr>
        <p:spPr>
          <a:xfrm>
            <a:off x="713160" y="518472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Small, non-representative sample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Only university students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No clear a-priori power analysis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54"/>
          <p:cNvSpPr/>
          <p:nvPr/>
        </p:nvSpPr>
        <p:spPr>
          <a:xfrm>
            <a:off x="6309360" y="465444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55"/>
          <p:cNvSpPr/>
          <p:nvPr/>
        </p:nvSpPr>
        <p:spPr>
          <a:xfrm>
            <a:off x="6309360" y="465444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3"/>
          <p:cNvSpPr/>
          <p:nvPr/>
        </p:nvSpPr>
        <p:spPr>
          <a:xfrm>
            <a:off x="6473880" y="481896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Critical: process insight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54"/>
          <p:cNvSpPr/>
          <p:nvPr/>
        </p:nvSpPr>
        <p:spPr>
          <a:xfrm>
            <a:off x="6583680" y="518472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No classic pre-post learning test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No think-aloud protocol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No search logs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"/>
          <p:cNvSpPr/>
          <p:nvPr/>
        </p:nvSpPr>
        <p:spPr>
          <a:xfrm>
            <a:off x="6345360" y="1415880"/>
            <a:ext cx="5438520" cy="132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6345360" y="1415880"/>
            <a:ext cx="5438520" cy="1076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6509880" y="1580400"/>
            <a:ext cx="510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Cognitive load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6619680" y="1946160"/>
            <a:ext cx="4999680" cy="7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Measured directly after search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Questionnaire with 1-7 scale by Klepsch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11111"/>
                </a:solidFill>
                <a:latin typeface="Arial"/>
                <a:ea typeface="Arial"/>
              </a:rPr>
              <a:t>ICL, ECL and GCL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2557440" y="6336720"/>
            <a:ext cx="68014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Arial"/>
                <a:ea typeface="Arial"/>
              </a:rPr>
              <a:t>Strong internal control, limited real-world generalizability.</a:t>
            </a:r>
            <a:endParaRPr b="0" lang="de-AT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LibreOffice/24.2.3.2$Windows_X86_64 LibreOffice_project/433d9c2ded56988e8a90e6b2e771ee4e6a5ab2ba</Application>
  <AppVersion>15.0000</AppVersion>
  <Words>0</Words>
  <Paragraphs>0</Paragraphs>
  <Company>University of Graz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2026-06-01T22:18:49Z</dcterms:created>
  <dc:creator>Marina Hofer</dc:creator>
  <dc:description/>
  <dc:language>de-AT</dc:language>
  <cp:lastModifiedBy/>
  <dcterms:modified xsi:type="dcterms:W3CDTF">2026-06-24T03:29:33Z</dcterms:modified>
  <cp:revision>8</cp:revision>
  <dc:subject>Lightning talk pitch map</dc:subject>
  <dc:title>Cognitive ease at a cost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(16:9)</vt:lpwstr>
  </property>
  <property fmtid="{D5CDD505-2E9C-101B-9397-08002B2CF9AE}" pid="4" name="Slides">
    <vt:i4>1</vt:i4>
  </property>
</Properties>
</file>